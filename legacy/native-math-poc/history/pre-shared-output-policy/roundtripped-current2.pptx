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128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fore"/>
          <p:cNvSpPr txBox="1"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formula-EQ1" descr="AI_AUTOFIGURE_NATIVE_MATH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dirty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dirty="0">
                              <a:latin typeface="Cambria Math"/>
                            </a:rPr>
                            <m:t>𝐸</m:t>
                          </m:r>
                        </m:num>
                        <m:den>
                          <m:r>
                            <a:rPr lang="en-US" sz="2000" dirty="0">
                              <a:latin typeface="Cambria Math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000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dirty="0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dirty="0">
                              <a:latin typeface="Cambria Math"/>
                            </a:rPr>
                            <m:t>𝛼</m:t>
                          </m:r>
                        </m:e>
                        <m:sub>
                          <m:r>
                            <a:rPr lang="en-US" sz="2000" dirty="0">
                              <a:latin typeface="Cambria Math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formula-EQ1" descr="AI_AUTOFIGURE_MATH_FALLBACK_ONLY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2000"/>
                </a:pPr>
                <a:r>
                  <a:rPr sz="2000" lang="en-US" dirty="0"/>
                  <a:t>\[\frac{E}{mc^2}+\alpha_i\]</a:t>
                </a:r>
                <a:endParaRPr sz="2000" lang="en-US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mixed-T1" descr="AI_AUTOFIGURE_NATIVE_MATH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lang="en-US" sz="16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dirty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1600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是学习率，且 </a:t>
                </a:r>
                <a14:m>
                  <m:oMath xmlns:m="http://schemas.openxmlformats.org/officeDocument/2006/math">
                    <m:r>
                      <a:rPr lang="en-US" sz="1600" dirty="0">
                        <a:latin typeface="Cambria Math"/>
                      </a:rPr>
                      <m:t>𝑝</m:t>
                    </m:r>
                    <m:r>
                      <a:rPr lang="en-US" sz="1600" dirty="0">
                        <a:latin typeface="Cambria Math"/>
                      </a:rPr>
                      <m:t>&lt;0.05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mixed-T1" descr="AI_AUTOFIGURE_MATH_FALLBACK_ONLY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:r>
                  <a:rPr sz="1600" lang="en-US" dirty="0"/>
                  <a:t>\(\alpha_i\)</a:t>
                </a:r>
                <a:r>
                  <a:rPr sz="1600" lang="en-US" dirty="0"/>
                  <a:t xml:space="preserve"> 是学习率，且 </a:t>
                </a:r>
                <a:r>
                  <a:rPr sz="1600" lang="en-US" dirty="0"/>
                  <a:t>\(p&lt;0.05\)</a:t>
                </a:r>
                <a:endParaRPr sz="1600" lang="en-US" dirty="0"/>
              </a:p>
            </p:txBody>
          </p:sp>
        </mc:Fallback>
      </mc:AlternateContent>
      <p:sp>
        <p:nvSpPr>
          <p:cNvPr id="5" name="after"/>
          <p:cNvSpPr txBox="1"/>
          <p:nvPr/>
        </p:nvSpPr>
        <p:spPr>
          <a:xfrm>
            <a:off x="27432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Huang</cp:lastModifiedBy>
  <cp:revision>1</cp:revision>
  <dcterms:created xsi:type="dcterms:W3CDTF">2013-01-27T09:14:16Z</dcterms:created>
  <dcterms:modified xsi:type="dcterms:W3CDTF">2026-08-15T01:33:59Z</dcterms:modified>
  <cp:category/>
</cp:coreProperties>
</file>