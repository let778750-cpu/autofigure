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type m:val="bar"/>
                        </m:fPr>
                        <m:num>
                          <m:r>
                            <a:rPr sz="2000" lang="en-US" dirty="0">
                              <a:latin typeface="Cambria Math"/>
                            </a:rPr>
                            <m:t>E</m:t>
                          </m:r>
                        </m:num>
                        <m:den>
                          <m:r>
                            <a:rPr sz="2000" lang="en-US" dirty="0">
                              <a:latin typeface="Cambria Math"/>
                            </a:rPr>
                            <m:t>m</m:t>
                          </m:r>
                          <m:sSup>
                            <m:e>
                              <m:r>
                                <a:rPr sz="2000" lang="en-US" dirty="0">
                                  <a:latin typeface="Cambria Math"/>
                                </a:rPr>
                                <m:t>c</m:t>
                              </m:r>
                            </m:e>
                            <m:sup>
                              <m:r>
                                <a:rPr sz="2000" lang="en-US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sz="2000" lang="en-US" dirty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sz="2000" lang="en-US" dirty="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sz="2000" lang="en-US" dirty="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sz="2000" lang="en-US" dirty="0">
                  <a:latin typeface="Cambria Math"/>
                </a:endParaRPr>
              </a:p>
            </p:txBody>
          </p:sp>
        </mc:Choice>
        <mc:Fallback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14:m>
                  <m:oMath xmlns:m="http://schemas.openxmlformats.org/officeDocument/2006/math">
                    <m:sSub>
                      <m:e>
                        <m:r>
                          <a:rPr sz="1600" lang="en-US" dirty="0">
                            <a:latin typeface="Cambria Math"/>
                          </a:rPr>
                          <m:t>α</m:t>
                        </m:r>
                      </m:e>
                      <m:sub>
                        <m:r>
                          <a:rPr sz="1600" lang="en-US" dirty="0">
                            <a:latin typeface="Cambria Math"/>
                          </a:rPr>
                          <m:t>i</m:t>
                        </m:r>
                      </m:sub>
                    </m:sSub>
                  </m:oMath>
                </a14:m>
                <a:r>
                  <a:rPr sz="1600" lang="en-US" dirty="0"/>
                  <a:t xml:space="preserve"> 是学习率，且 </a:t>
                </a:r>
                <a14:m>
                  <m:oMath xmlns:m="http://schemas.openxmlformats.org/officeDocument/2006/math">
                    <m:r>
                      <a:rPr sz="1600" lang="en-US" dirty="0">
                        <a:latin typeface="Cambria Math"/>
                      </a:rPr>
                      <m:t>p&lt;0.05</m:t>
                    </m:r>
                  </m:oMath>
                </a14:m>
                <a:endParaRPr sz="1600" lang="en-US" dirty="0"/>
              </a:p>
            </p:txBody>
          </p:sp>
        </mc:Choice>
        <mc:Fallback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