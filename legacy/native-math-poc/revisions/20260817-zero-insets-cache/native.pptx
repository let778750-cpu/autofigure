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fore"/>
          <p:cNvSpPr txBox="1"/>
          <p:nvPr/>
        </p:nvSpPr>
        <p:spPr>
          <a:xfrm>
            <a:off x="274320" y="2743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formula-EQ1" descr="AI_AUTOFIGURE_NATIVE_MATH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2000"/>
                </a:pPr>
                <a14:m>
                  <m:oMathPara xmlns:m="http://schemas.openxmlformats.org/officeDocument/2006/math">
                    <m:oMath>
                      <m:f>
                        <m:fPr>
                          <m:type m:val="bar"/>
                        </m:fPr>
                        <m:num>
                          <m:r>
                            <a:rPr sz="2000" lang="en-US" dirty="0">
                              <a:latin typeface="Cambria Math"/>
                            </a:rPr>
                            <m:t>E</m:t>
                          </m:r>
                        </m:num>
                        <m:den>
                          <m:r>
                            <a:rPr sz="2000" lang="en-US" dirty="0">
                              <a:latin typeface="Cambria Math"/>
                            </a:rPr>
                            <m:t>m</m:t>
                          </m:r>
                          <m:sSup>
                            <m:e>
                              <m:r>
                                <a:rPr sz="2000" lang="en-US" dirty="0">
                                  <a:latin typeface="Cambria Math"/>
                                </a:rPr>
                                <m:t>c</m:t>
                              </m:r>
                            </m:e>
                            <m:sup>
                              <m:r>
                                <a:rPr sz="2000" lang="en-US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sz="2000" lang="en-US" dirty="0">
                          <a:latin typeface="Cambria Math"/>
                        </a:rPr>
                        <m:t>+</m:t>
                      </m:r>
                      <m:sSub>
                        <m:e>
                          <m:r>
                            <a:rPr sz="2000" lang="en-US" dirty="0">
                              <a:latin typeface="Cambria Math"/>
                            </a:rPr>
                            <m:t>α</m:t>
                          </m:r>
                        </m:e>
                        <m:sub>
                          <m:r>
                            <a:rPr sz="2000" lang="en-US" dirty="0">
                              <a:latin typeface="Cambria Math"/>
                            </a:rPr>
                            <m:t>i</m:t>
                          </m:r>
                        </m:sub>
                      </m:sSub>
                    </m:oMath>
                  </m:oMathPara>
                </a14:m>
                <a:endParaRPr sz="2000" lang="en-US" dirty="0">
                  <a:latin typeface="Cambria Math"/>
                </a:endParaRPr>
              </a:p>
            </p:txBody>
          </p:sp>
        </mc:Choice>
        <mc:Fallback>
          <p:sp>
            <p:nvSpPr>
              <p:cNvPr id="3" name="formula-EQ1" descr="AI_AUTOFIGURE_MATH_FALLBACK_ONLY_V1:eyJjb250ZW50X3J1bnMiOlt7ImNhbm9uaWNhbF9sYXRleCI6IlxcZnJhY3tFfXttY14yfStcXGFscGhhX2kiLCJmb3JtdWxhX2lkIjoiRVExIiwia2luZCI6Im1hdGgiLCJsYXRleF9zaGEyNTYiOiJiMTczOWY4OTFjNDdiNGI3NDNlYjM3ODNkMzYyZjRmNDJiZWJiYzY3NDM5NTg3ZDlhN2YxN2ExM2UyODMwNWE2IiwibW9kZSI6ImRpc3BsYXkiLCJvbW1sX3NoYTI1NiI6IjE1YTRkNzgyOWRkNGQwZWY5NGM1N2RkNjY4NzRiNzUxZTY0ZGQ2MWI3MDEyZGI5NmFiMzk0OWFkZjgwM2MwYmEiLCJzZW1hbnRpY19vbW1sX3Byb2ZpbGUiOiJvZmZpY2UtbWF0aC1zZW1hbnRpYy12MiIsInNlbWFudGljX29tbWxfc2hhMjU2IjoiM2E1NmQ0MTExNjAzZTJiNWRhY2MxMDM0NTBmNjRlYjBkODVmYjU4MWQ5MjBlYTdlNjRmMDQyMGM4MmMwNGY4ZiJ9XSwiZm9ybXVsYXMiOlt7ImNhbm9uaWNhbF9sYXRleCI6IlxcZnJhY3tFfXttY14yfStcXGFscGhhX2kiLCJmb3JtdWxhX2lkIjoiRVExIiwibGF0ZXhfc2hhMjU2IjoiYjE3MzlmODkxYzQ3YjRiNzQzZWIzNzgzZDM2MmY0ZjQyYmViYmM2NzQzOTU4N2Q5YTdmMTdhMTNlMjgzMDVhNiIsIm1vZGUiOiJkaXNwbGF5Iiwib21tbF9zaGEyNTYiOiIxNWE0ZDc4MjlkZDRkMGVmOTRjNTdkZDY2ODc0Yjc1MWU2NGRkNjFiNzAxMmRiOTZhYjM5NDlhZGY4MDNjMGJhIiwic2VtYW50aWNfb21tbF9wcm9maWxlIjoib2ZmaWNlLW1hdGgtc2VtYW50aWMtdjIiLCJzZW1hbnRpY19vbW1sX3NoYTI1NiI6IjNhNTZkNDExMTYwM2UyYjVkYWNjMTAzNDUwZjY0ZWIwZDg1ZmI1ODFkOTIwZWE3ZTY0ZjA0MjBjODJjMDRmOGYifV0sImtpbmQiOiJuYXRpdmVfb2ZmaWNlX21hdGgiLCJwbGFjZWhvbGRlcl9uYW1lIjoiZm9ybXVsYS1FUTEiLCJzY2hlbWFfdmVyc2lvbiI6IjEuMCJ9"/>
              <p:cNvSpPr txBox="1"/>
              <p:nvPr/>
            </p:nvSpPr>
            <p:spPr>
              <a:xfrm>
                <a:off x="1371600" y="731520"/>
                <a:ext cx="3657600" cy="9144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2000"/>
                </a:pPr>
                <a:r>
                  <a:rPr sz="2000" lang="en-US" dirty="0"/>
                  <a:t>\[\frac{E}{mc^2}+\alpha_i\]</a:t>
                </a:r>
                <a:endParaRPr sz="2000" lang="en-US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mixed-T1" descr="AI_AUTOFIGURE_NATIVE_MATH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600"/>
                </a:pPr>
                <a:r>
                  <a:rPr sz="1600" lang="en-US" dirty="0"/>
                  <a:t xml:space="preserve">其中 </a:t>
                </a:r>
                <a14:m>
                  <m:oMath xmlns:m="http://schemas.openxmlformats.org/officeDocument/2006/math">
                    <m:sSub>
                      <m:e>
                        <m:r>
                          <a:rPr sz="1600" lang="en-US" dirty="0">
                            <a:latin typeface="Cambria Math"/>
                          </a:rPr>
                          <m:t>α</m:t>
                        </m:r>
                      </m:e>
                      <m:sub>
                        <m:r>
                          <a:rPr sz="1600" lang="en-US" dirty="0">
                            <a:latin typeface="Cambria Math"/>
                          </a:rPr>
                          <m:t>i</m:t>
                        </m:r>
                      </m:sub>
                    </m:sSub>
                  </m:oMath>
                </a14:m>
                <a:r>
                  <a:rPr sz="1600" lang="en-US" dirty="0"/>
                  <a:t xml:space="preserve"> 是学习率，且 </a:t>
                </a:r>
                <a14:m>
                  <m:oMath xmlns:m="http://schemas.openxmlformats.org/officeDocument/2006/math">
                    <m:r>
                      <a:rPr sz="1600" lang="en-US" dirty="0">
                        <a:latin typeface="Cambria Math"/>
                      </a:rPr>
                      <m:t>p&lt;0.05</m:t>
                    </m:r>
                  </m:oMath>
                </a14:m>
                <a:endParaRPr sz="1600" lang="en-US" dirty="0"/>
              </a:p>
            </p:txBody>
          </p:sp>
        </mc:Choice>
        <mc:Fallback>
          <p:sp>
            <p:nvSpPr>
              <p:cNvPr id="4" name="mixed-T1" descr="AI_AUTOFIGURE_MATH_FALLBACK_ONLY_V1:eyJjb250ZW50X3J1bnMiOlt7ImtpbmQiOiJ0ZXh0IiwidGV4dCI6IuWFtuS4rSAiLCJ0ZXh0X3NoYTI1NiI6IjMyOGM1MTI4N2RhNGUzYTY5NDdjYzVkNTM4YjE1MmMyNTM4NTI3MGVlMmExYjM4MjZkNzgwMzAwNWYwNzM0YWUifSx7ImNhbm9uaWNhbF9sYXRleCI6IlxcYWxwaGFfaSIsImZvcm11bGFfaWQiOiJFUTIiLCJraW5kIjoibWF0aC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tpbmQiOiJ0ZXh0IiwidGV4dCI6IiDmmK_lrabkuaDnjofvvIzkuJQgIiwidGV4dF9zaGEyNTYiOiJlN2I0YjMzMzMxYTFiMWY5M2U1MjU3ODRiYmRkM2M2YjBmZTAzMzM2NDc2ZDU0YWJiZjFjMGY2MWJiYmQ3OGY5In0seyJjYW5vbmljYWxfbGF0ZXgiOiJwPDAuMDUiLCJmb3JtdWxhX2lkIjoiRVEzIiwia2luZCI6Im1hdGg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mb3JtdWxhcyI6W3siY2Fub25pY2FsX2xhdGV4IjoiXFxhbHBoYV9pIiwiZm9ybXVsYV9pZCI6IkVRMiIsImxhdGV4X3NoYTI1NiI6ImYzMjBkN2I3N2VkOGJmZjBlMWYwYzEzMTY1OGQwN2U5ZWQ0ZTRjMmJmY2RhZGE3MjFjZmEyZGMyNDRmNjg2YWUiLCJtb2RlIjoiaW5saW5lIiwib21tbF9zaGEyNTYiOiI0MmU2NzdkZTczMWYyMDg5YTNlN2I5Y2Q5NzAxYmNlNTkwZjczMjYwZWE1YzdhZWY5MDM0Mjk1YmRjZGY4NWI3Iiwic2VtYW50aWNfb21tbF9wcm9maWxlIjoib2ZmaWNlLW1hdGgtc2VtYW50aWMtdjIiLCJzZW1hbnRpY19vbW1sX3NoYTI1NiI6Ijc5ZjU1NWJlMzkwYTMxMjU3NjZhM2U2NWYzZWFhYWU3ZWUzMjU4Y2Q1ZTRkOGY1ZjI4ODNiZGYyODdkNDMzMDMifSx7ImNhbm9uaWNhbF9sYXRleCI6InA8MC4wNSIsImZvcm11bGFfaWQiOiJFUTMiLCJsYXRleF9zaGEyNTYiOiJiMDIxODI0ZDcyOTVmOWQwOGQxMjVmODdlZjEzYjJiMjQ4ZTY1Y2E3MzhhYWQzNjlkMTVjNDAyOGE4YjI3ZDZkIiwibW9kZSI6ImlubGluZSIsIm9tbWxfc2hhMjU2IjoiZGRjNDA4Y2IzYzBmZWNjOGE4YTRiMTI4MGJjMjNhYmQyNGUzOGRkNGU1MWE3ZDdmNDlkZGQ0NmUxYzQ5MTMwYSIsInNlbWFudGljX29tbWxfcHJvZmlsZSI6Im9mZmljZS1tYXRoLXNlbWFudGljLXYyIiwic2VtYW50aWNfb21tbF9zaGEyNTYiOiI4ODQ5NzY0ZjRhNzVlYTAwMGE0YjA2MmJmZTVhODBjNzYzNTFjMGM1NzgzNDU2NjE0MjUxZTgzNDMxZjM0N2Q4In1dLCJraW5kIjoibmF0aXZlX29mZmljZV9tYXRoIiwicGxhY2Vob2xkZXJfbmFtZSI6Im1peGVkLVQxIiwic2NoZW1hX3ZlcnNpb24iOiIxLjAifQ=="/>
              <p:cNvSpPr txBox="1"/>
              <p:nvPr/>
            </p:nvSpPr>
            <p:spPr>
              <a:xfrm>
                <a:off x="914400" y="2011680"/>
                <a:ext cx="5486400" cy="73152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600"/>
                </a:pPr>
                <a:r>
                  <a:rPr sz="1600" lang="en-US" dirty="0"/>
                  <a:t xml:space="preserve">其中 </a:t>
                </a:r>
                <a:r>
                  <a:rPr sz="1600" lang="en-US" dirty="0"/>
                  <a:t>\(\alpha_i\)</a:t>
                </a:r>
                <a:r>
                  <a:rPr sz="1600" lang="en-US" dirty="0"/>
                  <a:t xml:space="preserve"> 是学习率，且 </a:t>
                </a:r>
                <a:r>
                  <a:rPr sz="1600" lang="en-US" dirty="0"/>
                  <a:t>\(p&lt;0.05\)</a:t>
                </a:r>
                <a:endParaRPr sz="1600" lang="en-US" dirty="0"/>
              </a:p>
            </p:txBody>
          </p:sp>
        </mc:Fallback>
      </mc:AlternateContent>
      <p:sp>
        <p:nvSpPr>
          <p:cNvPr id="5" name="after"/>
          <p:cNvSpPr txBox="1"/>
          <p:nvPr/>
        </p:nvSpPr>
        <p:spPr>
          <a:xfrm>
            <a:off x="274320" y="32004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