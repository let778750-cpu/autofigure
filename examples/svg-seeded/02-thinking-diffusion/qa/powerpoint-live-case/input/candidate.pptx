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411325" cy="5276850"/>
  <p:notesSz cx="6858000" cy="9144000"/>
  <p:custDataLst>
    <p:tags r:id="rId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4" y="7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f-svg-text-0001-text-01" descr="{&quot;autofigure_element_id&quot;:&quot;svg-text-0001&quot;}"/>
          <p:cNvSpPr txBox="1"/>
          <p:nvPr/>
        </p:nvSpPr>
        <p:spPr>
          <a:xfrm>
            <a:off x="373904" y="94774"/>
            <a:ext cx="795242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3" name="af-svg-text-0002-text-01" descr="{&quot;autofigure_element_id&quot;:&quot;svg-text-0002&quot;}"/>
          <p:cNvSpPr txBox="1"/>
          <p:nvPr/>
        </p:nvSpPr>
        <p:spPr>
          <a:xfrm>
            <a:off x="1715691" y="94774"/>
            <a:ext cx="892969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4" name="af-svg-text-0003-text-01" descr="{&quot;autofigure_element_id&quot;:&quot;svg-text-0003&quot;}"/>
          <p:cNvSpPr txBox="1"/>
          <p:nvPr/>
        </p:nvSpPr>
        <p:spPr>
          <a:xfrm>
            <a:off x="4096274" y="94774"/>
            <a:ext cx="1084802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5" name="af-brace-top-left-image-freeform-01" descr="{&quot;autofigure_element_id&quot;:&quot;brace-top-left-image&quot;,&quot;primitive_spec_sha256&quot;:&quot;5c93e3b88729a32268a364a04d02ea544effbb3a90c9ad6b48af75ff1cbef471&quot;}"/>
          <p:cNvSpPr/>
          <p:nvPr/>
        </p:nvSpPr>
        <p:spPr>
          <a:xfrm>
            <a:off x="266700" y="381000"/>
            <a:ext cx="1019175" cy="142875"/>
          </a:xfrm>
          <a:custGeom>
            <a:avLst/>
            <a:gdLst/>
            <a:ahLst/>
            <a:cxnLst/>
            <a:rect l="0" t="0" r="0" b="0"/>
            <a:pathLst>
              <a:path w="1019175" h="142875">
                <a:moveTo>
                  <a:pt x="0" y="142875"/>
                </a:moveTo>
                <a:lnTo>
                  <a:pt x="0" y="104775"/>
                </a:lnTo>
                <a:cubicBezTo>
                  <a:pt x="0" y="79375"/>
                  <a:pt x="19050" y="66675"/>
                  <a:pt x="57150" y="66675"/>
                </a:cubicBezTo>
                <a:lnTo>
                  <a:pt x="461962" y="66675"/>
                </a:lnTo>
                <a:cubicBezTo>
                  <a:pt x="493712" y="66675"/>
                  <a:pt x="509588" y="53975"/>
                  <a:pt x="509588" y="28575"/>
                </a:cubicBezTo>
                <a:lnTo>
                  <a:pt x="509588" y="0"/>
                </a:lnTo>
                <a:moveTo>
                  <a:pt x="509588" y="0"/>
                </a:moveTo>
                <a:lnTo>
                  <a:pt x="509588" y="28575"/>
                </a:lnTo>
                <a:cubicBezTo>
                  <a:pt x="509588" y="53975"/>
                  <a:pt x="525463" y="66675"/>
                  <a:pt x="557212" y="66675"/>
                </a:cubicBezTo>
                <a:lnTo>
                  <a:pt x="962025" y="66675"/>
                </a:lnTo>
                <a:cubicBezTo>
                  <a:pt x="1000125" y="66675"/>
                  <a:pt x="1019175" y="79375"/>
                  <a:pt x="1019175" y="104775"/>
                </a:cubicBezTo>
                <a:lnTo>
                  <a:pt x="1019175" y="142875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6" name="af-brace-top-left-prompt-freeform-01" descr="{&quot;autofigure_element_id&quot;:&quot;brace-top-left-prompt&quot;,&quot;primitive_spec_sha256&quot;:&quot;49cda7351bbbdb0a01f8a7bedf77dcad130492a0bfffe0e6194fd3b5f41533fc&quot;}"/>
          <p:cNvSpPr/>
          <p:nvPr/>
        </p:nvSpPr>
        <p:spPr>
          <a:xfrm>
            <a:off x="1619250" y="381000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5397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53975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82550"/>
                  <a:pt x="1009650" y="114300"/>
                </a:cubicBezTo>
                <a:lnTo>
                  <a:pt x="100965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" name="af-brace-top-left-response-freeform-01" descr="{&quot;autofigure_element_id&quot;:&quot;brace-top-left-response&quot;,&quot;primitive_spec_sha256&quot;:&quot;b0714461b1a73066d422722218b9833ec51149beab1aaed6297e227e14368e7e&quot;}"/>
          <p:cNvSpPr/>
          <p:nvPr/>
        </p:nvSpPr>
        <p:spPr>
          <a:xfrm>
            <a:off x="2962275" y="381000"/>
            <a:ext cx="3352800" cy="152400"/>
          </a:xfrm>
          <a:custGeom>
            <a:avLst/>
            <a:gdLst/>
            <a:ahLst/>
            <a:cxnLst/>
            <a:rect l="0" t="0" r="0" b="0"/>
            <a:pathLst>
              <a:path w="335280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1628775" y="66675"/>
                </a:lnTo>
                <a:cubicBezTo>
                  <a:pt x="1660525" y="66675"/>
                  <a:pt x="1676400" y="53975"/>
                  <a:pt x="1676400" y="28575"/>
                </a:cubicBezTo>
                <a:lnTo>
                  <a:pt x="1676400" y="0"/>
                </a:lnTo>
                <a:moveTo>
                  <a:pt x="1676400" y="0"/>
                </a:moveTo>
                <a:lnTo>
                  <a:pt x="1676400" y="28575"/>
                </a:lnTo>
                <a:cubicBezTo>
                  <a:pt x="1676400" y="53975"/>
                  <a:pt x="1692275" y="66675"/>
                  <a:pt x="1724025" y="66675"/>
                </a:cubicBezTo>
                <a:lnTo>
                  <a:pt x="3295650" y="66675"/>
                </a:lnTo>
                <a:cubicBezTo>
                  <a:pt x="3333750" y="66675"/>
                  <a:pt x="3352800" y="82550"/>
                  <a:pt x="3352800" y="114300"/>
                </a:cubicBezTo>
                <a:lnTo>
                  <a:pt x="335280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8" name="af-svg-rect-0001-rect-01" descr="{&quot;autofigure_element_id&quot;:&quot;svg-rect-0001&quot;}"/>
          <p:cNvSpPr/>
          <p:nvPr/>
        </p:nvSpPr>
        <p:spPr>
          <a:xfrm>
            <a:off x="19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f-svg-rect-0002-rect-01" descr="{&quot;autofigure_element_id&quot;:&quot;svg-rect-0002&quot;}"/>
          <p:cNvSpPr/>
          <p:nvPr/>
        </p:nvSpPr>
        <p:spPr>
          <a:xfrm>
            <a:off x="60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f-svg-rect-0003-rect-01" descr="{&quot;autofigure_element_id&quot;:&quot;svg-rect-0003&quot;}"/>
          <p:cNvSpPr/>
          <p:nvPr/>
        </p:nvSpPr>
        <p:spPr>
          <a:xfrm>
            <a:off x="1009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f-svg-rect-0004-rect-01" descr="{&quot;autofigure_element_id&quot;:&quot;svg-rect-0004&quot;}"/>
          <p:cNvSpPr/>
          <p:nvPr/>
        </p:nvSpPr>
        <p:spPr>
          <a:xfrm>
            <a:off x="153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f-svg-rect-0005-rect-01" descr="{&quot;autofigure_element_id&quot;:&quot;svg-rect-0005&quot;}"/>
          <p:cNvSpPr/>
          <p:nvPr/>
        </p:nvSpPr>
        <p:spPr>
          <a:xfrm>
            <a:off x="194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f-svg-rect-0006-rect-01" descr="{&quot;autofigure_element_id&quot;:&quot;svg-rect-0006&quot;}"/>
          <p:cNvSpPr/>
          <p:nvPr/>
        </p:nvSpPr>
        <p:spPr>
          <a:xfrm>
            <a:off x="23526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f-svg-rect-0007-rect-01" descr="{&quot;autofigure_element_id&quot;:&quot;svg-rect-0007&quot;}"/>
          <p:cNvSpPr/>
          <p:nvPr/>
        </p:nvSpPr>
        <p:spPr>
          <a:xfrm>
            <a:off x="285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f-svg-rect-0008-rect-01" descr="{&quot;autofigure_element_id&quot;:&quot;svg-rect-0008&quot;}"/>
          <p:cNvSpPr/>
          <p:nvPr/>
        </p:nvSpPr>
        <p:spPr>
          <a:xfrm>
            <a:off x="326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f-svg-rect-0009-rect-01" descr="{&quot;autofigure_element_id&quot;:&quot;svg-rect-0009&quot;}"/>
          <p:cNvSpPr/>
          <p:nvPr/>
        </p:nvSpPr>
        <p:spPr>
          <a:xfrm>
            <a:off x="367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f-svg-rect-0010-rect-01" descr="{&quot;autofigure_element_id&quot;:&quot;svg-rect-0010&quot;}"/>
          <p:cNvSpPr/>
          <p:nvPr/>
        </p:nvSpPr>
        <p:spPr>
          <a:xfrm>
            <a:off x="40862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f-svg-circle-0001-ellipse-01" descr="{&quot;autofigure_element_id&quot;:&quot;svg-circle-0001&quot;}"/>
          <p:cNvSpPr/>
          <p:nvPr/>
        </p:nvSpPr>
        <p:spPr>
          <a:xfrm>
            <a:off x="45319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af-svg-circle-0002-ellipse-01" descr="{&quot;autofigure_element_id&quot;:&quot;svg-circle-0002&quot;}"/>
          <p:cNvSpPr/>
          <p:nvPr/>
        </p:nvSpPr>
        <p:spPr>
          <a:xfrm>
            <a:off x="46081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f-svg-circle-0003-ellipse-01" descr="{&quot;autofigure_element_id&quot;:&quot;svg-circle-0003&quot;}"/>
          <p:cNvSpPr/>
          <p:nvPr/>
        </p:nvSpPr>
        <p:spPr>
          <a:xfrm>
            <a:off x="4684395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f-svg-rect-0011-rect-01" descr="{&quot;autofigure_element_id&quot;:&quot;svg-rect-0011&quot;}"/>
          <p:cNvSpPr/>
          <p:nvPr/>
        </p:nvSpPr>
        <p:spPr>
          <a:xfrm>
            <a:off x="481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af-svg-rect-0012-rect-01" descr="{&quot;autofigure_element_id&quot;:&quot;svg-rect-0012&quot;}"/>
          <p:cNvSpPr/>
          <p:nvPr/>
        </p:nvSpPr>
        <p:spPr>
          <a:xfrm>
            <a:off x="521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af-svg-rect-0013-rect-01" descr="{&quot;autofigure_element_id&quot;:&quot;svg-rect-0013&quot;}"/>
          <p:cNvSpPr/>
          <p:nvPr/>
        </p:nvSpPr>
        <p:spPr>
          <a:xfrm>
            <a:off x="562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af-svg-rect-0014-rect-01" descr="{&quot;autofigure_element_id&quot;:&quot;svg-rect-0014&quot;}"/>
          <p:cNvSpPr/>
          <p:nvPr/>
        </p:nvSpPr>
        <p:spPr>
          <a:xfrm>
            <a:off x="60388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" name="af-arrow-left-input-to-model-connector-01" descr="{&quot;arrow_spec_sha256&quot;:&quot;3ffe9cdc8f5f061c55ce1ec952b712fedc2dde46c96ef5708f2194d5b2fc38a4&quot;,&quot;autofigure_element_id&quot;:&quot;arrow-left-input-to-model&quot;}"/>
          <p:cNvCxnSpPr/>
          <p:nvPr/>
        </p:nvCxnSpPr>
        <p:spPr>
          <a:xfrm>
            <a:off x="4638675" y="885825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f-svg-rect-0015-rect-01" descr="{&quot;autofigure_element_id&quot;:&quot;svg-rect-0015&quot;}"/>
          <p:cNvSpPr/>
          <p:nvPr/>
        </p:nvSpPr>
        <p:spPr>
          <a:xfrm>
            <a:off x="142875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af-svg-text-0004-text-01" descr="{&quot;autofigure_element_id&quot;:&quot;svg-text-0004&quot;}"/>
          <p:cNvSpPr txBox="1"/>
          <p:nvPr/>
        </p:nvSpPr>
        <p:spPr>
          <a:xfrm>
            <a:off x="1396746" y="1220152"/>
            <a:ext cx="3816858" cy="4524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28" name="af-arrow-left-model-to-early-step-connector-01" descr="{&quot;arrow_spec_sha256&quot;:&quot;fda3382bea4aae9e54da4ff5ea82ccc618e7c9f617070db963bd908a872675ca&quot;,&quot;autofigure_element_id&quot;:&quot;arrow-left-model-to-early-step&quot;}"/>
          <p:cNvCxnSpPr/>
          <p:nvPr/>
        </p:nvCxnSpPr>
        <p:spPr>
          <a:xfrm>
            <a:off x="4638675" y="1781175"/>
            <a:ext cx="0" cy="46672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f-svg-text-0005-text-01" descr="{&quot;autofigure_element_id&quot;:&quot;svg-text-0005&quot;}"/>
          <p:cNvSpPr txBox="1"/>
          <p:nvPr/>
        </p:nvSpPr>
        <p:spPr>
          <a:xfrm>
            <a:off x="4511992" y="1819275"/>
            <a:ext cx="729615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Base</a:t>
            </a:r>
          </a:p>
        </p:txBody>
      </p:sp>
      <p:sp>
        <p:nvSpPr>
          <p:cNvPr id="30" name="af-svg-rect-0016-rect-01" descr="{&quot;autofigure_element_id&quot;:&quot;svg-rect-0016&quot;}"/>
          <p:cNvSpPr/>
          <p:nvPr/>
        </p:nvSpPr>
        <p:spPr>
          <a:xfrm>
            <a:off x="28575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af-svg-rect-0017-rect-01" descr="{&quot;autofigure_element_id&quot;:&quot;svg-rect-0017&quot;}"/>
          <p:cNvSpPr/>
          <p:nvPr/>
        </p:nvSpPr>
        <p:spPr>
          <a:xfrm>
            <a:off x="32670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af-svg-rect-0018-rect-01" descr="{&quot;autofigure_element_id&quot;:&quot;svg-rect-0018&quot;}"/>
          <p:cNvSpPr/>
          <p:nvPr/>
        </p:nvSpPr>
        <p:spPr>
          <a:xfrm>
            <a:off x="36766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af-svg-rect-0019-rect-01" descr="{&quot;autofigure_element_id&quot;:&quot;svg-rect-0019&quot;}"/>
          <p:cNvSpPr/>
          <p:nvPr/>
        </p:nvSpPr>
        <p:spPr>
          <a:xfrm>
            <a:off x="40862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af-svg-circle-0004-ellipse-01" descr="{&quot;autofigure_element_id&quot;:&quot;svg-circle-0004&quot;}"/>
          <p:cNvSpPr/>
          <p:nvPr/>
        </p:nvSpPr>
        <p:spPr>
          <a:xfrm>
            <a:off x="45319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f-svg-circle-0005-ellipse-01" descr="{&quot;autofigure_element_id&quot;:&quot;svg-circle-0005&quot;}"/>
          <p:cNvSpPr/>
          <p:nvPr/>
        </p:nvSpPr>
        <p:spPr>
          <a:xfrm>
            <a:off x="46081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af-svg-circle-0006-ellipse-01" descr="{&quot;autofigure_element_id&quot;:&quot;svg-circle-0006&quot;}"/>
          <p:cNvSpPr/>
          <p:nvPr/>
        </p:nvSpPr>
        <p:spPr>
          <a:xfrm>
            <a:off x="4684395" y="229362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af-svg-rect-0020-rect-01" descr="{&quot;autofigure_element_id&quot;:&quot;svg-rect-0020&quot;}"/>
          <p:cNvSpPr/>
          <p:nvPr/>
        </p:nvSpPr>
        <p:spPr>
          <a:xfrm>
            <a:off x="482917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af-svg-rect-0021-rect-01" descr="{&quot;autofigure_element_id&quot;:&quot;svg-rect-0021&quot;}"/>
          <p:cNvSpPr/>
          <p:nvPr/>
        </p:nvSpPr>
        <p:spPr>
          <a:xfrm>
            <a:off x="523875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af-svg-rect-0022-rect-01" descr="{&quot;autofigure_element_id&quot;:&quot;svg-rect-0022&quot;}"/>
          <p:cNvSpPr/>
          <p:nvPr/>
        </p:nvSpPr>
        <p:spPr>
          <a:xfrm>
            <a:off x="5648325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f-svg-rect-0023-rect-01" descr="{&quot;autofigure_element_id&quot;:&quot;svg-rect-0023&quot;}"/>
          <p:cNvSpPr/>
          <p:nvPr/>
        </p:nvSpPr>
        <p:spPr>
          <a:xfrm>
            <a:off x="6057900" y="21812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af-svg-text-0006-text-01" descr="{&quot;autofigure_element_id&quot;:&quot;svg-text-0006&quot;}"/>
          <p:cNvSpPr txBox="1"/>
          <p:nvPr/>
        </p:nvSpPr>
        <p:spPr>
          <a:xfrm>
            <a:off x="5026342" y="2455069"/>
            <a:ext cx="767715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42" name="af-svg-text-0007-text-01" descr="{&quot;autofigure_element_id&quot;:&quot;svg-text-0007&quot;}"/>
          <p:cNvSpPr txBox="1"/>
          <p:nvPr/>
        </p:nvSpPr>
        <p:spPr>
          <a:xfrm>
            <a:off x="5610225" y="2455069"/>
            <a:ext cx="419100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43" name="af-svg-text-0008-text-01" descr="{&quot;autofigure_element_id&quot;:&quot;svg-text-0008&quot;}"/>
          <p:cNvSpPr txBox="1"/>
          <p:nvPr/>
        </p:nvSpPr>
        <p:spPr>
          <a:xfrm>
            <a:off x="6029087" y="2455069"/>
            <a:ext cx="400526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44" name="af-brace-left-early-answer-under-freeform-01" descr="{&quot;autofigure_element_id&quot;:&quot;brace-left-early-answer-under&quot;,&quot;primitive_spec_sha256&quot;:&quot;bf904cdc1cc31f242d09a65ea9ee2d4c55db751f7d57527b4ac7a2b03c3cd4cd&quot;}"/>
          <p:cNvSpPr/>
          <p:nvPr/>
        </p:nvSpPr>
        <p:spPr>
          <a:xfrm>
            <a:off x="5324475" y="2771775"/>
            <a:ext cx="1009650" cy="123825"/>
          </a:xfrm>
          <a:custGeom>
            <a:avLst/>
            <a:gdLst/>
            <a:ahLst/>
            <a:cxnLst/>
            <a:rect l="0" t="0" r="0" b="0"/>
            <a:pathLst>
              <a:path w="1009650" h="123825">
                <a:moveTo>
                  <a:pt x="0" y="0"/>
                </a:moveTo>
                <a:lnTo>
                  <a:pt x="0" y="38100"/>
                </a:lnTo>
                <a:cubicBezTo>
                  <a:pt x="0" y="571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76200"/>
                  <a:pt x="504825" y="95250"/>
                </a:cubicBezTo>
                <a:lnTo>
                  <a:pt x="504825" y="123825"/>
                </a:lnTo>
                <a:moveTo>
                  <a:pt x="504825" y="123825"/>
                </a:moveTo>
                <a:lnTo>
                  <a:pt x="504825" y="95250"/>
                </a:lnTo>
                <a:cubicBezTo>
                  <a:pt x="504825" y="76200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571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45" name="af-svg-text-0009-text-01" descr="{&quot;autofigure_element_id&quot;:&quot;svg-text-0009&quot;}"/>
          <p:cNvSpPr txBox="1"/>
          <p:nvPr/>
        </p:nvSpPr>
        <p:spPr>
          <a:xfrm rot="16200000">
            <a:off x="6251305" y="2038350"/>
            <a:ext cx="1060990" cy="8001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46" name="af-brace-left-early-step-side-freeform-01" descr="{&quot;autofigure_element_id&quot;:&quot;brace-left-early-step-side&quot;,&quot;primitive_spec_sha256&quot;:&quot;542ce5d3df54cbf1517ed5e11b999e68496cd61d7497d6a7553d8cb5626a5d68&quot;}"/>
          <p:cNvSpPr/>
          <p:nvPr/>
        </p:nvSpPr>
        <p:spPr>
          <a:xfrm>
            <a:off x="6496050" y="1952625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3500" y="0"/>
                  <a:pt x="76200" y="19050"/>
                  <a:pt x="76200" y="57150"/>
                </a:cubicBezTo>
                <a:lnTo>
                  <a:pt x="76200" y="314325"/>
                </a:lnTo>
                <a:cubicBezTo>
                  <a:pt x="76200" y="346075"/>
                  <a:pt x="88900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88900" y="361950"/>
                  <a:pt x="76200" y="377825"/>
                  <a:pt x="76200" y="409575"/>
                </a:cubicBezTo>
                <a:lnTo>
                  <a:pt x="76200" y="666750"/>
                </a:lnTo>
                <a:cubicBezTo>
                  <a:pt x="76200" y="704850"/>
                  <a:pt x="6350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47" name="af-caption-left-early-line1-text-01" descr="{&quot;autofigure_element_id&quot;:&quot;caption-left-early-line1&quot;}"/>
          <p:cNvSpPr txBox="1"/>
          <p:nvPr/>
        </p:nvSpPr>
        <p:spPr>
          <a:xfrm>
            <a:off x="4987004" y="2881074"/>
            <a:ext cx="1694116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Generate answer</a:t>
            </a:r>
          </a:p>
        </p:txBody>
      </p:sp>
      <p:sp>
        <p:nvSpPr>
          <p:cNvPr id="48" name="af-caption-left-early-line2-text-01" descr="{&quot;autofigure_element_id&quot;:&quot;caption-left-early-line2&quot;}"/>
          <p:cNvSpPr txBox="1"/>
          <p:nvPr/>
        </p:nvSpPr>
        <p:spPr>
          <a:xfrm>
            <a:off x="5000935" y="3109674"/>
            <a:ext cx="1666256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before reasoning</a:t>
            </a:r>
          </a:p>
        </p:txBody>
      </p:sp>
      <p:sp>
        <p:nvSpPr>
          <p:cNvPr id="49" name="af-ellipsis-left-transition-dot-1-ellipse-01" descr="{&quot;autofigure_element_id&quot;:&quot;ellipsis-left-transition-dot-1&quot;}"/>
          <p:cNvSpPr/>
          <p:nvPr/>
        </p:nvSpPr>
        <p:spPr>
          <a:xfrm>
            <a:off x="4629150" y="31242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af-ellipsis-left-transition-dot-2-ellipse-01" descr="{&quot;autofigure_element_id&quot;:&quot;ellipsis-left-transition-dot-2&quot;}"/>
          <p:cNvSpPr/>
          <p:nvPr/>
        </p:nvSpPr>
        <p:spPr>
          <a:xfrm>
            <a:off x="4629150" y="32004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af-ellipsis-left-transition-dot-3-ellipse-01" descr="{&quot;autofigure_element_id&quot;:&quot;ellipsis-left-transition-dot-3&quot;}"/>
          <p:cNvSpPr/>
          <p:nvPr/>
        </p:nvSpPr>
        <p:spPr>
          <a:xfrm>
            <a:off x="4629150" y="3267075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af-arrow-left-to-later-step-connector-01" descr="{&quot;arrow_spec_sha256&quot;:&quot;814543cc03ba5312a69b42a86343b96829dbe9e87000d705708642bf3f9e55a1&quot;,&quot;autofigure_element_id&quot;:&quot;arrow-left-to-later-step&quot;}"/>
          <p:cNvCxnSpPr/>
          <p:nvPr/>
        </p:nvCxnSpPr>
        <p:spPr>
          <a:xfrm>
            <a:off x="4638675" y="3429000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af-svg-rect-0024-rect-01" descr="{&quot;autofigure_element_id&quot;:&quot;svg-rect-0024&quot;}"/>
          <p:cNvSpPr/>
          <p:nvPr/>
        </p:nvSpPr>
        <p:spPr>
          <a:xfrm>
            <a:off x="28575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af-svg-rect-0025-rect-01" descr="{&quot;autofigure_element_id&quot;:&quot;svg-rect-0025&quot;}"/>
          <p:cNvSpPr/>
          <p:nvPr/>
        </p:nvSpPr>
        <p:spPr>
          <a:xfrm>
            <a:off x="32670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af-svg-rect-0026-rect-01" descr="{&quot;autofigure_element_id&quot;:&quot;svg-rect-0026&quot;}"/>
          <p:cNvSpPr/>
          <p:nvPr/>
        </p:nvSpPr>
        <p:spPr>
          <a:xfrm>
            <a:off x="36766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af-svg-rect-0027-rect-01" descr="{&quot;autofigure_element_id&quot;:&quot;svg-rect-0027&quot;}"/>
          <p:cNvSpPr/>
          <p:nvPr/>
        </p:nvSpPr>
        <p:spPr>
          <a:xfrm>
            <a:off x="40862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af-ellipsis-left-later-row-dot-1-ellipse-01" descr="{&quot;autofigure_element_id&quot;:&quot;ellipsis-left-later-row-dot-1&quot;}"/>
          <p:cNvSpPr/>
          <p:nvPr/>
        </p:nvSpPr>
        <p:spPr>
          <a:xfrm>
            <a:off x="4555331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af-ellipsis-left-later-row-dot-2-ellipse-01" descr="{&quot;autofigure_element_id&quot;:&quot;ellipsis-left-later-row-dot-2&quot;}"/>
          <p:cNvSpPr/>
          <p:nvPr/>
        </p:nvSpPr>
        <p:spPr>
          <a:xfrm>
            <a:off x="4622006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af-ellipsis-left-later-row-dot-3-ellipse-01" descr="{&quot;autofigure_element_id&quot;:&quot;ellipsis-left-later-row-dot-3&quot;}"/>
          <p:cNvSpPr/>
          <p:nvPr/>
        </p:nvSpPr>
        <p:spPr>
          <a:xfrm>
            <a:off x="4688681" y="3807619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af-svg-rect-0028-rect-01" descr="{&quot;autofigure_element_id&quot;:&quot;svg-rect-0028&quot;}"/>
          <p:cNvSpPr/>
          <p:nvPr/>
        </p:nvSpPr>
        <p:spPr>
          <a:xfrm>
            <a:off x="482917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af-svg-rect-0029-rect-01" descr="{&quot;autofigure_element_id&quot;:&quot;svg-rect-0029&quot;}"/>
          <p:cNvSpPr/>
          <p:nvPr/>
        </p:nvSpPr>
        <p:spPr>
          <a:xfrm>
            <a:off x="523875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af-svg-rect-0030-rect-01" descr="{&quot;autofigure_element_id&quot;:&quot;svg-rect-0030&quot;}"/>
          <p:cNvSpPr/>
          <p:nvPr/>
        </p:nvSpPr>
        <p:spPr>
          <a:xfrm>
            <a:off x="5648325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af-svg-rect-0031-rect-01" descr="{&quot;autofigure_element_id&quot;:&quot;svg-rect-0031&quot;}"/>
          <p:cNvSpPr/>
          <p:nvPr/>
        </p:nvSpPr>
        <p:spPr>
          <a:xfrm>
            <a:off x="6057900" y="36861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af-svg-text-0012-text-01" descr="{&quot;autofigure_element_id&quot;:&quot;svg-text-0012&quot;}"/>
          <p:cNvSpPr txBox="1"/>
          <p:nvPr/>
        </p:nvSpPr>
        <p:spPr>
          <a:xfrm>
            <a:off x="2754392" y="3912394"/>
            <a:ext cx="549116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65" name="af-svg-text-0013-text-01" descr="{&quot;autofigure_element_id&quot;:&quot;svg-text-0013&quot;}"/>
          <p:cNvSpPr txBox="1"/>
          <p:nvPr/>
        </p:nvSpPr>
        <p:spPr>
          <a:xfrm>
            <a:off x="3113961" y="3912394"/>
            <a:ext cx="649129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66" name="af-svg-text-0014-text-01" descr="{&quot;autofigure_element_id&quot;:&quot;svg-text-0014&quot;}"/>
          <p:cNvSpPr txBox="1"/>
          <p:nvPr/>
        </p:nvSpPr>
        <p:spPr>
          <a:xfrm>
            <a:off x="3893820" y="3912394"/>
            <a:ext cx="727710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broken</a:t>
            </a:r>
          </a:p>
        </p:txBody>
      </p:sp>
      <p:sp>
        <p:nvSpPr>
          <p:cNvPr id="67" name="af-svg-text-0015-text-01" descr="{&quot;autofigure_element_id&quot;:&quot;svg-text-0015&quot;}"/>
          <p:cNvSpPr txBox="1"/>
          <p:nvPr/>
        </p:nvSpPr>
        <p:spPr>
          <a:xfrm>
            <a:off x="5026342" y="3960019"/>
            <a:ext cx="767715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68" name="af-svg-text-0016-text-01" descr="{&quot;autofigure_element_id&quot;:&quot;svg-text-0016&quot;}"/>
          <p:cNvSpPr txBox="1"/>
          <p:nvPr/>
        </p:nvSpPr>
        <p:spPr>
          <a:xfrm>
            <a:off x="5610225" y="3960019"/>
            <a:ext cx="419100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69" name="af-svg-text-0017-text-01" descr="{&quot;autofigure_element_id&quot;:&quot;svg-text-0017&quot;}"/>
          <p:cNvSpPr txBox="1"/>
          <p:nvPr/>
        </p:nvSpPr>
        <p:spPr>
          <a:xfrm>
            <a:off x="6029087" y="3960019"/>
            <a:ext cx="400526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>
                <a:solidFill>
                  <a:srgbClr val="F00000"/>
                </a:solidFill>
                <a:latin typeface="Times New Roman"/>
              </a:rPr>
              <a:t>B</a:t>
            </a:r>
          </a:p>
        </p:txBody>
      </p:sp>
      <p:sp>
        <p:nvSpPr>
          <p:cNvPr id="70" name="af-brace-left-later-rationale-under-freeform-01" descr="{&quot;autofigure_element_id&quot;:&quot;brace-left-later-rationale-under&quot;,&quot;primitive_spec_sha256&quot;:&quot;8d59cb0013aaa2f8e6894fb083ece3acbaad4abbb3bf9a947e2b7ab96578747e&quot;}"/>
          <p:cNvSpPr/>
          <p:nvPr/>
        </p:nvSpPr>
        <p:spPr>
          <a:xfrm>
            <a:off x="3228975" y="4257675"/>
            <a:ext cx="1009650" cy="123825"/>
          </a:xfrm>
          <a:custGeom>
            <a:avLst/>
            <a:gdLst/>
            <a:ahLst/>
            <a:cxnLst/>
            <a:rect l="0" t="0" r="0" b="0"/>
            <a:pathLst>
              <a:path w="1009650" h="123825">
                <a:moveTo>
                  <a:pt x="0" y="0"/>
                </a:moveTo>
                <a:lnTo>
                  <a:pt x="0" y="38100"/>
                </a:lnTo>
                <a:cubicBezTo>
                  <a:pt x="0" y="571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76200"/>
                  <a:pt x="504825" y="95250"/>
                </a:cubicBezTo>
                <a:lnTo>
                  <a:pt x="504825" y="123825"/>
                </a:lnTo>
                <a:moveTo>
                  <a:pt x="504825" y="123825"/>
                </a:moveTo>
                <a:lnTo>
                  <a:pt x="504825" y="95250"/>
                </a:lnTo>
                <a:cubicBezTo>
                  <a:pt x="504825" y="76200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5715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1" name="af-svg-text-0018-text-01" descr="{&quot;autofigure_element_id&quot;:&quot;svg-text-0018&quot;}"/>
          <p:cNvSpPr txBox="1"/>
          <p:nvPr/>
        </p:nvSpPr>
        <p:spPr>
          <a:xfrm rot="16200000">
            <a:off x="6247257" y="3543300"/>
            <a:ext cx="1069086" cy="8001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72" name="af-brace-left-later-step-side-freeform-01" descr="{&quot;autofigure_element_id&quot;:&quot;brace-left-later-step-side&quot;,&quot;primitive_spec_sha256&quot;:&quot;de0952819aefecdd272f0f4fc3751a530c60c180d99cf15db867b57e226f63ec&quot;}"/>
          <p:cNvSpPr/>
          <p:nvPr/>
        </p:nvSpPr>
        <p:spPr>
          <a:xfrm>
            <a:off x="6496050" y="3457575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3500" y="0"/>
                  <a:pt x="76200" y="19050"/>
                  <a:pt x="76200" y="57150"/>
                </a:cubicBezTo>
                <a:lnTo>
                  <a:pt x="76200" y="314325"/>
                </a:lnTo>
                <a:cubicBezTo>
                  <a:pt x="76200" y="346075"/>
                  <a:pt x="88900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88900" y="361950"/>
                  <a:pt x="76200" y="377825"/>
                  <a:pt x="76200" y="409575"/>
                </a:cubicBezTo>
                <a:lnTo>
                  <a:pt x="76200" y="666750"/>
                </a:lnTo>
                <a:cubicBezTo>
                  <a:pt x="76200" y="704850"/>
                  <a:pt x="63500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73" name="af-caption-left-later-line1-text-01" descr="{&quot;autofigure_element_id&quot;:&quot;caption-left-later-line1&quot;}"/>
          <p:cNvSpPr txBox="1"/>
          <p:nvPr/>
        </p:nvSpPr>
        <p:spPr>
          <a:xfrm>
            <a:off x="2830092" y="4319349"/>
            <a:ext cx="1807416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74" name="af-caption-left-later-line2-text-01" descr="{&quot;autofigure_element_id&quot;:&quot;caption-left-later-line2&quot;}"/>
          <p:cNvSpPr txBox="1"/>
          <p:nvPr/>
        </p:nvSpPr>
        <p:spPr>
          <a:xfrm>
            <a:off x="2940606" y="4547949"/>
            <a:ext cx="1586389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F00000"/>
                </a:solidFill>
                <a:latin typeface="Times New Roman"/>
              </a:rPr>
              <a:t>after answering</a:t>
            </a:r>
          </a:p>
        </p:txBody>
      </p:sp>
      <p:sp>
        <p:nvSpPr>
          <p:cNvPr id="75" name="af-svg-rect-0032-rect-01" descr="{&quot;autofigure_element_id&quot;:&quot;svg-rect-0032&quot;}"/>
          <p:cNvSpPr/>
          <p:nvPr/>
        </p:nvSpPr>
        <p:spPr>
          <a:xfrm>
            <a:off x="257175" y="2238375"/>
            <a:ext cx="2409825" cy="17145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288">
            <a:solidFill>
              <a:srgbClr val="80808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af-svg-rect-0033-rect-01" descr="{&quot;autofigure_element_id&quot;:&quot;svg-rect-0033&quot;}"/>
          <p:cNvSpPr/>
          <p:nvPr/>
        </p:nvSpPr>
        <p:spPr>
          <a:xfrm>
            <a:off x="381000" y="24479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af-svg-text-0021-text-01" descr="{&quot;autofigure_element_id&quot;:&quot;svg-text-0021&quot;}"/>
          <p:cNvSpPr txBox="1"/>
          <p:nvPr/>
        </p:nvSpPr>
        <p:spPr>
          <a:xfrm>
            <a:off x="809625" y="2475071"/>
            <a:ext cx="1185672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Mask Token</a:t>
            </a:r>
          </a:p>
        </p:txBody>
      </p:sp>
      <p:sp>
        <p:nvSpPr>
          <p:cNvPr id="78" name="af-svg-rect-0034-rect-01" descr="{&quot;autofigure_element_id&quot;:&quot;svg-rect-0034&quot;}"/>
          <p:cNvSpPr/>
          <p:nvPr/>
        </p:nvSpPr>
        <p:spPr>
          <a:xfrm>
            <a:off x="381000" y="290512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DAE8FC"/>
          </a:solidFill>
          <a:ln w="9525">
            <a:solidFill>
              <a:srgbClr val="9AB8E0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af-svg-text-0022-text-01" descr="{&quot;autofigure_element_id&quot;:&quot;svg-text-0022&quot;}"/>
          <p:cNvSpPr txBox="1"/>
          <p:nvPr/>
        </p:nvSpPr>
        <p:spPr>
          <a:xfrm>
            <a:off x="809625" y="2913221"/>
            <a:ext cx="1868995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Less Visual-grounded</a:t>
            </a:r>
          </a:p>
        </p:txBody>
      </p:sp>
      <p:sp>
        <p:nvSpPr>
          <p:cNvPr id="80" name="af-svg-text-0023-text-01" descr="{&quot;autofigure_element_id&quot;:&quot;svg-text-0023&quot;}"/>
          <p:cNvSpPr txBox="1"/>
          <p:nvPr/>
        </p:nvSpPr>
        <p:spPr>
          <a:xfrm>
            <a:off x="809625" y="3122771"/>
            <a:ext cx="1263396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1" name="af-svg-rect-0035-rect-01" descr="{&quot;autofigure_element_id&quot;:&quot;svg-rect-0035&quot;}"/>
          <p:cNvSpPr/>
          <p:nvPr/>
        </p:nvSpPr>
        <p:spPr>
          <a:xfrm>
            <a:off x="381000" y="3381375"/>
            <a:ext cx="352425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af-svg-text-0024-text-01" descr="{&quot;autofigure_element_id&quot;:&quot;svg-text-0024&quot;}"/>
          <p:cNvSpPr txBox="1"/>
          <p:nvPr/>
        </p:nvSpPr>
        <p:spPr>
          <a:xfrm>
            <a:off x="809625" y="3389471"/>
            <a:ext cx="1872234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More Visual-grounded</a:t>
            </a:r>
          </a:p>
        </p:txBody>
      </p:sp>
      <p:sp>
        <p:nvSpPr>
          <p:cNvPr id="83" name="af-svg-text-0025-text-01" descr="{&quot;autofigure_element_id&quot;:&quot;svg-text-0025&quot;}"/>
          <p:cNvSpPr txBox="1"/>
          <p:nvPr/>
        </p:nvSpPr>
        <p:spPr>
          <a:xfrm>
            <a:off x="809625" y="3599021"/>
            <a:ext cx="1263396" cy="392906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>
                <a:solidFill>
                  <a:srgbClr val="1A1A1A"/>
                </a:solidFill>
                <a:latin typeface="Times New Roman"/>
              </a:rPr>
              <a:t>Output Token</a:t>
            </a:r>
          </a:p>
        </p:txBody>
      </p:sp>
      <p:sp>
        <p:nvSpPr>
          <p:cNvPr id="84" name="af-svg-text-0026-text-01" descr="{&quot;autofigure_element_id&quot;:&quot;svg-text-0026&quot;}"/>
          <p:cNvSpPr txBox="1"/>
          <p:nvPr/>
        </p:nvSpPr>
        <p:spPr>
          <a:xfrm>
            <a:off x="1383030" y="5010150"/>
            <a:ext cx="2948940" cy="2667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(a) Baseline dMLLM Inference.</a:t>
            </a:r>
          </a:p>
        </p:txBody>
      </p:sp>
      <p:sp>
        <p:nvSpPr>
          <p:cNvPr id="85" name="af-svg-text-0027-text-01" descr="{&quot;autofigure_element_id&quot;:&quot;svg-text-0027&quot;}"/>
          <p:cNvSpPr txBox="1"/>
          <p:nvPr/>
        </p:nvSpPr>
        <p:spPr>
          <a:xfrm>
            <a:off x="7584329" y="94774"/>
            <a:ext cx="795242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Image</a:t>
            </a:r>
          </a:p>
        </p:txBody>
      </p:sp>
      <p:sp>
        <p:nvSpPr>
          <p:cNvPr id="86" name="af-svg-text-0028-text-01" descr="{&quot;autofigure_element_id&quot;:&quot;svg-text-0028&quot;}"/>
          <p:cNvSpPr txBox="1"/>
          <p:nvPr/>
        </p:nvSpPr>
        <p:spPr>
          <a:xfrm>
            <a:off x="8878491" y="94774"/>
            <a:ext cx="892969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Prompt</a:t>
            </a:r>
          </a:p>
        </p:txBody>
      </p:sp>
      <p:sp>
        <p:nvSpPr>
          <p:cNvPr id="87" name="af-svg-text-0029-text-01" descr="{&quot;autofigure_element_id&quot;:&quot;svg-text-0029&quot;}"/>
          <p:cNvSpPr txBox="1"/>
          <p:nvPr/>
        </p:nvSpPr>
        <p:spPr>
          <a:xfrm>
            <a:off x="11306699" y="94774"/>
            <a:ext cx="1084802" cy="416719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25" b="1">
                <a:solidFill>
                  <a:srgbClr val="1A1A1A"/>
                </a:solidFill>
                <a:latin typeface="Times New Roman"/>
              </a:rPr>
              <a:t>Response</a:t>
            </a:r>
          </a:p>
        </p:txBody>
      </p:sp>
      <p:sp>
        <p:nvSpPr>
          <p:cNvPr id="88" name="af-brace-top-right-image-freeform-01" descr="{&quot;autofigure_element_id&quot;:&quot;brace-top-right-image&quot;,&quot;primitive_spec_sha256&quot;:&quot;d05155485ade0decfedb8588bd0d048b5426fca0f64a43989706076d9a10b77e&quot;}"/>
          <p:cNvSpPr/>
          <p:nvPr/>
        </p:nvSpPr>
        <p:spPr>
          <a:xfrm>
            <a:off x="7620000" y="342900"/>
            <a:ext cx="1009650" cy="133350"/>
          </a:xfrm>
          <a:custGeom>
            <a:avLst/>
            <a:gdLst/>
            <a:ahLst/>
            <a:cxnLst/>
            <a:rect l="0" t="0" r="0" b="0"/>
            <a:pathLst>
              <a:path w="1009650" h="133350">
                <a:moveTo>
                  <a:pt x="0" y="133350"/>
                </a:moveTo>
                <a:lnTo>
                  <a:pt x="0" y="95250"/>
                </a:lnTo>
                <a:cubicBezTo>
                  <a:pt x="0" y="69850"/>
                  <a:pt x="19050" y="57150"/>
                  <a:pt x="57150" y="57150"/>
                </a:cubicBezTo>
                <a:lnTo>
                  <a:pt x="457200" y="57150"/>
                </a:lnTo>
                <a:cubicBezTo>
                  <a:pt x="488950" y="57150"/>
                  <a:pt x="504825" y="4762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47625"/>
                  <a:pt x="520700" y="57150"/>
                  <a:pt x="552450" y="57150"/>
                </a:cubicBezTo>
                <a:lnTo>
                  <a:pt x="952500" y="57150"/>
                </a:lnTo>
                <a:cubicBezTo>
                  <a:pt x="990600" y="57150"/>
                  <a:pt x="1009650" y="69850"/>
                  <a:pt x="1009650" y="95250"/>
                </a:cubicBezTo>
                <a:lnTo>
                  <a:pt x="1009650" y="13335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89" name="af-brace-top-right-prompt-freeform-01" descr="{&quot;autofigure_element_id&quot;:&quot;brace-top-right-prompt&quot;,&quot;primitive_spec_sha256&quot;:&quot;70001b40e30efd9956ba25043546a4f497dc07a329bf7d203e5d9500bb5cbacc&quot;}"/>
          <p:cNvSpPr/>
          <p:nvPr/>
        </p:nvSpPr>
        <p:spPr>
          <a:xfrm>
            <a:off x="8972550" y="33337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457200" y="66675"/>
                </a:lnTo>
                <a:cubicBezTo>
                  <a:pt x="488950" y="66675"/>
                  <a:pt x="504825" y="53975"/>
                  <a:pt x="504825" y="28575"/>
                </a:cubicBezTo>
                <a:lnTo>
                  <a:pt x="504825" y="0"/>
                </a:lnTo>
                <a:moveTo>
                  <a:pt x="504825" y="0"/>
                </a:moveTo>
                <a:lnTo>
                  <a:pt x="504825" y="28575"/>
                </a:lnTo>
                <a:cubicBezTo>
                  <a:pt x="504825" y="53975"/>
                  <a:pt x="520700" y="66675"/>
                  <a:pt x="552450" y="66675"/>
                </a:cubicBezTo>
                <a:lnTo>
                  <a:pt x="952500" y="66675"/>
                </a:lnTo>
                <a:cubicBezTo>
                  <a:pt x="990600" y="66675"/>
                  <a:pt x="1009650" y="82550"/>
                  <a:pt x="1009650" y="114300"/>
                </a:cubicBezTo>
                <a:lnTo>
                  <a:pt x="100965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90" name="af-brace-top-right-response-freeform-01" descr="{&quot;autofigure_element_id&quot;:&quot;brace-top-right-response&quot;,&quot;primitive_spec_sha256&quot;:&quot;299d9c484ba8d7ce5aa0938b40a49c8a4e0ed7004a58e0c34c478045ce8866cf&quot;}"/>
          <p:cNvSpPr/>
          <p:nvPr/>
        </p:nvSpPr>
        <p:spPr>
          <a:xfrm>
            <a:off x="10315575" y="333375"/>
            <a:ext cx="3352800" cy="152400"/>
          </a:xfrm>
          <a:custGeom>
            <a:avLst/>
            <a:gdLst/>
            <a:ahLst/>
            <a:cxnLst/>
            <a:rect l="0" t="0" r="0" b="0"/>
            <a:pathLst>
              <a:path w="3352800" h="152400">
                <a:moveTo>
                  <a:pt x="0" y="152400"/>
                </a:moveTo>
                <a:lnTo>
                  <a:pt x="0" y="114300"/>
                </a:lnTo>
                <a:cubicBezTo>
                  <a:pt x="0" y="82550"/>
                  <a:pt x="19050" y="66675"/>
                  <a:pt x="57150" y="66675"/>
                </a:cubicBezTo>
                <a:lnTo>
                  <a:pt x="1628775" y="66675"/>
                </a:lnTo>
                <a:cubicBezTo>
                  <a:pt x="1660525" y="66675"/>
                  <a:pt x="1676400" y="53975"/>
                  <a:pt x="1676400" y="28575"/>
                </a:cubicBezTo>
                <a:lnTo>
                  <a:pt x="1676400" y="0"/>
                </a:lnTo>
                <a:moveTo>
                  <a:pt x="1676400" y="0"/>
                </a:moveTo>
                <a:lnTo>
                  <a:pt x="1676400" y="28575"/>
                </a:lnTo>
                <a:cubicBezTo>
                  <a:pt x="1676400" y="53975"/>
                  <a:pt x="1692275" y="66675"/>
                  <a:pt x="1724025" y="66675"/>
                </a:cubicBezTo>
                <a:lnTo>
                  <a:pt x="3295650" y="66675"/>
                </a:lnTo>
                <a:cubicBezTo>
                  <a:pt x="3333750" y="66675"/>
                  <a:pt x="3352800" y="82550"/>
                  <a:pt x="3352800" y="114300"/>
                </a:cubicBezTo>
                <a:lnTo>
                  <a:pt x="3352800" y="1524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91" name="af-svg-rect-0036-rect-01" descr="{&quot;autofigure_element_id&quot;:&quot;svg-rect-0036&quot;}"/>
          <p:cNvSpPr/>
          <p:nvPr/>
        </p:nvSpPr>
        <p:spPr>
          <a:xfrm>
            <a:off x="7400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af-svg-rect-0037-rect-01" descr="{&quot;autofigure_element_id&quot;:&quot;svg-rect-0037&quot;}"/>
          <p:cNvSpPr/>
          <p:nvPr/>
        </p:nvSpPr>
        <p:spPr>
          <a:xfrm>
            <a:off x="7810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af-svg-rect-0038-rect-01" descr="{&quot;autofigure_element_id&quot;:&quot;svg-rect-0038&quot;}"/>
          <p:cNvSpPr/>
          <p:nvPr/>
        </p:nvSpPr>
        <p:spPr>
          <a:xfrm>
            <a:off x="8220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FFAE6"/>
          </a:solidFill>
          <a:ln w="9525">
            <a:solidFill>
              <a:srgbClr val="E0D5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af-svg-rect-0039-rect-01" descr="{&quot;autofigure_element_id&quot;:&quot;svg-rect-0039&quot;}"/>
          <p:cNvSpPr/>
          <p:nvPr/>
        </p:nvSpPr>
        <p:spPr>
          <a:xfrm>
            <a:off x="87439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af-svg-rect-0040-rect-01" descr="{&quot;autofigure_element_id&quot;:&quot;svg-rect-0040&quot;}"/>
          <p:cNvSpPr/>
          <p:nvPr/>
        </p:nvSpPr>
        <p:spPr>
          <a:xfrm>
            <a:off x="91535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af-svg-rect-0041-rect-01" descr="{&quot;autofigure_element_id&quot;:&quot;svg-rect-0041&quot;}"/>
          <p:cNvSpPr/>
          <p:nvPr/>
        </p:nvSpPr>
        <p:spPr>
          <a:xfrm>
            <a:off x="95631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D5E8D4"/>
          </a:solidFill>
          <a:ln w="9525">
            <a:solidFill>
              <a:srgbClr val="97C79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af-svg-rect-0042-rect-01" descr="{&quot;autofigure_element_id&quot;:&quot;svg-rect-0042&quot;}"/>
          <p:cNvSpPr/>
          <p:nvPr/>
        </p:nvSpPr>
        <p:spPr>
          <a:xfrm>
            <a:off x="100679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af-svg-rect-0043-rect-01" descr="{&quot;autofigure_element_id&quot;:&quot;svg-rect-0043&quot;}"/>
          <p:cNvSpPr/>
          <p:nvPr/>
        </p:nvSpPr>
        <p:spPr>
          <a:xfrm>
            <a:off x="104775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af-svg-rect-0044-rect-01" descr="{&quot;autofigure_element_id&quot;:&quot;svg-rect-0044&quot;}"/>
          <p:cNvSpPr/>
          <p:nvPr/>
        </p:nvSpPr>
        <p:spPr>
          <a:xfrm>
            <a:off x="108870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af-svg-rect-0045-rect-01" descr="{&quot;autofigure_element_id&quot;:&quot;svg-rect-0045&quot;}"/>
          <p:cNvSpPr/>
          <p:nvPr/>
        </p:nvSpPr>
        <p:spPr>
          <a:xfrm>
            <a:off x="112966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af-svg-circle-0013-ellipse-01" descr="{&quot;autofigure_element_id&quot;:&quot;svg-circle-0013&quot;}"/>
          <p:cNvSpPr/>
          <p:nvPr/>
        </p:nvSpPr>
        <p:spPr>
          <a:xfrm>
            <a:off x="117424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af-svg-circle-0014-ellipse-01" descr="{&quot;autofigure_element_id&quot;:&quot;svg-circle-0014&quot;}"/>
          <p:cNvSpPr/>
          <p:nvPr/>
        </p:nvSpPr>
        <p:spPr>
          <a:xfrm>
            <a:off x="118186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af-svg-circle-0015-ellipse-01" descr="{&quot;autofigure_element_id&quot;:&quot;svg-circle-0015&quot;}"/>
          <p:cNvSpPr/>
          <p:nvPr/>
        </p:nvSpPr>
        <p:spPr>
          <a:xfrm>
            <a:off x="11894820" y="683895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af-svg-rect-0046-rect-01" descr="{&quot;autofigure_element_id&quot;:&quot;svg-rect-0046&quot;}"/>
          <p:cNvSpPr/>
          <p:nvPr/>
        </p:nvSpPr>
        <p:spPr>
          <a:xfrm>
            <a:off x="1202055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af-svg-rect-0047-rect-01" descr="{&quot;autofigure_element_id&quot;:&quot;svg-rect-0047&quot;}"/>
          <p:cNvSpPr/>
          <p:nvPr/>
        </p:nvSpPr>
        <p:spPr>
          <a:xfrm>
            <a:off x="1243012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af-svg-rect-0048-rect-01" descr="{&quot;autofigure_element_id&quot;:&quot;svg-rect-0048&quot;}"/>
          <p:cNvSpPr/>
          <p:nvPr/>
        </p:nvSpPr>
        <p:spPr>
          <a:xfrm>
            <a:off x="12839700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af-svg-rect-0049-rect-01" descr="{&quot;autofigure_element_id&quot;:&quot;svg-rect-0049&quot;}"/>
          <p:cNvSpPr/>
          <p:nvPr/>
        </p:nvSpPr>
        <p:spPr>
          <a:xfrm>
            <a:off x="13249275" y="581025"/>
            <a:ext cx="342900" cy="247650"/>
          </a:xfrm>
          <a:prstGeom prst="roundRect">
            <a:avLst>
              <a:gd name="adj" fmla="val 19230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8" name="af-arrow-right-input-to-model-connector-01" descr="{&quot;arrow_spec_sha256&quot;:&quot;d9d2990749d4db18c0f9d45867d0fa1035aff65a9a51f3eb016c2b75d024da53&quot;,&quot;autofigure_element_id&quot;:&quot;arrow-right-input-to-model&quot;}"/>
          <p:cNvCxnSpPr/>
          <p:nvPr/>
        </p:nvCxnSpPr>
        <p:spPr>
          <a:xfrm>
            <a:off x="12001500" y="838200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af-svg-rect-0050-rect-01" descr="{&quot;autofigure_element_id&quot;:&quot;svg-rect-0050&quot;}"/>
          <p:cNvSpPr/>
          <p:nvPr/>
        </p:nvSpPr>
        <p:spPr>
          <a:xfrm>
            <a:off x="7353300" y="1162050"/>
            <a:ext cx="6334125" cy="381000"/>
          </a:xfrm>
          <a:prstGeom prst="roundRect">
            <a:avLst>
              <a:gd name="adj" fmla="val 20000"/>
            </a:avLst>
          </a:prstGeom>
          <a:solidFill>
            <a:srgbClr val="F8CECC"/>
          </a:solidFill>
          <a:ln w="9525">
            <a:solidFill>
              <a:srgbClr val="DCA3A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af-svg-text-0030-text-01" descr="{&quot;autofigure_element_id&quot;:&quot;svg-text-0030&quot;}"/>
          <p:cNvSpPr txBox="1"/>
          <p:nvPr/>
        </p:nvSpPr>
        <p:spPr>
          <a:xfrm>
            <a:off x="9559671" y="1220152"/>
            <a:ext cx="3816858" cy="452438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>
                <a:solidFill>
                  <a:srgbClr val="1A1A1A"/>
                </a:solidFill>
                <a:latin typeface="Times New Roman"/>
              </a:rPr>
              <a:t>Diffusion Multimodal Language Model</a:t>
            </a:r>
          </a:p>
        </p:txBody>
      </p:sp>
      <p:cxnSp>
        <p:nvCxnSpPr>
          <p:cNvPr id="111" name="af-arrow-right-model-to-early-step-connector-01" descr="{&quot;arrow_spec_sha256&quot;:&quot;ea2d49f84482f4086ef839b0e6351c249977a2d2322b9c9d68623cd4604c8b9c&quot;,&quot;autofigure_element_id&quot;:&quot;arrow-right-model-to-early-step&quot;}"/>
          <p:cNvCxnSpPr/>
          <p:nvPr/>
        </p:nvCxnSpPr>
        <p:spPr>
          <a:xfrm>
            <a:off x="12001500" y="1733550"/>
            <a:ext cx="0" cy="4857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af-svg-text-0031-text-01" descr="{&quot;autofigure_element_id&quot;:&quot;svg-text-0031&quot;}"/>
          <p:cNvSpPr txBox="1"/>
          <p:nvPr/>
        </p:nvSpPr>
        <p:spPr>
          <a:xfrm>
            <a:off x="12004358" y="1790700"/>
            <a:ext cx="1861185" cy="428625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1A1A1A"/>
                </a:solidFill>
                <a:latin typeface="Times New Roman"/>
              </a:rPr>
              <a:t>Ours (PSP &amp; VRG)</a:t>
            </a:r>
          </a:p>
        </p:txBody>
      </p:sp>
      <p:sp>
        <p:nvSpPr>
          <p:cNvPr id="113" name="af-svg-rect-0051-rect-01" descr="{&quot;autofigure_element_id&quot;:&quot;svg-rect-0051&quot;}"/>
          <p:cNvSpPr/>
          <p:nvPr/>
        </p:nvSpPr>
        <p:spPr>
          <a:xfrm>
            <a:off x="102108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af-svg-rect-0052-rect-01" descr="{&quot;autofigure_element_id&quot;:&quot;svg-rect-0052&quot;}"/>
          <p:cNvSpPr/>
          <p:nvPr/>
        </p:nvSpPr>
        <p:spPr>
          <a:xfrm>
            <a:off x="106203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af-svg-rect-0053-rect-01" descr="{&quot;autofigure_element_id&quot;:&quot;svg-rect-0053&quot;}"/>
          <p:cNvSpPr/>
          <p:nvPr/>
        </p:nvSpPr>
        <p:spPr>
          <a:xfrm>
            <a:off x="110299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af-svg-rect-0054-rect-01" descr="{&quot;autofigure_element_id&quot;:&quot;svg-rect-0054&quot;}"/>
          <p:cNvSpPr/>
          <p:nvPr/>
        </p:nvSpPr>
        <p:spPr>
          <a:xfrm>
            <a:off x="114395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af-svg-circle-0016-ellipse-01" descr="{&quot;autofigure_element_id&quot;:&quot;svg-circle-0016&quot;}"/>
          <p:cNvSpPr/>
          <p:nvPr/>
        </p:nvSpPr>
        <p:spPr>
          <a:xfrm>
            <a:off x="118852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af-svg-circle-0017-ellipse-01" descr="{&quot;autofigure_element_id&quot;:&quot;svg-circle-0017&quot;}"/>
          <p:cNvSpPr/>
          <p:nvPr/>
        </p:nvSpPr>
        <p:spPr>
          <a:xfrm>
            <a:off x="119614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af-svg-circle-0018-ellipse-01" descr="{&quot;autofigure_element_id&quot;:&quot;svg-circle-0018&quot;}"/>
          <p:cNvSpPr/>
          <p:nvPr/>
        </p:nvSpPr>
        <p:spPr>
          <a:xfrm>
            <a:off x="12037695" y="2274570"/>
            <a:ext cx="41910" cy="41910"/>
          </a:xfrm>
          <a:prstGeom prst="ellipse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af-svg-rect-0055-rect-01" descr="{&quot;autofigure_element_id&quot;:&quot;svg-rect-0055&quot;}"/>
          <p:cNvSpPr/>
          <p:nvPr/>
        </p:nvSpPr>
        <p:spPr>
          <a:xfrm>
            <a:off x="1216342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af-svg-rect-0056-rect-01" descr="{&quot;autofigure_element_id&quot;:&quot;svg-rect-0056&quot;}"/>
          <p:cNvSpPr/>
          <p:nvPr/>
        </p:nvSpPr>
        <p:spPr>
          <a:xfrm>
            <a:off x="1257300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af-svg-rect-0057-rect-01" descr="{&quot;autofigure_element_id&quot;:&quot;svg-rect-0057&quot;}"/>
          <p:cNvSpPr/>
          <p:nvPr/>
        </p:nvSpPr>
        <p:spPr>
          <a:xfrm>
            <a:off x="12982575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af-svg-rect-0058-rect-01" descr="{&quot;autofigure_element_id&quot;:&quot;svg-rect-0058&quot;}"/>
          <p:cNvSpPr/>
          <p:nvPr/>
        </p:nvSpPr>
        <p:spPr>
          <a:xfrm>
            <a:off x="13392150" y="216217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af-svg-text-0032-text-01" descr="{&quot;autofigure_element_id&quot;:&quot;svg-text-0032&quot;}"/>
          <p:cNvSpPr txBox="1"/>
          <p:nvPr/>
        </p:nvSpPr>
        <p:spPr>
          <a:xfrm>
            <a:off x="10476786" y="2407444"/>
            <a:ext cx="649129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25" name="af-svg-text-0033-text-01" descr="{&quot;autofigure_element_id&quot;:&quot;svg-text-0033&quot;}"/>
          <p:cNvSpPr txBox="1"/>
          <p:nvPr/>
        </p:nvSpPr>
        <p:spPr>
          <a:xfrm>
            <a:off x="11373802" y="2407444"/>
            <a:ext cx="493395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26" name="af-brace-right-early-rationale-under-freeform-01" descr="{&quot;autofigure_element_id&quot;:&quot;brace-right-early-rationale-under&quot;,&quot;primitive_spec_sha256&quot;:&quot;6d80d7a4a43033d62f97430451ca3777c54dd3458c17268b41880e17ac8fcc83&quot;}"/>
          <p:cNvSpPr/>
          <p:nvPr/>
        </p:nvSpPr>
        <p:spPr>
          <a:xfrm>
            <a:off x="10715625" y="2743200"/>
            <a:ext cx="1009650" cy="133350"/>
          </a:xfrm>
          <a:custGeom>
            <a:avLst/>
            <a:gdLst/>
            <a:ahLst/>
            <a:cxnLst/>
            <a:rect l="0" t="0" r="0" b="0"/>
            <a:pathLst>
              <a:path w="1009650" h="133350">
                <a:moveTo>
                  <a:pt x="0" y="0"/>
                </a:moveTo>
                <a:lnTo>
                  <a:pt x="0" y="38100"/>
                </a:lnTo>
                <a:cubicBezTo>
                  <a:pt x="0" y="63500"/>
                  <a:pt x="19050" y="76200"/>
                  <a:pt x="57150" y="76200"/>
                </a:cubicBezTo>
                <a:lnTo>
                  <a:pt x="457200" y="76200"/>
                </a:lnTo>
                <a:cubicBezTo>
                  <a:pt x="488950" y="76200"/>
                  <a:pt x="504825" y="85725"/>
                  <a:pt x="504825" y="104775"/>
                </a:cubicBezTo>
                <a:lnTo>
                  <a:pt x="504825" y="133350"/>
                </a:lnTo>
                <a:moveTo>
                  <a:pt x="504825" y="133350"/>
                </a:moveTo>
                <a:lnTo>
                  <a:pt x="504825" y="104775"/>
                </a:lnTo>
                <a:cubicBezTo>
                  <a:pt x="504825" y="85725"/>
                  <a:pt x="520700" y="76200"/>
                  <a:pt x="552450" y="76200"/>
                </a:cubicBezTo>
                <a:lnTo>
                  <a:pt x="952500" y="76200"/>
                </a:lnTo>
                <a:cubicBezTo>
                  <a:pt x="990600" y="76200"/>
                  <a:pt x="1009650" y="63500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27" name="af-svg-text-0034-text-01" descr="{&quot;autofigure_element_id&quot;:&quot;svg-text-0034&quot;}"/>
          <p:cNvSpPr txBox="1"/>
          <p:nvPr/>
        </p:nvSpPr>
        <p:spPr>
          <a:xfrm rot="16200000">
            <a:off x="13954125" y="1885950"/>
            <a:ext cx="457200" cy="8001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Early Step</a:t>
            </a:r>
          </a:p>
        </p:txBody>
      </p:sp>
      <p:sp>
        <p:nvSpPr>
          <p:cNvPr id="128" name="af-brace-right-early-step-side-freeform-01" descr="{&quot;autofigure_element_id&quot;:&quot;brace-right-early-step-side&quot;,&quot;primitive_spec_sha256&quot;:&quot;8ef8f0f660d58bd192880aafda538f76bad8648401fe9c3fb3cf522b10bc4cf2&quot;}"/>
          <p:cNvSpPr/>
          <p:nvPr/>
        </p:nvSpPr>
        <p:spPr>
          <a:xfrm>
            <a:off x="13849350" y="1933575"/>
            <a:ext cx="152400" cy="723900"/>
          </a:xfrm>
          <a:custGeom>
            <a:avLst/>
            <a:gdLst/>
            <a:ahLst/>
            <a:cxnLst/>
            <a:rect l="0" t="0" r="0" b="0"/>
            <a:pathLst>
              <a:path w="152400" h="723900">
                <a:moveTo>
                  <a:pt x="0" y="0"/>
                </a:moveTo>
                <a:lnTo>
                  <a:pt x="38100" y="0"/>
                </a:lnTo>
                <a:cubicBezTo>
                  <a:pt x="66675" y="0"/>
                  <a:pt x="80962" y="19050"/>
                  <a:pt x="80962" y="57150"/>
                </a:cubicBezTo>
                <a:lnTo>
                  <a:pt x="80962" y="314325"/>
                </a:lnTo>
                <a:cubicBezTo>
                  <a:pt x="80962" y="346075"/>
                  <a:pt x="95250" y="361950"/>
                  <a:pt x="123825" y="361950"/>
                </a:cubicBezTo>
                <a:lnTo>
                  <a:pt x="152400" y="361950"/>
                </a:lnTo>
                <a:moveTo>
                  <a:pt x="152400" y="361950"/>
                </a:moveTo>
                <a:lnTo>
                  <a:pt x="123825" y="361950"/>
                </a:lnTo>
                <a:cubicBezTo>
                  <a:pt x="95250" y="361950"/>
                  <a:pt x="80962" y="377825"/>
                  <a:pt x="80962" y="409575"/>
                </a:cubicBezTo>
                <a:lnTo>
                  <a:pt x="80962" y="666750"/>
                </a:lnTo>
                <a:cubicBezTo>
                  <a:pt x="80962" y="704850"/>
                  <a:pt x="66675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29" name="af-caption-right-early-line1-text-01" descr="{&quot;autofigure_element_id&quot;:&quot;caption-right-early-line1&quot;}"/>
          <p:cNvSpPr txBox="1"/>
          <p:nvPr/>
        </p:nvSpPr>
        <p:spPr>
          <a:xfrm>
            <a:off x="10321504" y="2804874"/>
            <a:ext cx="1807416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Generate rationale</a:t>
            </a:r>
          </a:p>
        </p:txBody>
      </p:sp>
      <p:sp>
        <p:nvSpPr>
          <p:cNvPr id="130" name="af-caption-right-early-line2-text-01" descr="{&quot;autofigure_element_id&quot;:&quot;caption-right-early-line2&quot;}"/>
          <p:cNvSpPr txBox="1"/>
          <p:nvPr/>
        </p:nvSpPr>
        <p:spPr>
          <a:xfrm>
            <a:off x="10366081" y="3033474"/>
            <a:ext cx="1718262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before answering</a:t>
            </a:r>
          </a:p>
        </p:txBody>
      </p:sp>
      <p:sp>
        <p:nvSpPr>
          <p:cNvPr id="131" name="af-ellipsis-right-transition-dot-1-ellipse-01" descr="{&quot;autofigure_element_id&quot;:&quot;ellipsis-right-transition-dot-1&quot;}"/>
          <p:cNvSpPr/>
          <p:nvPr/>
        </p:nvSpPr>
        <p:spPr>
          <a:xfrm>
            <a:off x="11982450" y="308610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af-ellipsis-right-transition-dot-2-ellipse-01" descr="{&quot;autofigure_element_id&quot;:&quot;ellipsis-right-transition-dot-2&quot;}"/>
          <p:cNvSpPr/>
          <p:nvPr/>
        </p:nvSpPr>
        <p:spPr>
          <a:xfrm>
            <a:off x="11982450" y="3152775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af-ellipsis-right-transition-dot-3-ellipse-01" descr="{&quot;autofigure_element_id&quot;:&quot;ellipsis-right-transition-dot-3&quot;}"/>
          <p:cNvSpPr/>
          <p:nvPr/>
        </p:nvSpPr>
        <p:spPr>
          <a:xfrm>
            <a:off x="11982450" y="3219450"/>
            <a:ext cx="19050" cy="190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4" name="af-arrow-right-to-later-step-connector-01" descr="{&quot;arrow_spec_sha256&quot;:&quot;e7e136ff9f33cc6b22a45e192f198b21761f1ce4933aff86d4e706c0a497217a&quot;,&quot;autofigure_element_id&quot;:&quot;arrow-right-to-later-step&quot;}"/>
          <p:cNvCxnSpPr/>
          <p:nvPr/>
        </p:nvCxnSpPr>
        <p:spPr>
          <a:xfrm>
            <a:off x="11991975" y="3381375"/>
            <a:ext cx="0" cy="219075"/>
          </a:xfrm>
          <a:prstGeom prst="line">
            <a:avLst/>
          </a:prstGeom>
          <a:ln w="19050">
            <a:solidFill>
              <a:srgbClr val="000000"/>
            </a:solidFill>
            <a:miter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af-svg-rect-0059-rect-01" descr="{&quot;autofigure_element_id&quot;:&quot;svg-rect-0059&quot;}"/>
          <p:cNvSpPr/>
          <p:nvPr/>
        </p:nvSpPr>
        <p:spPr>
          <a:xfrm>
            <a:off x="101917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af-svg-rect-0060-rect-01" descr="{&quot;autofigure_element_id&quot;:&quot;svg-rect-0060&quot;}"/>
          <p:cNvSpPr/>
          <p:nvPr/>
        </p:nvSpPr>
        <p:spPr>
          <a:xfrm>
            <a:off x="106013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af-svg-rect-0061-rect-01" descr="{&quot;autofigure_element_id&quot;:&quot;svg-rect-0061&quot;}"/>
          <p:cNvSpPr/>
          <p:nvPr/>
        </p:nvSpPr>
        <p:spPr>
          <a:xfrm>
            <a:off x="110109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af-svg-rect-0062-rect-01" descr="{&quot;autofigure_element_id&quot;:&quot;svg-rect-0062&quot;}"/>
          <p:cNvSpPr/>
          <p:nvPr/>
        </p:nvSpPr>
        <p:spPr>
          <a:xfrm>
            <a:off x="114204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af-ellipsis-right-later-row-dot-1-ellipse-01" descr="{&quot;autofigure_element_id&quot;:&quot;ellipsis-right-later-row-dot-1&quot;}"/>
          <p:cNvSpPr/>
          <p:nvPr/>
        </p:nvSpPr>
        <p:spPr>
          <a:xfrm>
            <a:off x="11908631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af-ellipsis-right-later-row-dot-2-ellipse-01" descr="{&quot;autofigure_element_id&quot;:&quot;ellipsis-right-later-row-dot-2&quot;}"/>
          <p:cNvSpPr/>
          <p:nvPr/>
        </p:nvSpPr>
        <p:spPr>
          <a:xfrm>
            <a:off x="11980069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af-ellipsis-right-later-row-dot-3-ellipse-01" descr="{&quot;autofigure_element_id&quot;:&quot;ellipsis-right-later-row-dot-3&quot;}"/>
          <p:cNvSpPr/>
          <p:nvPr/>
        </p:nvSpPr>
        <p:spPr>
          <a:xfrm>
            <a:off x="12046744" y="3764756"/>
            <a:ext cx="23812" cy="23812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af-svg-rect-0063-rect-01" descr="{&quot;autofigure_element_id&quot;:&quot;svg-rect-0063&quot;}"/>
          <p:cNvSpPr/>
          <p:nvPr/>
        </p:nvSpPr>
        <p:spPr>
          <a:xfrm>
            <a:off x="1221105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af-svg-rect-0064-rect-01" descr="{&quot;autofigure_element_id&quot;:&quot;svg-rect-0064&quot;}"/>
          <p:cNvSpPr/>
          <p:nvPr/>
        </p:nvSpPr>
        <p:spPr>
          <a:xfrm>
            <a:off x="1262062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af-svg-rect-0065-rect-01" descr="{&quot;autofigure_element_id&quot;:&quot;svg-rect-0065&quot;}"/>
          <p:cNvSpPr/>
          <p:nvPr/>
        </p:nvSpPr>
        <p:spPr>
          <a:xfrm>
            <a:off x="13030200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F5F5F5"/>
          </a:solidFill>
          <a:ln w="9525">
            <a:solidFill>
              <a:srgbClr val="B3B3B3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af-svg-rect-0066-rect-01" descr="{&quot;autofigure_element_id&quot;:&quot;svg-rect-0066&quot;}"/>
          <p:cNvSpPr/>
          <p:nvPr/>
        </p:nvSpPr>
        <p:spPr>
          <a:xfrm>
            <a:off x="13439775" y="3667125"/>
            <a:ext cx="361950" cy="266700"/>
          </a:xfrm>
          <a:prstGeom prst="roundRect">
            <a:avLst>
              <a:gd name="adj" fmla="val 17857"/>
            </a:avLst>
          </a:prstGeom>
          <a:solidFill>
            <a:srgbClr val="2D9CDB"/>
          </a:solidFill>
          <a:ln w="9525">
            <a:solidFill>
              <a:srgbClr val="1E7FB8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af-svg-text-0037-text-01" descr="{&quot;autofigure_element_id&quot;:&quot;svg-text-0037&quot;}"/>
          <p:cNvSpPr txBox="1"/>
          <p:nvPr/>
        </p:nvSpPr>
        <p:spPr>
          <a:xfrm>
            <a:off x="10098167" y="3912394"/>
            <a:ext cx="549116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The</a:t>
            </a:r>
          </a:p>
        </p:txBody>
      </p:sp>
      <p:sp>
        <p:nvSpPr>
          <p:cNvPr id="147" name="af-svg-text-0038-text-01" descr="{&quot;autofigure_element_id&quot;:&quot;svg-text-0038&quot;}"/>
          <p:cNvSpPr txBox="1"/>
          <p:nvPr/>
        </p:nvSpPr>
        <p:spPr>
          <a:xfrm>
            <a:off x="10457736" y="3912394"/>
            <a:ext cx="649129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stove</a:t>
            </a:r>
          </a:p>
        </p:txBody>
      </p:sp>
      <p:sp>
        <p:nvSpPr>
          <p:cNvPr id="148" name="af-svg-text-0039-text-01" descr="{&quot;autofigure_element_id&quot;:&quot;svg-text-0039&quot;}"/>
          <p:cNvSpPr txBox="1"/>
          <p:nvPr/>
        </p:nvSpPr>
        <p:spPr>
          <a:xfrm>
            <a:off x="10982325" y="3912394"/>
            <a:ext cx="419100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is</a:t>
            </a:r>
          </a:p>
        </p:txBody>
      </p:sp>
      <p:sp>
        <p:nvSpPr>
          <p:cNvPr id="149" name="af-svg-text-0040-text-01" descr="{&quot;autofigure_element_id&quot;:&quot;svg-text-0040&quot;}"/>
          <p:cNvSpPr txBox="1"/>
          <p:nvPr/>
        </p:nvSpPr>
        <p:spPr>
          <a:xfrm>
            <a:off x="11354752" y="3912394"/>
            <a:ext cx="493395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old</a:t>
            </a:r>
          </a:p>
        </p:txBody>
      </p:sp>
      <p:sp>
        <p:nvSpPr>
          <p:cNvPr id="150" name="af-svg-text-0041-text-01" descr="{&quot;autofigure_element_id&quot;:&quot;svg-text-0041&quot;}"/>
          <p:cNvSpPr txBox="1"/>
          <p:nvPr/>
        </p:nvSpPr>
        <p:spPr>
          <a:xfrm>
            <a:off x="12417742" y="3912394"/>
            <a:ext cx="767715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>
                <a:solidFill>
                  <a:srgbClr val="1A1A1A"/>
                </a:solidFill>
                <a:latin typeface="Times New Roman"/>
              </a:rPr>
              <a:t>answer</a:t>
            </a:r>
          </a:p>
        </p:txBody>
      </p:sp>
      <p:sp>
        <p:nvSpPr>
          <p:cNvPr id="151" name="af-svg-text-0042-text-01" descr="{&quot;autofigure_element_id&quot;:&quot;svg-text-0042&quot;}"/>
          <p:cNvSpPr txBox="1"/>
          <p:nvPr/>
        </p:nvSpPr>
        <p:spPr>
          <a:xfrm>
            <a:off x="13420487" y="3912394"/>
            <a:ext cx="400526" cy="369094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>
                <a:solidFill>
                  <a:srgbClr val="00A651"/>
                </a:solidFill>
                <a:latin typeface="Times New Roman"/>
              </a:rPr>
              <a:t>C</a:t>
            </a:r>
          </a:p>
        </p:txBody>
      </p:sp>
      <p:sp>
        <p:nvSpPr>
          <p:cNvPr id="152" name="af-brace-right-later-answer-under-freeform-01" descr="{&quot;autofigure_element_id&quot;:&quot;brace-right-later-answer-under&quot;,&quot;primitive_spec_sha256&quot;:&quot;db8718cf72118dde450fa69999c47678410d2876a5df39cf53f9cf3a9fe5a07b&quot;}"/>
          <p:cNvSpPr/>
          <p:nvPr/>
        </p:nvSpPr>
        <p:spPr>
          <a:xfrm>
            <a:off x="12658725" y="4200525"/>
            <a:ext cx="1009650" cy="152400"/>
          </a:xfrm>
          <a:custGeom>
            <a:avLst/>
            <a:gdLst/>
            <a:ahLst/>
            <a:cxnLst/>
            <a:rect l="0" t="0" r="0" b="0"/>
            <a:pathLst>
              <a:path w="1009650" h="152400">
                <a:moveTo>
                  <a:pt x="0" y="0"/>
                </a:moveTo>
                <a:lnTo>
                  <a:pt x="0" y="38100"/>
                </a:lnTo>
                <a:cubicBezTo>
                  <a:pt x="0" y="66675"/>
                  <a:pt x="19050" y="80962"/>
                  <a:pt x="57150" y="80962"/>
                </a:cubicBezTo>
                <a:lnTo>
                  <a:pt x="457200" y="80962"/>
                </a:lnTo>
                <a:cubicBezTo>
                  <a:pt x="488950" y="80962"/>
                  <a:pt x="504825" y="95250"/>
                  <a:pt x="504825" y="123825"/>
                </a:cubicBezTo>
                <a:lnTo>
                  <a:pt x="504825" y="152400"/>
                </a:lnTo>
                <a:moveTo>
                  <a:pt x="504825" y="152400"/>
                </a:moveTo>
                <a:lnTo>
                  <a:pt x="504825" y="123825"/>
                </a:lnTo>
                <a:cubicBezTo>
                  <a:pt x="504825" y="95250"/>
                  <a:pt x="520700" y="80962"/>
                  <a:pt x="552450" y="80962"/>
                </a:cubicBezTo>
                <a:lnTo>
                  <a:pt x="952500" y="80962"/>
                </a:lnTo>
                <a:cubicBezTo>
                  <a:pt x="990600" y="80962"/>
                  <a:pt x="1009650" y="66675"/>
                  <a:pt x="1009650" y="38100"/>
                </a:cubicBezTo>
                <a:lnTo>
                  <a:pt x="1009650" y="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53" name="af-svg-text-0043-text-01" descr="{&quot;autofigure_element_id&quot;:&quot;svg-text-0043&quot;}"/>
          <p:cNvSpPr txBox="1"/>
          <p:nvPr/>
        </p:nvSpPr>
        <p:spPr>
          <a:xfrm rot="16200000">
            <a:off x="13954125" y="3390900"/>
            <a:ext cx="457200" cy="800100"/>
          </a:xfrm>
          <a:prstGeom prst="rect">
            <a:avLst/>
          </a:prstGeom>
          <a:noFill/>
          <a:effectLst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75" b="1">
                <a:solidFill>
                  <a:srgbClr val="1A1A1A"/>
                </a:solidFill>
                <a:latin typeface="Times New Roman"/>
              </a:rPr>
              <a:t>Later Step</a:t>
            </a:r>
          </a:p>
        </p:txBody>
      </p:sp>
      <p:sp>
        <p:nvSpPr>
          <p:cNvPr id="154" name="af-brace-right-later-step-side-freeform-01" descr="{&quot;autofigure_element_id&quot;:&quot;brace-right-later-step-side&quot;,&quot;primitive_spec_sha256&quot;:&quot;a6a9feb9035eca3e29aa7a6760d0eb19939466fd08a181b26ffb1e1834ffaa87&quot;}"/>
          <p:cNvSpPr/>
          <p:nvPr/>
        </p:nvSpPr>
        <p:spPr>
          <a:xfrm>
            <a:off x="13849350" y="3409950"/>
            <a:ext cx="142875" cy="723900"/>
          </a:xfrm>
          <a:custGeom>
            <a:avLst/>
            <a:gdLst/>
            <a:ahLst/>
            <a:cxnLst/>
            <a:rect l="0" t="0" r="0" b="0"/>
            <a:pathLst>
              <a:path w="142875" h="723900">
                <a:moveTo>
                  <a:pt x="0" y="0"/>
                </a:moveTo>
                <a:lnTo>
                  <a:pt x="38100" y="0"/>
                </a:lnTo>
                <a:cubicBezTo>
                  <a:pt x="66675" y="0"/>
                  <a:pt x="80962" y="19050"/>
                  <a:pt x="80962" y="57150"/>
                </a:cubicBezTo>
                <a:lnTo>
                  <a:pt x="80962" y="314325"/>
                </a:lnTo>
                <a:cubicBezTo>
                  <a:pt x="80962" y="346075"/>
                  <a:pt x="92075" y="361950"/>
                  <a:pt x="114300" y="361950"/>
                </a:cubicBezTo>
                <a:lnTo>
                  <a:pt x="142875" y="361950"/>
                </a:lnTo>
                <a:moveTo>
                  <a:pt x="142875" y="361950"/>
                </a:moveTo>
                <a:lnTo>
                  <a:pt x="114300" y="361950"/>
                </a:lnTo>
                <a:cubicBezTo>
                  <a:pt x="92075" y="361950"/>
                  <a:pt x="80962" y="377825"/>
                  <a:pt x="80962" y="409575"/>
                </a:cubicBezTo>
                <a:lnTo>
                  <a:pt x="80962" y="666750"/>
                </a:lnTo>
                <a:cubicBezTo>
                  <a:pt x="80962" y="704850"/>
                  <a:pt x="66675" y="723900"/>
                  <a:pt x="38100" y="723900"/>
                </a:cubicBezTo>
                <a:lnTo>
                  <a:pt x="0" y="723900"/>
                </a:lnTo>
              </a:path>
            </a:pathLst>
          </a:custGeom>
          <a:noFill/>
          <a:ln w="9525" cap="rnd">
            <a:solidFill>
              <a:srgbClr val="333333"/>
            </a:solidFill>
            <a:miter/>
          </a:ln>
        </p:spPr>
      </p:sp>
      <p:sp>
        <p:nvSpPr>
          <p:cNvPr id="155" name="af-caption-right-later-line1-text-01" descr="{&quot;autofigure_element_id&quot;:&quot;caption-right-later-line1&quot;}"/>
          <p:cNvSpPr txBox="1"/>
          <p:nvPr/>
        </p:nvSpPr>
        <p:spPr>
          <a:xfrm>
            <a:off x="12311729" y="4319349"/>
            <a:ext cx="1694116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Generate answer</a:t>
            </a:r>
          </a:p>
        </p:txBody>
      </p:sp>
      <p:sp>
        <p:nvSpPr>
          <p:cNvPr id="156" name="af-caption-right-later-line2-text-01" descr="{&quot;autofigure_element_id&quot;:&quot;caption-right-later-line2&quot;}"/>
          <p:cNvSpPr txBox="1"/>
          <p:nvPr/>
        </p:nvSpPr>
        <p:spPr>
          <a:xfrm>
            <a:off x="12391596" y="4547949"/>
            <a:ext cx="1534382" cy="422672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62" b="1">
                <a:solidFill>
                  <a:srgbClr val="00A651"/>
                </a:solidFill>
                <a:latin typeface="Times New Roman"/>
              </a:rPr>
              <a:t>after reasoning</a:t>
            </a:r>
          </a:p>
        </p:txBody>
      </p:sp>
      <p:sp>
        <p:nvSpPr>
          <p:cNvPr id="157" name="af-svg-text-0046-text-01" descr="{&quot;autofigure_element_id&quot;:&quot;svg-text-0046&quot;}"/>
          <p:cNvSpPr txBox="1"/>
          <p:nvPr/>
        </p:nvSpPr>
        <p:spPr>
          <a:xfrm>
            <a:off x="8338185" y="5010150"/>
            <a:ext cx="3326130" cy="266700"/>
          </a:xfrm>
          <a:prstGeom prst="rect">
            <a:avLst/>
          </a:prstGeom>
          <a:noFill/>
          <a:effectLst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>
                <a:solidFill>
                  <a:srgbClr val="1A1A1A"/>
                </a:solidFill>
                <a:latin typeface="Times New Roman"/>
              </a:rPr>
              <a:t>(b) Our proposed dMLLM inference.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ISCIENTIFICILLUSTRATORSESSIONID" val="HEX:61313964336630392D323433362D346466632D623638302D323664356631663265356363"/>
  <p:tag name="AISCIENTIFICILLUSTRATORPROJECTID" val="HEX:6175746F6669677572652D30322D7468696E6B696E672D646966667573696F6E"/>
  <p:tag name="AISCIENTIFICILLUSTRATORTASKMODE" val="HEX:5245434F4E5354525543545F31544F31"/>
  <p:tag name="AISCIENTIFICILLUSTRATORTARGETID" val="HEX:6175746F6669677572652D70707478"/>
  <p:tag name="AISCIENTIFICILLUSTRATORSCENESCHEMAVERSION" val="HEX:322E312E30"/>
  <p:tag name="AISCIENTIFICILLUSTRATORSCENEGRAPHSHA256" val="HEX:30373035316533616339646665396161643931326363633037323936633936356136303834396131313539613036396664353836323235393761346535353263"/>
  <p:tag name="AISCIENTIFICILLUSTRATORRENDERPLANSHA256" val="HEX:31303639653264333335313362616361643231303964396364636637366665613265623037306562343737363364653037653039663061383838383664623935"/>
  <p:tag name="AISCIENTIFICILLUSTRATORREVISION" val="HEX:3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87</Words>
  <Application>Microsoft Office PowerPoint</Application>
  <PresentationFormat>自定义</PresentationFormat>
  <Paragraphs>46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Yi Huang</cp:lastModifiedBy>
  <cp:revision>2</cp:revision>
  <dcterms:created xsi:type="dcterms:W3CDTF">2013-01-27T09:14:16Z</dcterms:created>
  <dcterms:modified xsi:type="dcterms:W3CDTF">2026-08-23T17:53:30Z</dcterms:modified>
  <cp:category/>
</cp:coreProperties>
</file>