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4411325" cy="52768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f-svg-text-0001-text-01"/>
          <p:cNvSpPr txBox="1"/>
          <p:nvPr/>
        </p:nvSpPr>
        <p:spPr>
          <a:xfrm>
            <a:off x="373904" y="94774"/>
            <a:ext cx="795242" cy="416719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425" b="1">
                <a:solidFill>
                  <a:srgbClr val="1A1A1A"/>
                </a:solidFill>
                <a:latin typeface="Times New Roman"/>
              </a:rPr>
              <a:t>Image</a:t>
            </a:r>
          </a:p>
        </p:txBody>
      </p:sp>
      <p:sp>
        <p:nvSpPr>
          <p:cNvPr id="3" name="af-svg-text-0002-text-01"/>
          <p:cNvSpPr txBox="1"/>
          <p:nvPr/>
        </p:nvSpPr>
        <p:spPr>
          <a:xfrm>
            <a:off x="1715691" y="94774"/>
            <a:ext cx="892969" cy="416719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425" b="1">
                <a:solidFill>
                  <a:srgbClr val="1A1A1A"/>
                </a:solidFill>
                <a:latin typeface="Times New Roman"/>
              </a:rPr>
              <a:t>Prompt</a:t>
            </a:r>
          </a:p>
        </p:txBody>
      </p:sp>
      <p:sp>
        <p:nvSpPr>
          <p:cNvPr id="4" name="af-svg-text-0003-text-01"/>
          <p:cNvSpPr txBox="1"/>
          <p:nvPr/>
        </p:nvSpPr>
        <p:spPr>
          <a:xfrm>
            <a:off x="4096274" y="94774"/>
            <a:ext cx="1084802" cy="416719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425" b="1">
                <a:solidFill>
                  <a:srgbClr val="1A1A1A"/>
                </a:solidFill>
                <a:latin typeface="Times New Roman"/>
              </a:rPr>
              <a:t>Response</a:t>
            </a:r>
          </a:p>
        </p:txBody>
      </p:sp>
      <p:sp>
        <p:nvSpPr>
          <p:cNvPr id="5" name="af-svg-path-0001-freeform-01"/>
          <p:cNvSpPr/>
          <p:nvPr/>
        </p:nvSpPr>
        <p:spPr>
          <a:xfrm>
            <a:off x="190500" y="333375"/>
            <a:ext cx="1162050" cy="123825"/>
          </a:xfrm>
          <a:custGeom>
            <a:avLst/>
            <a:gdLst/>
            <a:ahLst/>
            <a:cxnLst/>
            <a:rect l="0" t="0" r="0" b="0"/>
            <a:pathLst>
              <a:path w="1162050" h="123825">
                <a:moveTo>
                  <a:pt x="0" y="123825"/>
                </a:moveTo>
                <a:cubicBezTo>
                  <a:pt x="0" y="57150"/>
                  <a:pt x="19050" y="47625"/>
                  <a:pt x="66675" y="47625"/>
                </a:cubicBezTo>
                <a:lnTo>
                  <a:pt x="495300" y="47625"/>
                </a:lnTo>
                <a:cubicBezTo>
                  <a:pt x="508000" y="15875"/>
                  <a:pt x="536575" y="0"/>
                  <a:pt x="581025" y="0"/>
                </a:cubicBezTo>
                <a:cubicBezTo>
                  <a:pt x="625475" y="0"/>
                  <a:pt x="654050" y="15875"/>
                  <a:pt x="666750" y="47625"/>
                </a:cubicBezTo>
                <a:lnTo>
                  <a:pt x="1095375" y="47625"/>
                </a:lnTo>
                <a:cubicBezTo>
                  <a:pt x="1143000" y="47625"/>
                  <a:pt x="1162050" y="57150"/>
                  <a:pt x="1162050" y="123825"/>
                </a:cubicBez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>
        <p:nvSpPr>
          <p:cNvPr id="6" name="af-svg-path-0002-freeform-01"/>
          <p:cNvSpPr/>
          <p:nvPr/>
        </p:nvSpPr>
        <p:spPr>
          <a:xfrm>
            <a:off x="1533525" y="333375"/>
            <a:ext cx="1181100" cy="123825"/>
          </a:xfrm>
          <a:custGeom>
            <a:avLst/>
            <a:gdLst/>
            <a:ahLst/>
            <a:cxnLst/>
            <a:rect l="0" t="0" r="0" b="0"/>
            <a:pathLst>
              <a:path w="1181100" h="123825">
                <a:moveTo>
                  <a:pt x="0" y="123825"/>
                </a:moveTo>
                <a:cubicBezTo>
                  <a:pt x="0" y="57150"/>
                  <a:pt x="19050" y="47625"/>
                  <a:pt x="66675" y="47625"/>
                </a:cubicBezTo>
                <a:lnTo>
                  <a:pt x="542925" y="47625"/>
                </a:lnTo>
                <a:cubicBezTo>
                  <a:pt x="555625" y="15875"/>
                  <a:pt x="584200" y="0"/>
                  <a:pt x="628650" y="0"/>
                </a:cubicBezTo>
                <a:cubicBezTo>
                  <a:pt x="673100" y="0"/>
                  <a:pt x="701675" y="15875"/>
                  <a:pt x="714375" y="47625"/>
                </a:cubicBezTo>
                <a:lnTo>
                  <a:pt x="1114425" y="47625"/>
                </a:lnTo>
                <a:cubicBezTo>
                  <a:pt x="1162050" y="47625"/>
                  <a:pt x="1181100" y="57150"/>
                  <a:pt x="1181100" y="123825"/>
                </a:cubicBez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>
        <p:nvSpPr>
          <p:cNvPr id="7" name="af-svg-path-0003-freeform-01"/>
          <p:cNvSpPr/>
          <p:nvPr/>
        </p:nvSpPr>
        <p:spPr>
          <a:xfrm>
            <a:off x="2857500" y="333375"/>
            <a:ext cx="3524250" cy="123825"/>
          </a:xfrm>
          <a:custGeom>
            <a:avLst/>
            <a:gdLst/>
            <a:ahLst/>
            <a:cxnLst/>
            <a:rect l="0" t="0" r="0" b="0"/>
            <a:pathLst>
              <a:path w="3524250" h="123825">
                <a:moveTo>
                  <a:pt x="0" y="123825"/>
                </a:moveTo>
                <a:cubicBezTo>
                  <a:pt x="0" y="57150"/>
                  <a:pt x="19050" y="47625"/>
                  <a:pt x="66675" y="47625"/>
                </a:cubicBezTo>
                <a:lnTo>
                  <a:pt x="1695450" y="47625"/>
                </a:lnTo>
                <a:cubicBezTo>
                  <a:pt x="1708150" y="15875"/>
                  <a:pt x="1736725" y="0"/>
                  <a:pt x="1781175" y="0"/>
                </a:cubicBezTo>
                <a:cubicBezTo>
                  <a:pt x="1825625" y="0"/>
                  <a:pt x="1854200" y="15875"/>
                  <a:pt x="1866900" y="47625"/>
                </a:cubicBezTo>
                <a:lnTo>
                  <a:pt x="3457575" y="47625"/>
                </a:lnTo>
                <a:cubicBezTo>
                  <a:pt x="3505200" y="47625"/>
                  <a:pt x="3524250" y="57150"/>
                  <a:pt x="3524250" y="123825"/>
                </a:cubicBez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>
        <p:nvSpPr>
          <p:cNvPr id="8" name="af-svg-rect-0001-rect-01"/>
          <p:cNvSpPr/>
          <p:nvPr/>
        </p:nvSpPr>
        <p:spPr>
          <a:xfrm>
            <a:off x="190500" y="581025"/>
            <a:ext cx="342900" cy="247650"/>
          </a:xfrm>
          <a:prstGeom prst="roundRect">
            <a:avLst>
              <a:gd name="adj" fmla="val 19230"/>
            </a:avLst>
          </a:prstGeom>
          <a:solidFill>
            <a:srgbClr val="FFFAE6"/>
          </a:solidFill>
          <a:ln w="9525">
            <a:solidFill>
              <a:srgbClr val="E0D5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f-svg-rect-0002-rect-01"/>
          <p:cNvSpPr/>
          <p:nvPr/>
        </p:nvSpPr>
        <p:spPr>
          <a:xfrm>
            <a:off x="600075" y="581025"/>
            <a:ext cx="342900" cy="247650"/>
          </a:xfrm>
          <a:prstGeom prst="roundRect">
            <a:avLst>
              <a:gd name="adj" fmla="val 19230"/>
            </a:avLst>
          </a:prstGeom>
          <a:solidFill>
            <a:srgbClr val="FFFAE6"/>
          </a:solidFill>
          <a:ln w="9525">
            <a:solidFill>
              <a:srgbClr val="E0D5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af-svg-rect-0003-rect-01"/>
          <p:cNvSpPr/>
          <p:nvPr/>
        </p:nvSpPr>
        <p:spPr>
          <a:xfrm>
            <a:off x="1009650" y="581025"/>
            <a:ext cx="342900" cy="247650"/>
          </a:xfrm>
          <a:prstGeom prst="roundRect">
            <a:avLst>
              <a:gd name="adj" fmla="val 19230"/>
            </a:avLst>
          </a:prstGeom>
          <a:solidFill>
            <a:srgbClr val="FFFAE6"/>
          </a:solidFill>
          <a:ln w="9525">
            <a:solidFill>
              <a:srgbClr val="E0D5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f-svg-rect-0004-rect-01"/>
          <p:cNvSpPr/>
          <p:nvPr/>
        </p:nvSpPr>
        <p:spPr>
          <a:xfrm>
            <a:off x="1533525" y="581025"/>
            <a:ext cx="342900" cy="247650"/>
          </a:xfrm>
          <a:prstGeom prst="roundRect">
            <a:avLst>
              <a:gd name="adj" fmla="val 19230"/>
            </a:avLst>
          </a:prstGeom>
          <a:solidFill>
            <a:srgbClr val="D5E8D4"/>
          </a:solidFill>
          <a:ln w="9525">
            <a:solidFill>
              <a:srgbClr val="97C7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af-svg-rect-0005-rect-01"/>
          <p:cNvSpPr/>
          <p:nvPr/>
        </p:nvSpPr>
        <p:spPr>
          <a:xfrm>
            <a:off x="1943100" y="581025"/>
            <a:ext cx="342900" cy="247650"/>
          </a:xfrm>
          <a:prstGeom prst="roundRect">
            <a:avLst>
              <a:gd name="adj" fmla="val 19230"/>
            </a:avLst>
          </a:prstGeom>
          <a:solidFill>
            <a:srgbClr val="D5E8D4"/>
          </a:solidFill>
          <a:ln w="9525">
            <a:solidFill>
              <a:srgbClr val="97C7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af-svg-rect-0006-rect-01"/>
          <p:cNvSpPr/>
          <p:nvPr/>
        </p:nvSpPr>
        <p:spPr>
          <a:xfrm>
            <a:off x="2352675" y="581025"/>
            <a:ext cx="342900" cy="247650"/>
          </a:xfrm>
          <a:prstGeom prst="roundRect">
            <a:avLst>
              <a:gd name="adj" fmla="val 19230"/>
            </a:avLst>
          </a:prstGeom>
          <a:solidFill>
            <a:srgbClr val="D5E8D4"/>
          </a:solidFill>
          <a:ln w="9525">
            <a:solidFill>
              <a:srgbClr val="97C7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af-svg-rect-0007-rect-01"/>
          <p:cNvSpPr/>
          <p:nvPr/>
        </p:nvSpPr>
        <p:spPr>
          <a:xfrm>
            <a:off x="2857500" y="581025"/>
            <a:ext cx="342900" cy="247650"/>
          </a:xfrm>
          <a:prstGeom prst="roundRect">
            <a:avLst>
              <a:gd name="adj" fmla="val 19230"/>
            </a:avLst>
          </a:prstGeom>
          <a:solidFill>
            <a:srgbClr val="F5F5F5"/>
          </a:solidFill>
          <a:ln w="9525">
            <a:solidFill>
              <a:srgbClr val="B3B3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af-svg-rect-0008-rect-01"/>
          <p:cNvSpPr/>
          <p:nvPr/>
        </p:nvSpPr>
        <p:spPr>
          <a:xfrm>
            <a:off x="3267075" y="581025"/>
            <a:ext cx="342900" cy="247650"/>
          </a:xfrm>
          <a:prstGeom prst="roundRect">
            <a:avLst>
              <a:gd name="adj" fmla="val 19230"/>
            </a:avLst>
          </a:prstGeom>
          <a:solidFill>
            <a:srgbClr val="F5F5F5"/>
          </a:solidFill>
          <a:ln w="9525">
            <a:solidFill>
              <a:srgbClr val="B3B3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f-svg-rect-0009-rect-01"/>
          <p:cNvSpPr/>
          <p:nvPr/>
        </p:nvSpPr>
        <p:spPr>
          <a:xfrm>
            <a:off x="3676650" y="581025"/>
            <a:ext cx="342900" cy="247650"/>
          </a:xfrm>
          <a:prstGeom prst="roundRect">
            <a:avLst>
              <a:gd name="adj" fmla="val 19230"/>
            </a:avLst>
          </a:prstGeom>
          <a:solidFill>
            <a:srgbClr val="F5F5F5"/>
          </a:solidFill>
          <a:ln w="9525">
            <a:solidFill>
              <a:srgbClr val="B3B3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af-svg-rect-0010-rect-01"/>
          <p:cNvSpPr/>
          <p:nvPr/>
        </p:nvSpPr>
        <p:spPr>
          <a:xfrm>
            <a:off x="4086225" y="581025"/>
            <a:ext cx="342900" cy="247650"/>
          </a:xfrm>
          <a:prstGeom prst="roundRect">
            <a:avLst>
              <a:gd name="adj" fmla="val 19230"/>
            </a:avLst>
          </a:prstGeom>
          <a:solidFill>
            <a:srgbClr val="F5F5F5"/>
          </a:solidFill>
          <a:ln w="9525">
            <a:solidFill>
              <a:srgbClr val="B3B3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f-svg-circle-0001-ellipse-01"/>
          <p:cNvSpPr/>
          <p:nvPr/>
        </p:nvSpPr>
        <p:spPr>
          <a:xfrm>
            <a:off x="4531995" y="683895"/>
            <a:ext cx="41910" cy="41910"/>
          </a:xfrm>
          <a:prstGeom prst="ellipse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f-svg-circle-0002-ellipse-01"/>
          <p:cNvSpPr/>
          <p:nvPr/>
        </p:nvSpPr>
        <p:spPr>
          <a:xfrm>
            <a:off x="4608195" y="683895"/>
            <a:ext cx="41910" cy="41910"/>
          </a:xfrm>
          <a:prstGeom prst="ellipse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af-svg-circle-0003-ellipse-01"/>
          <p:cNvSpPr/>
          <p:nvPr/>
        </p:nvSpPr>
        <p:spPr>
          <a:xfrm>
            <a:off x="4684395" y="683895"/>
            <a:ext cx="41910" cy="41910"/>
          </a:xfrm>
          <a:prstGeom prst="ellipse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af-svg-rect-0011-rect-01"/>
          <p:cNvSpPr/>
          <p:nvPr/>
        </p:nvSpPr>
        <p:spPr>
          <a:xfrm>
            <a:off x="4810125" y="581025"/>
            <a:ext cx="342900" cy="247650"/>
          </a:xfrm>
          <a:prstGeom prst="roundRect">
            <a:avLst>
              <a:gd name="adj" fmla="val 19230"/>
            </a:avLst>
          </a:prstGeom>
          <a:solidFill>
            <a:srgbClr val="F5F5F5"/>
          </a:solidFill>
          <a:ln w="9525">
            <a:solidFill>
              <a:srgbClr val="B3B3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f-svg-rect-0012-rect-01"/>
          <p:cNvSpPr/>
          <p:nvPr/>
        </p:nvSpPr>
        <p:spPr>
          <a:xfrm>
            <a:off x="5219700" y="581025"/>
            <a:ext cx="342900" cy="247650"/>
          </a:xfrm>
          <a:prstGeom prst="roundRect">
            <a:avLst>
              <a:gd name="adj" fmla="val 19230"/>
            </a:avLst>
          </a:prstGeom>
          <a:solidFill>
            <a:srgbClr val="F5F5F5"/>
          </a:solidFill>
          <a:ln w="9525">
            <a:solidFill>
              <a:srgbClr val="B3B3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af-svg-rect-0013-rect-01"/>
          <p:cNvSpPr/>
          <p:nvPr/>
        </p:nvSpPr>
        <p:spPr>
          <a:xfrm>
            <a:off x="5629275" y="581025"/>
            <a:ext cx="342900" cy="247650"/>
          </a:xfrm>
          <a:prstGeom prst="roundRect">
            <a:avLst>
              <a:gd name="adj" fmla="val 19230"/>
            </a:avLst>
          </a:prstGeom>
          <a:solidFill>
            <a:srgbClr val="F5F5F5"/>
          </a:solidFill>
          <a:ln w="9525">
            <a:solidFill>
              <a:srgbClr val="B3B3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af-svg-rect-0014-rect-01"/>
          <p:cNvSpPr/>
          <p:nvPr/>
        </p:nvSpPr>
        <p:spPr>
          <a:xfrm>
            <a:off x="6038850" y="581025"/>
            <a:ext cx="342900" cy="247650"/>
          </a:xfrm>
          <a:prstGeom prst="roundRect">
            <a:avLst>
              <a:gd name="adj" fmla="val 19230"/>
            </a:avLst>
          </a:prstGeom>
          <a:solidFill>
            <a:srgbClr val="F5F5F5"/>
          </a:solidFill>
          <a:ln w="9525">
            <a:solidFill>
              <a:srgbClr val="B3B3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af-svg-line-0001-connector-01"/>
          <p:cNvCxnSpPr/>
          <p:nvPr/>
        </p:nvCxnSpPr>
        <p:spPr>
          <a:xfrm>
            <a:off x="4638675" y="904875"/>
            <a:ext cx="0" cy="219075"/>
          </a:xfrm>
          <a:prstGeom prst="line">
            <a:avLst/>
          </a:prstGeom>
          <a:ln w="19050">
            <a:solidFill>
              <a:srgbClr val="33333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af-svg-rect-0015-rect-01"/>
          <p:cNvSpPr/>
          <p:nvPr/>
        </p:nvSpPr>
        <p:spPr>
          <a:xfrm>
            <a:off x="142875" y="1162050"/>
            <a:ext cx="6334125" cy="381000"/>
          </a:xfrm>
          <a:prstGeom prst="roundRect">
            <a:avLst>
              <a:gd name="adj" fmla="val 20000"/>
            </a:avLst>
          </a:prstGeom>
          <a:solidFill>
            <a:srgbClr val="F8CECC"/>
          </a:solidFill>
          <a:ln w="9525">
            <a:solidFill>
              <a:srgbClr val="DCA3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af-svg-text-0004-text-01"/>
          <p:cNvSpPr txBox="1"/>
          <p:nvPr/>
        </p:nvSpPr>
        <p:spPr>
          <a:xfrm>
            <a:off x="1396746" y="1220152"/>
            <a:ext cx="3816858" cy="452438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650" b="1">
                <a:solidFill>
                  <a:srgbClr val="1A1A1A"/>
                </a:solidFill>
                <a:latin typeface="Times New Roman"/>
              </a:rPr>
              <a:t>Diffusion Multimodal Language Model</a:t>
            </a:r>
          </a:p>
        </p:txBody>
      </p:sp>
      <p:cxnSp>
        <p:nvCxnSpPr>
          <p:cNvPr id="28" name="af-svg-line-0002-connector-01"/>
          <p:cNvCxnSpPr/>
          <p:nvPr/>
        </p:nvCxnSpPr>
        <p:spPr>
          <a:xfrm>
            <a:off x="4638675" y="1581150"/>
            <a:ext cx="0" cy="323850"/>
          </a:xfrm>
          <a:prstGeom prst="line">
            <a:avLst/>
          </a:prstGeom>
          <a:ln w="19050">
            <a:solidFill>
              <a:srgbClr val="33333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af-svg-text-0005-text-01"/>
          <p:cNvSpPr txBox="1"/>
          <p:nvPr/>
        </p:nvSpPr>
        <p:spPr>
          <a:xfrm>
            <a:off x="4511992" y="1819275"/>
            <a:ext cx="729615" cy="428625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A1A1A"/>
                </a:solidFill>
                <a:latin typeface="Times New Roman"/>
              </a:rPr>
              <a:t>Base</a:t>
            </a:r>
          </a:p>
        </p:txBody>
      </p:sp>
      <p:sp>
        <p:nvSpPr>
          <p:cNvPr id="30" name="af-svg-rect-0016-rect-01"/>
          <p:cNvSpPr/>
          <p:nvPr/>
        </p:nvSpPr>
        <p:spPr>
          <a:xfrm>
            <a:off x="2857500" y="2181225"/>
            <a:ext cx="352425" cy="266700"/>
          </a:xfrm>
          <a:prstGeom prst="roundRect">
            <a:avLst>
              <a:gd name="adj" fmla="val 17857"/>
            </a:avLst>
          </a:prstGeom>
          <a:solidFill>
            <a:srgbClr val="F5F5F5"/>
          </a:solidFill>
          <a:ln w="9525">
            <a:solidFill>
              <a:srgbClr val="B3B3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af-svg-rect-0017-rect-01"/>
          <p:cNvSpPr/>
          <p:nvPr/>
        </p:nvSpPr>
        <p:spPr>
          <a:xfrm>
            <a:off x="3267075" y="2181225"/>
            <a:ext cx="352425" cy="266700"/>
          </a:xfrm>
          <a:prstGeom prst="roundRect">
            <a:avLst>
              <a:gd name="adj" fmla="val 17857"/>
            </a:avLst>
          </a:prstGeom>
          <a:solidFill>
            <a:srgbClr val="F5F5F5"/>
          </a:solidFill>
          <a:ln w="9525">
            <a:solidFill>
              <a:srgbClr val="B3B3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af-svg-rect-0018-rect-01"/>
          <p:cNvSpPr/>
          <p:nvPr/>
        </p:nvSpPr>
        <p:spPr>
          <a:xfrm>
            <a:off x="3676650" y="2181225"/>
            <a:ext cx="352425" cy="266700"/>
          </a:xfrm>
          <a:prstGeom prst="roundRect">
            <a:avLst>
              <a:gd name="adj" fmla="val 17857"/>
            </a:avLst>
          </a:prstGeom>
          <a:solidFill>
            <a:srgbClr val="F5F5F5"/>
          </a:solidFill>
          <a:ln w="9525">
            <a:solidFill>
              <a:srgbClr val="B3B3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af-svg-rect-0019-rect-01"/>
          <p:cNvSpPr/>
          <p:nvPr/>
        </p:nvSpPr>
        <p:spPr>
          <a:xfrm>
            <a:off x="4086225" y="2181225"/>
            <a:ext cx="352425" cy="266700"/>
          </a:xfrm>
          <a:prstGeom prst="roundRect">
            <a:avLst>
              <a:gd name="adj" fmla="val 17857"/>
            </a:avLst>
          </a:prstGeom>
          <a:solidFill>
            <a:srgbClr val="F5F5F5"/>
          </a:solidFill>
          <a:ln w="9525">
            <a:solidFill>
              <a:srgbClr val="B3B3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af-svg-circle-0004-ellipse-01"/>
          <p:cNvSpPr/>
          <p:nvPr/>
        </p:nvSpPr>
        <p:spPr>
          <a:xfrm>
            <a:off x="4531995" y="2293620"/>
            <a:ext cx="41910" cy="41910"/>
          </a:xfrm>
          <a:prstGeom prst="ellipse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af-svg-circle-0005-ellipse-01"/>
          <p:cNvSpPr/>
          <p:nvPr/>
        </p:nvSpPr>
        <p:spPr>
          <a:xfrm>
            <a:off x="4608195" y="2293620"/>
            <a:ext cx="41910" cy="41910"/>
          </a:xfrm>
          <a:prstGeom prst="ellipse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af-svg-circle-0006-ellipse-01"/>
          <p:cNvSpPr/>
          <p:nvPr/>
        </p:nvSpPr>
        <p:spPr>
          <a:xfrm>
            <a:off x="4684395" y="2293620"/>
            <a:ext cx="41910" cy="41910"/>
          </a:xfrm>
          <a:prstGeom prst="ellipse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af-svg-rect-0020-rect-01"/>
          <p:cNvSpPr/>
          <p:nvPr/>
        </p:nvSpPr>
        <p:spPr>
          <a:xfrm>
            <a:off x="4829175" y="2181225"/>
            <a:ext cx="352425" cy="266700"/>
          </a:xfrm>
          <a:prstGeom prst="roundRect">
            <a:avLst>
              <a:gd name="adj" fmla="val 17857"/>
            </a:avLst>
          </a:prstGeom>
          <a:solidFill>
            <a:srgbClr val="F5F5F5"/>
          </a:solidFill>
          <a:ln w="9525">
            <a:solidFill>
              <a:srgbClr val="B3B3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af-svg-rect-0021-rect-01"/>
          <p:cNvSpPr/>
          <p:nvPr/>
        </p:nvSpPr>
        <p:spPr>
          <a:xfrm>
            <a:off x="5238750" y="2181225"/>
            <a:ext cx="352425" cy="266700"/>
          </a:xfrm>
          <a:prstGeom prst="roundRect">
            <a:avLst>
              <a:gd name="adj" fmla="val 17857"/>
            </a:avLst>
          </a:prstGeom>
          <a:solidFill>
            <a:srgbClr val="DAE8FC"/>
          </a:solidFill>
          <a:ln w="9525">
            <a:solidFill>
              <a:srgbClr val="9AB8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af-svg-rect-0022-rect-01"/>
          <p:cNvSpPr/>
          <p:nvPr/>
        </p:nvSpPr>
        <p:spPr>
          <a:xfrm>
            <a:off x="5648325" y="2181225"/>
            <a:ext cx="352425" cy="266700"/>
          </a:xfrm>
          <a:prstGeom prst="roundRect">
            <a:avLst>
              <a:gd name="adj" fmla="val 17857"/>
            </a:avLst>
          </a:prstGeom>
          <a:solidFill>
            <a:srgbClr val="DAE8FC"/>
          </a:solidFill>
          <a:ln w="9525">
            <a:solidFill>
              <a:srgbClr val="9AB8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af-svg-rect-0023-rect-01"/>
          <p:cNvSpPr/>
          <p:nvPr/>
        </p:nvSpPr>
        <p:spPr>
          <a:xfrm>
            <a:off x="6057900" y="2181225"/>
            <a:ext cx="352425" cy="266700"/>
          </a:xfrm>
          <a:prstGeom prst="roundRect">
            <a:avLst>
              <a:gd name="adj" fmla="val 17857"/>
            </a:avLst>
          </a:prstGeom>
          <a:solidFill>
            <a:srgbClr val="DAE8FC"/>
          </a:solidFill>
          <a:ln w="9525">
            <a:solidFill>
              <a:srgbClr val="9AB8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af-svg-text-0006-text-01"/>
          <p:cNvSpPr txBox="1"/>
          <p:nvPr/>
        </p:nvSpPr>
        <p:spPr>
          <a:xfrm>
            <a:off x="5026342" y="2455069"/>
            <a:ext cx="767715" cy="36909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125">
                <a:solidFill>
                  <a:srgbClr val="1A1A1A"/>
                </a:solidFill>
                <a:latin typeface="Times New Roman"/>
              </a:rPr>
              <a:t>answer</a:t>
            </a:r>
          </a:p>
        </p:txBody>
      </p:sp>
      <p:sp>
        <p:nvSpPr>
          <p:cNvPr id="42" name="af-svg-text-0007-text-01"/>
          <p:cNvSpPr txBox="1"/>
          <p:nvPr/>
        </p:nvSpPr>
        <p:spPr>
          <a:xfrm>
            <a:off x="5610225" y="2455069"/>
            <a:ext cx="419100" cy="36909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125">
                <a:solidFill>
                  <a:srgbClr val="1A1A1A"/>
                </a:solidFill>
                <a:latin typeface="Times New Roman"/>
              </a:rPr>
              <a:t>is</a:t>
            </a:r>
          </a:p>
        </p:txBody>
      </p:sp>
      <p:sp>
        <p:nvSpPr>
          <p:cNvPr id="43" name="af-svg-text-0008-text-01"/>
          <p:cNvSpPr txBox="1"/>
          <p:nvPr/>
        </p:nvSpPr>
        <p:spPr>
          <a:xfrm>
            <a:off x="6029087" y="2455069"/>
            <a:ext cx="400526" cy="36909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125" b="1">
                <a:solidFill>
                  <a:srgbClr val="F00000"/>
                </a:solidFill>
                <a:latin typeface="Times New Roman"/>
              </a:rPr>
              <a:t>B</a:t>
            </a:r>
          </a:p>
        </p:txBody>
      </p:sp>
      <p:sp>
        <p:nvSpPr>
          <p:cNvPr id="44" name="af-svg-path-0004-freeform-01"/>
          <p:cNvSpPr/>
          <p:nvPr/>
        </p:nvSpPr>
        <p:spPr>
          <a:xfrm>
            <a:off x="5286375" y="2733675"/>
            <a:ext cx="1076325" cy="123825"/>
          </a:xfrm>
          <a:custGeom>
            <a:avLst/>
            <a:gdLst/>
            <a:ahLst/>
            <a:cxnLst/>
            <a:rect l="0" t="0" r="0" b="0"/>
            <a:pathLst>
              <a:path w="1076325" h="123825">
                <a:moveTo>
                  <a:pt x="0" y="0"/>
                </a:moveTo>
                <a:cubicBezTo>
                  <a:pt x="0" y="66675"/>
                  <a:pt x="19050" y="76200"/>
                  <a:pt x="66675" y="76200"/>
                </a:cubicBezTo>
                <a:lnTo>
                  <a:pt x="447675" y="76200"/>
                </a:lnTo>
                <a:cubicBezTo>
                  <a:pt x="460375" y="107950"/>
                  <a:pt x="488950" y="123825"/>
                  <a:pt x="533400" y="123825"/>
                </a:cubicBezTo>
                <a:cubicBezTo>
                  <a:pt x="577850" y="123825"/>
                  <a:pt x="606425" y="107950"/>
                  <a:pt x="619125" y="76200"/>
                </a:cubicBezTo>
                <a:lnTo>
                  <a:pt x="1009650" y="76200"/>
                </a:lnTo>
                <a:cubicBezTo>
                  <a:pt x="1057275" y="76200"/>
                  <a:pt x="1076325" y="66675"/>
                  <a:pt x="1076325" y="0"/>
                </a:cubicBez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>
        <p:nvSpPr>
          <p:cNvPr id="45" name="af-svg-text-0009-text-01"/>
          <p:cNvSpPr txBox="1"/>
          <p:nvPr/>
        </p:nvSpPr>
        <p:spPr>
          <a:xfrm rot="16200000">
            <a:off x="6251305" y="2241947"/>
            <a:ext cx="1060990" cy="392906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75" b="1">
                <a:solidFill>
                  <a:srgbClr val="1A1A1A"/>
                </a:solidFill>
                <a:latin typeface="Times New Roman"/>
              </a:rPr>
              <a:t>Early Step</a:t>
            </a:r>
          </a:p>
        </p:txBody>
      </p:sp>
      <p:sp>
        <p:nvSpPr>
          <p:cNvPr id="46" name="af-svg-path-0005-freeform-01"/>
          <p:cNvSpPr/>
          <p:nvPr/>
        </p:nvSpPr>
        <p:spPr>
          <a:xfrm>
            <a:off x="6496050" y="1952625"/>
            <a:ext cx="123825" cy="733425"/>
          </a:xfrm>
          <a:custGeom>
            <a:avLst/>
            <a:gdLst/>
            <a:ahLst/>
            <a:cxnLst/>
            <a:rect l="0" t="0" r="0" b="0"/>
            <a:pathLst>
              <a:path w="123825" h="733425">
                <a:moveTo>
                  <a:pt x="0" y="0"/>
                </a:moveTo>
                <a:cubicBezTo>
                  <a:pt x="66675" y="0"/>
                  <a:pt x="76200" y="19050"/>
                  <a:pt x="76200" y="66675"/>
                </a:cubicBezTo>
                <a:lnTo>
                  <a:pt x="76200" y="295275"/>
                </a:lnTo>
                <a:cubicBezTo>
                  <a:pt x="107950" y="307975"/>
                  <a:pt x="123825" y="333375"/>
                  <a:pt x="123825" y="371475"/>
                </a:cubicBezTo>
                <a:cubicBezTo>
                  <a:pt x="123825" y="409575"/>
                  <a:pt x="107950" y="434975"/>
                  <a:pt x="76200" y="447675"/>
                </a:cubicBezTo>
                <a:lnTo>
                  <a:pt x="76200" y="666750"/>
                </a:lnTo>
                <a:cubicBezTo>
                  <a:pt x="76200" y="714375"/>
                  <a:pt x="66675" y="733425"/>
                  <a:pt x="0" y="733425"/>
                </a:cubicBez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>
        <p:nvSpPr>
          <p:cNvPr id="47" name="af-svg-text-0010-text-01"/>
          <p:cNvSpPr txBox="1"/>
          <p:nvPr/>
        </p:nvSpPr>
        <p:spPr>
          <a:xfrm>
            <a:off x="4136136" y="2811780"/>
            <a:ext cx="2014728" cy="47625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00000"/>
                </a:solidFill>
                <a:latin typeface="Times New Roman"/>
              </a:rPr>
              <a:t>Generate answer</a:t>
            </a:r>
          </a:p>
        </p:txBody>
      </p:sp>
      <p:sp>
        <p:nvSpPr>
          <p:cNvPr id="48" name="af-svg-text-0011-text-01"/>
          <p:cNvSpPr txBox="1"/>
          <p:nvPr/>
        </p:nvSpPr>
        <p:spPr>
          <a:xfrm>
            <a:off x="4124706" y="3097530"/>
            <a:ext cx="1980438" cy="47625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00000"/>
                </a:solidFill>
                <a:latin typeface="Times New Roman"/>
              </a:rPr>
              <a:t>before reasoning</a:t>
            </a:r>
          </a:p>
        </p:txBody>
      </p:sp>
      <p:sp>
        <p:nvSpPr>
          <p:cNvPr id="49" name="af-svg-circle-0007-ellipse-01"/>
          <p:cNvSpPr/>
          <p:nvPr/>
        </p:nvSpPr>
        <p:spPr>
          <a:xfrm>
            <a:off x="4608195" y="3122295"/>
            <a:ext cx="41910" cy="41910"/>
          </a:xfrm>
          <a:prstGeom prst="ellipse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af-svg-circle-0008-ellipse-01"/>
          <p:cNvSpPr/>
          <p:nvPr/>
        </p:nvSpPr>
        <p:spPr>
          <a:xfrm>
            <a:off x="4608195" y="3217545"/>
            <a:ext cx="41910" cy="41910"/>
          </a:xfrm>
          <a:prstGeom prst="ellipse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af-svg-circle-0009-ellipse-01"/>
          <p:cNvSpPr/>
          <p:nvPr/>
        </p:nvSpPr>
        <p:spPr>
          <a:xfrm>
            <a:off x="4608195" y="3312795"/>
            <a:ext cx="41910" cy="41910"/>
          </a:xfrm>
          <a:prstGeom prst="ellipse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af-svg-line-0003-connector-01"/>
          <p:cNvCxnSpPr/>
          <p:nvPr/>
        </p:nvCxnSpPr>
        <p:spPr>
          <a:xfrm>
            <a:off x="4638675" y="3448050"/>
            <a:ext cx="0" cy="209550"/>
          </a:xfrm>
          <a:prstGeom prst="line">
            <a:avLst/>
          </a:prstGeom>
          <a:ln w="19050">
            <a:solidFill>
              <a:srgbClr val="33333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af-svg-rect-0024-rect-01"/>
          <p:cNvSpPr/>
          <p:nvPr/>
        </p:nvSpPr>
        <p:spPr>
          <a:xfrm>
            <a:off x="2857500" y="3686175"/>
            <a:ext cx="352425" cy="266700"/>
          </a:xfrm>
          <a:prstGeom prst="roundRect">
            <a:avLst>
              <a:gd name="adj" fmla="val 17857"/>
            </a:avLst>
          </a:prstGeom>
          <a:solidFill>
            <a:srgbClr val="2D9CDB"/>
          </a:solidFill>
          <a:ln w="9525">
            <a:solidFill>
              <a:srgbClr val="1E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af-svg-rect-0025-rect-01"/>
          <p:cNvSpPr/>
          <p:nvPr/>
        </p:nvSpPr>
        <p:spPr>
          <a:xfrm>
            <a:off x="3267075" y="3686175"/>
            <a:ext cx="352425" cy="266700"/>
          </a:xfrm>
          <a:prstGeom prst="roundRect">
            <a:avLst>
              <a:gd name="adj" fmla="val 17857"/>
            </a:avLst>
          </a:prstGeom>
          <a:solidFill>
            <a:srgbClr val="DAE8FC"/>
          </a:solidFill>
          <a:ln w="9525">
            <a:solidFill>
              <a:srgbClr val="9AB8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af-svg-rect-0026-rect-01"/>
          <p:cNvSpPr/>
          <p:nvPr/>
        </p:nvSpPr>
        <p:spPr>
          <a:xfrm>
            <a:off x="3676650" y="3686175"/>
            <a:ext cx="352425" cy="266700"/>
          </a:xfrm>
          <a:prstGeom prst="roundRect">
            <a:avLst>
              <a:gd name="adj" fmla="val 17857"/>
            </a:avLst>
          </a:prstGeom>
          <a:solidFill>
            <a:srgbClr val="F5F5F5"/>
          </a:solidFill>
          <a:ln w="9525">
            <a:solidFill>
              <a:srgbClr val="B3B3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af-svg-rect-0027-rect-01"/>
          <p:cNvSpPr/>
          <p:nvPr/>
        </p:nvSpPr>
        <p:spPr>
          <a:xfrm>
            <a:off x="4086225" y="3686175"/>
            <a:ext cx="352425" cy="266700"/>
          </a:xfrm>
          <a:prstGeom prst="roundRect">
            <a:avLst>
              <a:gd name="adj" fmla="val 17857"/>
            </a:avLst>
          </a:prstGeom>
          <a:solidFill>
            <a:srgbClr val="2D9CDB"/>
          </a:solidFill>
          <a:ln w="9525">
            <a:solidFill>
              <a:srgbClr val="1E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af-svg-circle-0010-ellipse-01"/>
          <p:cNvSpPr/>
          <p:nvPr/>
        </p:nvSpPr>
        <p:spPr>
          <a:xfrm>
            <a:off x="4531995" y="3798570"/>
            <a:ext cx="41910" cy="41910"/>
          </a:xfrm>
          <a:prstGeom prst="ellipse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af-svg-circle-0011-ellipse-01"/>
          <p:cNvSpPr/>
          <p:nvPr/>
        </p:nvSpPr>
        <p:spPr>
          <a:xfrm>
            <a:off x="4608195" y="3798570"/>
            <a:ext cx="41910" cy="41910"/>
          </a:xfrm>
          <a:prstGeom prst="ellipse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af-svg-circle-0012-ellipse-01"/>
          <p:cNvSpPr/>
          <p:nvPr/>
        </p:nvSpPr>
        <p:spPr>
          <a:xfrm>
            <a:off x="4684395" y="3798570"/>
            <a:ext cx="41910" cy="41910"/>
          </a:xfrm>
          <a:prstGeom prst="ellipse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af-svg-rect-0028-rect-01"/>
          <p:cNvSpPr/>
          <p:nvPr/>
        </p:nvSpPr>
        <p:spPr>
          <a:xfrm>
            <a:off x="4829175" y="3686175"/>
            <a:ext cx="352425" cy="266700"/>
          </a:xfrm>
          <a:prstGeom prst="roundRect">
            <a:avLst>
              <a:gd name="adj" fmla="val 17857"/>
            </a:avLst>
          </a:prstGeom>
          <a:solidFill>
            <a:srgbClr val="F5F5F5"/>
          </a:solidFill>
          <a:ln w="9525">
            <a:solidFill>
              <a:srgbClr val="B3B3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af-svg-rect-0029-rect-01"/>
          <p:cNvSpPr/>
          <p:nvPr/>
        </p:nvSpPr>
        <p:spPr>
          <a:xfrm>
            <a:off x="5238750" y="3686175"/>
            <a:ext cx="352425" cy="266700"/>
          </a:xfrm>
          <a:prstGeom prst="roundRect">
            <a:avLst>
              <a:gd name="adj" fmla="val 17857"/>
            </a:avLst>
          </a:prstGeom>
          <a:solidFill>
            <a:srgbClr val="DAE8FC"/>
          </a:solidFill>
          <a:ln w="9525">
            <a:solidFill>
              <a:srgbClr val="9AB8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af-svg-rect-0030-rect-01"/>
          <p:cNvSpPr/>
          <p:nvPr/>
        </p:nvSpPr>
        <p:spPr>
          <a:xfrm>
            <a:off x="5648325" y="3686175"/>
            <a:ext cx="352425" cy="266700"/>
          </a:xfrm>
          <a:prstGeom prst="roundRect">
            <a:avLst>
              <a:gd name="adj" fmla="val 17857"/>
            </a:avLst>
          </a:prstGeom>
          <a:solidFill>
            <a:srgbClr val="DAE8FC"/>
          </a:solidFill>
          <a:ln w="9525">
            <a:solidFill>
              <a:srgbClr val="9AB8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af-svg-rect-0031-rect-01"/>
          <p:cNvSpPr/>
          <p:nvPr/>
        </p:nvSpPr>
        <p:spPr>
          <a:xfrm>
            <a:off x="6057900" y="3686175"/>
            <a:ext cx="352425" cy="266700"/>
          </a:xfrm>
          <a:prstGeom prst="roundRect">
            <a:avLst>
              <a:gd name="adj" fmla="val 17857"/>
            </a:avLst>
          </a:prstGeom>
          <a:solidFill>
            <a:srgbClr val="DAE8FC"/>
          </a:solidFill>
          <a:ln w="9525">
            <a:solidFill>
              <a:srgbClr val="9AB8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af-svg-text-0012-text-01"/>
          <p:cNvSpPr txBox="1"/>
          <p:nvPr/>
        </p:nvSpPr>
        <p:spPr>
          <a:xfrm>
            <a:off x="2754392" y="3912394"/>
            <a:ext cx="549116" cy="36909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125">
                <a:solidFill>
                  <a:srgbClr val="1A1A1A"/>
                </a:solidFill>
                <a:latin typeface="Times New Roman"/>
              </a:rPr>
              <a:t>The</a:t>
            </a:r>
          </a:p>
        </p:txBody>
      </p:sp>
      <p:sp>
        <p:nvSpPr>
          <p:cNvPr id="65" name="af-svg-text-0013-text-01"/>
          <p:cNvSpPr txBox="1"/>
          <p:nvPr/>
        </p:nvSpPr>
        <p:spPr>
          <a:xfrm>
            <a:off x="3113961" y="3912394"/>
            <a:ext cx="649129" cy="36909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125">
                <a:solidFill>
                  <a:srgbClr val="1A1A1A"/>
                </a:solidFill>
                <a:latin typeface="Times New Roman"/>
              </a:rPr>
              <a:t>stove</a:t>
            </a:r>
          </a:p>
        </p:txBody>
      </p:sp>
      <p:sp>
        <p:nvSpPr>
          <p:cNvPr id="66" name="af-svg-text-0014-text-01"/>
          <p:cNvSpPr txBox="1"/>
          <p:nvPr/>
        </p:nvSpPr>
        <p:spPr>
          <a:xfrm>
            <a:off x="3893820" y="3912394"/>
            <a:ext cx="727710" cy="36909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125">
                <a:solidFill>
                  <a:srgbClr val="1A1A1A"/>
                </a:solidFill>
                <a:latin typeface="Times New Roman"/>
              </a:rPr>
              <a:t>broken</a:t>
            </a:r>
          </a:p>
        </p:txBody>
      </p:sp>
      <p:sp>
        <p:nvSpPr>
          <p:cNvPr id="67" name="af-svg-text-0015-text-01"/>
          <p:cNvSpPr txBox="1"/>
          <p:nvPr/>
        </p:nvSpPr>
        <p:spPr>
          <a:xfrm>
            <a:off x="5026342" y="3960019"/>
            <a:ext cx="767715" cy="36909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125">
                <a:solidFill>
                  <a:srgbClr val="1A1A1A"/>
                </a:solidFill>
                <a:latin typeface="Times New Roman"/>
              </a:rPr>
              <a:t>answer</a:t>
            </a:r>
          </a:p>
        </p:txBody>
      </p:sp>
      <p:sp>
        <p:nvSpPr>
          <p:cNvPr id="68" name="af-svg-text-0016-text-01"/>
          <p:cNvSpPr txBox="1"/>
          <p:nvPr/>
        </p:nvSpPr>
        <p:spPr>
          <a:xfrm>
            <a:off x="5610225" y="3960019"/>
            <a:ext cx="419100" cy="36909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125">
                <a:solidFill>
                  <a:srgbClr val="1A1A1A"/>
                </a:solidFill>
                <a:latin typeface="Times New Roman"/>
              </a:rPr>
              <a:t>is</a:t>
            </a:r>
          </a:p>
        </p:txBody>
      </p:sp>
      <p:sp>
        <p:nvSpPr>
          <p:cNvPr id="69" name="af-svg-text-0017-text-01"/>
          <p:cNvSpPr txBox="1"/>
          <p:nvPr/>
        </p:nvSpPr>
        <p:spPr>
          <a:xfrm>
            <a:off x="6029087" y="3960019"/>
            <a:ext cx="400526" cy="36909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125" b="1">
                <a:solidFill>
                  <a:srgbClr val="F00000"/>
                </a:solidFill>
                <a:latin typeface="Times New Roman"/>
              </a:rPr>
              <a:t>B</a:t>
            </a:r>
          </a:p>
        </p:txBody>
      </p:sp>
      <p:sp>
        <p:nvSpPr>
          <p:cNvPr id="70" name="af-svg-path-0006-freeform-01"/>
          <p:cNvSpPr/>
          <p:nvPr/>
        </p:nvSpPr>
        <p:spPr>
          <a:xfrm>
            <a:off x="2905125" y="4238625"/>
            <a:ext cx="1524000" cy="123825"/>
          </a:xfrm>
          <a:custGeom>
            <a:avLst/>
            <a:gdLst/>
            <a:ahLst/>
            <a:cxnLst/>
            <a:rect l="0" t="0" r="0" b="0"/>
            <a:pathLst>
              <a:path w="1524000" h="123825">
                <a:moveTo>
                  <a:pt x="0" y="0"/>
                </a:moveTo>
                <a:cubicBezTo>
                  <a:pt x="0" y="66675"/>
                  <a:pt x="19050" y="76200"/>
                  <a:pt x="66675" y="76200"/>
                </a:cubicBezTo>
                <a:lnTo>
                  <a:pt x="676275" y="76200"/>
                </a:lnTo>
                <a:cubicBezTo>
                  <a:pt x="688975" y="107950"/>
                  <a:pt x="717550" y="123825"/>
                  <a:pt x="762000" y="123825"/>
                </a:cubicBezTo>
                <a:cubicBezTo>
                  <a:pt x="806450" y="123825"/>
                  <a:pt x="835025" y="107950"/>
                  <a:pt x="847725" y="76200"/>
                </a:cubicBezTo>
                <a:lnTo>
                  <a:pt x="1457325" y="76200"/>
                </a:lnTo>
                <a:cubicBezTo>
                  <a:pt x="1504950" y="76200"/>
                  <a:pt x="1524000" y="66675"/>
                  <a:pt x="1524000" y="0"/>
                </a:cubicBez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>
        <p:nvSpPr>
          <p:cNvPr id="71" name="af-svg-text-0018-text-01"/>
          <p:cNvSpPr txBox="1"/>
          <p:nvPr/>
        </p:nvSpPr>
        <p:spPr>
          <a:xfrm rot="16200000">
            <a:off x="6247257" y="3746897"/>
            <a:ext cx="1069086" cy="392906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75" b="1">
                <a:solidFill>
                  <a:srgbClr val="1A1A1A"/>
                </a:solidFill>
                <a:latin typeface="Times New Roman"/>
              </a:rPr>
              <a:t>Later Step</a:t>
            </a:r>
          </a:p>
        </p:txBody>
      </p:sp>
      <p:sp>
        <p:nvSpPr>
          <p:cNvPr id="72" name="af-svg-path-0007-freeform-01"/>
          <p:cNvSpPr/>
          <p:nvPr/>
        </p:nvSpPr>
        <p:spPr>
          <a:xfrm>
            <a:off x="6496050" y="3457575"/>
            <a:ext cx="123825" cy="733425"/>
          </a:xfrm>
          <a:custGeom>
            <a:avLst/>
            <a:gdLst/>
            <a:ahLst/>
            <a:cxnLst/>
            <a:rect l="0" t="0" r="0" b="0"/>
            <a:pathLst>
              <a:path w="123825" h="733425">
                <a:moveTo>
                  <a:pt x="0" y="0"/>
                </a:moveTo>
                <a:cubicBezTo>
                  <a:pt x="66675" y="0"/>
                  <a:pt x="76200" y="19050"/>
                  <a:pt x="76200" y="66675"/>
                </a:cubicBezTo>
                <a:lnTo>
                  <a:pt x="76200" y="295275"/>
                </a:lnTo>
                <a:cubicBezTo>
                  <a:pt x="107950" y="307975"/>
                  <a:pt x="123825" y="333375"/>
                  <a:pt x="123825" y="371475"/>
                </a:cubicBezTo>
                <a:cubicBezTo>
                  <a:pt x="123825" y="409575"/>
                  <a:pt x="107950" y="434975"/>
                  <a:pt x="76200" y="447675"/>
                </a:cubicBezTo>
                <a:lnTo>
                  <a:pt x="76200" y="666750"/>
                </a:lnTo>
                <a:cubicBezTo>
                  <a:pt x="76200" y="714375"/>
                  <a:pt x="66675" y="733425"/>
                  <a:pt x="0" y="733425"/>
                </a:cubicBez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>
        <p:nvSpPr>
          <p:cNvPr id="73" name="af-svg-text-0019-text-01"/>
          <p:cNvSpPr txBox="1"/>
          <p:nvPr/>
        </p:nvSpPr>
        <p:spPr>
          <a:xfrm>
            <a:off x="1894713" y="4240530"/>
            <a:ext cx="2154174" cy="47625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00000"/>
                </a:solidFill>
                <a:latin typeface="Times New Roman"/>
              </a:rPr>
              <a:t>Generate rationale</a:t>
            </a:r>
          </a:p>
        </p:txBody>
      </p:sp>
      <p:sp>
        <p:nvSpPr>
          <p:cNvPr id="74" name="af-svg-text-0020-text-01"/>
          <p:cNvSpPr txBox="1"/>
          <p:nvPr/>
        </p:nvSpPr>
        <p:spPr>
          <a:xfrm>
            <a:off x="2059305" y="4526280"/>
            <a:ext cx="1882140" cy="47625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00000"/>
                </a:solidFill>
                <a:latin typeface="Times New Roman"/>
              </a:rPr>
              <a:t>after answering</a:t>
            </a:r>
          </a:p>
        </p:txBody>
      </p:sp>
      <p:sp>
        <p:nvSpPr>
          <p:cNvPr id="75" name="af-svg-rect-0032-rect-01"/>
          <p:cNvSpPr/>
          <p:nvPr/>
        </p:nvSpPr>
        <p:spPr>
          <a:xfrm>
            <a:off x="257175" y="2238375"/>
            <a:ext cx="2409825" cy="17145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4288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af-svg-rect-0033-rect-01"/>
          <p:cNvSpPr/>
          <p:nvPr/>
        </p:nvSpPr>
        <p:spPr>
          <a:xfrm>
            <a:off x="381000" y="2447925"/>
            <a:ext cx="352425" cy="266700"/>
          </a:xfrm>
          <a:prstGeom prst="roundRect">
            <a:avLst>
              <a:gd name="adj" fmla="val 17857"/>
            </a:avLst>
          </a:prstGeom>
          <a:solidFill>
            <a:srgbClr val="F5F5F5"/>
          </a:solidFill>
          <a:ln w="9525">
            <a:solidFill>
              <a:srgbClr val="B3B3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af-svg-text-0021-text-01"/>
          <p:cNvSpPr txBox="1"/>
          <p:nvPr/>
        </p:nvSpPr>
        <p:spPr>
          <a:xfrm>
            <a:off x="809625" y="2475071"/>
            <a:ext cx="1185672" cy="392906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275" b="1">
                <a:solidFill>
                  <a:srgbClr val="1A1A1A"/>
                </a:solidFill>
                <a:latin typeface="Times New Roman"/>
              </a:rPr>
              <a:t>Mask Token</a:t>
            </a:r>
          </a:p>
        </p:txBody>
      </p:sp>
      <p:sp>
        <p:nvSpPr>
          <p:cNvPr id="78" name="af-svg-rect-0034-rect-01"/>
          <p:cNvSpPr/>
          <p:nvPr/>
        </p:nvSpPr>
        <p:spPr>
          <a:xfrm>
            <a:off x="381000" y="2905125"/>
            <a:ext cx="352425" cy="266700"/>
          </a:xfrm>
          <a:prstGeom prst="roundRect">
            <a:avLst>
              <a:gd name="adj" fmla="val 17857"/>
            </a:avLst>
          </a:prstGeom>
          <a:solidFill>
            <a:srgbClr val="DAE8FC"/>
          </a:solidFill>
          <a:ln w="9525">
            <a:solidFill>
              <a:srgbClr val="9AB8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af-svg-text-0022-text-01"/>
          <p:cNvSpPr txBox="1"/>
          <p:nvPr/>
        </p:nvSpPr>
        <p:spPr>
          <a:xfrm>
            <a:off x="809625" y="2913221"/>
            <a:ext cx="1868995" cy="392906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275" b="1">
                <a:solidFill>
                  <a:srgbClr val="1A1A1A"/>
                </a:solidFill>
                <a:latin typeface="Times New Roman"/>
              </a:rPr>
              <a:t>Less Visual-grounded</a:t>
            </a:r>
          </a:p>
        </p:txBody>
      </p:sp>
      <p:sp>
        <p:nvSpPr>
          <p:cNvPr id="80" name="af-svg-text-0023-text-01"/>
          <p:cNvSpPr txBox="1"/>
          <p:nvPr/>
        </p:nvSpPr>
        <p:spPr>
          <a:xfrm>
            <a:off x="809625" y="3122771"/>
            <a:ext cx="1263396" cy="392906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275" b="1">
                <a:solidFill>
                  <a:srgbClr val="1A1A1A"/>
                </a:solidFill>
                <a:latin typeface="Times New Roman"/>
              </a:rPr>
              <a:t>Output Token</a:t>
            </a:r>
          </a:p>
        </p:txBody>
      </p:sp>
      <p:sp>
        <p:nvSpPr>
          <p:cNvPr id="81" name="af-svg-rect-0035-rect-01"/>
          <p:cNvSpPr/>
          <p:nvPr/>
        </p:nvSpPr>
        <p:spPr>
          <a:xfrm>
            <a:off x="381000" y="3381375"/>
            <a:ext cx="352425" cy="266700"/>
          </a:xfrm>
          <a:prstGeom prst="roundRect">
            <a:avLst>
              <a:gd name="adj" fmla="val 17857"/>
            </a:avLst>
          </a:prstGeom>
          <a:solidFill>
            <a:srgbClr val="2D9CDB"/>
          </a:solidFill>
          <a:ln w="9525">
            <a:solidFill>
              <a:srgbClr val="1E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af-svg-text-0024-text-01"/>
          <p:cNvSpPr txBox="1"/>
          <p:nvPr/>
        </p:nvSpPr>
        <p:spPr>
          <a:xfrm>
            <a:off x="809625" y="3389471"/>
            <a:ext cx="1872234" cy="392906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275" b="1">
                <a:solidFill>
                  <a:srgbClr val="1A1A1A"/>
                </a:solidFill>
                <a:latin typeface="Times New Roman"/>
              </a:rPr>
              <a:t>More Visual-grounded</a:t>
            </a:r>
          </a:p>
        </p:txBody>
      </p:sp>
      <p:sp>
        <p:nvSpPr>
          <p:cNvPr id="83" name="af-svg-text-0025-text-01"/>
          <p:cNvSpPr txBox="1"/>
          <p:nvPr/>
        </p:nvSpPr>
        <p:spPr>
          <a:xfrm>
            <a:off x="809625" y="3599021"/>
            <a:ext cx="1263396" cy="392906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275" b="1">
                <a:solidFill>
                  <a:srgbClr val="1A1A1A"/>
                </a:solidFill>
                <a:latin typeface="Times New Roman"/>
              </a:rPr>
              <a:t>Output Token</a:t>
            </a:r>
          </a:p>
        </p:txBody>
      </p:sp>
      <p:sp>
        <p:nvSpPr>
          <p:cNvPr id="84" name="af-svg-text-0026-text-01"/>
          <p:cNvSpPr txBox="1"/>
          <p:nvPr/>
        </p:nvSpPr>
        <p:spPr>
          <a:xfrm>
            <a:off x="1383030" y="5010150"/>
            <a:ext cx="2948940" cy="2667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500">
                <a:solidFill>
                  <a:srgbClr val="1A1A1A"/>
                </a:solidFill>
                <a:latin typeface="Times New Roman"/>
              </a:rPr>
              <a:t>(a) Baseline dMLLM Inference.</a:t>
            </a:r>
          </a:p>
        </p:txBody>
      </p:sp>
      <p:sp>
        <p:nvSpPr>
          <p:cNvPr id="85" name="af-svg-text-0027-text-01"/>
          <p:cNvSpPr txBox="1"/>
          <p:nvPr/>
        </p:nvSpPr>
        <p:spPr>
          <a:xfrm>
            <a:off x="7584329" y="94774"/>
            <a:ext cx="795242" cy="416719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425" b="1">
                <a:solidFill>
                  <a:srgbClr val="1A1A1A"/>
                </a:solidFill>
                <a:latin typeface="Times New Roman"/>
              </a:rPr>
              <a:t>Image</a:t>
            </a:r>
          </a:p>
        </p:txBody>
      </p:sp>
      <p:sp>
        <p:nvSpPr>
          <p:cNvPr id="86" name="af-svg-text-0028-text-01"/>
          <p:cNvSpPr txBox="1"/>
          <p:nvPr/>
        </p:nvSpPr>
        <p:spPr>
          <a:xfrm>
            <a:off x="8878491" y="94774"/>
            <a:ext cx="892969" cy="416719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425" b="1">
                <a:solidFill>
                  <a:srgbClr val="1A1A1A"/>
                </a:solidFill>
                <a:latin typeface="Times New Roman"/>
              </a:rPr>
              <a:t>Prompt</a:t>
            </a:r>
          </a:p>
        </p:txBody>
      </p:sp>
      <p:sp>
        <p:nvSpPr>
          <p:cNvPr id="87" name="af-svg-text-0029-text-01"/>
          <p:cNvSpPr txBox="1"/>
          <p:nvPr/>
        </p:nvSpPr>
        <p:spPr>
          <a:xfrm>
            <a:off x="11306699" y="94774"/>
            <a:ext cx="1084802" cy="416719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425" b="1">
                <a:solidFill>
                  <a:srgbClr val="1A1A1A"/>
                </a:solidFill>
                <a:latin typeface="Times New Roman"/>
              </a:rPr>
              <a:t>Response</a:t>
            </a:r>
          </a:p>
        </p:txBody>
      </p:sp>
      <p:sp>
        <p:nvSpPr>
          <p:cNvPr id="88" name="af-svg-path-0008-freeform-01"/>
          <p:cNvSpPr/>
          <p:nvPr/>
        </p:nvSpPr>
        <p:spPr>
          <a:xfrm>
            <a:off x="7400925" y="333375"/>
            <a:ext cx="1162050" cy="123825"/>
          </a:xfrm>
          <a:custGeom>
            <a:avLst/>
            <a:gdLst/>
            <a:ahLst/>
            <a:cxnLst/>
            <a:rect l="0" t="0" r="0" b="0"/>
            <a:pathLst>
              <a:path w="1162050" h="123825">
                <a:moveTo>
                  <a:pt x="0" y="123825"/>
                </a:moveTo>
                <a:cubicBezTo>
                  <a:pt x="0" y="57150"/>
                  <a:pt x="19050" y="47625"/>
                  <a:pt x="66675" y="47625"/>
                </a:cubicBezTo>
                <a:lnTo>
                  <a:pt x="495300" y="47625"/>
                </a:lnTo>
                <a:cubicBezTo>
                  <a:pt x="508000" y="15875"/>
                  <a:pt x="536575" y="0"/>
                  <a:pt x="581025" y="0"/>
                </a:cubicBezTo>
                <a:cubicBezTo>
                  <a:pt x="625475" y="0"/>
                  <a:pt x="654050" y="15875"/>
                  <a:pt x="666750" y="47625"/>
                </a:cubicBezTo>
                <a:lnTo>
                  <a:pt x="1095375" y="47625"/>
                </a:lnTo>
                <a:cubicBezTo>
                  <a:pt x="1143000" y="47625"/>
                  <a:pt x="1162050" y="57150"/>
                  <a:pt x="1162050" y="123825"/>
                </a:cubicBez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>
        <p:nvSpPr>
          <p:cNvPr id="89" name="af-svg-path-0009-freeform-01"/>
          <p:cNvSpPr/>
          <p:nvPr/>
        </p:nvSpPr>
        <p:spPr>
          <a:xfrm>
            <a:off x="8743950" y="333375"/>
            <a:ext cx="1162050" cy="123825"/>
          </a:xfrm>
          <a:custGeom>
            <a:avLst/>
            <a:gdLst/>
            <a:ahLst/>
            <a:cxnLst/>
            <a:rect l="0" t="0" r="0" b="0"/>
            <a:pathLst>
              <a:path w="1162050" h="123825">
                <a:moveTo>
                  <a:pt x="0" y="123825"/>
                </a:moveTo>
                <a:cubicBezTo>
                  <a:pt x="0" y="57150"/>
                  <a:pt x="19050" y="47625"/>
                  <a:pt x="66675" y="47625"/>
                </a:cubicBezTo>
                <a:lnTo>
                  <a:pt x="495300" y="47625"/>
                </a:lnTo>
                <a:cubicBezTo>
                  <a:pt x="508000" y="15875"/>
                  <a:pt x="536575" y="0"/>
                  <a:pt x="581025" y="0"/>
                </a:cubicBezTo>
                <a:cubicBezTo>
                  <a:pt x="625475" y="0"/>
                  <a:pt x="654050" y="15875"/>
                  <a:pt x="666750" y="47625"/>
                </a:cubicBezTo>
                <a:lnTo>
                  <a:pt x="1095375" y="47625"/>
                </a:lnTo>
                <a:cubicBezTo>
                  <a:pt x="1143000" y="47625"/>
                  <a:pt x="1162050" y="57150"/>
                  <a:pt x="1162050" y="123825"/>
                </a:cubicBez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>
        <p:nvSpPr>
          <p:cNvPr id="90" name="af-svg-path-0010-freeform-01"/>
          <p:cNvSpPr/>
          <p:nvPr/>
        </p:nvSpPr>
        <p:spPr>
          <a:xfrm>
            <a:off x="10067925" y="333375"/>
            <a:ext cx="3524250" cy="123825"/>
          </a:xfrm>
          <a:custGeom>
            <a:avLst/>
            <a:gdLst/>
            <a:ahLst/>
            <a:cxnLst/>
            <a:rect l="0" t="0" r="0" b="0"/>
            <a:pathLst>
              <a:path w="3524250" h="123825">
                <a:moveTo>
                  <a:pt x="0" y="123825"/>
                </a:moveTo>
                <a:cubicBezTo>
                  <a:pt x="0" y="57150"/>
                  <a:pt x="19050" y="47625"/>
                  <a:pt x="66675" y="47625"/>
                </a:cubicBezTo>
                <a:lnTo>
                  <a:pt x="1695450" y="47625"/>
                </a:lnTo>
                <a:cubicBezTo>
                  <a:pt x="1708150" y="15875"/>
                  <a:pt x="1736725" y="0"/>
                  <a:pt x="1781175" y="0"/>
                </a:cubicBezTo>
                <a:cubicBezTo>
                  <a:pt x="1825625" y="0"/>
                  <a:pt x="1854200" y="15875"/>
                  <a:pt x="1866900" y="47625"/>
                </a:cubicBezTo>
                <a:lnTo>
                  <a:pt x="3457575" y="47625"/>
                </a:lnTo>
                <a:cubicBezTo>
                  <a:pt x="3505200" y="47625"/>
                  <a:pt x="3524250" y="57150"/>
                  <a:pt x="3524250" y="123825"/>
                </a:cubicBez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>
        <p:nvSpPr>
          <p:cNvPr id="91" name="af-svg-rect-0036-rect-01"/>
          <p:cNvSpPr/>
          <p:nvPr/>
        </p:nvSpPr>
        <p:spPr>
          <a:xfrm>
            <a:off x="7400925" y="581025"/>
            <a:ext cx="342900" cy="247650"/>
          </a:xfrm>
          <a:prstGeom prst="roundRect">
            <a:avLst>
              <a:gd name="adj" fmla="val 19230"/>
            </a:avLst>
          </a:prstGeom>
          <a:solidFill>
            <a:srgbClr val="FFFAE6"/>
          </a:solidFill>
          <a:ln w="9525">
            <a:solidFill>
              <a:srgbClr val="E0D5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af-svg-rect-0037-rect-01"/>
          <p:cNvSpPr/>
          <p:nvPr/>
        </p:nvSpPr>
        <p:spPr>
          <a:xfrm>
            <a:off x="7810500" y="581025"/>
            <a:ext cx="342900" cy="247650"/>
          </a:xfrm>
          <a:prstGeom prst="roundRect">
            <a:avLst>
              <a:gd name="adj" fmla="val 19230"/>
            </a:avLst>
          </a:prstGeom>
          <a:solidFill>
            <a:srgbClr val="FFFAE6"/>
          </a:solidFill>
          <a:ln w="9525">
            <a:solidFill>
              <a:srgbClr val="E0D5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af-svg-rect-0038-rect-01"/>
          <p:cNvSpPr/>
          <p:nvPr/>
        </p:nvSpPr>
        <p:spPr>
          <a:xfrm>
            <a:off x="8220075" y="581025"/>
            <a:ext cx="342900" cy="247650"/>
          </a:xfrm>
          <a:prstGeom prst="roundRect">
            <a:avLst>
              <a:gd name="adj" fmla="val 19230"/>
            </a:avLst>
          </a:prstGeom>
          <a:solidFill>
            <a:srgbClr val="FFFAE6"/>
          </a:solidFill>
          <a:ln w="9525">
            <a:solidFill>
              <a:srgbClr val="E0D5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af-svg-rect-0039-rect-01"/>
          <p:cNvSpPr/>
          <p:nvPr/>
        </p:nvSpPr>
        <p:spPr>
          <a:xfrm>
            <a:off x="8743950" y="581025"/>
            <a:ext cx="342900" cy="247650"/>
          </a:xfrm>
          <a:prstGeom prst="roundRect">
            <a:avLst>
              <a:gd name="adj" fmla="val 19230"/>
            </a:avLst>
          </a:prstGeom>
          <a:solidFill>
            <a:srgbClr val="D5E8D4"/>
          </a:solidFill>
          <a:ln w="9525">
            <a:solidFill>
              <a:srgbClr val="97C7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af-svg-rect-0040-rect-01"/>
          <p:cNvSpPr/>
          <p:nvPr/>
        </p:nvSpPr>
        <p:spPr>
          <a:xfrm>
            <a:off x="9153525" y="581025"/>
            <a:ext cx="342900" cy="247650"/>
          </a:xfrm>
          <a:prstGeom prst="roundRect">
            <a:avLst>
              <a:gd name="adj" fmla="val 19230"/>
            </a:avLst>
          </a:prstGeom>
          <a:solidFill>
            <a:srgbClr val="D5E8D4"/>
          </a:solidFill>
          <a:ln w="9525">
            <a:solidFill>
              <a:srgbClr val="97C7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af-svg-rect-0041-rect-01"/>
          <p:cNvSpPr/>
          <p:nvPr/>
        </p:nvSpPr>
        <p:spPr>
          <a:xfrm>
            <a:off x="9563100" y="581025"/>
            <a:ext cx="342900" cy="247650"/>
          </a:xfrm>
          <a:prstGeom prst="roundRect">
            <a:avLst>
              <a:gd name="adj" fmla="val 19230"/>
            </a:avLst>
          </a:prstGeom>
          <a:solidFill>
            <a:srgbClr val="D5E8D4"/>
          </a:solidFill>
          <a:ln w="9525">
            <a:solidFill>
              <a:srgbClr val="97C7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af-svg-rect-0042-rect-01"/>
          <p:cNvSpPr/>
          <p:nvPr/>
        </p:nvSpPr>
        <p:spPr>
          <a:xfrm>
            <a:off x="10067925" y="581025"/>
            <a:ext cx="342900" cy="247650"/>
          </a:xfrm>
          <a:prstGeom prst="roundRect">
            <a:avLst>
              <a:gd name="adj" fmla="val 19230"/>
            </a:avLst>
          </a:prstGeom>
          <a:solidFill>
            <a:srgbClr val="F5F5F5"/>
          </a:solidFill>
          <a:ln w="9525">
            <a:solidFill>
              <a:srgbClr val="B3B3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af-svg-rect-0043-rect-01"/>
          <p:cNvSpPr/>
          <p:nvPr/>
        </p:nvSpPr>
        <p:spPr>
          <a:xfrm>
            <a:off x="10477500" y="581025"/>
            <a:ext cx="342900" cy="247650"/>
          </a:xfrm>
          <a:prstGeom prst="roundRect">
            <a:avLst>
              <a:gd name="adj" fmla="val 19230"/>
            </a:avLst>
          </a:prstGeom>
          <a:solidFill>
            <a:srgbClr val="F5F5F5"/>
          </a:solidFill>
          <a:ln w="9525">
            <a:solidFill>
              <a:srgbClr val="B3B3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af-svg-rect-0044-rect-01"/>
          <p:cNvSpPr/>
          <p:nvPr/>
        </p:nvSpPr>
        <p:spPr>
          <a:xfrm>
            <a:off x="10887075" y="581025"/>
            <a:ext cx="342900" cy="247650"/>
          </a:xfrm>
          <a:prstGeom prst="roundRect">
            <a:avLst>
              <a:gd name="adj" fmla="val 19230"/>
            </a:avLst>
          </a:prstGeom>
          <a:solidFill>
            <a:srgbClr val="F5F5F5"/>
          </a:solidFill>
          <a:ln w="9525">
            <a:solidFill>
              <a:srgbClr val="B3B3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af-svg-rect-0045-rect-01"/>
          <p:cNvSpPr/>
          <p:nvPr/>
        </p:nvSpPr>
        <p:spPr>
          <a:xfrm>
            <a:off x="11296650" y="581025"/>
            <a:ext cx="342900" cy="247650"/>
          </a:xfrm>
          <a:prstGeom prst="roundRect">
            <a:avLst>
              <a:gd name="adj" fmla="val 19230"/>
            </a:avLst>
          </a:prstGeom>
          <a:solidFill>
            <a:srgbClr val="F5F5F5"/>
          </a:solidFill>
          <a:ln w="9525">
            <a:solidFill>
              <a:srgbClr val="B3B3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af-svg-circle-0013-ellipse-01"/>
          <p:cNvSpPr/>
          <p:nvPr/>
        </p:nvSpPr>
        <p:spPr>
          <a:xfrm>
            <a:off x="11742420" y="683895"/>
            <a:ext cx="41910" cy="41910"/>
          </a:xfrm>
          <a:prstGeom prst="ellipse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af-svg-circle-0014-ellipse-01"/>
          <p:cNvSpPr/>
          <p:nvPr/>
        </p:nvSpPr>
        <p:spPr>
          <a:xfrm>
            <a:off x="11818620" y="683895"/>
            <a:ext cx="41910" cy="41910"/>
          </a:xfrm>
          <a:prstGeom prst="ellipse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af-svg-circle-0015-ellipse-01"/>
          <p:cNvSpPr/>
          <p:nvPr/>
        </p:nvSpPr>
        <p:spPr>
          <a:xfrm>
            <a:off x="11894820" y="683895"/>
            <a:ext cx="41910" cy="41910"/>
          </a:xfrm>
          <a:prstGeom prst="ellipse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af-svg-rect-0046-rect-01"/>
          <p:cNvSpPr/>
          <p:nvPr/>
        </p:nvSpPr>
        <p:spPr>
          <a:xfrm>
            <a:off x="12020550" y="581025"/>
            <a:ext cx="342900" cy="247650"/>
          </a:xfrm>
          <a:prstGeom prst="roundRect">
            <a:avLst>
              <a:gd name="adj" fmla="val 19230"/>
            </a:avLst>
          </a:prstGeom>
          <a:solidFill>
            <a:srgbClr val="F5F5F5"/>
          </a:solidFill>
          <a:ln w="9525">
            <a:solidFill>
              <a:srgbClr val="B3B3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af-svg-rect-0047-rect-01"/>
          <p:cNvSpPr/>
          <p:nvPr/>
        </p:nvSpPr>
        <p:spPr>
          <a:xfrm>
            <a:off x="12430125" y="581025"/>
            <a:ext cx="342900" cy="247650"/>
          </a:xfrm>
          <a:prstGeom prst="roundRect">
            <a:avLst>
              <a:gd name="adj" fmla="val 19230"/>
            </a:avLst>
          </a:prstGeom>
          <a:solidFill>
            <a:srgbClr val="F5F5F5"/>
          </a:solidFill>
          <a:ln w="9525">
            <a:solidFill>
              <a:srgbClr val="B3B3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af-svg-rect-0048-rect-01"/>
          <p:cNvSpPr/>
          <p:nvPr/>
        </p:nvSpPr>
        <p:spPr>
          <a:xfrm>
            <a:off x="12839700" y="581025"/>
            <a:ext cx="342900" cy="247650"/>
          </a:xfrm>
          <a:prstGeom prst="roundRect">
            <a:avLst>
              <a:gd name="adj" fmla="val 19230"/>
            </a:avLst>
          </a:prstGeom>
          <a:solidFill>
            <a:srgbClr val="F5F5F5"/>
          </a:solidFill>
          <a:ln w="9525">
            <a:solidFill>
              <a:srgbClr val="B3B3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af-svg-rect-0049-rect-01"/>
          <p:cNvSpPr/>
          <p:nvPr/>
        </p:nvSpPr>
        <p:spPr>
          <a:xfrm>
            <a:off x="13249275" y="581025"/>
            <a:ext cx="342900" cy="247650"/>
          </a:xfrm>
          <a:prstGeom prst="roundRect">
            <a:avLst>
              <a:gd name="adj" fmla="val 19230"/>
            </a:avLst>
          </a:prstGeom>
          <a:solidFill>
            <a:srgbClr val="F5F5F5"/>
          </a:solidFill>
          <a:ln w="9525">
            <a:solidFill>
              <a:srgbClr val="B3B3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8" name="af-svg-line-0004-connector-01"/>
          <p:cNvCxnSpPr/>
          <p:nvPr/>
        </p:nvCxnSpPr>
        <p:spPr>
          <a:xfrm>
            <a:off x="11849100" y="904875"/>
            <a:ext cx="0" cy="219075"/>
          </a:xfrm>
          <a:prstGeom prst="line">
            <a:avLst/>
          </a:prstGeom>
          <a:ln w="19050">
            <a:solidFill>
              <a:srgbClr val="33333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af-svg-rect-0050-rect-01"/>
          <p:cNvSpPr/>
          <p:nvPr/>
        </p:nvSpPr>
        <p:spPr>
          <a:xfrm>
            <a:off x="7353300" y="1162050"/>
            <a:ext cx="6334125" cy="381000"/>
          </a:xfrm>
          <a:prstGeom prst="roundRect">
            <a:avLst>
              <a:gd name="adj" fmla="val 20000"/>
            </a:avLst>
          </a:prstGeom>
          <a:solidFill>
            <a:srgbClr val="F8CECC"/>
          </a:solidFill>
          <a:ln w="9525">
            <a:solidFill>
              <a:srgbClr val="DCA3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af-svg-text-0030-text-01"/>
          <p:cNvSpPr txBox="1"/>
          <p:nvPr/>
        </p:nvSpPr>
        <p:spPr>
          <a:xfrm>
            <a:off x="9559671" y="1220152"/>
            <a:ext cx="3816858" cy="452438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650" b="1">
                <a:solidFill>
                  <a:srgbClr val="1A1A1A"/>
                </a:solidFill>
                <a:latin typeface="Times New Roman"/>
              </a:rPr>
              <a:t>Diffusion Multimodal Language Model</a:t>
            </a:r>
          </a:p>
        </p:txBody>
      </p:sp>
      <p:cxnSp>
        <p:nvCxnSpPr>
          <p:cNvPr id="111" name="af-svg-line-0005-connector-01"/>
          <p:cNvCxnSpPr/>
          <p:nvPr/>
        </p:nvCxnSpPr>
        <p:spPr>
          <a:xfrm>
            <a:off x="11972925" y="1581150"/>
            <a:ext cx="0" cy="304800"/>
          </a:xfrm>
          <a:prstGeom prst="line">
            <a:avLst/>
          </a:prstGeom>
          <a:ln w="19050">
            <a:solidFill>
              <a:srgbClr val="33333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af-svg-text-0031-text-01"/>
          <p:cNvSpPr txBox="1"/>
          <p:nvPr/>
        </p:nvSpPr>
        <p:spPr>
          <a:xfrm>
            <a:off x="12004358" y="1790700"/>
            <a:ext cx="1861185" cy="428625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A1A1A"/>
                </a:solidFill>
                <a:latin typeface="Times New Roman"/>
              </a:rPr>
              <a:t>Ours (PSP &amp; VRG)</a:t>
            </a:r>
          </a:p>
        </p:txBody>
      </p:sp>
      <p:sp>
        <p:nvSpPr>
          <p:cNvPr id="113" name="af-svg-rect-0051-rect-01"/>
          <p:cNvSpPr/>
          <p:nvPr/>
        </p:nvSpPr>
        <p:spPr>
          <a:xfrm>
            <a:off x="10210800" y="2162175"/>
            <a:ext cx="361950" cy="266700"/>
          </a:xfrm>
          <a:prstGeom prst="roundRect">
            <a:avLst>
              <a:gd name="adj" fmla="val 17857"/>
            </a:avLst>
          </a:prstGeom>
          <a:solidFill>
            <a:srgbClr val="F5F5F5"/>
          </a:solidFill>
          <a:ln w="9525">
            <a:solidFill>
              <a:srgbClr val="B3B3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af-svg-rect-0052-rect-01"/>
          <p:cNvSpPr/>
          <p:nvPr/>
        </p:nvSpPr>
        <p:spPr>
          <a:xfrm>
            <a:off x="10620375" y="2162175"/>
            <a:ext cx="361950" cy="266700"/>
          </a:xfrm>
          <a:prstGeom prst="roundRect">
            <a:avLst>
              <a:gd name="adj" fmla="val 17857"/>
            </a:avLst>
          </a:prstGeom>
          <a:solidFill>
            <a:srgbClr val="2D9CDB"/>
          </a:solidFill>
          <a:ln w="9525">
            <a:solidFill>
              <a:srgbClr val="1E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af-svg-rect-0053-rect-01"/>
          <p:cNvSpPr/>
          <p:nvPr/>
        </p:nvSpPr>
        <p:spPr>
          <a:xfrm>
            <a:off x="11029950" y="2162175"/>
            <a:ext cx="361950" cy="266700"/>
          </a:xfrm>
          <a:prstGeom prst="roundRect">
            <a:avLst>
              <a:gd name="adj" fmla="val 17857"/>
            </a:avLst>
          </a:prstGeom>
          <a:solidFill>
            <a:srgbClr val="F5F5F5"/>
          </a:solidFill>
          <a:ln w="9525">
            <a:solidFill>
              <a:srgbClr val="B3B3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af-svg-rect-0054-rect-01"/>
          <p:cNvSpPr/>
          <p:nvPr/>
        </p:nvSpPr>
        <p:spPr>
          <a:xfrm>
            <a:off x="11439525" y="2162175"/>
            <a:ext cx="361950" cy="266700"/>
          </a:xfrm>
          <a:prstGeom prst="roundRect">
            <a:avLst>
              <a:gd name="adj" fmla="val 17857"/>
            </a:avLst>
          </a:prstGeom>
          <a:solidFill>
            <a:srgbClr val="2D9CDB"/>
          </a:solidFill>
          <a:ln w="9525">
            <a:solidFill>
              <a:srgbClr val="1E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af-svg-circle-0016-ellipse-01"/>
          <p:cNvSpPr/>
          <p:nvPr/>
        </p:nvSpPr>
        <p:spPr>
          <a:xfrm>
            <a:off x="11885295" y="2274570"/>
            <a:ext cx="41910" cy="41910"/>
          </a:xfrm>
          <a:prstGeom prst="ellipse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af-svg-circle-0017-ellipse-01"/>
          <p:cNvSpPr/>
          <p:nvPr/>
        </p:nvSpPr>
        <p:spPr>
          <a:xfrm>
            <a:off x="11961495" y="2274570"/>
            <a:ext cx="41910" cy="41910"/>
          </a:xfrm>
          <a:prstGeom prst="ellipse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af-svg-circle-0018-ellipse-01"/>
          <p:cNvSpPr/>
          <p:nvPr/>
        </p:nvSpPr>
        <p:spPr>
          <a:xfrm>
            <a:off x="12037695" y="2274570"/>
            <a:ext cx="41910" cy="41910"/>
          </a:xfrm>
          <a:prstGeom prst="ellipse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af-svg-rect-0055-rect-01"/>
          <p:cNvSpPr/>
          <p:nvPr/>
        </p:nvSpPr>
        <p:spPr>
          <a:xfrm>
            <a:off x="12163425" y="2162175"/>
            <a:ext cx="361950" cy="266700"/>
          </a:xfrm>
          <a:prstGeom prst="roundRect">
            <a:avLst>
              <a:gd name="adj" fmla="val 17857"/>
            </a:avLst>
          </a:prstGeom>
          <a:solidFill>
            <a:srgbClr val="F5F5F5"/>
          </a:solidFill>
          <a:ln w="9525">
            <a:solidFill>
              <a:srgbClr val="B3B3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af-svg-rect-0056-rect-01"/>
          <p:cNvSpPr/>
          <p:nvPr/>
        </p:nvSpPr>
        <p:spPr>
          <a:xfrm>
            <a:off x="12573000" y="2162175"/>
            <a:ext cx="361950" cy="266700"/>
          </a:xfrm>
          <a:prstGeom prst="roundRect">
            <a:avLst>
              <a:gd name="adj" fmla="val 17857"/>
            </a:avLst>
          </a:prstGeom>
          <a:solidFill>
            <a:srgbClr val="F5F5F5"/>
          </a:solidFill>
          <a:ln w="9525">
            <a:solidFill>
              <a:srgbClr val="B3B3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af-svg-rect-0057-rect-01"/>
          <p:cNvSpPr/>
          <p:nvPr/>
        </p:nvSpPr>
        <p:spPr>
          <a:xfrm>
            <a:off x="12982575" y="2162175"/>
            <a:ext cx="361950" cy="266700"/>
          </a:xfrm>
          <a:prstGeom prst="roundRect">
            <a:avLst>
              <a:gd name="adj" fmla="val 17857"/>
            </a:avLst>
          </a:prstGeom>
          <a:solidFill>
            <a:srgbClr val="F5F5F5"/>
          </a:solidFill>
          <a:ln w="9525">
            <a:solidFill>
              <a:srgbClr val="B3B3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af-svg-rect-0058-rect-01"/>
          <p:cNvSpPr/>
          <p:nvPr/>
        </p:nvSpPr>
        <p:spPr>
          <a:xfrm>
            <a:off x="13392150" y="2162175"/>
            <a:ext cx="361950" cy="266700"/>
          </a:xfrm>
          <a:prstGeom prst="roundRect">
            <a:avLst>
              <a:gd name="adj" fmla="val 17857"/>
            </a:avLst>
          </a:prstGeom>
          <a:solidFill>
            <a:srgbClr val="F5F5F5"/>
          </a:solidFill>
          <a:ln w="9525">
            <a:solidFill>
              <a:srgbClr val="B3B3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af-svg-text-0032-text-01"/>
          <p:cNvSpPr txBox="1"/>
          <p:nvPr/>
        </p:nvSpPr>
        <p:spPr>
          <a:xfrm>
            <a:off x="10476786" y="2407444"/>
            <a:ext cx="649129" cy="36909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125">
                <a:solidFill>
                  <a:srgbClr val="1A1A1A"/>
                </a:solidFill>
                <a:latin typeface="Times New Roman"/>
              </a:rPr>
              <a:t>stove</a:t>
            </a:r>
          </a:p>
        </p:txBody>
      </p:sp>
      <p:sp>
        <p:nvSpPr>
          <p:cNvPr id="125" name="af-svg-text-0033-text-01"/>
          <p:cNvSpPr txBox="1"/>
          <p:nvPr/>
        </p:nvSpPr>
        <p:spPr>
          <a:xfrm>
            <a:off x="11373802" y="2407444"/>
            <a:ext cx="493395" cy="36909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125">
                <a:solidFill>
                  <a:srgbClr val="1A1A1A"/>
                </a:solidFill>
                <a:latin typeface="Times New Roman"/>
              </a:rPr>
              <a:t>old</a:t>
            </a:r>
          </a:p>
        </p:txBody>
      </p:sp>
      <p:sp>
        <p:nvSpPr>
          <p:cNvPr id="126" name="af-svg-path-0011-freeform-01"/>
          <p:cNvSpPr/>
          <p:nvPr/>
        </p:nvSpPr>
        <p:spPr>
          <a:xfrm>
            <a:off x="10687050" y="2733675"/>
            <a:ext cx="1076325" cy="123825"/>
          </a:xfrm>
          <a:custGeom>
            <a:avLst/>
            <a:gdLst/>
            <a:ahLst/>
            <a:cxnLst/>
            <a:rect l="0" t="0" r="0" b="0"/>
            <a:pathLst>
              <a:path w="1076325" h="123825">
                <a:moveTo>
                  <a:pt x="0" y="0"/>
                </a:moveTo>
                <a:cubicBezTo>
                  <a:pt x="0" y="66675"/>
                  <a:pt x="19050" y="76200"/>
                  <a:pt x="66675" y="76200"/>
                </a:cubicBezTo>
                <a:lnTo>
                  <a:pt x="447675" y="76200"/>
                </a:lnTo>
                <a:cubicBezTo>
                  <a:pt x="460375" y="107950"/>
                  <a:pt x="488950" y="123825"/>
                  <a:pt x="533400" y="123825"/>
                </a:cubicBezTo>
                <a:cubicBezTo>
                  <a:pt x="577850" y="123825"/>
                  <a:pt x="606425" y="107950"/>
                  <a:pt x="619125" y="76200"/>
                </a:cubicBezTo>
                <a:lnTo>
                  <a:pt x="1009650" y="76200"/>
                </a:lnTo>
                <a:cubicBezTo>
                  <a:pt x="1057275" y="76200"/>
                  <a:pt x="1076325" y="66675"/>
                  <a:pt x="1076325" y="0"/>
                </a:cubicBez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>
        <p:nvSpPr>
          <p:cNvPr id="127" name="af-svg-text-0034-text-01"/>
          <p:cNvSpPr txBox="1"/>
          <p:nvPr/>
        </p:nvSpPr>
        <p:spPr>
          <a:xfrm rot="16200000">
            <a:off x="13954125" y="2089547"/>
            <a:ext cx="457200" cy="392906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75" b="1">
                <a:solidFill>
                  <a:srgbClr val="1A1A1A"/>
                </a:solidFill>
                <a:latin typeface="Times New Roman"/>
              </a:rPr>
              <a:t>Early Step</a:t>
            </a:r>
          </a:p>
        </p:txBody>
      </p:sp>
      <p:sp>
        <p:nvSpPr>
          <p:cNvPr id="128" name="af-svg-path-0012-freeform-01"/>
          <p:cNvSpPr/>
          <p:nvPr/>
        </p:nvSpPr>
        <p:spPr>
          <a:xfrm>
            <a:off x="13906500" y="1952625"/>
            <a:ext cx="123825" cy="714375"/>
          </a:xfrm>
          <a:custGeom>
            <a:avLst/>
            <a:gdLst/>
            <a:ahLst/>
            <a:cxnLst/>
            <a:rect l="0" t="0" r="0" b="0"/>
            <a:pathLst>
              <a:path w="123825" h="714375">
                <a:moveTo>
                  <a:pt x="0" y="0"/>
                </a:moveTo>
                <a:cubicBezTo>
                  <a:pt x="66675" y="0"/>
                  <a:pt x="76200" y="19050"/>
                  <a:pt x="76200" y="66675"/>
                </a:cubicBezTo>
                <a:lnTo>
                  <a:pt x="76200" y="257175"/>
                </a:lnTo>
                <a:cubicBezTo>
                  <a:pt x="107950" y="269875"/>
                  <a:pt x="123825" y="295275"/>
                  <a:pt x="123825" y="333375"/>
                </a:cubicBezTo>
                <a:cubicBezTo>
                  <a:pt x="123825" y="371475"/>
                  <a:pt x="107950" y="396875"/>
                  <a:pt x="76200" y="409575"/>
                </a:cubicBezTo>
                <a:lnTo>
                  <a:pt x="76200" y="647700"/>
                </a:lnTo>
                <a:cubicBezTo>
                  <a:pt x="76200" y="695325"/>
                  <a:pt x="66675" y="714375"/>
                  <a:pt x="0" y="714375"/>
                </a:cubicBez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>
        <p:nvSpPr>
          <p:cNvPr id="129" name="af-svg-text-0035-text-01"/>
          <p:cNvSpPr txBox="1"/>
          <p:nvPr/>
        </p:nvSpPr>
        <p:spPr>
          <a:xfrm>
            <a:off x="10220420" y="2801302"/>
            <a:ext cx="2000060" cy="452438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650" b="1">
                <a:solidFill>
                  <a:srgbClr val="00A651"/>
                </a:solidFill>
                <a:latin typeface="Times New Roman"/>
              </a:rPr>
              <a:t>Generate rationale</a:t>
            </a:r>
          </a:p>
        </p:txBody>
      </p:sp>
      <p:sp>
        <p:nvSpPr>
          <p:cNvPr id="130" name="af-svg-text-0036-text-01"/>
          <p:cNvSpPr txBox="1"/>
          <p:nvPr/>
        </p:nvSpPr>
        <p:spPr>
          <a:xfrm>
            <a:off x="10270712" y="3068002"/>
            <a:ext cx="1899475" cy="452438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650" b="1">
                <a:solidFill>
                  <a:srgbClr val="00A651"/>
                </a:solidFill>
                <a:latin typeface="Times New Roman"/>
              </a:rPr>
              <a:t>before answering</a:t>
            </a:r>
          </a:p>
        </p:txBody>
      </p:sp>
      <p:sp>
        <p:nvSpPr>
          <p:cNvPr id="131" name="af-svg-circle-0019-ellipse-01"/>
          <p:cNvSpPr/>
          <p:nvPr/>
        </p:nvSpPr>
        <p:spPr>
          <a:xfrm>
            <a:off x="11951970" y="3141345"/>
            <a:ext cx="41910" cy="41910"/>
          </a:xfrm>
          <a:prstGeom prst="ellipse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af-svg-circle-0020-ellipse-01"/>
          <p:cNvSpPr/>
          <p:nvPr/>
        </p:nvSpPr>
        <p:spPr>
          <a:xfrm>
            <a:off x="11951970" y="3236595"/>
            <a:ext cx="41910" cy="41910"/>
          </a:xfrm>
          <a:prstGeom prst="ellipse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af-svg-circle-0021-ellipse-01"/>
          <p:cNvSpPr/>
          <p:nvPr/>
        </p:nvSpPr>
        <p:spPr>
          <a:xfrm>
            <a:off x="11951970" y="3331845"/>
            <a:ext cx="41910" cy="41910"/>
          </a:xfrm>
          <a:prstGeom prst="ellipse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4" name="af-svg-line-0006-connector-01"/>
          <p:cNvCxnSpPr/>
          <p:nvPr/>
        </p:nvCxnSpPr>
        <p:spPr>
          <a:xfrm>
            <a:off x="11972925" y="3409950"/>
            <a:ext cx="0" cy="209550"/>
          </a:xfrm>
          <a:prstGeom prst="line">
            <a:avLst/>
          </a:prstGeom>
          <a:ln w="19050">
            <a:solidFill>
              <a:srgbClr val="33333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af-svg-rect-0059-rect-01"/>
          <p:cNvSpPr/>
          <p:nvPr/>
        </p:nvSpPr>
        <p:spPr>
          <a:xfrm>
            <a:off x="10191750" y="3667125"/>
            <a:ext cx="361950" cy="266700"/>
          </a:xfrm>
          <a:prstGeom prst="roundRect">
            <a:avLst>
              <a:gd name="adj" fmla="val 17857"/>
            </a:avLst>
          </a:prstGeom>
          <a:solidFill>
            <a:srgbClr val="2D9CDB"/>
          </a:solidFill>
          <a:ln w="9525">
            <a:solidFill>
              <a:srgbClr val="1E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af-svg-rect-0060-rect-01"/>
          <p:cNvSpPr/>
          <p:nvPr/>
        </p:nvSpPr>
        <p:spPr>
          <a:xfrm>
            <a:off x="10601325" y="3667125"/>
            <a:ext cx="361950" cy="266700"/>
          </a:xfrm>
          <a:prstGeom prst="roundRect">
            <a:avLst>
              <a:gd name="adj" fmla="val 17857"/>
            </a:avLst>
          </a:prstGeom>
          <a:solidFill>
            <a:srgbClr val="2D9CDB"/>
          </a:solidFill>
          <a:ln w="9525">
            <a:solidFill>
              <a:srgbClr val="1E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af-svg-rect-0061-rect-01"/>
          <p:cNvSpPr/>
          <p:nvPr/>
        </p:nvSpPr>
        <p:spPr>
          <a:xfrm>
            <a:off x="11010900" y="3667125"/>
            <a:ext cx="361950" cy="266700"/>
          </a:xfrm>
          <a:prstGeom prst="roundRect">
            <a:avLst>
              <a:gd name="adj" fmla="val 17857"/>
            </a:avLst>
          </a:prstGeom>
          <a:solidFill>
            <a:srgbClr val="2D9CDB"/>
          </a:solidFill>
          <a:ln w="9525">
            <a:solidFill>
              <a:srgbClr val="1E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af-svg-rect-0062-rect-01"/>
          <p:cNvSpPr/>
          <p:nvPr/>
        </p:nvSpPr>
        <p:spPr>
          <a:xfrm>
            <a:off x="11420475" y="3667125"/>
            <a:ext cx="361950" cy="266700"/>
          </a:xfrm>
          <a:prstGeom prst="roundRect">
            <a:avLst>
              <a:gd name="adj" fmla="val 17857"/>
            </a:avLst>
          </a:prstGeom>
          <a:solidFill>
            <a:srgbClr val="2D9CDB"/>
          </a:solidFill>
          <a:ln w="9525">
            <a:solidFill>
              <a:srgbClr val="1E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af-svg-circle-0022-ellipse-01"/>
          <p:cNvSpPr/>
          <p:nvPr/>
        </p:nvSpPr>
        <p:spPr>
          <a:xfrm>
            <a:off x="11885295" y="3779520"/>
            <a:ext cx="41910" cy="41910"/>
          </a:xfrm>
          <a:prstGeom prst="ellipse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af-svg-circle-0023-ellipse-01"/>
          <p:cNvSpPr/>
          <p:nvPr/>
        </p:nvSpPr>
        <p:spPr>
          <a:xfrm>
            <a:off x="11961495" y="3779520"/>
            <a:ext cx="41910" cy="41910"/>
          </a:xfrm>
          <a:prstGeom prst="ellipse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af-svg-circle-0024-ellipse-01"/>
          <p:cNvSpPr/>
          <p:nvPr/>
        </p:nvSpPr>
        <p:spPr>
          <a:xfrm>
            <a:off x="12037695" y="3779520"/>
            <a:ext cx="41910" cy="41910"/>
          </a:xfrm>
          <a:prstGeom prst="ellipse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af-svg-rect-0063-rect-01"/>
          <p:cNvSpPr/>
          <p:nvPr/>
        </p:nvSpPr>
        <p:spPr>
          <a:xfrm>
            <a:off x="12211050" y="3667125"/>
            <a:ext cx="361950" cy="266700"/>
          </a:xfrm>
          <a:prstGeom prst="roundRect">
            <a:avLst>
              <a:gd name="adj" fmla="val 17857"/>
            </a:avLst>
          </a:prstGeom>
          <a:solidFill>
            <a:srgbClr val="F5F5F5"/>
          </a:solidFill>
          <a:ln w="9525">
            <a:solidFill>
              <a:srgbClr val="B3B3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af-svg-rect-0064-rect-01"/>
          <p:cNvSpPr/>
          <p:nvPr/>
        </p:nvSpPr>
        <p:spPr>
          <a:xfrm>
            <a:off x="12620625" y="3667125"/>
            <a:ext cx="361950" cy="266700"/>
          </a:xfrm>
          <a:prstGeom prst="roundRect">
            <a:avLst>
              <a:gd name="adj" fmla="val 17857"/>
            </a:avLst>
          </a:prstGeom>
          <a:solidFill>
            <a:srgbClr val="2D9CDB"/>
          </a:solidFill>
          <a:ln w="9525">
            <a:solidFill>
              <a:srgbClr val="1E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af-svg-rect-0065-rect-01"/>
          <p:cNvSpPr/>
          <p:nvPr/>
        </p:nvSpPr>
        <p:spPr>
          <a:xfrm>
            <a:off x="13030200" y="3667125"/>
            <a:ext cx="361950" cy="266700"/>
          </a:xfrm>
          <a:prstGeom prst="roundRect">
            <a:avLst>
              <a:gd name="adj" fmla="val 17857"/>
            </a:avLst>
          </a:prstGeom>
          <a:solidFill>
            <a:srgbClr val="F5F5F5"/>
          </a:solidFill>
          <a:ln w="9525">
            <a:solidFill>
              <a:srgbClr val="B3B3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af-svg-rect-0066-rect-01"/>
          <p:cNvSpPr/>
          <p:nvPr/>
        </p:nvSpPr>
        <p:spPr>
          <a:xfrm>
            <a:off x="13439775" y="3667125"/>
            <a:ext cx="361950" cy="266700"/>
          </a:xfrm>
          <a:prstGeom prst="roundRect">
            <a:avLst>
              <a:gd name="adj" fmla="val 17857"/>
            </a:avLst>
          </a:prstGeom>
          <a:solidFill>
            <a:srgbClr val="2D9CDB"/>
          </a:solidFill>
          <a:ln w="9525">
            <a:solidFill>
              <a:srgbClr val="1E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af-svg-text-0037-text-01"/>
          <p:cNvSpPr txBox="1"/>
          <p:nvPr/>
        </p:nvSpPr>
        <p:spPr>
          <a:xfrm>
            <a:off x="10098167" y="3912394"/>
            <a:ext cx="549116" cy="36909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125">
                <a:solidFill>
                  <a:srgbClr val="1A1A1A"/>
                </a:solidFill>
                <a:latin typeface="Times New Roman"/>
              </a:rPr>
              <a:t>The</a:t>
            </a:r>
          </a:p>
        </p:txBody>
      </p:sp>
      <p:sp>
        <p:nvSpPr>
          <p:cNvPr id="147" name="af-svg-text-0038-text-01"/>
          <p:cNvSpPr txBox="1"/>
          <p:nvPr/>
        </p:nvSpPr>
        <p:spPr>
          <a:xfrm>
            <a:off x="10457736" y="3912394"/>
            <a:ext cx="649129" cy="36909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125">
                <a:solidFill>
                  <a:srgbClr val="1A1A1A"/>
                </a:solidFill>
                <a:latin typeface="Times New Roman"/>
              </a:rPr>
              <a:t>stove</a:t>
            </a:r>
          </a:p>
        </p:txBody>
      </p:sp>
      <p:sp>
        <p:nvSpPr>
          <p:cNvPr id="148" name="af-svg-text-0039-text-01"/>
          <p:cNvSpPr txBox="1"/>
          <p:nvPr/>
        </p:nvSpPr>
        <p:spPr>
          <a:xfrm>
            <a:off x="10982325" y="3912394"/>
            <a:ext cx="419100" cy="36909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125">
                <a:solidFill>
                  <a:srgbClr val="1A1A1A"/>
                </a:solidFill>
                <a:latin typeface="Times New Roman"/>
              </a:rPr>
              <a:t>is</a:t>
            </a:r>
          </a:p>
        </p:txBody>
      </p:sp>
      <p:sp>
        <p:nvSpPr>
          <p:cNvPr id="149" name="af-svg-text-0040-text-01"/>
          <p:cNvSpPr txBox="1"/>
          <p:nvPr/>
        </p:nvSpPr>
        <p:spPr>
          <a:xfrm>
            <a:off x="11354752" y="3912394"/>
            <a:ext cx="493395" cy="36909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125">
                <a:solidFill>
                  <a:srgbClr val="1A1A1A"/>
                </a:solidFill>
                <a:latin typeface="Times New Roman"/>
              </a:rPr>
              <a:t>old</a:t>
            </a:r>
          </a:p>
        </p:txBody>
      </p:sp>
      <p:sp>
        <p:nvSpPr>
          <p:cNvPr id="150" name="af-svg-text-0041-text-01"/>
          <p:cNvSpPr txBox="1"/>
          <p:nvPr/>
        </p:nvSpPr>
        <p:spPr>
          <a:xfrm>
            <a:off x="12417742" y="3912394"/>
            <a:ext cx="767715" cy="36909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125">
                <a:solidFill>
                  <a:srgbClr val="1A1A1A"/>
                </a:solidFill>
                <a:latin typeface="Times New Roman"/>
              </a:rPr>
              <a:t>answer</a:t>
            </a:r>
          </a:p>
        </p:txBody>
      </p:sp>
      <p:sp>
        <p:nvSpPr>
          <p:cNvPr id="151" name="af-svg-text-0042-text-01"/>
          <p:cNvSpPr txBox="1"/>
          <p:nvPr/>
        </p:nvSpPr>
        <p:spPr>
          <a:xfrm>
            <a:off x="13420487" y="3912394"/>
            <a:ext cx="400526" cy="36909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125" b="1">
                <a:solidFill>
                  <a:srgbClr val="00A651"/>
                </a:solidFill>
                <a:latin typeface="Times New Roman"/>
              </a:rPr>
              <a:t>C</a:t>
            </a:r>
          </a:p>
        </p:txBody>
      </p:sp>
      <p:sp>
        <p:nvSpPr>
          <p:cNvPr id="152" name="af-svg-path-0013-freeform-01"/>
          <p:cNvSpPr/>
          <p:nvPr/>
        </p:nvSpPr>
        <p:spPr>
          <a:xfrm>
            <a:off x="12639675" y="4210050"/>
            <a:ext cx="1076325" cy="123825"/>
          </a:xfrm>
          <a:custGeom>
            <a:avLst/>
            <a:gdLst/>
            <a:ahLst/>
            <a:cxnLst/>
            <a:rect l="0" t="0" r="0" b="0"/>
            <a:pathLst>
              <a:path w="1076325" h="123825">
                <a:moveTo>
                  <a:pt x="0" y="0"/>
                </a:moveTo>
                <a:cubicBezTo>
                  <a:pt x="0" y="66675"/>
                  <a:pt x="19050" y="76200"/>
                  <a:pt x="66675" y="76200"/>
                </a:cubicBezTo>
                <a:lnTo>
                  <a:pt x="447675" y="76200"/>
                </a:lnTo>
                <a:cubicBezTo>
                  <a:pt x="460375" y="107950"/>
                  <a:pt x="488950" y="123825"/>
                  <a:pt x="533400" y="123825"/>
                </a:cubicBezTo>
                <a:cubicBezTo>
                  <a:pt x="577850" y="123825"/>
                  <a:pt x="606425" y="107950"/>
                  <a:pt x="619125" y="76200"/>
                </a:cubicBezTo>
                <a:lnTo>
                  <a:pt x="1009650" y="76200"/>
                </a:lnTo>
                <a:cubicBezTo>
                  <a:pt x="1057275" y="76200"/>
                  <a:pt x="1076325" y="66675"/>
                  <a:pt x="1076325" y="0"/>
                </a:cubicBez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>
        <p:nvSpPr>
          <p:cNvPr id="153" name="af-svg-text-0043-text-01"/>
          <p:cNvSpPr txBox="1"/>
          <p:nvPr/>
        </p:nvSpPr>
        <p:spPr>
          <a:xfrm rot="16200000">
            <a:off x="13954125" y="3594497"/>
            <a:ext cx="457200" cy="392906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75" b="1">
                <a:solidFill>
                  <a:srgbClr val="1A1A1A"/>
                </a:solidFill>
                <a:latin typeface="Times New Roman"/>
              </a:rPr>
              <a:t>Later Step</a:t>
            </a:r>
          </a:p>
        </p:txBody>
      </p:sp>
      <p:sp>
        <p:nvSpPr>
          <p:cNvPr id="154" name="af-svg-path-0014-freeform-01"/>
          <p:cNvSpPr/>
          <p:nvPr/>
        </p:nvSpPr>
        <p:spPr>
          <a:xfrm>
            <a:off x="13906500" y="3457575"/>
            <a:ext cx="123825" cy="714375"/>
          </a:xfrm>
          <a:custGeom>
            <a:avLst/>
            <a:gdLst/>
            <a:ahLst/>
            <a:cxnLst/>
            <a:rect l="0" t="0" r="0" b="0"/>
            <a:pathLst>
              <a:path w="123825" h="714375">
                <a:moveTo>
                  <a:pt x="0" y="0"/>
                </a:moveTo>
                <a:cubicBezTo>
                  <a:pt x="66675" y="0"/>
                  <a:pt x="76200" y="19050"/>
                  <a:pt x="76200" y="66675"/>
                </a:cubicBezTo>
                <a:lnTo>
                  <a:pt x="76200" y="257175"/>
                </a:lnTo>
                <a:cubicBezTo>
                  <a:pt x="107950" y="269875"/>
                  <a:pt x="123825" y="295275"/>
                  <a:pt x="123825" y="333375"/>
                </a:cubicBezTo>
                <a:cubicBezTo>
                  <a:pt x="123825" y="371475"/>
                  <a:pt x="107950" y="396875"/>
                  <a:pt x="76200" y="409575"/>
                </a:cubicBezTo>
                <a:lnTo>
                  <a:pt x="76200" y="647700"/>
                </a:lnTo>
                <a:cubicBezTo>
                  <a:pt x="76200" y="695325"/>
                  <a:pt x="66675" y="714375"/>
                  <a:pt x="0" y="714375"/>
                </a:cubicBez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>
        <p:nvSpPr>
          <p:cNvPr id="155" name="af-svg-text-0044-text-01"/>
          <p:cNvSpPr txBox="1"/>
          <p:nvPr/>
        </p:nvSpPr>
        <p:spPr>
          <a:xfrm>
            <a:off x="12227433" y="4325302"/>
            <a:ext cx="1872234" cy="452438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650" b="1">
                <a:solidFill>
                  <a:srgbClr val="00A651"/>
                </a:solidFill>
                <a:latin typeface="Times New Roman"/>
              </a:rPr>
              <a:t>Generate answer</a:t>
            </a:r>
          </a:p>
        </p:txBody>
      </p:sp>
      <p:sp>
        <p:nvSpPr>
          <p:cNvPr id="156" name="af-svg-text-0045-text-01"/>
          <p:cNvSpPr txBox="1"/>
          <p:nvPr/>
        </p:nvSpPr>
        <p:spPr>
          <a:xfrm>
            <a:off x="12317540" y="4592002"/>
            <a:ext cx="1692021" cy="452438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650" b="1">
                <a:solidFill>
                  <a:srgbClr val="00A651"/>
                </a:solidFill>
                <a:latin typeface="Times New Roman"/>
              </a:rPr>
              <a:t>after reasoning</a:t>
            </a:r>
          </a:p>
        </p:txBody>
      </p:sp>
      <p:sp>
        <p:nvSpPr>
          <p:cNvPr id="157" name="af-svg-text-0046-text-01"/>
          <p:cNvSpPr txBox="1"/>
          <p:nvPr/>
        </p:nvSpPr>
        <p:spPr>
          <a:xfrm>
            <a:off x="8338185" y="5010150"/>
            <a:ext cx="3326130" cy="2667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500">
                <a:solidFill>
                  <a:srgbClr val="1A1A1A"/>
                </a:solidFill>
                <a:latin typeface="Times New Roman"/>
              </a:rPr>
              <a:t>(b) Our proposed dMLLM inference.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