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611225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tags" Target="../tags/tag1.xml"/><Relationship Id="rId4" Type="http://schemas.openxmlformats.org/officeDocument/2006/relationships/image" Target="../media/image2.png"/><Relationship Id="rId5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f-svg-rect-0001-rect-01"/>
          <p:cNvSpPr/>
          <p:nvPr/>
        </p:nvSpPr>
        <p:spPr>
          <a:xfrm>
            <a:off x="0" y="0"/>
            <a:ext cx="13611225" cy="5972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f-task-list-rect-01"/>
          <p:cNvSpPr/>
          <p:nvPr/>
        </p:nvSpPr>
        <p:spPr>
          <a:xfrm>
            <a:off x="276225" y="152400"/>
            <a:ext cx="3429000" cy="733425"/>
          </a:xfrm>
          <a:prstGeom prst="roundRect">
            <a:avLst>
              <a:gd name="adj" fmla="val 18181"/>
            </a:avLst>
          </a:prstGeom>
          <a:solidFill>
            <a:srgbClr val="F4F4F4"/>
          </a:solidFill>
          <a:ln w="20955">
            <a:solidFill>
              <a:srgbClr val="243B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f-svg-circle-0001-ellipse-01"/>
          <p:cNvSpPr/>
          <p:nvPr/>
        </p:nvSpPr>
        <p:spPr>
          <a:xfrm>
            <a:off x="419100" y="276225"/>
            <a:ext cx="457200" cy="457200"/>
          </a:xfrm>
          <a:prstGeom prst="ellipse">
            <a:avLst/>
          </a:prstGeom>
          <a:solidFill>
            <a:srgbClr val="FFFFFF"/>
          </a:solidFill>
          <a:ln w="2095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f-svg-circle-0002-ellipse-01"/>
          <p:cNvSpPr/>
          <p:nvPr/>
        </p:nvSpPr>
        <p:spPr>
          <a:xfrm>
            <a:off x="581025" y="352425"/>
            <a:ext cx="133350" cy="133350"/>
          </a:xfrm>
          <a:prstGeom prst="ellipse">
            <a:avLst/>
          </a:prstGeom>
          <a:solidFill>
            <a:srgbClr val="000000"/>
          </a:solidFill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f-svg-path-0001-freeform-01"/>
          <p:cNvSpPr/>
          <p:nvPr/>
        </p:nvSpPr>
        <p:spPr>
          <a:xfrm>
            <a:off x="533400" y="476250"/>
            <a:ext cx="228600" cy="152400"/>
          </a:xfrm>
          <a:custGeom>
            <a:avLst/>
            <a:gdLst/>
            <a:ahLst/>
            <a:cxnLst/>
            <a:rect l="0" t="0" r="0" b="0"/>
            <a:pathLst>
              <a:path w="228600" h="152400">
                <a:moveTo>
                  <a:pt x="0" y="152400"/>
                </a:moveTo>
                <a:cubicBezTo>
                  <a:pt x="6350" y="57150"/>
                  <a:pt x="44450" y="6350"/>
                  <a:pt x="114300" y="0"/>
                </a:cubicBezTo>
                <a:cubicBezTo>
                  <a:pt x="184150" y="6350"/>
                  <a:pt x="222250" y="57150"/>
                  <a:pt x="228600" y="152400"/>
                </a:cubicBezTo>
                <a:close/>
              </a:path>
            </a:pathLst>
          </a:custGeom>
          <a:solidFill>
            <a:srgbClr val="000000"/>
          </a:solidFill>
          <a:ln w="9525" cap="rnd">
            <a:solidFill>
              <a:srgbClr val="000000"/>
            </a:solidFill>
          </a:ln>
        </p:spPr>
        <p:txBody>
          <a:bodyPr/>
          <a:p/>
        </p:txBody>
      </p:sp>
      <p:sp>
        <p:nvSpPr>
          <p:cNvPr id="7" name="af-svg-text-0001-text-01"/>
          <p:cNvSpPr txBox="1"/>
          <p:nvPr/>
        </p:nvSpPr>
        <p:spPr>
          <a:xfrm>
            <a:off x="1076325" y="285750"/>
            <a:ext cx="21183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11111"/>
                </a:solidFill>
                <a:latin typeface="Arial"/>
              </a:rPr>
              <a:t>Task 1: Turn on lamp</a:t>
            </a:r>
          </a:p>
        </p:txBody>
      </p:sp>
      <p:sp>
        <p:nvSpPr>
          <p:cNvPr id="8" name="af-svg-text-0002-text-01"/>
          <p:cNvSpPr txBox="1"/>
          <p:nvPr/>
        </p:nvSpPr>
        <p:spPr>
          <a:xfrm>
            <a:off x="1076325" y="552450"/>
            <a:ext cx="266319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>
                <a:solidFill>
                  <a:srgbClr val="111111"/>
                </a:solidFill>
                <a:latin typeface="Arial"/>
              </a:rPr>
              <a:t>Task 2: Close top drawer ...</a:t>
            </a:r>
          </a:p>
        </p:txBody>
      </p:sp>
      <p:cxnSp>
        <p:nvCxnSpPr>
          <p:cNvPr id="9" name="af-task-list-to-encoder-connector-01"/>
          <p:cNvCxnSpPr/>
          <p:nvPr/>
        </p:nvCxnSpPr>
        <p:spPr>
          <a:xfrm>
            <a:off x="3819525" y="523875"/>
            <a:ext cx="200025" cy="0"/>
          </a:xfrm>
          <a:prstGeom prst="line">
            <a:avLst/>
          </a:prstGeom>
          <a:ln w="47625" cap="rnd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f-task-encoder-rect-01"/>
          <p:cNvSpPr/>
          <p:nvPr/>
        </p:nvSpPr>
        <p:spPr>
          <a:xfrm>
            <a:off x="4133850" y="161925"/>
            <a:ext cx="1190625" cy="733425"/>
          </a:xfrm>
          <a:prstGeom prst="roundRect">
            <a:avLst>
              <a:gd name="adj" fmla="val 18181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f-svg-text-0003-text-01"/>
          <p:cNvSpPr txBox="1"/>
          <p:nvPr/>
        </p:nvSpPr>
        <p:spPr>
          <a:xfrm>
            <a:off x="4391978" y="295275"/>
            <a:ext cx="66484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</a:t>
            </a:r>
          </a:p>
        </p:txBody>
      </p:sp>
      <p:sp>
        <p:nvSpPr>
          <p:cNvPr id="12" name="af-svg-text-0004-text-01"/>
          <p:cNvSpPr txBox="1"/>
          <p:nvPr/>
        </p:nvSpPr>
        <p:spPr>
          <a:xfrm>
            <a:off x="4226242" y="561975"/>
            <a:ext cx="99631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cxnSp>
        <p:nvCxnSpPr>
          <p:cNvPr id="13" name="af-task-encoder-to-token-connector-01"/>
          <p:cNvCxnSpPr/>
          <p:nvPr/>
        </p:nvCxnSpPr>
        <p:spPr>
          <a:xfrm>
            <a:off x="5391150" y="523875"/>
            <a:ext cx="219075" cy="0"/>
          </a:xfrm>
          <a:prstGeom prst="line">
            <a:avLst/>
          </a:prstGeom>
          <a:ln w="47625" cap="rnd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f-task-token-vector-rect-01"/>
          <p:cNvSpPr/>
          <p:nvPr/>
        </p:nvSpPr>
        <p:spPr>
          <a:xfrm>
            <a:off x="5686425" y="342900"/>
            <a:ext cx="1209675" cy="409575"/>
          </a:xfrm>
          <a:prstGeom prst="rect">
            <a:avLst/>
          </a:prstGeom>
          <a:solidFill>
            <a:srgbClr val="FFFFFF"/>
          </a:solidFill>
          <a:ln w="23812">
            <a:solidFill>
              <a:srgbClr val="233C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f-svg-circle-0003-ellipse-01"/>
          <p:cNvSpPr/>
          <p:nvPr/>
        </p:nvSpPr>
        <p:spPr>
          <a:xfrm>
            <a:off x="5791200" y="390525"/>
            <a:ext cx="323850" cy="3238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f-svg-circle-0004-ellipse-01"/>
          <p:cNvSpPr/>
          <p:nvPr/>
        </p:nvSpPr>
        <p:spPr>
          <a:xfrm>
            <a:off x="6134100" y="390525"/>
            <a:ext cx="323850" cy="3238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af-svg-circle-0005-ellipse-01"/>
          <p:cNvSpPr/>
          <p:nvPr/>
        </p:nvSpPr>
        <p:spPr>
          <a:xfrm>
            <a:off x="6477000" y="390525"/>
            <a:ext cx="323850" cy="323850"/>
          </a:xfrm>
          <a:prstGeom prst="ellipse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math:001" descr="AI_AUTOFIGURE_NATIVE_MATH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91238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650">
                        <a:solidFill>
                          <a:srgbClr val="111111"/>
                        </a:solidFill>
                        <a:latin typeface="Cambria Math"/>
                      </a:rPr>
                      <m:t>τ</m:t>
                    </m:r>
                  </m:oMath>
                </a14:m>
                <a:endParaRPr lang="en-US" dirty="0" sz="16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8" name="math:001" descr="AI_AUTOFIGURE_MATH_FALLBACK_ONLY_V1:eyJjb250ZW50X3J1bnMiOlt7ImNhbm9uaWNhbF9sYXRleCI6IlxcdGF1IiwiZm9ybXVsYV9pZCI6IkVRMDAxIiwia2luZCI6Im1hdGg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mb3JtdWxhcyI6W3siY2Fub25pY2FsX2xhdGV4IjoiXFx0YXUiLCJmb3JtdWxhX2lkIjoiRVEwMDEiLCJsYXRleF9zaGEyNTYiOiI1NWQxODIzNTQ1YjViNGMzY2JjNDJiNzg0YzVlODQ2MDVmZmJlOGU1OWQxZGVlOTc4MmNkODc3NDFlZWY5ZGMzIiwibW9kZSI6ImlubGluZSIsIm9tbWxfc2hhMjU2IjoiNjI3NThjYWJiNjU4Yjc3NjgxYmFhNjE0ZmE0MDA1M2M0NDliNWZjZTkzMmYxYzlhNGQxZTNhMTBlZjI2MWFiMiIsInNlbWFudGljX29tbWxfcHJvZmlsZSI6Im9mZmljZS1tYXRoLXNlbWFudGljLXYyIiwic2VtYW50aWNfb21tbF9zaGEyNTYiOiIxZjMyN2Q3M2RkZGIzMWY1YWJjZmZiY2QwODNlMWJmOGIwNWEzMGY2ZGZkMDk2ZWFjZjdlYjljYTBlMTBhMzY4In1dLCJraW5kIjoibmF0aXZlX29mZmljZV9tYXRoIiwicGxhY2Vob2xkZXJfbmFtZSI6Im1hdGg6MDAxIiwic2NoZW1hX3ZlcnNpb24iOiIxLjAifQ=="/>
              <p:cNvSpPr txBox="1"/>
              <p:nvPr/>
            </p:nvSpPr>
            <p:spPr>
              <a:xfrm>
                <a:off x="6091238" y="58103"/>
                <a:ext cx="409575" cy="452438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650">
                    <a:solidFill>
                      <a:srgbClr val="111111"/>
                    </a:solidFill>
                  </a:rPr>
                  <a:t>\(\tau\)</a:t>
                </a:r>
                <a:endParaRPr lang="en-US" dirty="0" sz="1650">
                  <a:solidFill>
                    <a:srgbClr val="111111"/>
                  </a:solidFill>
                </a:endParaRPr>
              </a:p>
            </p:txBody>
          </p:sp>
        </mc:Fallback>
      </mc:AlternateContent>
      <p:cxnSp>
        <p:nvCxnSpPr>
          <p:cNvPr id="19" name="af-task-token-to-mapping-connector-01"/>
          <p:cNvCxnSpPr/>
          <p:nvPr/>
        </p:nvCxnSpPr>
        <p:spPr>
          <a:xfrm>
            <a:off x="6962775" y="523875"/>
            <a:ext cx="257175" cy="0"/>
          </a:xfrm>
          <a:prstGeom prst="line">
            <a:avLst/>
          </a:prstGeom>
          <a:ln w="47625" cap="rnd">
            <a:solidFill>
              <a:srgbClr val="77777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af-task-mapping-rect-01"/>
          <p:cNvSpPr/>
          <p:nvPr/>
        </p:nvSpPr>
        <p:spPr>
          <a:xfrm>
            <a:off x="7324725" y="323850"/>
            <a:ext cx="1724025" cy="457200"/>
          </a:xfrm>
          <a:prstGeom prst="roundRect">
            <a:avLst>
              <a:gd name="adj" fmla="val 12500"/>
            </a:avLst>
          </a:prstGeom>
          <a:solidFill>
            <a:srgbClr val="F1F1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f-task-mapping-label-text-01"/>
          <p:cNvSpPr txBox="1"/>
          <p:nvPr/>
        </p:nvSpPr>
        <p:spPr>
          <a:xfrm>
            <a:off x="7524750" y="438150"/>
            <a:ext cx="1015365" cy="323850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111"/>
                </a:solidFill>
                <a:latin typeface="Arial"/>
              </a:rPr>
              <a:t>mapping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math:002" descr="AI_AUTOFIGURE_NATIVE_MATH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258175" y="438150"/>
                <a:ext cx="727710" cy="32385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b>
                      <m:e>
                        <m:r>
                          <a:rPr lang="en-US" dirty="0" sz="1500">
                            <a:solidFill>
                              <a:srgbClr val="111111"/>
                            </a:solidFill>
                            <a:latin typeface="Cambria Math"/>
                          </a:rPr>
                          <m:t>f</m:t>
                        </m:r>
                      </m:e>
                      <m:sub>
                        <m:r>
                          <a:rPr lang="en-US" dirty="0" sz="1500">
                            <a:solidFill>
                              <a:srgbClr val="111111"/>
                            </a:solidFill>
                            <a:latin typeface="Cambria Math"/>
                          </a:rPr>
                          <m:t>map</m:t>
                        </m:r>
                      </m:sub>
                    </m:sSub>
                  </m:oMath>
                </a14:m>
                <a:endParaRPr lang="en-US" dirty="0" sz="150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22" name="math:002" descr="AI_AUTOFIGURE_MATH_FALLBACK_ONLY_V1:eyJjb250ZW50X3J1bnMiOlt7ImNhbm9uaWNhbF9sYXRleCI6ImZfe21hcH0iLCJmb3JtdWxhX2lkIjoiRVEwMDIiLCJraW5kIjoibWF0aCIsImxhdGV4X3NoYTI1NiI6IjU3MWIwZGZjYzU5NDUzMDFiMDU2Y2I1Mzc2YzZhYzQ1MDM5ODY0ZTYxYjU0OGQ2ZWM2NDhhNGQ2NzgxZTAyZmQiLCJtb2RlIjoiaW5saW5lIiwib21tbF9zaGEyNTYiOiIwYjY0N2UwMjhhZjI2MTk5NjIyNDYwZjhhNGFkYzNkN2I1M2U3MGMxZTRlM2RjYjcyN2IwZjlmOWMzODc3OGJjIiwic2VtYW50aWNfb21tbF9wcm9maWxlIjoib2ZmaWNlLW1hdGgtc2VtYW50aWMtdjIiLCJzZW1hbnRpY19vbW1sX3NoYTI1NiI6ImI4Yzg4NzY2ZWQ2NDRiZGVlYTJkZThkMTUyOWYyYzg5N2U5NzM4ODYyMTllOTI1ODBmODExZjAyOGVhNmRjYzcifV0sImZvcm11bGFzIjpbeyJjYW5vbmljYWxfbGF0ZXgiOiJmX3ttYXB9IiwiZm9ybXVsYV9pZCI6IkVRMDAyIiwibGF0ZXhfc2hhMjU2IjoiNTcxYjBkZmNjNTk0NTMwMWIwNTZjYjUzNzZjNmFjNDUwMzk4NjRlNjFiNTQ4ZDZlYzY0OGE0ZDY3ODFlMDJmZCIsIm1vZGUiOiJpbmxpbmUiLCJvbW1sX3NoYTI1NiI6IjBiNjQ3ZTAyOGFmMjYxOTk2MjI0NjBmOGE0YWRjM2Q3YjUzZTcwYzFlNGUzZGNiNzI3YjBmOWY5YzM4Nzc4YmMiLCJzZW1hbnRpY19vbW1sX3Byb2ZpbGUiOiJvZmZpY2UtbWF0aC1zZW1hbnRpYy12MiIsInNlbWFudGljX29tbWxfc2hhMjU2IjoiYjhjODg3NjZlZDY0NGJkZWVhMmRlOGQxNTI5ZjJjODk3ZTk3Mzg4NjIxOWU5MjU4MGY4MTFmMDI4ZWE2ZGNjNyJ9XSwia2luZCI6Im5hdGl2ZV9vZmZpY2VfbWF0aCIsInBsYWNlaG9sZGVyX25hbWUiOiJtYXRoOjAwMiIsInNjaGVtYV92ZXJzaW9uIjoiMS4wIn0="/>
              <p:cNvSpPr txBox="1"/>
              <p:nvPr/>
            </p:nvSpPr>
            <p:spPr>
              <a:xfrm>
                <a:off x="8258175" y="438150"/>
                <a:ext cx="727710" cy="32385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l"/>
                <a:r>
                  <a:rPr lang="en-US" dirty="0" sz="1500">
                    <a:solidFill>
                      <a:srgbClr val="111111"/>
                    </a:solidFill>
                  </a:rPr>
                  <a:t>\(f_{map}\)</a:t>
                </a:r>
                <a:endParaRPr lang="en-US" dirty="0" sz="1500">
                  <a:solidFill>
                    <a:srgbClr val="111111"/>
                  </a:solidFill>
                </a:endParaRPr>
              </a:p>
            </p:txBody>
          </p:sp>
        </mc:Fallback>
      </mc:AlternateContent>
      <p:cxnSp>
        <p:nvCxnSpPr>
          <p:cNvPr id="23" name="af-task-token-to-allocator-connector-01"/>
          <p:cNvCxnSpPr/>
          <p:nvPr/>
        </p:nvCxnSpPr>
        <p:spPr>
          <a:xfrm>
            <a:off x="6296025" y="762000"/>
            <a:ext cx="0" cy="428625"/>
          </a:xfrm>
          <a:prstGeom prst="line">
            <a:avLst/>
          </a:prstGeom>
          <a:ln w="20955" cap="rnd">
            <a:solidFill>
              <a:srgbClr val="3567B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f-svg-rect-0006-rect-01"/>
          <p:cNvSpPr/>
          <p:nvPr/>
        </p:nvSpPr>
        <p:spPr>
          <a:xfrm>
            <a:off x="10991850" y="171450"/>
            <a:ext cx="752475" cy="342900"/>
          </a:xfrm>
          <a:prstGeom prst="roundRect">
            <a:avLst>
              <a:gd name="adj" fmla="val 19444"/>
            </a:avLst>
          </a:prstGeom>
          <a:solidFill>
            <a:srgbClr val="FC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f-svg-text-0008-text-01"/>
          <p:cNvSpPr txBox="1"/>
          <p:nvPr/>
        </p:nvSpPr>
        <p:spPr>
          <a:xfrm>
            <a:off x="11045571" y="237173"/>
            <a:ext cx="654558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26" name="af-svg-text-0009-text-01"/>
          <p:cNvSpPr txBox="1"/>
          <p:nvPr/>
        </p:nvSpPr>
        <p:spPr>
          <a:xfrm>
            <a:off x="11820525" y="246698"/>
            <a:ext cx="1523810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350">
                <a:solidFill>
                  <a:srgbClr val="111111"/>
                </a:solidFill>
                <a:latin typeface="Arial"/>
              </a:rPr>
              <a:t>semantic expert</a:t>
            </a:r>
          </a:p>
        </p:txBody>
      </p:sp>
      <p:sp>
        <p:nvSpPr>
          <p:cNvPr id="27" name="af-svg-rect-0007-rect-01"/>
          <p:cNvSpPr/>
          <p:nvPr/>
        </p:nvSpPr>
        <p:spPr>
          <a:xfrm>
            <a:off x="11001375" y="561975"/>
            <a:ext cx="742950" cy="352425"/>
          </a:xfrm>
          <a:prstGeom prst="roundRect">
            <a:avLst>
              <a:gd name="adj" fmla="val 16216"/>
            </a:avLst>
          </a:prstGeom>
          <a:solidFill>
            <a:srgbClr val="E2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f-svg-text-0010-text-01"/>
          <p:cNvSpPr txBox="1"/>
          <p:nvPr/>
        </p:nvSpPr>
        <p:spPr>
          <a:xfrm>
            <a:off x="11073860" y="637222"/>
            <a:ext cx="597980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29" name="af-svg-text-0011-text-01"/>
          <p:cNvSpPr txBox="1"/>
          <p:nvPr/>
        </p:nvSpPr>
        <p:spPr>
          <a:xfrm>
            <a:off x="11820525" y="637222"/>
            <a:ext cx="155638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350">
                <a:solidFill>
                  <a:srgbClr val="111111"/>
                </a:solidFill>
                <a:latin typeface="Arial"/>
              </a:rPr>
              <a:t>dynamics expert</a:t>
            </a:r>
          </a:p>
        </p:txBody>
      </p:sp>
      <p:sp>
        <p:nvSpPr>
          <p:cNvPr id="30" name="af-task-aware-modular-joint-panel-rect-01"/>
          <p:cNvSpPr/>
          <p:nvPr/>
        </p:nvSpPr>
        <p:spPr>
          <a:xfrm>
            <a:off x="180975" y="1028700"/>
            <a:ext cx="9001125" cy="3905250"/>
          </a:xfrm>
          <a:prstGeom prst="rect">
            <a:avLst/>
          </a:prstGeom>
          <a:noFill/>
          <a:ln w="20002">
            <a:solidFill>
              <a:srgbClr val="203A6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f-task-aware-behavior-panel-rect-01"/>
          <p:cNvSpPr/>
          <p:nvPr/>
        </p:nvSpPr>
        <p:spPr>
          <a:xfrm>
            <a:off x="9315450" y="1028700"/>
            <a:ext cx="4124325" cy="3914775"/>
          </a:xfrm>
          <a:prstGeom prst="rect">
            <a:avLst/>
          </a:prstGeom>
          <a:noFill/>
          <a:ln w="20002">
            <a:solidFill>
              <a:srgbClr val="203A66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f-svg-text-0012-text-01"/>
          <p:cNvSpPr txBox="1"/>
          <p:nvPr/>
        </p:nvSpPr>
        <p:spPr>
          <a:xfrm>
            <a:off x="390525" y="1298258"/>
            <a:ext cx="3254311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50" b="1">
                <a:solidFill>
                  <a:srgbClr val="111111"/>
                </a:solidFill>
                <a:latin typeface="Arial"/>
              </a:rPr>
              <a:t>Task-Aware Modular Joint</a:t>
            </a:r>
          </a:p>
        </p:txBody>
      </p:sp>
      <p:sp>
        <p:nvSpPr>
          <p:cNvPr id="33" name="af-allocator-header-rect-01"/>
          <p:cNvSpPr/>
          <p:nvPr/>
        </p:nvSpPr>
        <p:spPr>
          <a:xfrm>
            <a:off x="4619625" y="1266825"/>
            <a:ext cx="3352800" cy="419100"/>
          </a:xfrm>
          <a:prstGeom prst="rect">
            <a:avLst/>
          </a:prstGeom>
          <a:solidFill>
            <a:srgbClr val="FFFFFF"/>
          </a:solidFill>
          <a:ln w="28575">
            <a:solidFill>
              <a:srgbClr val="3F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f-svg-text-0013-text-01"/>
          <p:cNvSpPr txBox="1"/>
          <p:nvPr/>
        </p:nvSpPr>
        <p:spPr>
          <a:xfrm>
            <a:off x="4895850" y="1371600"/>
            <a:ext cx="280035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Task-Guided Expert Allocator</a:t>
            </a:r>
          </a:p>
        </p:txBody>
      </p:sp>
      <p:sp>
        <p:nvSpPr>
          <p:cNvPr id="35" name="af-svg-polygon-0001-freeform-01"/>
          <p:cNvSpPr/>
          <p:nvPr/>
        </p:nvSpPr>
        <p:spPr>
          <a:xfrm>
            <a:off x="4838700" y="1695450"/>
            <a:ext cx="2914650" cy="304800"/>
          </a:xfrm>
          <a:custGeom>
            <a:avLst/>
            <a:gdLst/>
            <a:ahLst/>
            <a:cxnLst/>
            <a:rect l="0" t="0" r="0" b="0"/>
            <a:pathLst>
              <a:path w="2914650" h="304800">
                <a:moveTo>
                  <a:pt x="0" y="0"/>
                </a:moveTo>
                <a:lnTo>
                  <a:pt x="2914650" y="0"/>
                </a:lnTo>
                <a:lnTo>
                  <a:pt x="1457325" y="304800"/>
                </a:lnTo>
                <a:close/>
              </a:path>
            </a:pathLst>
          </a:custGeom>
          <a:gradFill>
            <a:gsLst>
              <a:gs pos="0">
                <a:srgbClr val="C9D8F2">
                  <a:alpha val="80000"/>
                </a:srgbClr>
              </a:gs>
              <a:gs pos="100000">
                <a:srgbClr val="9DBCE9">
                  <a:alpha val="2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p/>
        </p:txBody>
      </p:sp>
      <p:pic>
        <p:nvPicPr>
          <p:cNvPr id="36" name="af-atomic-observation-atomic-raster-01" descr="image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00050" y="2762250"/>
            <a:ext cx="1009650" cy="819150"/>
          </a:xfrm>
          <a:prstGeom prst="rect">
            <a:avLst/>
          </a:prstGeom>
        </p:spPr>
      </p:pic>
      <p:sp>
        <p:nvSpPr>
          <p:cNvPr id="37" name="af-svg-text-0014-text-01"/>
          <p:cNvSpPr txBox="1"/>
          <p:nvPr/>
        </p:nvSpPr>
        <p:spPr>
          <a:xfrm>
            <a:off x="314325" y="3392329"/>
            <a:ext cx="501968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38" name="af-svg-text-0015-text-01"/>
          <p:cNvSpPr txBox="1"/>
          <p:nvPr/>
        </p:nvSpPr>
        <p:spPr>
          <a:xfrm>
            <a:off x="266700" y="3668554"/>
            <a:ext cx="1428655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111111"/>
                </a:solidFill>
                <a:latin typeface="Arial"/>
              </a:rPr>
              <a:t>observation</a:t>
            </a:r>
          </a:p>
        </p:txBody>
      </p:sp>
      <p:cxnSp>
        <p:nvCxnSpPr>
          <p:cNvPr id="39" name="af-observation-to-mllm-connector-01"/>
          <p:cNvCxnSpPr/>
          <p:nvPr/>
        </p:nvCxnSpPr>
        <p:spPr>
          <a:xfrm flipV="1">
            <a:off x="1476375" y="2800350"/>
            <a:ext cx="257175" cy="171450"/>
          </a:xfrm>
          <a:prstGeom prst="line">
            <a:avLst/>
          </a:prstGeom>
          <a:ln w="57150" cap="rnd">
            <a:solidFill>
              <a:srgbClr val="EF7D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f-observation-to-wm-connector-01"/>
          <p:cNvCxnSpPr/>
          <p:nvPr/>
        </p:nvCxnSpPr>
        <p:spPr>
          <a:xfrm>
            <a:off x="1476375" y="3695700"/>
            <a:ext cx="257175" cy="161925"/>
          </a:xfrm>
          <a:prstGeom prst="line">
            <a:avLst/>
          </a:prstGeom>
          <a:ln w="57150" cap="rnd">
            <a:solidFill>
              <a:srgbClr val="3567B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af-mllm-encoder-rect-01"/>
          <p:cNvSpPr/>
          <p:nvPr/>
        </p:nvSpPr>
        <p:spPr>
          <a:xfrm>
            <a:off x="1781175" y="2305050"/>
            <a:ext cx="1181100" cy="742950"/>
          </a:xfrm>
          <a:prstGeom prst="roundRect">
            <a:avLst>
              <a:gd name="adj" fmla="val 16666"/>
            </a:avLst>
          </a:prstGeom>
          <a:solidFill>
            <a:srgbClr val="FFF0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f-svg-text-0016-text-01"/>
          <p:cNvSpPr txBox="1"/>
          <p:nvPr/>
        </p:nvSpPr>
        <p:spPr>
          <a:xfrm>
            <a:off x="1915287" y="2429351"/>
            <a:ext cx="912876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MLLM</a:t>
            </a:r>
          </a:p>
        </p:txBody>
      </p:sp>
      <p:sp>
        <p:nvSpPr>
          <p:cNvPr id="43" name="af-svg-text-0017-text-01"/>
          <p:cNvSpPr txBox="1"/>
          <p:nvPr/>
        </p:nvSpPr>
        <p:spPr>
          <a:xfrm>
            <a:off x="1856280" y="2705576"/>
            <a:ext cx="1030891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sp>
        <p:nvSpPr>
          <p:cNvPr id="44" name="af-wm-encoder-rect-01"/>
          <p:cNvSpPr/>
          <p:nvPr/>
        </p:nvSpPr>
        <p:spPr>
          <a:xfrm>
            <a:off x="1790700" y="3819525"/>
            <a:ext cx="1190625" cy="742950"/>
          </a:xfrm>
          <a:prstGeom prst="roundRect">
            <a:avLst>
              <a:gd name="adj" fmla="val 16666"/>
            </a:avLst>
          </a:prstGeom>
          <a:solidFill>
            <a:srgbClr val="E8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f-svg-text-0018-text-01"/>
          <p:cNvSpPr txBox="1"/>
          <p:nvPr/>
        </p:nvSpPr>
        <p:spPr>
          <a:xfrm>
            <a:off x="2053828" y="3972401"/>
            <a:ext cx="654844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WM</a:t>
            </a:r>
          </a:p>
        </p:txBody>
      </p:sp>
      <p:sp>
        <p:nvSpPr>
          <p:cNvPr id="46" name="af-svg-text-0019-text-01"/>
          <p:cNvSpPr txBox="1"/>
          <p:nvPr/>
        </p:nvSpPr>
        <p:spPr>
          <a:xfrm>
            <a:off x="1865805" y="4239101"/>
            <a:ext cx="1030891" cy="440531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75" b="1">
                <a:solidFill>
                  <a:srgbClr val="111111"/>
                </a:solidFill>
                <a:latin typeface="Arial"/>
              </a:rPr>
              <a:t>Encoder</a:t>
            </a:r>
          </a:p>
        </p:txBody>
      </p:sp>
      <p:cxnSp>
        <p:nvCxnSpPr>
          <p:cNvPr id="47" name="af-svg-line-0005-connector-01"/>
          <p:cNvCxnSpPr/>
          <p:nvPr/>
        </p:nvCxnSpPr>
        <p:spPr>
          <a:xfrm>
            <a:off x="3000375" y="2609850"/>
            <a:ext cx="247650" cy="0"/>
          </a:xfrm>
          <a:prstGeom prst="line">
            <a:avLst/>
          </a:prstGeom>
          <a:ln w="57150" cap="rnd">
            <a:solidFill>
              <a:srgbClr val="EF7D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af-svg-line-0006-connector-01"/>
          <p:cNvCxnSpPr/>
          <p:nvPr/>
        </p:nvCxnSpPr>
        <p:spPr>
          <a:xfrm>
            <a:off x="3009900" y="4152900"/>
            <a:ext cx="238125" cy="0"/>
          </a:xfrm>
          <a:prstGeom prst="line">
            <a:avLst/>
          </a:prstGeom>
          <a:ln w="57150" cap="rnd">
            <a:solidFill>
              <a:srgbClr val="3567B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af-e-v-vector-rect-01"/>
          <p:cNvSpPr/>
          <p:nvPr/>
        </p:nvSpPr>
        <p:spPr>
          <a:xfrm>
            <a:off x="3295650" y="2028825"/>
            <a:ext cx="400050" cy="1209675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math:003" descr="AI_AUTOFIGURE_NATIVE_MATH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49168" y="1742599"/>
                <a:ext cx="493014" cy="41671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425">
                            <a:solidFill>
                              <a:srgbClr val="111111"/>
                            </a:solidFill>
                            <a:latin typeface="Cambria Math"/>
                          </a:rPr>
                          <m:t>e</m:t>
                        </m:r>
                      </m:e>
                      <m:sub>
                        <m:r>
                          <a:rPr lang="en-US" dirty="0" sz="1425">
                            <a:solidFill>
                              <a:srgbClr val="111111"/>
                            </a:solidFill>
                            <a:latin typeface="Cambria Math"/>
                          </a:rPr>
                          <m:t>v</m:t>
                        </m:r>
                      </m:sub>
                    </m:sSub>
                  </m:oMath>
                </a14:m>
                <a:endParaRPr lang="en-US" dirty="0" sz="1425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0" name="math:003" descr="AI_AUTOFIGURE_MATH_FALLBACK_ONLY_V1:eyJjb250ZW50X3J1bnMiOlt7ImNhbm9uaWNhbF9sYXRleCI6ImVfe3Z9IiwiZm9ybXVsYV9pZCI6IkVRMDAzIiwia2luZCI6Im1hdGg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mb3JtdWxhcyI6W3siY2Fub25pY2FsX2xhdGV4IjoiZV97dn0iLCJmb3JtdWxhX2lkIjoiRVEwMDMiLCJsYXRleF9zaGEyNTYiOiIyZWZkODE5ZTcyNTZiNTkwYTRmNTFkMTVkMWIzZjdmYzgwODhhMGE0Mzc3ZWQyZTExMWUwZmQ5NDAyNjc5YzhkIiwibW9kZSI6ImlubGluZSIsIm9tbWxfc2hhMjU2IjoiNjM1YTA1MmI0MjllMzI3Y2I5ZmZlNTI5MTI0YjJjOGRlMDBlYzlkMmRiZDI3ZjE1MWJmZTM4ZmIwZjhjNzc3MiIsInNlbWFudGljX29tbWxfcHJvZmlsZSI6Im9mZmljZS1tYXRoLXNlbWFudGljLXYyIiwic2VtYW50aWNfb21tbF9zaGEyNTYiOiIyZjRlZjJkZTQ0NjBlNTJiN2I5NjdlNWFiZjRmZGI5OTQ5NzIzYWVlNmNkMzc5MTlkNGNlOTY2NmVmZTAyN2E4In1dLCJraW5kIjoibmF0aXZlX29mZmljZV9tYXRoIiwicGxhY2Vob2xkZXJfbmFtZSI6Im1hdGg6MDAzIiwic2NoZW1hX3ZlcnNpb24iOiIxLjAifQ=="/>
              <p:cNvSpPr txBox="1"/>
              <p:nvPr/>
            </p:nvSpPr>
            <p:spPr>
              <a:xfrm>
                <a:off x="3249168" y="1742599"/>
                <a:ext cx="493014" cy="416719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425">
                    <a:solidFill>
                      <a:srgbClr val="111111"/>
                    </a:solidFill>
                  </a:rPr>
                  <a:t>\(e_{v}\)</a:t>
                </a:r>
                <a:endParaRPr lang="en-US" dirty="0" sz="1425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51" name="af-e-v-circle-1-ellipse-01"/>
          <p:cNvSpPr/>
          <p:nvPr/>
        </p:nvSpPr>
        <p:spPr>
          <a:xfrm>
            <a:off x="3333750" y="2114550"/>
            <a:ext cx="323850" cy="323850"/>
          </a:xfrm>
          <a:prstGeom prst="ellipse">
            <a:avLst/>
          </a:prstGeom>
          <a:solidFill>
            <a:srgbClr val="F2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f-e-v-circle-2-ellipse-01"/>
          <p:cNvSpPr/>
          <p:nvPr/>
        </p:nvSpPr>
        <p:spPr>
          <a:xfrm>
            <a:off x="3333750" y="2476500"/>
            <a:ext cx="323850" cy="323850"/>
          </a:xfrm>
          <a:prstGeom prst="ellipse">
            <a:avLst/>
          </a:prstGeom>
          <a:solidFill>
            <a:srgbClr val="F2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af-e-v-circle-3-ellipse-01"/>
          <p:cNvSpPr/>
          <p:nvPr/>
        </p:nvSpPr>
        <p:spPr>
          <a:xfrm>
            <a:off x="3333750" y="2828925"/>
            <a:ext cx="323850" cy="323850"/>
          </a:xfrm>
          <a:prstGeom prst="ellipse">
            <a:avLst/>
          </a:prstGeom>
          <a:solidFill>
            <a:srgbClr val="F2A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" name="af-svg-line-0007-connector-01"/>
          <p:cNvCxnSpPr/>
          <p:nvPr/>
        </p:nvCxnSpPr>
        <p:spPr>
          <a:xfrm>
            <a:off x="3752850" y="2609850"/>
            <a:ext cx="257175" cy="0"/>
          </a:xfrm>
          <a:prstGeom prst="line">
            <a:avLst/>
          </a:prstGeom>
          <a:ln w="57150" cap="rnd">
            <a:solidFill>
              <a:srgbClr val="EF7D2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af-s-t-vector-rect-01"/>
          <p:cNvSpPr/>
          <p:nvPr/>
        </p:nvSpPr>
        <p:spPr>
          <a:xfrm>
            <a:off x="3305175" y="3552825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math:004" descr="AI_AUTOFIGURE_NATIVE_MATH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2946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s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56" name="math:004" descr="AI_AUTOFIGURE_MATH_FALLBACK_ONLY_V1:eyJjb250ZW50X3J1bnMiOlt7ImNhbm9uaWNhbF9sYXRleCI6InNfe3R9IiwiZm9ybXVsYV9pZCI6IkVRMDA0Iiwia2luZCI6Im1hdGg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mb3JtdWxhcyI6W3siY2Fub25pY2FsX2xhdGV4Ijoic197dH0iLCJmb3JtdWxhX2lkIjoiRVEwMDQiLCJsYXRleF9zaGEyNTYiOiIwMDE3ZmQ1YjUxNmM2YTU5ZjUxZTM3MWJlZTBmMjQ5ODI4ZWIzZDhlOTNhYTc0NzM3Y2M4ZWYxNTY5YzM1ZTIyIiwibW9kZSI6ImlubGluZSIsIm9tbWxfc2hhMjU2IjoiMWJhZjE4MDU3OTA4OTQ0ZmQxZmFiYzgwMzBhN2RiMWFmMjY1MmUxOGQ1Y2U3YjlhMGJiMWU2MWMzYTU3ZTg3NyIsInNlbWFudGljX29tbWxfcHJvZmlsZSI6Im9mZmljZS1tYXRoLXNlbWFudGljLXYyIiwic2VtYW50aWNfb21tbF9zaGEyNTYiOiI2OWRhZTcyNmY2OTRlNTQ3MDhmYjQ2Y2IxZjRjYTM5NzhhODhjOWIxZmJmMDc2ZjE2MWIxODVlZThhNDdiYzBkIn1dLCJraW5kIjoibmF0aXZlX29mZmljZV9tYXRoIiwicGxhY2Vob2xkZXJfbmFtZSI6Im1hdGg6MDA0Iiwic2NoZW1hX3ZlcnNpb24iOiIxLjAifQ=="/>
              <p:cNvSpPr txBox="1"/>
              <p:nvPr/>
            </p:nvSpPr>
            <p:spPr>
              <a:xfrm>
                <a:off x="3279934" y="32946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111111"/>
                    </a:solidFill>
                  </a:rPr>
                  <a:t>\(s_{t}\)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57" name="af-s-t-circle-1-ellipse-01"/>
          <p:cNvSpPr/>
          <p:nvPr/>
        </p:nvSpPr>
        <p:spPr>
          <a:xfrm>
            <a:off x="3343275" y="3638550"/>
            <a:ext cx="323850" cy="323850"/>
          </a:xfrm>
          <a:prstGeom prst="ellipse">
            <a:avLst/>
          </a:prstGeom>
          <a:solidFill>
            <a:srgbClr val="24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f-s-t-circle-2-ellipse-01"/>
          <p:cNvSpPr/>
          <p:nvPr/>
        </p:nvSpPr>
        <p:spPr>
          <a:xfrm>
            <a:off x="3343275" y="4000500"/>
            <a:ext cx="323850" cy="323850"/>
          </a:xfrm>
          <a:prstGeom prst="ellipse">
            <a:avLst/>
          </a:prstGeom>
          <a:solidFill>
            <a:srgbClr val="24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af-s-t-circle-3-ellipse-01"/>
          <p:cNvSpPr/>
          <p:nvPr/>
        </p:nvSpPr>
        <p:spPr>
          <a:xfrm>
            <a:off x="3343275" y="4352925"/>
            <a:ext cx="323850" cy="323850"/>
          </a:xfrm>
          <a:prstGeom prst="ellipse">
            <a:avLst/>
          </a:prstGeom>
          <a:solidFill>
            <a:srgbClr val="247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" name="af-svg-line-0008-connector-01"/>
          <p:cNvCxnSpPr/>
          <p:nvPr/>
        </p:nvCxnSpPr>
        <p:spPr>
          <a:xfrm>
            <a:off x="3762375" y="4152900"/>
            <a:ext cx="247650" cy="0"/>
          </a:xfrm>
          <a:prstGeom prst="line">
            <a:avLst/>
          </a:prstGeom>
          <a:ln w="57150" cap="rnd">
            <a:solidFill>
              <a:srgbClr val="3567B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af-svg-rect-0016-rect-01"/>
          <p:cNvSpPr/>
          <p:nvPr/>
        </p:nvSpPr>
        <p:spPr>
          <a:xfrm>
            <a:off x="4067175" y="1990725"/>
            <a:ext cx="4248150" cy="2809875"/>
          </a:xfrm>
          <a:prstGeom prst="roundRect">
            <a:avLst>
              <a:gd name="adj" fmla="val 6101"/>
            </a:avLst>
          </a:prstGeom>
          <a:solidFill>
            <a:srgbClr val="FFFFFF"/>
          </a:solidFill>
          <a:ln w="2095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af-svg-rect-0017-rect-01"/>
          <p:cNvSpPr/>
          <p:nvPr/>
        </p:nvSpPr>
        <p:spPr>
          <a:xfrm>
            <a:off x="4219575" y="2524125"/>
            <a:ext cx="914400" cy="447675"/>
          </a:xfrm>
          <a:prstGeom prst="rect">
            <a:avLst/>
          </a:prstGeom>
          <a:solidFill>
            <a:srgbClr val="3561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af-svg-text-0022-text-01"/>
          <p:cNvSpPr txBox="1"/>
          <p:nvPr/>
        </p:nvSpPr>
        <p:spPr>
          <a:xfrm>
            <a:off x="4231958" y="2657475"/>
            <a:ext cx="88963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Task 1</a:t>
            </a:r>
          </a:p>
        </p:txBody>
      </p:sp>
      <p:sp>
        <p:nvSpPr>
          <p:cNvPr id="64" name="af-svg-rect-0018-rect-01"/>
          <p:cNvSpPr/>
          <p:nvPr/>
        </p:nvSpPr>
        <p:spPr>
          <a:xfrm>
            <a:off x="4219575" y="3686175"/>
            <a:ext cx="914400" cy="447675"/>
          </a:xfrm>
          <a:prstGeom prst="rect">
            <a:avLst/>
          </a:prstGeom>
          <a:solidFill>
            <a:srgbClr val="C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af-svg-text-0023-text-01"/>
          <p:cNvSpPr txBox="1"/>
          <p:nvPr/>
        </p:nvSpPr>
        <p:spPr>
          <a:xfrm>
            <a:off x="4231958" y="3819525"/>
            <a:ext cx="889635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Task 2</a:t>
            </a:r>
          </a:p>
        </p:txBody>
      </p:sp>
      <p:sp>
        <p:nvSpPr>
          <p:cNvPr id="66" name="af-svg-rect-0019-rect-01"/>
          <p:cNvSpPr/>
          <p:nvPr/>
        </p:nvSpPr>
        <p:spPr>
          <a:xfrm>
            <a:off x="525780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f-svg-rect-0020-rect-01"/>
          <p:cNvSpPr/>
          <p:nvPr/>
        </p:nvSpPr>
        <p:spPr>
          <a:xfrm>
            <a:off x="532447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f-svg-rect-0021-rect-01"/>
          <p:cNvSpPr/>
          <p:nvPr/>
        </p:nvSpPr>
        <p:spPr>
          <a:xfrm>
            <a:off x="53244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f-svg-text-0024-text-01"/>
          <p:cNvSpPr txBox="1"/>
          <p:nvPr/>
        </p:nvSpPr>
        <p:spPr>
          <a:xfrm rot="5400000">
            <a:off x="5187696" y="2588419"/>
            <a:ext cx="654558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70" name="af-svg-text-0025-text-01"/>
          <p:cNvSpPr txBox="1"/>
          <p:nvPr/>
        </p:nvSpPr>
        <p:spPr>
          <a:xfrm rot="5400000">
            <a:off x="5215985" y="3674269"/>
            <a:ext cx="597980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71" name="af-svg-text-0026-text-01"/>
          <p:cNvSpPr txBox="1"/>
          <p:nvPr/>
        </p:nvSpPr>
        <p:spPr>
          <a:xfrm>
            <a:off x="5314569" y="4466272"/>
            <a:ext cx="400812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1</a:t>
            </a:r>
          </a:p>
        </p:txBody>
      </p:sp>
      <p:sp>
        <p:nvSpPr>
          <p:cNvPr id="72" name="af-svg-rect-0022-rect-01"/>
          <p:cNvSpPr/>
          <p:nvPr/>
        </p:nvSpPr>
        <p:spPr>
          <a:xfrm>
            <a:off x="598170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f-svg-rect-0023-rect-01"/>
          <p:cNvSpPr/>
          <p:nvPr/>
        </p:nvSpPr>
        <p:spPr>
          <a:xfrm>
            <a:off x="604837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af-svg-rect-0024-rect-01"/>
          <p:cNvSpPr/>
          <p:nvPr/>
        </p:nvSpPr>
        <p:spPr>
          <a:xfrm>
            <a:off x="604837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af-svg-text-0027-text-01"/>
          <p:cNvSpPr txBox="1"/>
          <p:nvPr/>
        </p:nvSpPr>
        <p:spPr>
          <a:xfrm rot="5400000">
            <a:off x="5911596" y="2588419"/>
            <a:ext cx="654558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76" name="af-svg-text-0028-text-01"/>
          <p:cNvSpPr txBox="1"/>
          <p:nvPr/>
        </p:nvSpPr>
        <p:spPr>
          <a:xfrm rot="5400000">
            <a:off x="5939885" y="3674269"/>
            <a:ext cx="597980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77" name="af-svg-text-0029-text-01"/>
          <p:cNvSpPr txBox="1"/>
          <p:nvPr/>
        </p:nvSpPr>
        <p:spPr>
          <a:xfrm>
            <a:off x="6038469" y="4466272"/>
            <a:ext cx="400812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2</a:t>
            </a:r>
          </a:p>
        </p:txBody>
      </p:sp>
      <p:sp>
        <p:nvSpPr>
          <p:cNvPr id="78" name="af-svg-rect-0025-rect-01"/>
          <p:cNvSpPr/>
          <p:nvPr/>
        </p:nvSpPr>
        <p:spPr>
          <a:xfrm>
            <a:off x="6724650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af-svg-rect-0026-rect-01"/>
          <p:cNvSpPr/>
          <p:nvPr/>
        </p:nvSpPr>
        <p:spPr>
          <a:xfrm>
            <a:off x="6791325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af-svg-rect-0027-rect-01"/>
          <p:cNvSpPr/>
          <p:nvPr/>
        </p:nvSpPr>
        <p:spPr>
          <a:xfrm>
            <a:off x="6791325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af-svg-text-0030-text-01"/>
          <p:cNvSpPr txBox="1"/>
          <p:nvPr/>
        </p:nvSpPr>
        <p:spPr>
          <a:xfrm rot="5400000">
            <a:off x="6654546" y="2588419"/>
            <a:ext cx="654558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82" name="af-svg-text-0031-text-01"/>
          <p:cNvSpPr txBox="1"/>
          <p:nvPr/>
        </p:nvSpPr>
        <p:spPr>
          <a:xfrm rot="5400000">
            <a:off x="6682835" y="3674269"/>
            <a:ext cx="597980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83" name="af-svg-text-0032-text-01"/>
          <p:cNvSpPr txBox="1"/>
          <p:nvPr/>
        </p:nvSpPr>
        <p:spPr>
          <a:xfrm>
            <a:off x="6781419" y="4466272"/>
            <a:ext cx="400812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3</a:t>
            </a:r>
          </a:p>
        </p:txBody>
      </p:sp>
      <p:sp>
        <p:nvSpPr>
          <p:cNvPr id="84" name="af-svg-rect-0028-rect-01"/>
          <p:cNvSpPr/>
          <p:nvPr/>
        </p:nvSpPr>
        <p:spPr>
          <a:xfrm>
            <a:off x="7629525" y="2181225"/>
            <a:ext cx="495300" cy="2257425"/>
          </a:xfrm>
          <a:prstGeom prst="rect">
            <a:avLst/>
          </a:prstGeom>
          <a:solidFill>
            <a:srgbClr val="FAFAFA"/>
          </a:solidFill>
          <a:ln w="15240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f-svg-rect-0029-rect-01"/>
          <p:cNvSpPr/>
          <p:nvPr/>
        </p:nvSpPr>
        <p:spPr>
          <a:xfrm>
            <a:off x="7696200" y="2314575"/>
            <a:ext cx="352425" cy="952500"/>
          </a:xfrm>
          <a:prstGeom prst="roundRect">
            <a:avLst>
              <a:gd name="adj" fmla="val 18918"/>
            </a:avLst>
          </a:prstGeom>
          <a:solidFill>
            <a:srgbClr val="FDE7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f-svg-rect-0030-rect-01"/>
          <p:cNvSpPr/>
          <p:nvPr/>
        </p:nvSpPr>
        <p:spPr>
          <a:xfrm>
            <a:off x="7696200" y="3390900"/>
            <a:ext cx="352425" cy="942975"/>
          </a:xfrm>
          <a:prstGeom prst="roundRect">
            <a:avLst>
              <a:gd name="adj" fmla="val 18918"/>
            </a:avLst>
          </a:prstGeom>
          <a:solidFill>
            <a:srgbClr val="E4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f-svg-text-0033-text-01"/>
          <p:cNvSpPr txBox="1"/>
          <p:nvPr/>
        </p:nvSpPr>
        <p:spPr>
          <a:xfrm rot="5400000">
            <a:off x="7559421" y="2588419"/>
            <a:ext cx="654558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Sem</a:t>
            </a:r>
          </a:p>
        </p:txBody>
      </p:sp>
      <p:sp>
        <p:nvSpPr>
          <p:cNvPr id="88" name="af-svg-text-0034-text-01"/>
          <p:cNvSpPr txBox="1"/>
          <p:nvPr/>
        </p:nvSpPr>
        <p:spPr>
          <a:xfrm rot="5400000">
            <a:off x="7587710" y="3674269"/>
            <a:ext cx="597980" cy="404812"/>
          </a:xfrm>
          <a:prstGeom prst="rect">
            <a:avLst/>
          </a:prstGeom>
          <a:noFill/>
          <a:effectLst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50">
                <a:solidFill>
                  <a:srgbClr val="111111"/>
                </a:solidFill>
                <a:latin typeface="Arial"/>
              </a:rPr>
              <a:t>Dyn</a:t>
            </a:r>
          </a:p>
        </p:txBody>
      </p:sp>
      <p:sp>
        <p:nvSpPr>
          <p:cNvPr id="89" name="af-svg-text-0035-text-01"/>
          <p:cNvSpPr txBox="1"/>
          <p:nvPr/>
        </p:nvSpPr>
        <p:spPr>
          <a:xfrm>
            <a:off x="7710297" y="4466272"/>
            <a:ext cx="352806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 i="1">
                <a:solidFill>
                  <a:srgbClr val="111111"/>
                </a:solidFill>
                <a:latin typeface="Times New Roman"/>
              </a:rPr>
              <a:t>l</a:t>
            </a:r>
          </a:p>
        </p:txBody>
      </p:sp>
      <p:sp>
        <p:nvSpPr>
          <p:cNvPr id="90" name="af-svg-text-0036-text-01"/>
          <p:cNvSpPr txBox="1"/>
          <p:nvPr/>
        </p:nvSpPr>
        <p:spPr>
          <a:xfrm>
            <a:off x="7220902" y="3877628"/>
            <a:ext cx="493395" cy="45243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6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91" name="af-svg-path-0004-freeform-01"/>
          <p:cNvSpPr/>
          <p:nvPr/>
        </p:nvSpPr>
        <p:spPr>
          <a:xfrm>
            <a:off x="5133975" y="2476500"/>
            <a:ext cx="3448050" cy="1085850"/>
          </a:xfrm>
          <a:custGeom>
            <a:avLst/>
            <a:gdLst/>
            <a:ahLst/>
            <a:cxnLst/>
            <a:rect l="0" t="0" r="0" b="0"/>
            <a:pathLst>
              <a:path w="3448050" h="1085850">
                <a:moveTo>
                  <a:pt x="0" y="276225"/>
                </a:moveTo>
                <a:cubicBezTo>
                  <a:pt x="219075" y="0"/>
                  <a:pt x="381000" y="142875"/>
                  <a:pt x="485775" y="485775"/>
                </a:cubicBezTo>
                <a:cubicBezTo>
                  <a:pt x="609600" y="857250"/>
                  <a:pt x="819150" y="800100"/>
                  <a:pt x="952500" y="581025"/>
                </a:cubicBezTo>
                <a:cubicBezTo>
                  <a:pt x="1104900" y="323850"/>
                  <a:pt x="1247775" y="371475"/>
                  <a:pt x="1400175" y="733425"/>
                </a:cubicBezTo>
                <a:cubicBezTo>
                  <a:pt x="1543050" y="1066800"/>
                  <a:pt x="1733550" y="1085850"/>
                  <a:pt x="1866900" y="704850"/>
                </a:cubicBezTo>
                <a:cubicBezTo>
                  <a:pt x="2019300" y="257175"/>
                  <a:pt x="2276475" y="180975"/>
                  <a:pt x="2476500" y="276225"/>
                </a:cubicBezTo>
                <a:cubicBezTo>
                  <a:pt x="2714625" y="381000"/>
                  <a:pt x="2962275" y="47625"/>
                  <a:pt x="3448050" y="257175"/>
                </a:cubicBezTo>
              </a:path>
            </a:pathLst>
          </a:custGeom>
          <a:noFill/>
          <a:ln w="26670" cap="rnd">
            <a:solidFill>
              <a:srgbClr val="2D5EA8"/>
            </a:solidFill>
            <a:prstDash val="dot"/>
          </a:ln>
        </p:spPr>
        <p:txBody>
          <a:bodyPr/>
          <a:p/>
        </p:txBody>
      </p:sp>
      <p:sp>
        <p:nvSpPr>
          <p:cNvPr id="92" name="af-svg-path-0005-freeform-01"/>
          <p:cNvSpPr/>
          <p:nvPr/>
        </p:nvSpPr>
        <p:spPr>
          <a:xfrm>
            <a:off x="5133975" y="2838450"/>
            <a:ext cx="3448050" cy="1285875"/>
          </a:xfrm>
          <a:custGeom>
            <a:avLst/>
            <a:gdLst/>
            <a:ahLst/>
            <a:cxnLst/>
            <a:rect l="0" t="0" r="0" b="0"/>
            <a:pathLst>
              <a:path w="3448050" h="1285875">
                <a:moveTo>
                  <a:pt x="0" y="1066800"/>
                </a:moveTo>
                <a:cubicBezTo>
                  <a:pt x="247650" y="1000125"/>
                  <a:pt x="485775" y="1200150"/>
                  <a:pt x="752475" y="1143000"/>
                </a:cubicBezTo>
                <a:cubicBezTo>
                  <a:pt x="1019175" y="1066800"/>
                  <a:pt x="1181100" y="685800"/>
                  <a:pt x="1381125" y="342900"/>
                </a:cubicBezTo>
                <a:cubicBezTo>
                  <a:pt x="1533525" y="95250"/>
                  <a:pt x="1657350" y="0"/>
                  <a:pt x="1800225" y="114300"/>
                </a:cubicBezTo>
                <a:cubicBezTo>
                  <a:pt x="1962150" y="276225"/>
                  <a:pt x="2085975" y="838200"/>
                  <a:pt x="2362200" y="1066800"/>
                </a:cubicBezTo>
                <a:cubicBezTo>
                  <a:pt x="2628900" y="1285875"/>
                  <a:pt x="2905125" y="1162050"/>
                  <a:pt x="3448050" y="1095375"/>
                </a:cubicBezTo>
              </a:path>
            </a:pathLst>
          </a:custGeom>
          <a:noFill/>
          <a:ln w="26670" cap="rnd">
            <a:solidFill>
              <a:srgbClr val="D20C0C"/>
            </a:solidFill>
            <a:prstDash val="dot"/>
          </a:ln>
        </p:spPr>
        <p:txBody>
          <a:bodyPr/>
          <a:p/>
        </p:txBody>
      </p:sp>
      <p:cxnSp>
        <p:nvCxnSpPr>
          <p:cNvPr id="93" name="af-allocator-task1-route-1-connector-01"/>
          <p:cNvCxnSpPr/>
          <p:nvPr/>
        </p:nvCxnSpPr>
        <p:spPr>
          <a:xfrm>
            <a:off x="5772150" y="3009900"/>
            <a:ext cx="152400" cy="209550"/>
          </a:xfrm>
          <a:prstGeom prst="line">
            <a:avLst/>
          </a:prstGeom>
          <a:ln w="19050" cap="rnd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af-allocator-task1-route-2-connector-01"/>
          <p:cNvCxnSpPr/>
          <p:nvPr/>
        </p:nvCxnSpPr>
        <p:spPr>
          <a:xfrm>
            <a:off x="6515100" y="3028950"/>
            <a:ext cx="152400" cy="171450"/>
          </a:xfrm>
          <a:prstGeom prst="line">
            <a:avLst/>
          </a:prstGeom>
          <a:ln w="19050" cap="rnd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af-allocator-task1-skip-edge-connector-01"/>
          <p:cNvCxnSpPr/>
          <p:nvPr/>
        </p:nvCxnSpPr>
        <p:spPr>
          <a:xfrm>
            <a:off x="7258050" y="3886200"/>
            <a:ext cx="314325" cy="28575"/>
          </a:xfrm>
          <a:prstGeom prst="line">
            <a:avLst/>
          </a:prstGeom>
          <a:ln w="19050" cap="rnd">
            <a:solidFill>
              <a:srgbClr val="11111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6" name="math:005" descr="AI_AUTOFIGURE_NATIVE_MATH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56784" y="17325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350">
                            <a:solidFill>
                              <a:srgbClr val="111111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350">
                  <a:solidFill>
                    <a:srgbClr val="111111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96" name="math:005" descr="AI_AUTOFIGURE_MATH_FALLBACK_ONLY_V1:eyJjb250ZW50X3J1bnMiOlt7ImNhbm9uaWNhbF9sYXRleCI6Inpfe3R9IiwiZm9ybXVsYV9pZCI6IkVRMDA1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DU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A1Iiwic2NoZW1hX3ZlcnNpb24iOiIxLjAifQ=="/>
              <p:cNvSpPr txBox="1"/>
              <p:nvPr/>
            </p:nvSpPr>
            <p:spPr>
              <a:xfrm>
                <a:off x="8556784" y="1732598"/>
                <a:ext cx="450532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111111"/>
                    </a:solidFill>
                  </a:rPr>
                  <a:t>\(z_{t}\)</a:t>
                </a:r>
                <a:endParaRPr lang="en-US" dirty="0" sz="1350">
                  <a:solidFill>
                    <a:srgbClr val="111111"/>
                  </a:solidFill>
                </a:endParaRPr>
              </a:p>
            </p:txBody>
          </p:sp>
        </mc:Fallback>
      </mc:AlternateContent>
      <p:sp>
        <p:nvSpPr>
          <p:cNvPr id="97" name="af-svg-rect-0031-rect-01"/>
          <p:cNvSpPr/>
          <p:nvPr/>
        </p:nvSpPr>
        <p:spPr>
          <a:xfrm>
            <a:off x="8591550" y="1981200"/>
            <a:ext cx="400050" cy="121920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af-svg-circle-0012-ellipse-01"/>
          <p:cNvSpPr/>
          <p:nvPr/>
        </p:nvSpPr>
        <p:spPr>
          <a:xfrm>
            <a:off x="8629650" y="2057400"/>
            <a:ext cx="323850" cy="323850"/>
          </a:xfrm>
          <a:prstGeom prst="ellipse">
            <a:avLst/>
          </a:prstGeom>
          <a:gradFill>
            <a:gsLst>
              <a:gs pos="0">
                <a:srgbClr val="F1995D"/>
              </a:gs>
              <a:gs pos="25000">
                <a:srgbClr val="F19B60"/>
              </a:gs>
              <a:gs pos="41000">
                <a:srgbClr val="F4B78C"/>
              </a:gs>
              <a:gs pos="47000">
                <a:srgbClr val="F5C39B"/>
              </a:gs>
              <a:gs pos="49000">
                <a:srgbClr val="E8E7E2"/>
              </a:gs>
              <a:gs pos="53000">
                <a:srgbClr val="D8E2E4"/>
              </a:gs>
              <a:gs pos="59000">
                <a:srgbClr val="86ADB6"/>
              </a:gs>
              <a:gs pos="68000">
                <a:srgbClr val="6E9EAA"/>
              </a:gs>
              <a:gs pos="76500">
                <a:srgbClr val="59909E"/>
              </a:gs>
              <a:gs pos="100000">
                <a:srgbClr val="518D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af-svg-circle-0013-ellipse-01"/>
          <p:cNvSpPr/>
          <p:nvPr/>
        </p:nvSpPr>
        <p:spPr>
          <a:xfrm>
            <a:off x="8629650" y="2409825"/>
            <a:ext cx="323850" cy="323850"/>
          </a:xfrm>
          <a:prstGeom prst="ellipse">
            <a:avLst/>
          </a:prstGeom>
          <a:gradFill>
            <a:gsLst>
              <a:gs pos="0">
                <a:srgbClr val="F1995D"/>
              </a:gs>
              <a:gs pos="25000">
                <a:srgbClr val="F19B60"/>
              </a:gs>
              <a:gs pos="41000">
                <a:srgbClr val="F4B78C"/>
              </a:gs>
              <a:gs pos="47000">
                <a:srgbClr val="F5C39B"/>
              </a:gs>
              <a:gs pos="49000">
                <a:srgbClr val="E8E7E2"/>
              </a:gs>
              <a:gs pos="53000">
                <a:srgbClr val="D8E2E4"/>
              </a:gs>
              <a:gs pos="59000">
                <a:srgbClr val="86ADB6"/>
              </a:gs>
              <a:gs pos="68000">
                <a:srgbClr val="6E9EAA"/>
              </a:gs>
              <a:gs pos="76500">
                <a:srgbClr val="59909E"/>
              </a:gs>
              <a:gs pos="100000">
                <a:srgbClr val="518D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af-svg-circle-0014-ellipse-01"/>
          <p:cNvSpPr/>
          <p:nvPr/>
        </p:nvSpPr>
        <p:spPr>
          <a:xfrm>
            <a:off x="8629650" y="2752725"/>
            <a:ext cx="323850" cy="323850"/>
          </a:xfrm>
          <a:prstGeom prst="ellipse">
            <a:avLst/>
          </a:prstGeom>
          <a:gradFill>
            <a:gsLst>
              <a:gs pos="0">
                <a:srgbClr val="F1995D"/>
              </a:gs>
              <a:gs pos="25000">
                <a:srgbClr val="F19B60"/>
              </a:gs>
              <a:gs pos="41000">
                <a:srgbClr val="F4B78C"/>
              </a:gs>
              <a:gs pos="47000">
                <a:srgbClr val="F5C39B"/>
              </a:gs>
              <a:gs pos="49000">
                <a:srgbClr val="E8E7E2"/>
              </a:gs>
              <a:gs pos="53000">
                <a:srgbClr val="D8E2E4"/>
              </a:gs>
              <a:gs pos="59000">
                <a:srgbClr val="86ADB6"/>
              </a:gs>
              <a:gs pos="68000">
                <a:srgbClr val="6E9EAA"/>
              </a:gs>
              <a:gs pos="76500">
                <a:srgbClr val="59909E"/>
              </a:gs>
              <a:gs pos="100000">
                <a:srgbClr val="518D9C"/>
              </a:gs>
            </a:gsLst>
            <a:lin ang="27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af-svg-rect-0032-rect-01"/>
          <p:cNvSpPr/>
          <p:nvPr/>
        </p:nvSpPr>
        <p:spPr>
          <a:xfrm>
            <a:off x="8591550" y="3362325"/>
            <a:ext cx="400050" cy="1200150"/>
          </a:xfrm>
          <a:prstGeom prst="rect">
            <a:avLst/>
          </a:prstGeom>
          <a:solidFill>
            <a:srgbClr val="FFFFFF"/>
          </a:solidFill>
          <a:ln w="2857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af-svg-circle-0015-ellipse-01"/>
          <p:cNvSpPr/>
          <p:nvPr/>
        </p:nvSpPr>
        <p:spPr>
          <a:xfrm>
            <a:off x="8629650" y="3457575"/>
            <a:ext cx="323850" cy="323850"/>
          </a:xfrm>
          <a:prstGeom prst="ellipse">
            <a:avLst/>
          </a:prstGeom>
          <a:gradFill>
            <a:gsLst>
              <a:gs pos="0">
                <a:srgbClr val="F1975B"/>
              </a:gs>
              <a:gs pos="25000">
                <a:srgbClr val="F1985C"/>
              </a:gs>
              <a:gs pos="41000">
                <a:srgbClr val="F4B183"/>
              </a:gs>
              <a:gs pos="50000">
                <a:srgbClr val="F2ECE8"/>
              </a:gs>
              <a:gs pos="53000">
                <a:srgbClr val="E6EBEA"/>
              </a:gs>
              <a:gs pos="59000">
                <a:srgbClr val="8AAFB8"/>
              </a:gs>
              <a:gs pos="68000">
                <a:srgbClr val="74A2AD"/>
              </a:gs>
              <a:gs pos="76500">
                <a:srgbClr val="5E94A1"/>
              </a:gs>
              <a:gs pos="100000">
                <a:srgbClr val="518D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af-svg-circle-0016-ellipse-01"/>
          <p:cNvSpPr/>
          <p:nvPr/>
        </p:nvSpPr>
        <p:spPr>
          <a:xfrm>
            <a:off x="8629650" y="3800475"/>
            <a:ext cx="323850" cy="323850"/>
          </a:xfrm>
          <a:prstGeom prst="ellipse">
            <a:avLst/>
          </a:prstGeom>
          <a:gradFill>
            <a:gsLst>
              <a:gs pos="0">
                <a:srgbClr val="F1975B"/>
              </a:gs>
              <a:gs pos="25000">
                <a:srgbClr val="F1985C"/>
              </a:gs>
              <a:gs pos="41000">
                <a:srgbClr val="F4B183"/>
              </a:gs>
              <a:gs pos="50000">
                <a:srgbClr val="F2ECE8"/>
              </a:gs>
              <a:gs pos="53000">
                <a:srgbClr val="E6EBEA"/>
              </a:gs>
              <a:gs pos="59000">
                <a:srgbClr val="8AAFB8"/>
              </a:gs>
              <a:gs pos="68000">
                <a:srgbClr val="74A2AD"/>
              </a:gs>
              <a:gs pos="76500">
                <a:srgbClr val="5E94A1"/>
              </a:gs>
              <a:gs pos="100000">
                <a:srgbClr val="518D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af-svg-circle-0017-ellipse-01"/>
          <p:cNvSpPr/>
          <p:nvPr/>
        </p:nvSpPr>
        <p:spPr>
          <a:xfrm>
            <a:off x="8629650" y="4152900"/>
            <a:ext cx="323850" cy="323850"/>
          </a:xfrm>
          <a:prstGeom prst="ellipse">
            <a:avLst/>
          </a:prstGeom>
          <a:gradFill>
            <a:gsLst>
              <a:gs pos="0">
                <a:srgbClr val="F1975B"/>
              </a:gs>
              <a:gs pos="25000">
                <a:srgbClr val="F1985C"/>
              </a:gs>
              <a:gs pos="41000">
                <a:srgbClr val="F4B183"/>
              </a:gs>
              <a:gs pos="50000">
                <a:srgbClr val="F2ECE8"/>
              </a:gs>
              <a:gs pos="53000">
                <a:srgbClr val="E6EBEA"/>
              </a:gs>
              <a:gs pos="59000">
                <a:srgbClr val="8AAFB8"/>
              </a:gs>
              <a:gs pos="68000">
                <a:srgbClr val="74A2AD"/>
              </a:gs>
              <a:gs pos="76500">
                <a:srgbClr val="5E94A1"/>
              </a:gs>
              <a:gs pos="100000">
                <a:srgbClr val="518D9C"/>
              </a:gs>
            </a:gsLst>
            <a:lin ang="81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af-top-mixture-to-rollout-connector-01"/>
          <p:cNvCxnSpPr/>
          <p:nvPr/>
        </p:nvCxnSpPr>
        <p:spPr>
          <a:xfrm>
            <a:off x="9001125" y="2590800"/>
            <a:ext cx="581025" cy="38100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af-bottom-mixture-to-rollout-connector-01"/>
          <p:cNvCxnSpPr/>
          <p:nvPr/>
        </p:nvCxnSpPr>
        <p:spPr>
          <a:xfrm flipV="1">
            <a:off x="9001125" y="3076575"/>
            <a:ext cx="571500" cy="904875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af-task-conditioned-imagination-rect-01"/>
          <p:cNvSpPr/>
          <p:nvPr/>
        </p:nvSpPr>
        <p:spPr>
          <a:xfrm>
            <a:off x="9467850" y="1162050"/>
            <a:ext cx="3800475" cy="847725"/>
          </a:xfrm>
          <a:prstGeom prst="roundRect">
            <a:avLst>
              <a:gd name="adj" fmla="val 19101"/>
            </a:avLst>
          </a:prstGeom>
          <a:solidFill>
            <a:srgbClr val="F8F8F8"/>
          </a:solidFill>
          <a:ln w="20955">
            <a:solidFill>
              <a:srgbClr val="22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8" name="af-mapping-to-imagination-connector-01"/>
          <p:cNvCxnSpPr/>
          <p:nvPr/>
        </p:nvCxnSpPr>
        <p:spPr>
          <a:xfrm>
            <a:off x="9105900" y="590550"/>
            <a:ext cx="676275" cy="790575"/>
          </a:xfrm>
          <a:prstGeom prst="line">
            <a:avLst/>
          </a:prstGeom>
          <a:ln w="57150" cap="rnd">
            <a:solidFill>
              <a:srgbClr val="777777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f-svg-text-0038-text-01"/>
          <p:cNvSpPr txBox="1"/>
          <p:nvPr/>
        </p:nvSpPr>
        <p:spPr>
          <a:xfrm>
            <a:off x="10018395" y="1276350"/>
            <a:ext cx="2727960" cy="428625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11111"/>
                </a:solidFill>
                <a:latin typeface="Arial"/>
              </a:rPr>
              <a:t>task-conditioned imagination</a:t>
            </a:r>
          </a:p>
        </p:txBody>
      </p:sp>
      <p:sp>
        <p:nvSpPr>
          <p:cNvPr id="110" name="af-svg-rect-0034-rect-01"/>
          <p:cNvSpPr/>
          <p:nvPr/>
        </p:nvSpPr>
        <p:spPr>
          <a:xfrm>
            <a:off x="9601200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math:006" descr="AI_AUTOFIGURE_NATIVE_MATH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568101" y="1646396"/>
                <a:ext cx="52339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1" name="math:006" descr="AI_AUTOFIGURE_MATH_FALLBACK_ONLY_V1:eyJjb250ZW50X3J1bnMiOlt7ImNhbm9uaWNhbF9sYXRleCI6Inpee1xcdGF1fV97dH0iLCJmb3JtdWxhX2lkIjoiRVEwMDYiLCJraW5kIjoibWF0aCIsImxhdGV4X3NoYTI1NiI6IjgxMmI1YjFjOGFmZDdhYzI0Nzc5YTQxYzhmMmE0ZDNiNzZlODAyYzNlNDk5NDc3MjdlM2Q4OTZhYmI3MmQ3ZjEiLCJtb2RlIjoiaW5saW5lIiwib21tbF9zaGEyNTYiOiIwYjA5Y2ZlY2EzYmZiNzFlMzRjMGY1ZmI2ZTY2NDUzZTMwMWFlZGI1Nzc5YmE1MTFhMGZiZDc0MDljMWZlN2M1Iiwic2VtYW50aWNfb21tbF9wcm9maWxlIjoib2ZmaWNlLW1hdGgtc2VtYW50aWMtdjIiLCJzZW1hbnRpY19vbW1sX3NoYTI1NiI6IjdiMDU0ZTcxNjkxNGEwYjY5OGE4N2NmZWM0NTQ3ZWYwYjY2NTA0YzFhYTU3YmI0NDkwN2Q0NGE0YzQ3NDgxZWQifV0sImZvcm11bGFzIjpbeyJjYW5vbmljYWxfbGF0ZXgiOiJ6XntcXHRhdX1fe3R9IiwiZm9ybXVsYV9pZCI6IkVRMDA2IiwibGF0ZXhfc2hhMjU2IjoiODEyYjViMWM4YWZkN2FjMjQ3NzlhNDFjOGYyYTRkM2I3NmU4MDJjM2U0OTk0NzcyN2UzZDg5NmFiYjcyZDdmMSIsIm1vZGUiOiJpbmxpbmUiLCJvbW1sX3NoYTI1NiI6IjBiMDljZmVjYTNiZmI3MWUzNGMwZjVmYjZlNjY0NTNlMzAxYWVkYjU3NzliYTUxMWEwZmJkNzQwOWMxZmU3YzUiLCJzZW1hbnRpY19vbW1sX3Byb2ZpbGUiOiJvZmZpY2UtbWF0aC1zZW1hbnRpYy12MiIsInNlbWFudGljX29tbWxfc2hhMjU2IjoiN2IwNTRlNzE2OTE0YTBiNjk4YTg3Y2ZlYzQ1NDdlZjBiNjY1MDRjMWFhNTdiYjQ0OTA3ZDQ0YTRjNDc0ODFlZCJ9XSwia2luZCI6Im5hdGl2ZV9vZmZpY2VfbWF0aCIsInBsYWNlaG9sZGVyX25hbWUiOiJtYXRoOjAwNiIsInNjaGVtYV92ZXJzaW9uIjoiMS4wIn0="/>
              <p:cNvSpPr txBox="1"/>
              <p:nvPr/>
            </p:nvSpPr>
            <p:spPr>
              <a:xfrm>
                <a:off x="9568101" y="1646396"/>
                <a:ext cx="523399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2" name="af-svg-rect-0035-rect-01"/>
          <p:cNvSpPr/>
          <p:nvPr/>
        </p:nvSpPr>
        <p:spPr>
          <a:xfrm>
            <a:off x="1052512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math:007" descr="AI_AUTOFIGURE_NATIVE_MATH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40458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3" name="math:007" descr="AI_AUTOFIGURE_MATH_FALLBACK_ONLY_V1:eyJjb250ZW50X3J1bnMiOlt7ImNhbm9uaWNhbF9sYXRleCI6Inpee1xcdGF1fV97dCsxfSIsImZvcm11bGFfaWQiOiJFUTAwNyIsImtpbmQiOiJtYXRoIiwibGF0ZXhfc2hhMjU2IjoiMmM1ZTJlMzU3Mzg2MTFkZDE4YzEwNzBlZTQ2YjQ1MGU5YjE0ZGViZDFmYmU3ZDJlYzI0OWQ4OWMxZThmODU5MSIsIm1vZGUiOiJpbmxpbmUiLCJvbW1sX3NoYTI1NiI6IjY2YmY1ZjM0M2NjY2YwNTI1M2NjZGI5ODYxM2Y4NTFjZTYzMmVkOWNmMjBhMjE3MDc5MDUyYWE2NjRlYWQ3ZTkiLCJzZW1hbnRpY19vbW1sX3Byb2ZpbGUiOiJvZmZpY2UtbWF0aC1zZW1hbnRpYy12MiIsInNlbWFudGljX29tbWxfc2hhMjU2IjoiMjMzM2NjYjhkM2RjMTg3N2JiNDFkYzBkMmJlM2NmY2MxMjJjMGZjNDQyMzk3Mzk4YmI0MzlkMWMwNzdhMjY5OCJ9XSwiZm9ybXVsYXMiOlt7ImNhbm9uaWNhbF9sYXRleCI6Inpee1xcdGF1fV97dCsxfSIsImZvcm11bGFfaWQiOiJFUTAwNyIsImxhdGV4X3NoYTI1NiI6IjJjNWUyZTM1NzM4NjExZGQxOGMxMDcwZWU0NmI0NTBlOWIxNGRlYmQxZmJlN2QyZWMyNDlkODljMWU4Zjg1OTEiLCJtb2RlIjoiaW5saW5lIiwib21tbF9zaGEyNTYiOiI2NmJmNWYzNDNjY2NmMDUyNTNjY2RiOTg2MTNmODUxY2U2MzJlZDljZjIwYTIxNzA3OTA1MmFhNjY0ZWFkN2U5Iiwic2VtYW50aWNfb21tbF9wcm9maWxlIjoib2ZmaWNlLW1hdGgtc2VtYW50aWMtdjIiLCJzZW1hbnRpY19vbW1sX3NoYTI1NiI6IjIzMzNjY2I4ZDNkYzE4NzdiYjQxZGMwZDJiZTNjZmNjMTIyYzBmYzQ0MjM5NzM5OGJiNDM5ZDFjMDc3YTI2OTgifV0sImtpbmQiOiJuYXRpdmVfb2ZmaWNlX21hdGgiLCJwbGFjZWhvbGRlcl9uYW1lIjoibWF0aDowMDciLCJzY2hlbWFfdmVyc2lvbiI6IjEuMCJ9"/>
              <p:cNvSpPr txBox="1"/>
              <p:nvPr/>
            </p:nvSpPr>
            <p:spPr>
              <a:xfrm>
                <a:off x="1040458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4" name="af-svg-rect-0036-rect-01"/>
          <p:cNvSpPr/>
          <p:nvPr/>
        </p:nvSpPr>
        <p:spPr>
          <a:xfrm>
            <a:off x="1145857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math:008" descr="AI_AUTOFIGURE_NATIVE_MATH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33803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5" name="math:008" descr="AI_AUTOFIGURE_MATH_FALLBACK_ONLY_V1:eyJjb250ZW50X3J1bnMiOlt7ImNhbm9uaWNhbF9sYXRleCI6Inpee1xcdGF1fV97dCsyfSIsImZvcm11bGFfaWQiOiJFUTAwOCIsImtpbmQiOiJtYXRoIiwibGF0ZXhfc2hhMjU2IjoiZjE3MjkyMTZjNmIzNGI3ODc1N2JhN2I1NThmZTBlZjUzN2Q5YjM2ZTg1ZmY4NmE0ZTA0NjQ5ZmI5OTFmMWE0ZiIsIm1vZGUiOiJpbmxpbmUiLCJvbW1sX3NoYTI1NiI6IjU4YTU0YjQ2NDc2NGExYWVlOWMxNDQ1NTdjNjRhMjAxYjBjOGY5Zjk2MDE0ZjVlNDkwNmJhOTM4NDEzZjFmNDUiLCJzZW1hbnRpY19vbW1sX3Byb2ZpbGUiOiJvZmZpY2UtbWF0aC1zZW1hbnRpYy12MiIsInNlbWFudGljX29tbWxfc2hhMjU2IjoiMTc4YzVhMDM3MDY3NGFjYzc2NGI3OGYxNWExMGU0MmM5ZTNlZTRjZmZlY2Y5NjU5ZjgzMzViMjZlNzMyZmZmZSJ9XSwiZm9ybXVsYXMiOlt7ImNhbm9uaWNhbF9sYXRleCI6Inpee1xcdGF1fV97dCsyfSIsImZvcm11bGFfaWQiOiJFUTAwOCIsImxhdGV4X3NoYTI1NiI6ImYxNzI5MjE2YzZiMzRiNzg3NTdiYTdiNTU4ZmUwZWY1MzdkOWIzNmU4NWZmODZhNGUwNDY0OWZiOTkxZjFhNGYiLCJtb2RlIjoiaW5saW5lIiwib21tbF9zaGEyNTYiOiI1OGE1NGI0NjQ3NjRhMWFlZTljMTQ0NTU3YzY0YTIwMWIwYzhmOWY5NjAxNGY1ZTQ5MDZiYTkzODQxM2YxZjQ1Iiwic2VtYW50aWNfb21tbF9wcm9maWxlIjoib2ZmaWNlLW1hdGgtc2VtYW50aWMtdjIiLCJzZW1hbnRpY19vbW1sX3NoYTI1NiI6IjE3OGM1YTAzNzA2NzRhY2M3NjRiNzhmMTVhMTBlNDJjOWUzZWU0Y2ZmZWNmOTY1OWY4MzM1YjI2ZTczMmZmZmUifV0sImtpbmQiOiJuYXRpdmVfb2ZmaWNlX21hdGgiLCJwbGFjZWhvbGRlcl9uYW1lIjoibWF0aDowMDgiLCJzY2hlbWFfdmVyc2lvbiI6IjEuMCJ9"/>
              <p:cNvSpPr txBox="1"/>
              <p:nvPr/>
            </p:nvSpPr>
            <p:spPr>
              <a:xfrm>
                <a:off x="11338036" y="1646396"/>
                <a:ext cx="69827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16" name="af-svg-rect-0037-rect-01"/>
          <p:cNvSpPr/>
          <p:nvPr/>
        </p:nvSpPr>
        <p:spPr>
          <a:xfrm>
            <a:off x="12715875" y="1581150"/>
            <a:ext cx="457200" cy="314325"/>
          </a:xfrm>
          <a:prstGeom prst="roundRect">
            <a:avLst>
              <a:gd name="adj" fmla="val 18181"/>
            </a:avLst>
          </a:prstGeom>
          <a:solidFill>
            <a:srgbClr val="92B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math:009" descr="AI_AUTOFIGURE_NATIVE_MATH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598575" y="1646396"/>
                <a:ext cx="691801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  <m:sup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τ</m:t>
                        </m:r>
                      </m:sup>
                    </m:sSubSup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17" name="math:009" descr="AI_AUTOFIGURE_MATH_FALLBACK_ONLY_V1:eyJjb250ZW50X3J1bnMiOlt7ImNhbm9uaWNhbF9sYXRleCI6Inpee1xcdGF1fV97dCtofSIsImZvcm11bGFfaWQiOiJFUTAwOSIsImtpbmQiOiJtYXRoIiwibGF0ZXhfc2hhMjU2IjoiMTQ0MmExOTZjN2U5OWJhNTk2OTVjZTY3YzMyNTcyMjgzYjAyZmZlYjg4NDZhMDIxOTY0MDdiY2JiMjQzZjJkYSIsIm1vZGUiOiJpbmxpbmUiLCJvbW1sX3NoYTI1NiI6IjFkMGY2MzMyZDYwMTgwZTEwZTI4MDg1NDA1YmI5ZDc0Y2E2Mzg2NDllNmExOTBiOGE2Mjc1MzZmZmMxMjU4NzEiLCJzZW1hbnRpY19vbW1sX3Byb2ZpbGUiOiJvZmZpY2UtbWF0aC1zZW1hbnRpYy12MiIsInNlbWFudGljX29tbWxfc2hhMjU2IjoiMDM1YjgxMTU3MDY0NWY2YWY4ZGZhYTViMGM3Yzk4N2I2N2E3YmE0OWUxOGE4NWU5MDRjMzhiY2RjODViYWRlOCJ9XSwiZm9ybXVsYXMiOlt7ImNhbm9uaWNhbF9sYXRleCI6Inpee1xcdGF1fV97dCtofSIsImZvcm11bGFfaWQiOiJFUTAwOSIsImxhdGV4X3NoYTI1NiI6IjE0NDJhMTk2YzdlOTliYTU5Njk1Y2U2N2MzMjU3MjI4M2IwMmZmZWI4ODQ2YTAyMTk2NDA3YmNiYjI0M2YyZGEiLCJtb2RlIjoiaW5saW5lIiwib21tbF9zaGEyNTYiOiIxZDBmNjMzMmQ2MDE4MGUxMGUyODA4NTQwNWJiOWQ3NGNhNjM4NjQ5ZTZhMTkwYjhhNjI3NTM2ZmZjMTI1ODcxIiwic2VtYW50aWNfb21tbF9wcm9maWxlIjoib2ZmaWNlLW1hdGgtc2VtYW50aWMtdjIiLCJzZW1hbnRpY19vbW1sX3NoYTI1NiI6IjAzNWI4MTE1NzA2NDVmNmFmOGRmYWE1YjBjN2M5ODdiNjdhN2JhNDllMThhODVlOTA0YzM4YmNkYzg1YmFkZTgifV0sImtpbmQiOiJuYXRpdmVfb2ZmaWNlX21hdGgiLCJwbGFjZWhvbGRlcl9uYW1lIjoibWF0aDowMDkiLCJzY2hlbWFfdmVyc2lvbiI6IjEuMCJ9"/>
              <p:cNvSpPr txBox="1"/>
              <p:nvPr/>
            </p:nvSpPr>
            <p:spPr>
              <a:xfrm>
                <a:off x="12598575" y="1646396"/>
                <a:ext cx="691801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\(z^{\tau}_{t+h}\)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18" name="af-imagination-z0-to-z1-connector-01"/>
          <p:cNvCxnSpPr/>
          <p:nvPr/>
        </p:nvCxnSpPr>
        <p:spPr>
          <a:xfrm>
            <a:off x="10067925" y="1733550"/>
            <a:ext cx="447675" cy="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af-imagination-z1-to-z2-connector-01"/>
          <p:cNvCxnSpPr/>
          <p:nvPr/>
        </p:nvCxnSpPr>
        <p:spPr>
          <a:xfrm>
            <a:off x="10991850" y="17335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af-imagination-z2-to-zh-connector-01"/>
          <p:cNvCxnSpPr/>
          <p:nvPr/>
        </p:nvCxnSpPr>
        <p:spPr>
          <a:xfrm>
            <a:off x="11925300" y="1733550"/>
            <a:ext cx="781050" cy="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af-svg-text-0043-text-01"/>
          <p:cNvSpPr txBox="1"/>
          <p:nvPr/>
        </p:nvSpPr>
        <p:spPr>
          <a:xfrm>
            <a:off x="11848148" y="1627822"/>
            <a:ext cx="45910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cxnSp>
        <p:nvCxnSpPr>
          <p:cNvPr id="122" name="af-imagination-z0-to-r0-connector-01"/>
          <p:cNvCxnSpPr/>
          <p:nvPr/>
        </p:nvCxnSpPr>
        <p:spPr>
          <a:xfrm>
            <a:off x="9829800" y="1895475"/>
            <a:ext cx="0" cy="257175"/>
          </a:xfrm>
          <a:prstGeom prst="line">
            <a:avLst/>
          </a:prstGeom>
          <a:ln w="16192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af-imagination-z1-to-r1-connector-01"/>
          <p:cNvCxnSpPr/>
          <p:nvPr/>
        </p:nvCxnSpPr>
        <p:spPr>
          <a:xfrm>
            <a:off x="10753725" y="1895475"/>
            <a:ext cx="0" cy="257175"/>
          </a:xfrm>
          <a:prstGeom prst="line">
            <a:avLst/>
          </a:prstGeom>
          <a:ln w="16192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af-imagination-z2-to-r2-connector-01"/>
          <p:cNvCxnSpPr/>
          <p:nvPr/>
        </p:nvCxnSpPr>
        <p:spPr>
          <a:xfrm>
            <a:off x="11687175" y="1895475"/>
            <a:ext cx="0" cy="257175"/>
          </a:xfrm>
          <a:prstGeom prst="line">
            <a:avLst/>
          </a:prstGeom>
          <a:ln w="16192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af-svg-circle-0018-ellipse-01"/>
          <p:cNvSpPr/>
          <p:nvPr/>
        </p:nvSpPr>
        <p:spPr>
          <a:xfrm>
            <a:off x="9629775" y="2152650"/>
            <a:ext cx="400050" cy="400050"/>
          </a:xfrm>
          <a:prstGeom prst="ellipse">
            <a:avLst/>
          </a:prstGeom>
          <a:solidFill>
            <a:srgbClr val="F0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af-svg-circle-0019-ellipse-01"/>
          <p:cNvSpPr/>
          <p:nvPr/>
        </p:nvSpPr>
        <p:spPr>
          <a:xfrm>
            <a:off x="10553700" y="2152650"/>
            <a:ext cx="400050" cy="400050"/>
          </a:xfrm>
          <a:prstGeom prst="ellipse">
            <a:avLst/>
          </a:prstGeom>
          <a:solidFill>
            <a:srgbClr val="F0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af-svg-circle-0020-ellipse-01"/>
          <p:cNvSpPr/>
          <p:nvPr/>
        </p:nvSpPr>
        <p:spPr>
          <a:xfrm>
            <a:off x="11487150" y="2152650"/>
            <a:ext cx="400050" cy="400050"/>
          </a:xfrm>
          <a:prstGeom prst="ellipse">
            <a:avLst/>
          </a:prstGeom>
          <a:solidFill>
            <a:srgbClr val="F07D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8" name="math:010" descr="AI_AUTOFIGURE_NATIVE_MATH_V1:eyJjb250ZW50X3J1bnMiOlt7ImNhbm9uaWNhbF9sYXRleCI6InJfe3R9IiwiZm9ybXVsYV9pZCI6IkVRMDEwIiwia2luZCI6Im1hdGg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7dH0iLCJmb3JtdWxhX2lkIjoiRVEwMTA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1hdGg6MDEwIiwic2NoZW1hX3ZlcnNpb24iOiIxLjAifQ=="/>
              <p:cNvSpPr txBox="1"/>
              <p:nvPr/>
            </p:nvSpPr>
            <p:spPr>
              <a:xfrm>
                <a:off x="9621536" y="2255996"/>
                <a:ext cx="41652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8" name="math:010" descr="AI_AUTOFIGURE_MATH_FALLBACK_ONLY_V1:eyJjb250ZW50X3J1bnMiOlt7ImNhbm9uaWNhbF9sYXRleCI6InJfe3R9IiwiZm9ybXVsYV9pZCI6IkVRMDEwIiwia2luZCI6Im1hdGg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mb3JtdWxhcyI6W3siY2Fub25pY2FsX2xhdGV4Ijoicl97dH0iLCJmb3JtdWxhX2lkIjoiRVEwMTAiLCJsYXRleF9zaGEyNTYiOiI1YTFlMDA1ZTIwZWQ3NDgxZDU1YmNlODQwNzVhN2NhYzMxOTNkYTI0NDYxYjYzMDE5NzM4OWJlMTkxMmUwZWVhIiwibW9kZSI6ImlubGluZSIsIm9tbWxfc2hhMjU2IjoiMDJhYmViNjg3YzViYzMyOTZiZTYxOWM5NjY5YzQzZDExZDBjN2UyZmVjNmM2NDIyZmQyM2RmOWZjMjQ0MmRhOCIsInNlbWFudGljX29tbWxfcHJvZmlsZSI6Im9mZmljZS1tYXRoLXNlbWFudGljLXYyIiwic2VtYW50aWNfb21tbF9zaGEyNTYiOiI3NzM1OWY2MmNhZDNkODE2MGY5YmQxNTE3ZjkxNjdmNTcxODdlM2EyOTE2N2E2ZmQ1MzEyMmFkMjczYmZiODJlIn1dLCJraW5kIjoibmF0aXZlX29mZmljZV9tYXRoIiwicGxhY2Vob2xkZXJfbmFtZSI6Im1hdGg6MDEwIiwic2NoZW1hX3ZlcnNpb24iOiIxLjAifQ=="/>
              <p:cNvSpPr txBox="1"/>
              <p:nvPr/>
            </p:nvSpPr>
            <p:spPr>
              <a:xfrm>
                <a:off x="9621536" y="2255996"/>
                <a:ext cx="41652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9" name="math:011" descr="AI_AUTOFIGURE_NATIVE_MATH_V1:eyJjb250ZW50X3J1bnMiOlt7ImNhbm9uaWNhbF9sYXRleCI6InJfe3QrMX0iLCJmb3JtdWxhX2lkIjoiRVEwMT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kVRMDE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tYXRoOjAxMSIsInNjaGVtYV92ZXJzaW9uIjoiMS4wIn0="/>
              <p:cNvSpPr txBox="1"/>
              <p:nvPr/>
            </p:nvSpPr>
            <p:spPr>
              <a:xfrm>
                <a:off x="1045802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29" name="math:011" descr="AI_AUTOFIGURE_MATH_FALLBACK_ONLY_V1:eyJjb250ZW50X3J1bnMiOlt7ImNhbm9uaWNhbF9sYXRleCI6InJfe3QrMX0iLCJmb3JtdWxhX2lkIjoiRVEwMTEiLCJraW5kIjoibWF0aCIsImxhdGV4X3NoYTI1NiI6ImM1ZDA3NDRiNjJjYTM4ZGQ1MDgwMGUyN2Y0MjAwMTVjYTdiMWM3ZTJlM2E5M2M4OTFkYjhlYzU1YTc3MTBiMzEiLCJtb2RlIjoiaW5saW5lIiwib21tbF9zaGEyNTYiOiJlY2NiNGI3MzliOTVkNWI2MmIwNmIzOGI1YjQ5N2E2YjkyOWZlYzUzMmQ1NTdiNmRlN2NjNTM5OTVkMmNmNDZkIiwic2VtYW50aWNfb21tbF9wcm9maWxlIjoib2ZmaWNlLW1hdGgtc2VtYW50aWMtdjIiLCJzZW1hbnRpY19vbW1sX3NoYTI1NiI6ImQwYWY1NTkxZWM4Y2Q5ZDgzYzA4ZDRhMmYxMzk0NDNkNDUxODc3MGRkODQxZmQ2YTIzYjY5Zjk1N2UwYTIxY2IifV0sImZvcm11bGFzIjpbeyJjYW5vbmljYWxfbGF0ZXgiOiJyX3t0KzF9IiwiZm9ybXVsYV9pZCI6IkVRMDExIiwibGF0ZXhfc2hhMjU2IjoiYzVkMDc0NGI2MmNhMzhkZDUwODAwZTI3ZjQyMDAxNWNhN2IxYzdlMmUzYTkzYzg5MWRiOGVjNTVhNzcxMGIzMSIsIm1vZGUiOiJpbmxpbmUiLCJvbW1sX3NoYTI1NiI6ImVjY2I0YjczOWI5NWQ1YjYyYjA2YjM4YjViNDk3YTZiOTI5ZmVjNTMyZDU1N2I2ZGU3Y2M1Mzk5NWQyY2Y0NmQiLCJzZW1hbnRpY19vbW1sX3Byb2ZpbGUiOiJvZmZpY2UtbWF0aC1zZW1hbnRpYy12MiIsInNlbWFudGljX29tbWxfc2hhMjU2IjoiZDBhZjU1OTFlYzhjZDlkODNjMDhkNGEyZjEzOTQ0M2Q0NTE4NzcwZGQ4NDFmZDZhMjNiNjlmOTU3ZTBhMjFjYiJ9XSwia2luZCI6Im5hdGl2ZV9vZmZpY2VfbWF0aCIsInBsYWNlaG9sZGVyX25hbWUiOiJtYXRoOjAxMSIsInNjaGVtYV92ZXJzaW9uIjoiMS4wIn0="/>
              <p:cNvSpPr txBox="1"/>
              <p:nvPr/>
            </p:nvSpPr>
            <p:spPr>
              <a:xfrm>
                <a:off x="1045802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math:012" descr="AI_AUTOFIGURE_NATIVE_MATH_V1:eyJjb250ZW50X3J1bnMiOlt7ImNhbm9uaWNhbF9sYXRleCI6InJfe3QrMn0iLCJmb3JtdWxhX2lkIjoiRVEwMT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kVRMDE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tYXRoOjAxMiIsInNjaGVtYV92ZXJzaW9uIjoiMS4wIn0="/>
              <p:cNvSpPr txBox="1"/>
              <p:nvPr/>
            </p:nvSpPr>
            <p:spPr>
              <a:xfrm>
                <a:off x="1139147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r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30" name="math:012" descr="AI_AUTOFIGURE_MATH_FALLBACK_ONLY_V1:eyJjb250ZW50X3J1bnMiOlt7ImNhbm9uaWNhbF9sYXRleCI6InJfe3QrMn0iLCJmb3JtdWxhX2lkIjoiRVEwMTIiLCJraW5kIjoibWF0aCIsImxhdGV4X3NoYTI1NiI6IjgyOTM1MTI4YTcxYzJiYWQ5ZGI1NTU3OGUwOWNiMmUwMjA4ODRjZDQyNDlmYmUwZTIyMTBmZGY5NThhYTFmZGYiLCJtb2RlIjoiaW5saW5lIiwib21tbF9zaGEyNTYiOiJmZDdjNmJjOTUyNjFhOGU1OTg0NmQ1ZGJjYTU0OGRlNTIyMzQ2NDllMTJkYjE5N2MxMTE4NTM1YjRhMDVkNWU0Iiwic2VtYW50aWNfb21tbF9wcm9maWxlIjoib2ZmaWNlLW1hdGgtc2VtYW50aWMtdjIiLCJzZW1hbnRpY19vbW1sX3NoYTI1NiI6ImE1MjM0OTZiOTI1NmNkODU1NDQxOTlhMzY0OGExMzY5YWJjYTI2YjdiYWIyYmI0YTM1YTI5NTM1YWQzNDI3ZTYifV0sImZvcm11bGFzIjpbeyJjYW5vbmljYWxfbGF0ZXgiOiJyX3t0KzJ9IiwiZm9ybXVsYV9pZCI6IkVRMDEyIiwibGF0ZXhfc2hhMjU2IjoiODI5MzUxMjhhNzFjMmJhZDlkYjU1NTc4ZTA5Y2IyZTAyMDg4NGNkNDI0OWZiZTBlMjIxMGZkZjk1OGFhMWZkZiIsIm1vZGUiOiJpbmxpbmUiLCJvbW1sX3NoYTI1NiI6ImZkN2M2YmM5NTI2MWE4ZTU5ODQ2ZDVkYmNhNTQ4ZGU1MjIzNDY0OWUxMmRiMTk3YzExMTg1MzViNGEwNWQ1ZTQiLCJzZW1hbnRpY19vbW1sX3Byb2ZpbGUiOiJvZmZpY2UtbWF0aC1zZW1hbnRpYy12MiIsInNlbWFudGljX29tbWxfc2hhMjU2IjoiYTUyMzQ5NmI5MjU2Y2Q4NTU0NDE5OWEzNjQ4YTEzNjlhYmNhMjZiN2JhYjJiYjRhMzVhMjk1MzVhZDM0MjdlNiJ9XSwia2luZCI6Im5hdGl2ZV9vZmZpY2VfbWF0aCIsInBsYWNlaG9sZGVyX25hbWUiOiJtYXRoOjAxMiIsInNjaGVtYV92ZXJzaW9uIjoiMS4wIn0="/>
              <p:cNvSpPr txBox="1"/>
              <p:nvPr/>
            </p:nvSpPr>
            <p:spPr>
              <a:xfrm>
                <a:off x="11391471" y="2255996"/>
                <a:ext cx="591407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\(r_{t+2}\)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31" name="af-svg-path-0012-freeform-01"/>
          <p:cNvSpPr/>
          <p:nvPr/>
        </p:nvSpPr>
        <p:spPr>
          <a:xfrm>
            <a:off x="12325350" y="2276475"/>
            <a:ext cx="114300" cy="111125"/>
          </a:xfrm>
          <a:custGeom>
            <a:avLst/>
            <a:gdLst/>
            <a:ahLst/>
            <a:cxnLst/>
            <a:rect l="0" t="0" r="0" b="0"/>
            <a:pathLst>
              <a:path w="114300" h="111125">
                <a:moveTo>
                  <a:pt x="0" y="0"/>
                </a:moveTo>
                <a:lnTo>
                  <a:pt x="114300" y="0"/>
                </a:lnTo>
                <a:lnTo>
                  <a:pt x="95250" y="85725"/>
                </a:lnTo>
                <a:cubicBezTo>
                  <a:pt x="69850" y="111125"/>
                  <a:pt x="44450" y="111125"/>
                  <a:pt x="19050" y="85725"/>
                </a:cubicBezTo>
                <a:close/>
              </a:path>
            </a:pathLst>
          </a:custGeom>
          <a:noFill/>
          <a:ln w="19050" cap="rnd">
            <a:solidFill>
              <a:srgbClr val="786F3B"/>
            </a:solidFill>
          </a:ln>
        </p:spPr>
        <p:txBody>
          <a:bodyPr/>
          <a:p/>
        </p:txBody>
      </p:sp>
      <p:sp>
        <p:nvSpPr>
          <p:cNvPr id="132" name="af-svg-path-0013-freeform-01"/>
          <p:cNvSpPr/>
          <p:nvPr/>
        </p:nvSpPr>
        <p:spPr>
          <a:xfrm>
            <a:off x="12290425" y="2295525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34925" y="0"/>
                </a:moveTo>
                <a:cubicBezTo>
                  <a:pt x="9525" y="0"/>
                  <a:pt x="0" y="12700"/>
                  <a:pt x="6350" y="38100"/>
                </a:cubicBezTo>
                <a:cubicBezTo>
                  <a:pt x="19050" y="57150"/>
                  <a:pt x="34925" y="63500"/>
                  <a:pt x="53975" y="57150"/>
                </a:cubicBezTo>
              </a:path>
            </a:pathLst>
          </a:custGeom>
          <a:noFill/>
          <a:ln w="19050" cap="rnd">
            <a:solidFill>
              <a:srgbClr val="786F3B"/>
            </a:solidFill>
          </a:ln>
        </p:spPr>
        <p:txBody>
          <a:bodyPr/>
          <a:p/>
        </p:txBody>
      </p:sp>
      <p:sp>
        <p:nvSpPr>
          <p:cNvPr id="133" name="af-svg-path-0014-freeform-01"/>
          <p:cNvSpPr/>
          <p:nvPr/>
        </p:nvSpPr>
        <p:spPr>
          <a:xfrm>
            <a:off x="12420600" y="2295525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19050" y="0"/>
                </a:moveTo>
                <a:cubicBezTo>
                  <a:pt x="44450" y="0"/>
                  <a:pt x="53975" y="12700"/>
                  <a:pt x="47625" y="38100"/>
                </a:cubicBezTo>
                <a:cubicBezTo>
                  <a:pt x="34925" y="57150"/>
                  <a:pt x="19050" y="63500"/>
                  <a:pt x="0" y="57150"/>
                </a:cubicBezTo>
              </a:path>
            </a:pathLst>
          </a:custGeom>
          <a:noFill/>
          <a:ln w="19050" cap="rnd">
            <a:solidFill>
              <a:srgbClr val="786F3B"/>
            </a:solidFill>
          </a:ln>
        </p:spPr>
        <p:txBody>
          <a:bodyPr/>
          <a:p/>
        </p:txBody>
      </p:sp>
      <p:cxnSp>
        <p:nvCxnSpPr>
          <p:cNvPr id="134" name="af-svg-line-0015-line-01"/>
          <p:cNvCxnSpPr/>
          <p:nvPr/>
        </p:nvCxnSpPr>
        <p:spPr>
          <a:xfrm>
            <a:off x="12382500" y="2390775"/>
            <a:ext cx="0" cy="47625"/>
          </a:xfrm>
          <a:prstGeom prst="line">
            <a:avLst/>
          </a:prstGeom>
          <a:ln w="19050" cap="rnd">
            <a:solidFill>
              <a:srgbClr val="786F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af-svg-line-0016-line-01"/>
          <p:cNvCxnSpPr/>
          <p:nvPr/>
        </p:nvCxnSpPr>
        <p:spPr>
          <a:xfrm>
            <a:off x="12334875" y="2447925"/>
            <a:ext cx="95250" cy="0"/>
          </a:xfrm>
          <a:prstGeom prst="line">
            <a:avLst/>
          </a:prstGeom>
          <a:ln w="19050" cap="rnd">
            <a:solidFill>
              <a:srgbClr val="786F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af-svg-text-0047-text-01"/>
          <p:cNvSpPr txBox="1"/>
          <p:nvPr/>
        </p:nvSpPr>
        <p:spPr>
          <a:xfrm>
            <a:off x="12611100" y="2152174"/>
            <a:ext cx="775335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dense</a:t>
            </a:r>
          </a:p>
        </p:txBody>
      </p:sp>
      <p:sp>
        <p:nvSpPr>
          <p:cNvPr id="137" name="af-svg-text-0048-text-01"/>
          <p:cNvSpPr txBox="1"/>
          <p:nvPr/>
        </p:nvSpPr>
        <p:spPr>
          <a:xfrm>
            <a:off x="12611100" y="2323624"/>
            <a:ext cx="862203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425">
                <a:solidFill>
                  <a:srgbClr val="666666"/>
                </a:solidFill>
                <a:latin typeface="Arial"/>
              </a:rPr>
              <a:t>reward</a:t>
            </a:r>
          </a:p>
        </p:txBody>
      </p:sp>
      <p:sp>
        <p:nvSpPr>
          <p:cNvPr id="138" name="af-rollout-panel-rect-01"/>
          <p:cNvSpPr/>
          <p:nvPr/>
        </p:nvSpPr>
        <p:spPr>
          <a:xfrm>
            <a:off x="9467850" y="2676525"/>
            <a:ext cx="3800475" cy="1647825"/>
          </a:xfrm>
          <a:prstGeom prst="roundRect">
            <a:avLst>
              <a:gd name="adj" fmla="val 9826"/>
            </a:avLst>
          </a:prstGeom>
          <a:solidFill>
            <a:srgbClr val="F8F8F8"/>
          </a:solidFill>
          <a:ln w="20955">
            <a:solidFill>
              <a:srgbClr val="223A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af-svg-rect-0039-rect-01"/>
          <p:cNvSpPr/>
          <p:nvPr/>
        </p:nvSpPr>
        <p:spPr>
          <a:xfrm>
            <a:off x="9610725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math:013" descr="AI_AUTOFIGURE_NATIVE_MATH_V1:eyJjb250ZW50X3J1bnMiOlt7ImNhbm9uaWNhbF9sYXRleCI6Inpfe3R9IiwiZm9ybXVsYV9pZCI6IkVRMDEz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M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zIiwic2NoZW1hX3ZlcnNpb24iOiIxLjAifQ=="/>
              <p:cNvSpPr txBox="1"/>
              <p:nvPr/>
            </p:nvSpPr>
            <p:spPr>
              <a:xfrm>
                <a:off x="9613344" y="29036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0" name="math:013" descr="AI_AUTOFIGURE_MATH_FALLBACK_ONLY_V1:eyJjb250ZW50X3J1bnMiOlt7ImNhbm9uaWNhbF9sYXRleCI6Inpfe3R9IiwiZm9ybXVsYV9pZCI6IkVRMDEzIiwia2luZCI6Im1hdGg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mb3JtdWxhcyI6W3siY2Fub25pY2FsX2xhdGV4Ijoiel97dH0iLCJmb3JtdWxhX2lkIjoiRVEwMTMiLCJsYXRleF9zaGEyNTYiOiI1MTFhZDkzYjNmYWU5ZDczZDU2MzY1NmZlYjNiZTY5M2Y0MjBjM2FkNDNmNjBkY2QzNWRiNjMxYWIwZTUwY2EzIiwibW9kZSI6ImlubGluZSIsIm9tbWxfc2hhMjU2IjoiOWNjMjA3NmY3N2U5ZDBlODdiOWE5Y2ZjYWFmZmRjNTBiNzU4ZDZiYmM1MTBjZWY4ZjNiYTU3NDhmODUyMmM1ZSIsInNlbWFudGljX29tbWxfcHJvZmlsZSI6Im9mZmljZS1tYXRoLXNlbWFudGljLXYyIiwic2VtYW50aWNfb21tbF9zaGEyNTYiOiI3MGQyYWI5NmM3NjkwMTQ0MjFhOGZjMTk5ZjQ0MzE0YjFhYWNlZjVkN2RhZGNiZjU2ZDI3MzJjMWJhMjU0MzI4In1dLCJraW5kIjoibmF0aXZlX29mZmljZV9tYXRoIiwicGxhY2Vob2xkZXJfbmFtZSI6Im1hdGg6MDEzIiwic2NoZW1hX3ZlcnNpb24iOiIxLjAifQ=="/>
              <p:cNvSpPr txBox="1"/>
              <p:nvPr/>
            </p:nvSpPr>
            <p:spPr>
              <a:xfrm>
                <a:off x="9613344" y="2903696"/>
                <a:ext cx="442436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1" name="af-svg-rect-0040-rect-01"/>
          <p:cNvSpPr/>
          <p:nvPr/>
        </p:nvSpPr>
        <p:spPr>
          <a:xfrm>
            <a:off x="10534650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math:014" descr="AI_AUTOFIGURE_NATIVE_MATH_V1:eyJjb250ZW50X3J1bnMiOlt7ImNhbm9uaWNhbF9sYXRleCI6Inpfe3QrMX0iLCJmb3JtdWxhX2lkIjoiRVEwMTQ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0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NCIsInNjaGVtYV92ZXJzaW9uIjoiMS4wIn0="/>
              <p:cNvSpPr txBox="1"/>
              <p:nvPr/>
            </p:nvSpPr>
            <p:spPr>
              <a:xfrm>
                <a:off x="10449830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2" name="math:014" descr="AI_AUTOFIGURE_MATH_FALLBACK_ONLY_V1:eyJjb250ZW50X3J1bnMiOlt7ImNhbm9uaWNhbF9sYXRleCI6Inpfe3QrMX0iLCJmb3JtdWxhX2lkIjoiRVEwMTQiLCJraW5kIjoibWF0aCIsImxhdGV4X3NoYTI1NiI6IjhlNWQwMDAwYWJiOWNmMDc3M2U3OGZiNTMwMjc1MjMwYjhlZGZiOGNkOTYyYjMyNjM1ZGRlN2NjMjg0NjkwOTEiLCJtb2RlIjoiaW5saW5lIiwib21tbF9zaGEyNTYiOiJhOTVmOTI4NDdlYzgwMmEyMzkyZDQ5YWYwYTZlMTU3NzMxZTdkYzdjMjM4YzEwMGI2ZTlhZDY2NDVhMjhmZTQyIiwic2VtYW50aWNfb21tbF9wcm9maWxlIjoib2ZmaWNlLW1hdGgtc2VtYW50aWMtdjIiLCJzZW1hbnRpY19vbW1sX3NoYTI1NiI6IjY5OTJiMGQ0ODlkYWEyM2Y3ZWViMjgxMjc3NjIyNGU5NDRhNjc1MjQxNGNjYmQ5ZTIzYjQ0OTMyODM3ZjMzZTYifV0sImZvcm11bGFzIjpbeyJjYW5vbmljYWxfbGF0ZXgiOiJ6X3t0KzF9IiwiZm9ybXVsYV9pZCI6IkVRMDE0IiwibGF0ZXhfc2hhMjU2IjoiOGU1ZDAwMDBhYmI5Y2YwNzczZTc4ZmI1MzAyNzUyMzBiOGVkZmI4Y2Q5NjJiMzI2MzVkZGU3Y2MyODQ2OTA5MSIsIm1vZGUiOiJpbmxpbmUiLCJvbW1sX3NoYTI1NiI6ImE5NWY5Mjg0N2VjODAyYTIzOTJkNDlhZjBhNmUxNTc3MzFlN2RjN2MyMzhjMTAwYjZlOWFkNjY0NWEyOGZlNDIiLCJzZW1hbnRpY19vbW1sX3Byb2ZpbGUiOiJvZmZpY2UtbWF0aC1zZW1hbnRpYy12MiIsInNlbWFudGljX29tbWxfc2hhMjU2IjoiNjk5MmIwZDQ4OWRhYTIzZjdlZWIyODEyNzc2MjI0ZTk0NGE2NzUyNDE0Y2NiZDllMjNiNDQ5MzI4MzdmMzNlNiJ9XSwia2luZCI6Im5hdGl2ZV9vZmZpY2VfbWF0aCIsInBsYWNlaG9sZGVyX25hbWUiOiJtYXRoOjAxNCIsInNjaGVtYV92ZXJzaW9uIjoiMS4wIn0="/>
              <p:cNvSpPr txBox="1"/>
              <p:nvPr/>
            </p:nvSpPr>
            <p:spPr>
              <a:xfrm>
                <a:off x="10449830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\(z_{t+1}\)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3" name="af-svg-rect-0041-rect-01"/>
          <p:cNvSpPr/>
          <p:nvPr/>
        </p:nvSpPr>
        <p:spPr>
          <a:xfrm>
            <a:off x="11458575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math:015" descr="AI_AUTOFIGURE_NATIVE_MATH_V1:eyJjb250ZW50X3J1bnMiOlt7ImNhbm9uaWNhbF9sYXRleCI6Inpfe3QrMn0iLCJmb3JtdWxhX2lkIjoiRVEwMTU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1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NSIsInNjaGVtYV92ZXJzaW9uIjoiMS4wIn0="/>
              <p:cNvSpPr txBox="1"/>
              <p:nvPr/>
            </p:nvSpPr>
            <p:spPr>
              <a:xfrm>
                <a:off x="11373755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4" name="math:015" descr="AI_AUTOFIGURE_MATH_FALLBACK_ONLY_V1:eyJjb250ZW50X3J1bnMiOlt7ImNhbm9uaWNhbF9sYXRleCI6Inpfe3QrMn0iLCJmb3JtdWxhX2lkIjoiRVEwMTUiLCJraW5kIjoibWF0aCIsImxhdGV4X3NoYTI1NiI6ImVkN2EzM2FmMDZiOTY1M2Y4Mzk2MmMyN2IyMGRkOWI4NDZjYjJlZTBlMDAzMDY1MGNhMTQ0MzZiMzg5NzA5M2EiLCJtb2RlIjoiaW5saW5lIiwib21tbF9zaGEyNTYiOiI2NDc0MzYwMTY3NzVjMGViNTYwYWIzNjYzNDJjNjUxZTVkY2ZhMzBkZWE3ZjU3NTcyNDMxZDEzNjNlYmI3ZDBkIiwic2VtYW50aWNfb21tbF9wcm9maWxlIjoib2ZmaWNlLW1hdGgtc2VtYW50aWMtdjIiLCJzZW1hbnRpY19vbW1sX3NoYTI1NiI6ImE1ZTA0ZjFhNzZiNzc4MjQ5NzY0MzBlYzg4MmNmOGNjMWE4ZTk5YmYzN2FlYTFlMWVlNWI3ODA5MmM4ZTQ4MTMifV0sImZvcm11bGFzIjpbeyJjYW5vbmljYWxfbGF0ZXgiOiJ6X3t0KzJ9IiwiZm9ybXVsYV9pZCI6IkVRMDE1IiwibGF0ZXhfc2hhMjU2IjoiZWQ3YTMzYWYwNmI5NjUzZjgzOTYyYzI3YjIwZGQ5Yjg0NmNiMmVlMGUwMDMwNjUwY2ExNDQzNmIzODk3MDkzYSIsIm1vZGUiOiJpbmxpbmUiLCJvbW1sX3NoYTI1NiI6IjY0NzQzNjAxNjc3NWMwZWI1NjBhYjM2NjM0MmM2NTFlNWRjZmEzMGRlYTdmNTc1NzI0MzFkMTM2M2ViYjdkMGQiLCJzZW1hbnRpY19vbW1sX3Byb2ZpbGUiOiJvZmZpY2UtbWF0aC1zZW1hbnRpYy12MiIsInNlbWFudGljX29tbWxfc2hhMjU2IjoiYTVlMDRmMWE3NmI3NzgyNDk3NjQzMGVjODgyY2Y4Y2MxYThlOTliZjM3YWVhMWUxZWU1Yjc4MDkyYzhlNDgxMyJ9XSwia2luZCI6Im5hdGl2ZV9vZmZpY2VfbWF0aCIsInBsYWNlaG9sZGVyX25hbWUiOiJtYXRoOjAxNSIsInNjaGVtYV92ZXJzaW9uIjoiMS4wIn0="/>
              <p:cNvSpPr txBox="1"/>
              <p:nvPr/>
            </p:nvSpPr>
            <p:spPr>
              <a:xfrm>
                <a:off x="11373755" y="2903696"/>
                <a:ext cx="617315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\(z_{t+2}\)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45" name="af-svg-rect-0042-rect-01"/>
          <p:cNvSpPr/>
          <p:nvPr/>
        </p:nvSpPr>
        <p:spPr>
          <a:xfrm>
            <a:off x="12706350" y="2828925"/>
            <a:ext cx="447675" cy="333375"/>
          </a:xfrm>
          <a:prstGeom prst="roundRect">
            <a:avLst>
              <a:gd name="adj" fmla="val 11428"/>
            </a:avLst>
          </a:prstGeom>
          <a:solidFill>
            <a:srgbClr val="2D73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math:016" descr="AI_AUTOFIGURE_NATIVE_MATH_V1:eyJjb250ZW50X3J1bnMiOlt7ImNhbm9uaWNhbF9sYXRleCI6Inpfe3QraH0iLCJmb3JtdWxhX2lkIjoiRVEwMTY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2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NiIsInNjaGVtYV92ZXJzaW9uIjoiMS4wIn0="/>
              <p:cNvSpPr txBox="1"/>
              <p:nvPr/>
            </p:nvSpPr>
            <p:spPr>
              <a:xfrm>
                <a:off x="12624768" y="2903696"/>
                <a:ext cx="61083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z</m:t>
                        </m:r>
                      </m:e>
                      <m:sub>
                        <m:r>
                          <a:rPr lang="en-US" dirty="0" sz="1275">
                            <a:solidFill>
                              <a:srgbClr val="FFFFFF"/>
                            </a:solidFill>
                            <a:latin typeface="Cambria Math"/>
                          </a:rPr>
                          <m:t>t+h</m:t>
                        </m:r>
                      </m:sub>
                    </m:sSub>
                  </m:oMath>
                </a14:m>
                <a:endParaRPr lang="en-US" dirty="0" sz="1275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46" name="math:016" descr="AI_AUTOFIGURE_MATH_FALLBACK_ONLY_V1:eyJjb250ZW50X3J1bnMiOlt7ImNhbm9uaWNhbF9sYXRleCI6Inpfe3QraH0iLCJmb3JtdWxhX2lkIjoiRVEwMTYiLCJraW5kIjoibWF0aCIsImxhdGV4X3NoYTI1NiI6IjA0ZWYyNTM3NWI3NzI4NDJjNzhlMjkxMGQwZWIyZTkzMTUwZTkzNmRlNGJlMjZiNDI4YTk5MGQwMWZiNDU2ZTAiLCJtb2RlIjoiaW5saW5lIiwib21tbF9zaGEyNTYiOiI2MTJkY2M3MzFjMWJmOWMzNDhmOWQxYmIwNWI5NDVjYzEwNzBlNDVkMzI0ZDJlODVlNDRiNTNkZTIwZjdmZjE0Iiwic2VtYW50aWNfb21tbF9wcm9maWxlIjoib2ZmaWNlLW1hdGgtc2VtYW50aWMtdjIiLCJzZW1hbnRpY19vbW1sX3NoYTI1NiI6IjgxYWM2YzQxYWZmNmFiZWM1NWJhOWFkMzRiNTdkM2U4MDZjYzY0YzUzMjEyYzRkODQ0ZDE5YzgyYjRiZjU0NDAifV0sImZvcm11bGFzIjpbeyJjYW5vbmljYWxfbGF0ZXgiOiJ6X3t0K2h9IiwiZm9ybXVsYV9pZCI6IkVRMDE2IiwibGF0ZXhfc2hhMjU2IjoiMDRlZjI1Mzc1Yjc3Mjg0MmM3OGUyOTEwZDBlYjJlOTMxNTBlOTM2ZGU0YmUyNmI0MjhhOTkwZDAxZmI0NTZlMCIsIm1vZGUiOiJpbmxpbmUiLCJvbW1sX3NoYTI1NiI6IjYxMmRjYzczMWMxYmY5YzM0OGY5ZDFiYjA1Yjk0NWNjMTA3MGU0NWQzMjRkMmU4NWU0NGI1M2RlMjBmN2ZmMTQiLCJzZW1hbnRpY19vbW1sX3Byb2ZpbGUiOiJvZmZpY2UtbWF0aC1zZW1hbnRpYy12MiIsInNlbWFudGljX29tbWxfc2hhMjU2IjoiODFhYzZjNDFhZmY2YWJlYzU1YmE5YWQzNGI1N2QzZTgwNmNjNjRjNTMyMTJjNGQ4NDRkMTljODJiNGJmNTQ0MCJ9XSwia2luZCI6Im5hdGl2ZV9vZmZpY2VfbWF0aCIsInBsYWNlaG9sZGVyX25hbWUiOiJtYXRoOjAxNiIsInNjaGVtYV92ZXJzaW9uIjoiMS4wIn0="/>
              <p:cNvSpPr txBox="1"/>
              <p:nvPr/>
            </p:nvSpPr>
            <p:spPr>
              <a:xfrm>
                <a:off x="12624768" y="2903696"/>
                <a:ext cx="610838" cy="392906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75">
                    <a:solidFill>
                      <a:srgbClr val="FFFFFF"/>
                    </a:solidFill>
                  </a:rPr>
                  <a:t>\(z_{t+h}\)</a:t>
                </a:r>
                <a:endParaRPr lang="en-US" dirty="0" sz="1275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47" name="af-rollout-z0-to-z1-connector-01"/>
          <p:cNvCxnSpPr/>
          <p:nvPr/>
        </p:nvCxnSpPr>
        <p:spPr>
          <a:xfrm>
            <a:off x="10067925" y="29908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af-rollout-z1-to-z2-connector-01"/>
          <p:cNvCxnSpPr/>
          <p:nvPr/>
        </p:nvCxnSpPr>
        <p:spPr>
          <a:xfrm>
            <a:off x="10991850" y="2990850"/>
            <a:ext cx="457200" cy="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af-rollout-z2-to-zh-connector-01"/>
          <p:cNvCxnSpPr/>
          <p:nvPr/>
        </p:nvCxnSpPr>
        <p:spPr>
          <a:xfrm>
            <a:off x="11915775" y="2990850"/>
            <a:ext cx="781050" cy="0"/>
          </a:xfrm>
          <a:prstGeom prst="line">
            <a:avLst/>
          </a:prstGeom>
          <a:ln w="17145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af-svg-text-0053-text-01"/>
          <p:cNvSpPr txBox="1"/>
          <p:nvPr/>
        </p:nvSpPr>
        <p:spPr>
          <a:xfrm>
            <a:off x="11962448" y="2885122"/>
            <a:ext cx="459105" cy="40481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350">
                <a:solidFill>
                  <a:srgbClr val="777777"/>
                </a:solidFill>
                <a:latin typeface="Arial"/>
              </a:rPr>
              <a:t>...</a:t>
            </a:r>
          </a:p>
        </p:txBody>
      </p:sp>
      <p:sp>
        <p:nvSpPr>
          <p:cNvPr id="151" name="af-svg-circle-0021-ellipse-01"/>
          <p:cNvSpPr/>
          <p:nvPr/>
        </p:nvSpPr>
        <p:spPr>
          <a:xfrm>
            <a:off x="9667875" y="3886200"/>
            <a:ext cx="342900" cy="342900"/>
          </a:xfrm>
          <a:prstGeom prst="ellipse">
            <a:avLst/>
          </a:prstGeom>
          <a:solidFill>
            <a:srgbClr val="8F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2" name="math:017" descr="AI_AUTOFIGURE_NATIVE_MATH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2" name="math:017" descr="AI_AUTOFIGURE_MATH_FALLBACK_ONLY_V1:eyJjb250ZW50X3J1bnMiOlt7ImNhbm9uaWNhbF9sYXRleCI6IlxccGkiLCJmb3JtdWxhX2lkIjoiRVEwMTc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3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NyIsInNjaGVtYV92ZXJzaW9uIjoiMS4wIn0="/>
              <p:cNvSpPr txBox="1"/>
              <p:nvPr/>
            </p:nvSpPr>
            <p:spPr>
              <a:xfrm>
                <a:off x="963977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3" name="af-svg-circle-0022-ellipse-01"/>
          <p:cNvSpPr/>
          <p:nvPr/>
        </p:nvSpPr>
        <p:spPr>
          <a:xfrm>
            <a:off x="10601325" y="3886200"/>
            <a:ext cx="342900" cy="342900"/>
          </a:xfrm>
          <a:prstGeom prst="ellipse">
            <a:avLst/>
          </a:prstGeom>
          <a:solidFill>
            <a:srgbClr val="8F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4" name="math:018" descr="AI_AUTOFIGURE_NATIVE_MATH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7322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4" name="math:018" descr="AI_AUTOFIGURE_MATH_FALLBACK_ONLY_V1:eyJjb250ZW50X3J1bnMiOlt7ImNhbm9uaWNhbF9sYXRleCI6IlxccGkiLCJmb3JtdWxhX2lkIjoiRVEwMTg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4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CIsInNjaGVtYV92ZXJzaW9uIjoiMS4wIn0="/>
              <p:cNvSpPr txBox="1"/>
              <p:nvPr/>
            </p:nvSpPr>
            <p:spPr>
              <a:xfrm>
                <a:off x="10573226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5" name="af-svg-circle-0023-ellipse-01"/>
          <p:cNvSpPr/>
          <p:nvPr/>
        </p:nvSpPr>
        <p:spPr>
          <a:xfrm>
            <a:off x="11544300" y="3886200"/>
            <a:ext cx="342900" cy="342900"/>
          </a:xfrm>
          <a:prstGeom prst="ellipse">
            <a:avLst/>
          </a:prstGeom>
          <a:solidFill>
            <a:srgbClr val="8FA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math:019" descr="AI_AUTOFIGURE_NATIVE_MATH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dirty="0" sz="1350">
                        <a:solidFill>
                          <a:srgbClr val="FFFFFF"/>
                        </a:solidFill>
                        <a:latin typeface="Cambria Math"/>
                      </a:rPr>
                      <m:t>π</m:t>
                    </m:r>
                  </m:oMath>
                </a14:m>
                <a:endParaRPr lang="en-US" dirty="0" sz="135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6" name="math:019" descr="AI_AUTOFIGURE_MATH_FALLBACK_ONLY_V1:eyJjb250ZW50X3J1bnMiOlt7ImNhbm9uaWNhbF9sYXRleCI6IlxccGkiLCJmb3JtdWxhX2lkIjoiRVEwMTkiLCJraW5kIjoibWF0aCIsImxhdGV4X3NoYTI1NiI6ImYxY2YwNDA5M2QwOGI2ZGMwZDU4YTg3Mzk2NDA1Y2I5MDkzYTIyZTllZDYyYTk1YmI5NWVkNDZlNWRhOTcwOTciLCJtb2RlIjoiaW5saW5lIiwib21tbF9zaGEyNTYiOiI4MGIzNzkwZWVkMDMxOWQ1MWJmZDZkZDA4MmQ2YTU3YTNjOTllNjU4Njc3MTA3ZDQyMTYyN2MxZjc0OGY3NjU5Iiwic2VtYW50aWNfb21tbF9wcm9maWxlIjoib2ZmaWNlLW1hdGgtc2VtYW50aWMtdjIiLCJzZW1hbnRpY19vbW1sX3NoYTI1NiI6ImU4OWQxNDFjNDBjNmI1MjM0M2IwNjM4ZWY3ZjUyODE2ZTg0ODU4NWY2MjU1MWFhYzMwNThjZWQwNGY3NjllYjYifV0sImZvcm11bGFzIjpbeyJjYW5vbmljYWxfbGF0ZXgiOiJcXHBpIiwiZm9ybXVsYV9pZCI6IkVRMDE5IiwibGF0ZXhfc2hhMjU2IjoiZjFjZjA0MDkzZDA4YjZkYzBkNThhODczOTY0MDVjYjkwOTNhMjJlOWVkNjJhOTViYjk1ZWQ0NmU1ZGE5NzA5NyIsIm1vZGUiOiJpbmxpbmUiLCJvbW1sX3NoYTI1NiI6IjgwYjM3OTBlZWQwMzE5ZDUxYmZkNmRkMDgyZDZhNTdhM2M5OWU2NTg2NzcxMDdkNDIxNjI3YzFmNzQ4Zjc2NTkiLCJzZW1hbnRpY19vbW1sX3Byb2ZpbGUiOiJvZmZpY2UtbWF0aC1zZW1hbnRpYy12MiIsInNlbWFudGljX29tbWxfc2hhMjU2IjoiZTg5ZDE0MWM0MGM2YjUyMzQzYjA2MzhlZjdmNTI4MTZlODQ4NTg1ZjYyNTUxYWFjMzA1OGNlZDA0Zjc2OWViNiJ9XSwia2luZCI6Im5hdGl2ZV9vZmZpY2VfbWF0aCIsInBsYWNlaG9sZGVyX25hbWUiOiJtYXRoOjAxOSIsInNjaGVtYV92ZXJzaW9uIjoiMS4wIn0="/>
              <p:cNvSpPr txBox="1"/>
              <p:nvPr/>
            </p:nvSpPr>
            <p:spPr>
              <a:xfrm>
                <a:off x="11516201" y="3961448"/>
                <a:ext cx="399098" cy="404812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350">
                    <a:solidFill>
                      <a:srgbClr val="FFFFFF"/>
                    </a:solidFill>
                  </a:rPr>
                  <a:t>\(\pi\)</a:t>
                </a:r>
                <a:endParaRPr lang="en-US" dirty="0" sz="135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7" name="af-svg-circle-0024-ellipse-01"/>
          <p:cNvSpPr/>
          <p:nvPr/>
        </p:nvSpPr>
        <p:spPr>
          <a:xfrm>
            <a:off x="10144125" y="3409950"/>
            <a:ext cx="342900" cy="342900"/>
          </a:xfrm>
          <a:prstGeom prst="ellipse">
            <a:avLst/>
          </a:prstGeom>
          <a:solidFill>
            <a:srgbClr val="C4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math:020" descr="AI_AUTOFIGURE_NATIVE_MATH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8405" y="3493770"/>
                <a:ext cx="434340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58" name="math:020" descr="AI_AUTOFIGURE_MATH_FALLBACK_ONLY_V1:eyJjb250ZW50X3J1bnMiOlt7ImNhbm9uaWNhbF9sYXRleCI6ImFfe3R9IiwiZm9ybXVsYV9pZCI6IkVRMDIwIiwia2luZCI6Im1hdGg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mb3JtdWxhcyI6W3siY2Fub25pY2FsX2xhdGV4IjoiYV97dH0iLCJmb3JtdWxhX2lkIjoiRVEwMjAiLCJsYXRleF9zaGEyNTYiOiJiMjM2YTRmNjc5MDRhMDkzYjk2N2E2NTYxMjY2OTM2Yjc1MDczMTAwMjc5YjZjZGRkYzhlMTc3Nzc2ZDVmZDdlIiwibW9kZSI6ImlubGluZSIsIm9tbWxfc2hhMjU2IjoiOTRjNWE5YzNlOGZiOWY5NmRhOWFiZDJkYTJiMTA4ZDdlNzUyNDU2YzJkYzZlNDJiNzlmZDZmYTAwNGRmNmMzYyIsInNlbWFudGljX29tbWxfcHJvZmlsZSI6Im9mZmljZS1tYXRoLXNlbWFudGljLXYyIiwic2VtYW50aWNfb21tbF9zaGEyNTYiOiI1OGYyMTBlMTVmNzM4YjY1YTk3MmYyODI4MTFjYTllMjBkODE0MWU4ZTk2N2JjYWE4NGRkN2VlZTBlZmU4MzFhIn1dLCJraW5kIjoibmF0aXZlX29mZmljZV9tYXRoIiwicGxhY2Vob2xkZXJfbmFtZSI6Im1hdGg6MDIwIiwic2NoZW1hX3ZlcnNpb24iOiIxLjAifQ=="/>
              <p:cNvSpPr txBox="1"/>
              <p:nvPr/>
            </p:nvSpPr>
            <p:spPr>
              <a:xfrm>
                <a:off x="10098405" y="3493770"/>
                <a:ext cx="434340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59" name="af-svg-circle-0025-ellipse-01"/>
          <p:cNvSpPr/>
          <p:nvPr/>
        </p:nvSpPr>
        <p:spPr>
          <a:xfrm>
            <a:off x="11068050" y="3409950"/>
            <a:ext cx="342900" cy="342900"/>
          </a:xfrm>
          <a:prstGeom prst="ellipse">
            <a:avLst/>
          </a:prstGeom>
          <a:solidFill>
            <a:srgbClr val="C4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math:021" descr="AI_AUTOFIGURE_NATIVE_MATH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40034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t+1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0" name="math:021" descr="AI_AUTOFIGURE_MATH_FALLBACK_ONLY_V1:eyJjb250ZW50X3J1bnMiOlt7ImNhbm9uaWNhbF9sYXRleCI6ImFfe3QrMX0iLCJmb3JtdWxhX2lkIjoiRVEwMjEiLCJraW5kIjoibWF0aCIsImxhdGV4X3NoYTI1NiI6ImNkNTFlODVhMWRhMGJkNjU2MGEzOGU0NTVmNWIzMDNkYjcxNzUzMzc3NmRhZTFjZjU0NGM0ZTEwOGJmM2VhZWEiLCJtb2RlIjoiaW5saW5lIiwib21tbF9zaGEyNTYiOiJiYzc2NzNhNjFlZDE1OTBkYmJjNzQzYzMzNjI2NWU0Zjk4ZTYzOGZhMGE3NzMxZjRlMzk2MmE3NDdmNmY1MmYwIiwic2VtYW50aWNfb21tbF9wcm9maWxlIjoib2ZmaWNlLW1hdGgtc2VtYW50aWMtdjIiLCJzZW1hbnRpY19vbW1sX3NoYTI1NiI6IjM1ZmU0NTJiNDQ4ZWY4MTUxMWJlOTA3ZjVlZWRjOWM1YjYwMWMzN2U2NTVmY2ZmNDY3ZmQ5NzFiYWM4ZTllZTEifV0sImZvcm11bGFzIjpbeyJjYW5vbmljYWxfbGF0ZXgiOiJhX3t0KzF9IiwiZm9ybXVsYV9pZCI6IkVRMDIxIiwibGF0ZXhfc2hhMjU2IjoiY2Q1MWU4NWExZGEwYmQ2NTYwYTM4ZTQ1NWY1YjMwM2RiNzE3NTMzNzc2ZGFlMWNmNTQ0YzRlMTA4YmYzZWFlYSIsIm1vZGUiOiJpbmxpbmUiLCJvbW1sX3NoYTI1NiI6ImJjNzY3M2E2MWVkMTU5MGRiYmM3NDNjMzM2MjY1ZTRmOThlNjM4ZmEwYTc3MzFmNGUzOTYyYTc0N2Y2ZjUyZjAiLCJzZW1hbnRpY19vbW1sX3Byb2ZpbGUiOiJvZmZpY2UtbWF0aC1zZW1hbnRpYy12MiIsInNlbWFudGljX29tbWxfc2hhMjU2IjoiMzVmZTQ1MmI0NDhlZjgxNTExYmU5MDdmNWVlZGM5YzViNjAxYzM3ZTY1NWZjZmY0NjdmZDk3MWJhYzhlOWVlMSJ9XSwia2luZCI6Im5hdGl2ZV9vZmZpY2VfbWF0aCIsInBsYWNlaG9sZGVyX25hbWUiOiJtYXRoOjAyMSIsInNjaGVtYV92ZXJzaW9uIjoiMS4wIn0="/>
              <p:cNvSpPr txBox="1"/>
              <p:nvPr/>
            </p:nvSpPr>
            <p:spPr>
              <a:xfrm>
                <a:off x="10940034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\(a_{t+1}\)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sp>
        <p:nvSpPr>
          <p:cNvPr id="161" name="af-svg-circle-0026-ellipse-01"/>
          <p:cNvSpPr/>
          <p:nvPr/>
        </p:nvSpPr>
        <p:spPr>
          <a:xfrm>
            <a:off x="12011025" y="3409950"/>
            <a:ext cx="342900" cy="342900"/>
          </a:xfrm>
          <a:prstGeom prst="ellipse">
            <a:avLst/>
          </a:prstGeom>
          <a:solidFill>
            <a:srgbClr val="C455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math:022" descr="AI_AUTOFIGURE_NATIVE_MATH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009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e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a</m:t>
                        </m:r>
                      </m:e>
                      <m:sub>
                        <m:r>
                          <a:rPr lang="en-US" dirty="0" sz="1200">
                            <a:solidFill>
                              <a:srgbClr val="FFFFFF"/>
                            </a:solidFill>
                            <a:latin typeface="Cambria Math"/>
                          </a:rPr>
                          <m:t>t+2</m:t>
                        </m:r>
                      </m:sub>
                    </m:sSub>
                  </m:oMath>
                </a14:m>
                <a:endParaRPr lang="en-US" dirty="0" sz="1200">
                  <a:solidFill>
                    <a:srgbClr val="FFFFFF"/>
                  </a:solidFill>
                  <a:latin typeface="Cambria Math"/>
                </a:endParaRPr>
              </a:p>
            </p:txBody>
          </p:sp>
        </mc:Choice>
        <mc:Fallback>
          <p:sp>
            <p:nvSpPr>
              <p:cNvPr id="162" name="math:022" descr="AI_AUTOFIGURE_MATH_FALLBACK_ONLY_V1:eyJjb250ZW50X3J1bnMiOlt7ImNhbm9uaWNhbF9sYXRleCI6ImFfe3QrMn0iLCJmb3JtdWxhX2lkIjoiRVEwMjIiLCJraW5kIjoibWF0aCIsImxhdGV4X3NoYTI1NiI6ImZkYWYzMzQzZjgxNjEyYjY0OWZlNDcyZDc0Mzk4M2U2YTBmMTI4MzdiOGZmY2M4NjUwMTVhNjZkYWU0Zjc2YjQiLCJtb2RlIjoiaW5saW5lIiwib21tbF9zaGEyNTYiOiI4MWRjMWE4MmFlNGVmY2JmMDYxYmYzM2E2NmNjZmE4OGNkOTg5NzQzZjM2NjExMzhmZWRiYmU1OTNlZjJjOTVlIiwic2VtYW50aWNfb21tbF9wcm9maWxlIjoib2ZmaWNlLW1hdGgtc2VtYW50aWMtdjIiLCJzZW1hbnRpY19vbW1sX3NoYTI1NiI6ImYzNmQyNDY3MzZjNjAyNjZkODBmMWI0MGY3ODU1MTk0NDgzNjE4ZjcyYWM1ZjlmMWJhZTg5YTQwZGZjYmM3MWIifV0sImZvcm11bGFzIjpbeyJjYW5vbmljYWxfbGF0ZXgiOiJhX3t0KzJ9IiwiZm9ybXVsYV9pZCI6IkVRMDIyIiwibGF0ZXhfc2hhMjU2IjoiZmRhZjMzNDNmODE2MTJiNjQ5ZmU0NzJkNzQzOTgzZTZhMGYxMjgzN2I4ZmZjYzg2NTAxNWE2NmRhZTRmNzZiNCIsIm1vZGUiOiJpbmxpbmUiLCJvbW1sX3NoYTI1NiI6IjgxZGMxYTgyYWU0ZWZjYmYwNjFiZjMzYTY2Y2NmYTg4Y2Q5ODk3NDNmMzY2MTEzOGZlZGJiZTU5M2VmMmM5NWUiLCJzZW1hbnRpY19vbW1sX3Byb2ZpbGUiOiJvZmZpY2UtbWF0aC1zZW1hbnRpYy12MiIsInNlbWFudGljX29tbWxfc2hhMjU2IjoiZjM2ZDI0NjczNmM2MDI2NmQ4MGYxYjQwZjc4NTUxOTQ0ODM2MThmNzJhYzVmOWYxYmFlODlhNDBkZmNiYzcxYiJ9XSwia2luZCI6Im5hdGl2ZV9vZmZpY2VfbWF0aCIsInBsYWNlaG9sZGVyX25hbWUiOiJtYXRoOjAyMiIsInNjaGVtYV92ZXJzaW9uIjoiMS4wIn0="/>
              <p:cNvSpPr txBox="1"/>
              <p:nvPr/>
            </p:nvSpPr>
            <p:spPr>
              <a:xfrm>
                <a:off x="11883009" y="3493770"/>
                <a:ext cx="598932" cy="381000"/>
              </a:xfrm>
              <a:prstGeom prst="rect">
                <a:avLst/>
              </a:prstGeom>
              <a:noFill/>
              <a:effectLst/>
            </p:spPr>
            <p:txBody>
              <a:bodyPr wrap="none" anchor="t" lIns="0" rIns="0" tIns="0" bIns="0">
                <a:spAutoFit/>
              </a:bodyPr>
              <a:lstStyle/>
              <a:p>
                <a:pPr algn="ctr"/>
                <a:r>
                  <a:rPr lang="en-US" dirty="0" sz="1200">
                    <a:solidFill>
                      <a:srgbClr val="FFFFFF"/>
                    </a:solidFill>
                  </a:rPr>
                  <a:t>\(a_{t+2}\)</a:t>
                </a:r>
                <a:endParaRPr lang="en-US" dirty="0" sz="1200">
                  <a:solidFill>
                    <a:srgbClr val="FFFFFF"/>
                  </a:solidFill>
                </a:endParaRPr>
              </a:p>
            </p:txBody>
          </p:sp>
        </mc:Fallback>
      </mc:AlternateContent>
      <p:cxnSp>
        <p:nvCxnSpPr>
          <p:cNvPr id="163" name="af-rollout-z0-to-pi0-connector-01"/>
          <p:cNvCxnSpPr/>
          <p:nvPr/>
        </p:nvCxnSpPr>
        <p:spPr>
          <a:xfrm>
            <a:off x="9839325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af-rollout-z1-to-pi1-connector-01"/>
          <p:cNvCxnSpPr/>
          <p:nvPr/>
        </p:nvCxnSpPr>
        <p:spPr>
          <a:xfrm>
            <a:off x="10772775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af-rollout-z2-to-pi2-connector-01"/>
          <p:cNvCxnSpPr/>
          <p:nvPr/>
        </p:nvCxnSpPr>
        <p:spPr>
          <a:xfrm>
            <a:off x="11715750" y="3171825"/>
            <a:ext cx="0" cy="704850"/>
          </a:xfrm>
          <a:prstGeom prst="line">
            <a:avLst/>
          </a:prstGeom>
          <a:ln w="15240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af-rollout-pi0-to-a0-freeform-arrow-01"/>
          <p:cNvSpPr/>
          <p:nvPr/>
        </p:nvSpPr>
        <p:spPr>
          <a:xfrm>
            <a:off x="10010775" y="3771900"/>
            <a:ext cx="304800" cy="285750"/>
          </a:xfrm>
          <a:custGeom>
            <a:avLst/>
            <a:gdLst/>
            <a:ahLst/>
            <a:cxnLst/>
            <a:rect l="0" t="0" r="0" b="0"/>
            <a:pathLst>
              <a:path w="304800" h="285750">
                <a:moveTo>
                  <a:pt x="0" y="285750"/>
                </a:moveTo>
                <a:cubicBezTo>
                  <a:pt x="190500" y="276225"/>
                  <a:pt x="295275" y="133350"/>
                  <a:pt x="304800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tailEnd type="triangle" w="lg" len="lg"/>
          </a:ln>
        </p:spPr>
        <p:txBody>
          <a:bodyPr/>
          <a:p/>
        </p:txBody>
      </p:sp>
      <p:sp>
        <p:nvSpPr>
          <p:cNvPr id="167" name="af-rollout-pi1-to-a1-freeform-arrow-01"/>
          <p:cNvSpPr/>
          <p:nvPr/>
        </p:nvSpPr>
        <p:spPr>
          <a:xfrm>
            <a:off x="10944225" y="3771900"/>
            <a:ext cx="295275" cy="285750"/>
          </a:xfrm>
          <a:custGeom>
            <a:avLst/>
            <a:gdLst/>
            <a:ahLst/>
            <a:cxnLst/>
            <a:rect l="0" t="0" r="0" b="0"/>
            <a:pathLst>
              <a:path w="295275" h="285750">
                <a:moveTo>
                  <a:pt x="0" y="285750"/>
                </a:moveTo>
                <a:cubicBezTo>
                  <a:pt x="200025" y="276225"/>
                  <a:pt x="285750" y="133350"/>
                  <a:pt x="295275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tailEnd type="triangle" w="lg" len="lg"/>
          </a:ln>
        </p:spPr>
        <p:txBody>
          <a:bodyPr/>
          <a:p/>
        </p:txBody>
      </p:sp>
      <p:sp>
        <p:nvSpPr>
          <p:cNvPr id="168" name="af-rollout-pi2-to-a2-freeform-arrow-01"/>
          <p:cNvSpPr/>
          <p:nvPr/>
        </p:nvSpPr>
        <p:spPr>
          <a:xfrm>
            <a:off x="11887200" y="3771900"/>
            <a:ext cx="295275" cy="285750"/>
          </a:xfrm>
          <a:custGeom>
            <a:avLst/>
            <a:gdLst/>
            <a:ahLst/>
            <a:cxnLst/>
            <a:rect l="0" t="0" r="0" b="0"/>
            <a:pathLst>
              <a:path w="295275" h="285750">
                <a:moveTo>
                  <a:pt x="0" y="285750"/>
                </a:moveTo>
                <a:cubicBezTo>
                  <a:pt x="190500" y="276225"/>
                  <a:pt x="285750" y="133350"/>
                  <a:pt x="295275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tailEnd type="triangle" w="lg" len="lg"/>
          </a:ln>
        </p:spPr>
        <p:txBody>
          <a:bodyPr/>
          <a:p/>
        </p:txBody>
      </p:sp>
      <p:sp>
        <p:nvSpPr>
          <p:cNvPr id="169" name="af-rollout-a0-to-z1-freeform-arrow-01"/>
          <p:cNvSpPr/>
          <p:nvPr/>
        </p:nvSpPr>
        <p:spPr>
          <a:xfrm>
            <a:off x="10315575" y="3171825"/>
            <a:ext cx="438150" cy="228600"/>
          </a:xfrm>
          <a:custGeom>
            <a:avLst/>
            <a:gdLst/>
            <a:ahLst/>
            <a:cxnLst/>
            <a:rect l="0" t="0" r="0" b="0"/>
            <a:pathLst>
              <a:path w="438150" h="228600">
                <a:moveTo>
                  <a:pt x="0" y="228600"/>
                </a:moveTo>
                <a:cubicBezTo>
                  <a:pt x="114300" y="114300"/>
                  <a:pt x="238125" y="66675"/>
                  <a:pt x="438150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tailEnd type="triangle" w="lg" len="lg"/>
          </a:ln>
        </p:spPr>
        <p:txBody>
          <a:bodyPr/>
          <a:p/>
        </p:txBody>
      </p:sp>
      <p:sp>
        <p:nvSpPr>
          <p:cNvPr id="170" name="af-rollout-a1-to-z2-freeform-arrow-01"/>
          <p:cNvSpPr/>
          <p:nvPr/>
        </p:nvSpPr>
        <p:spPr>
          <a:xfrm>
            <a:off x="11239500" y="3171825"/>
            <a:ext cx="447675" cy="228600"/>
          </a:xfrm>
          <a:custGeom>
            <a:avLst/>
            <a:gdLst/>
            <a:ahLst/>
            <a:cxnLst/>
            <a:rect l="0" t="0" r="0" b="0"/>
            <a:pathLst>
              <a:path w="447675" h="228600">
                <a:moveTo>
                  <a:pt x="0" y="228600"/>
                </a:moveTo>
                <a:cubicBezTo>
                  <a:pt x="123825" y="123825"/>
                  <a:pt x="276225" y="66675"/>
                  <a:pt x="447675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tailEnd type="triangle" w="lg" len="lg"/>
          </a:ln>
        </p:spPr>
        <p:txBody>
          <a:bodyPr/>
          <a:p/>
        </p:txBody>
      </p:sp>
      <p:sp>
        <p:nvSpPr>
          <p:cNvPr id="171" name="af-rollout-a2-to-next-freeform-arrow-01"/>
          <p:cNvSpPr/>
          <p:nvPr/>
        </p:nvSpPr>
        <p:spPr>
          <a:xfrm>
            <a:off x="12182475" y="3171825"/>
            <a:ext cx="228600" cy="228600"/>
          </a:xfrm>
          <a:custGeom>
            <a:avLst/>
            <a:gdLst/>
            <a:ahLst/>
            <a:cxnLst/>
            <a:rect l="0" t="0" r="0" b="0"/>
            <a:pathLst>
              <a:path w="228600" h="228600">
                <a:moveTo>
                  <a:pt x="0" y="228600"/>
                </a:moveTo>
                <a:cubicBezTo>
                  <a:pt x="114300" y="123825"/>
                  <a:pt x="228600" y="66675"/>
                  <a:pt x="228600" y="0"/>
                </a:cubicBezTo>
              </a:path>
            </a:pathLst>
          </a:custGeom>
          <a:noFill/>
          <a:ln w="16192" cap="rnd">
            <a:solidFill>
              <a:srgbClr val="8D6A00"/>
            </a:solidFill>
            <a:tailEnd type="triangle" w="lg" len="lg"/>
          </a:ln>
        </p:spPr>
        <p:txBody>
          <a:bodyPr/>
          <a:p/>
        </p:txBody>
      </p:sp>
      <p:cxnSp>
        <p:nvCxnSpPr>
          <p:cNvPr id="172" name="af-rollout-z0-to-r0-connector-01"/>
          <p:cNvCxnSpPr/>
          <p:nvPr/>
        </p:nvCxnSpPr>
        <p:spPr>
          <a:xfrm flipV="1">
            <a:off x="9829800" y="2552700"/>
            <a:ext cx="0" cy="266700"/>
          </a:xfrm>
          <a:prstGeom prst="line">
            <a:avLst/>
          </a:prstGeom>
          <a:ln w="15240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af-rollout-z1-to-r1-connector-01"/>
          <p:cNvCxnSpPr/>
          <p:nvPr/>
        </p:nvCxnSpPr>
        <p:spPr>
          <a:xfrm flipV="1">
            <a:off x="10753725" y="2552700"/>
            <a:ext cx="0" cy="266700"/>
          </a:xfrm>
          <a:prstGeom prst="line">
            <a:avLst/>
          </a:prstGeom>
          <a:ln w="15240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af-rollout-z2-to-r2-connector-01"/>
          <p:cNvCxnSpPr/>
          <p:nvPr/>
        </p:nvCxnSpPr>
        <p:spPr>
          <a:xfrm flipV="1">
            <a:off x="11687175" y="2552700"/>
            <a:ext cx="0" cy="266700"/>
          </a:xfrm>
          <a:prstGeom prst="line">
            <a:avLst/>
          </a:prstGeom>
          <a:ln w="15240" cap="rnd">
            <a:solidFill>
              <a:srgbClr val="8D6A00"/>
            </a:solidFill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af-svg-text-0060-text-01"/>
          <p:cNvSpPr txBox="1"/>
          <p:nvPr/>
        </p:nvSpPr>
        <p:spPr>
          <a:xfrm>
            <a:off x="12235910" y="4019074"/>
            <a:ext cx="813340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r"/>
            <a:r>
              <a:rPr sz="1425" b="1">
                <a:solidFill>
                  <a:srgbClr val="111111"/>
                </a:solidFill>
                <a:latin typeface="Arial"/>
              </a:rPr>
              <a:t>rollout</a:t>
            </a:r>
          </a:p>
        </p:txBody>
      </p:sp>
      <p:sp>
        <p:nvSpPr>
          <p:cNvPr id="176" name="af-svg-text-0061-text-01"/>
          <p:cNvSpPr txBox="1"/>
          <p:nvPr/>
        </p:nvSpPr>
        <p:spPr>
          <a:xfrm>
            <a:off x="9601962" y="4489132"/>
            <a:ext cx="3732276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11111"/>
                </a:solidFill>
                <a:latin typeface="Arial"/>
              </a:rPr>
              <a:t>Task-Aware Behavior Learning</a:t>
            </a:r>
          </a:p>
        </p:txBody>
      </p:sp>
      <p:sp>
        <p:nvSpPr>
          <p:cNvPr id="177" name="af-joint-optimization-rect-01"/>
          <p:cNvSpPr/>
          <p:nvPr/>
        </p:nvSpPr>
        <p:spPr>
          <a:xfrm>
            <a:off x="1781175" y="5200650"/>
            <a:ext cx="4010025" cy="476250"/>
          </a:xfrm>
          <a:prstGeom prst="rect">
            <a:avLst/>
          </a:prstGeom>
          <a:solidFill>
            <a:srgbClr val="FFFFFF"/>
          </a:solidFill>
          <a:ln w="21908">
            <a:solidFill>
              <a:srgbClr val="233A64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af-svg-text-0062-text-01"/>
          <p:cNvSpPr txBox="1"/>
          <p:nvPr/>
        </p:nvSpPr>
        <p:spPr>
          <a:xfrm>
            <a:off x="1948339" y="5298758"/>
            <a:ext cx="3685222" cy="500062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950" b="1">
                <a:solidFill>
                  <a:srgbClr val="111111"/>
                </a:solidFill>
                <a:latin typeface="Arial"/>
              </a:rPr>
              <a:t>MLLM-WM Joint Optimization</a:t>
            </a:r>
          </a:p>
        </p:txBody>
      </p:sp>
      <p:sp>
        <p:nvSpPr>
          <p:cNvPr id="179" name="af-joint-feedback-to-modular-panel-freeform-arrow-01"/>
          <p:cNvSpPr/>
          <p:nvPr/>
        </p:nvSpPr>
        <p:spPr>
          <a:xfrm>
            <a:off x="1104900" y="5000625"/>
            <a:ext cx="676275" cy="466725"/>
          </a:xfrm>
          <a:custGeom>
            <a:avLst/>
            <a:gdLst/>
            <a:ahLst/>
            <a:cxnLst/>
            <a:rect l="0" t="0" r="0" b="0"/>
            <a:pathLst>
              <a:path w="676275" h="466725">
                <a:moveTo>
                  <a:pt x="676275" y="466725"/>
                </a:moveTo>
                <a:lnTo>
                  <a:pt x="180975" y="466725"/>
                </a:lnTo>
                <a:cubicBezTo>
                  <a:pt x="60325" y="466725"/>
                  <a:pt x="0" y="393700"/>
                  <a:pt x="0" y="247650"/>
                </a:cubicBezTo>
                <a:lnTo>
                  <a:pt x="0" y="0"/>
                </a:lnTo>
              </a:path>
            </a:pathLst>
          </a:custGeom>
          <a:noFill/>
          <a:ln w="95250" cap="rnd">
            <a:solidFill>
              <a:srgbClr val="D87478"/>
            </a:solidFill>
            <a:tailEnd type="triangle" w="sm" len="sm"/>
          </a:ln>
        </p:spPr>
        <p:txBody>
          <a:bodyPr/>
          <a:p/>
        </p:txBody>
      </p:sp>
      <p:sp>
        <p:nvSpPr>
          <p:cNvPr id="180" name="af-footer-reward-action-rect-01"/>
          <p:cNvSpPr/>
          <p:nvPr/>
        </p:nvSpPr>
        <p:spPr>
          <a:xfrm>
            <a:off x="6419850" y="5191125"/>
            <a:ext cx="3114675" cy="504825"/>
          </a:xfrm>
          <a:prstGeom prst="roundRect">
            <a:avLst>
              <a:gd name="adj" fmla="val 18867"/>
            </a:avLst>
          </a:prstGeom>
          <a:solidFill>
            <a:srgbClr val="FFFFFF"/>
          </a:solidFill>
          <a:ln w="20955">
            <a:solidFill>
              <a:srgbClr val="233A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af-svg-path-0022-freeform-01"/>
          <p:cNvSpPr/>
          <p:nvPr/>
        </p:nvSpPr>
        <p:spPr>
          <a:xfrm>
            <a:off x="6619875" y="5334000"/>
            <a:ext cx="114300" cy="111125"/>
          </a:xfrm>
          <a:custGeom>
            <a:avLst/>
            <a:gdLst/>
            <a:ahLst/>
            <a:cxnLst/>
            <a:rect l="0" t="0" r="0" b="0"/>
            <a:pathLst>
              <a:path w="114300" h="111125">
                <a:moveTo>
                  <a:pt x="0" y="0"/>
                </a:moveTo>
                <a:lnTo>
                  <a:pt x="114300" y="0"/>
                </a:lnTo>
                <a:lnTo>
                  <a:pt x="95250" y="85725"/>
                </a:lnTo>
                <a:cubicBezTo>
                  <a:pt x="69850" y="111125"/>
                  <a:pt x="44450" y="111125"/>
                  <a:pt x="19050" y="85725"/>
                </a:cubicBezTo>
                <a:close/>
              </a:path>
            </a:pathLst>
          </a:custGeom>
          <a:noFill/>
          <a:ln w="19050" cap="rnd">
            <a:solidFill>
              <a:srgbClr val="7B6D33"/>
            </a:solidFill>
          </a:ln>
        </p:spPr>
        <p:txBody>
          <a:bodyPr/>
          <a:p/>
        </p:txBody>
      </p:sp>
      <p:sp>
        <p:nvSpPr>
          <p:cNvPr id="182" name="af-svg-path-0023-freeform-01"/>
          <p:cNvSpPr/>
          <p:nvPr/>
        </p:nvSpPr>
        <p:spPr>
          <a:xfrm>
            <a:off x="6584950" y="5353050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34925" y="0"/>
                </a:moveTo>
                <a:cubicBezTo>
                  <a:pt x="9525" y="0"/>
                  <a:pt x="0" y="12700"/>
                  <a:pt x="6350" y="38100"/>
                </a:cubicBezTo>
                <a:cubicBezTo>
                  <a:pt x="19050" y="57150"/>
                  <a:pt x="34925" y="63500"/>
                  <a:pt x="53975" y="57150"/>
                </a:cubicBezTo>
              </a:path>
            </a:pathLst>
          </a:custGeom>
          <a:noFill/>
          <a:ln w="19050" cap="rnd">
            <a:solidFill>
              <a:srgbClr val="7B6D33"/>
            </a:solidFill>
          </a:ln>
        </p:spPr>
        <p:txBody>
          <a:bodyPr/>
          <a:p/>
        </p:txBody>
      </p:sp>
      <p:sp>
        <p:nvSpPr>
          <p:cNvPr id="183" name="af-svg-path-0024-freeform-01"/>
          <p:cNvSpPr/>
          <p:nvPr/>
        </p:nvSpPr>
        <p:spPr>
          <a:xfrm>
            <a:off x="6715125" y="5353050"/>
            <a:ext cx="53975" cy="63500"/>
          </a:xfrm>
          <a:custGeom>
            <a:avLst/>
            <a:gdLst/>
            <a:ahLst/>
            <a:cxnLst/>
            <a:rect l="0" t="0" r="0" b="0"/>
            <a:pathLst>
              <a:path w="53975" h="63500">
                <a:moveTo>
                  <a:pt x="19050" y="0"/>
                </a:moveTo>
                <a:cubicBezTo>
                  <a:pt x="44450" y="0"/>
                  <a:pt x="53975" y="12700"/>
                  <a:pt x="47625" y="38100"/>
                </a:cubicBezTo>
                <a:cubicBezTo>
                  <a:pt x="34925" y="57150"/>
                  <a:pt x="19050" y="63500"/>
                  <a:pt x="0" y="57150"/>
                </a:cubicBezTo>
              </a:path>
            </a:pathLst>
          </a:custGeom>
          <a:noFill/>
          <a:ln w="19050" cap="rnd">
            <a:solidFill>
              <a:srgbClr val="7B6D33"/>
            </a:solidFill>
          </a:ln>
        </p:spPr>
        <p:txBody>
          <a:bodyPr/>
          <a:p/>
        </p:txBody>
      </p:sp>
      <p:cxnSp>
        <p:nvCxnSpPr>
          <p:cNvPr id="184" name="af-svg-line-0026-line-01"/>
          <p:cNvCxnSpPr/>
          <p:nvPr/>
        </p:nvCxnSpPr>
        <p:spPr>
          <a:xfrm>
            <a:off x="6677025" y="5448300"/>
            <a:ext cx="0" cy="47625"/>
          </a:xfrm>
          <a:prstGeom prst="line">
            <a:avLst/>
          </a:prstGeom>
          <a:ln w="19050" cap="rnd">
            <a:solidFill>
              <a:srgbClr val="7B6D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af-svg-line-0027-line-01"/>
          <p:cNvCxnSpPr/>
          <p:nvPr/>
        </p:nvCxnSpPr>
        <p:spPr>
          <a:xfrm>
            <a:off x="6629400" y="5505450"/>
            <a:ext cx="95250" cy="0"/>
          </a:xfrm>
          <a:prstGeom prst="line">
            <a:avLst/>
          </a:prstGeom>
          <a:ln w="19050" cap="rnd">
            <a:solidFill>
              <a:srgbClr val="7B6D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af-svg-text-0063-text-01"/>
          <p:cNvSpPr txBox="1"/>
          <p:nvPr/>
        </p:nvSpPr>
        <p:spPr>
          <a:xfrm>
            <a:off x="6915150" y="5335429"/>
            <a:ext cx="1610487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dense reward</a:t>
            </a:r>
          </a:p>
        </p:txBody>
      </p:sp>
      <p:sp>
        <p:nvSpPr>
          <p:cNvPr id="187" name="af-svg-circle-0027-ellipse-01"/>
          <p:cNvSpPr/>
          <p:nvPr/>
        </p:nvSpPr>
        <p:spPr>
          <a:xfrm>
            <a:off x="8488680" y="5335905"/>
            <a:ext cx="167640" cy="167640"/>
          </a:xfrm>
          <a:prstGeom prst="ellipse">
            <a:avLst/>
          </a:prstGeom>
          <a:noFill/>
          <a:ln w="20955">
            <a:solidFill>
              <a:srgbClr val="5C8C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af-svg-path-0025-freeform-01"/>
          <p:cNvSpPr/>
          <p:nvPr/>
        </p:nvSpPr>
        <p:spPr>
          <a:xfrm>
            <a:off x="8499158" y="5377815"/>
            <a:ext cx="41910" cy="83820"/>
          </a:xfrm>
          <a:custGeom>
            <a:avLst/>
            <a:gdLst/>
            <a:ahLst/>
            <a:cxnLst/>
            <a:rect l="0" t="0" r="0" b="0"/>
            <a:pathLst>
              <a:path w="41910" h="83820">
                <a:moveTo>
                  <a:pt x="0" y="41910"/>
                </a:moveTo>
                <a:lnTo>
                  <a:pt x="41910" y="0"/>
                </a:lnTo>
                <a:moveTo>
                  <a:pt x="0" y="41910"/>
                </a:moveTo>
                <a:lnTo>
                  <a:pt x="41910" y="83820"/>
                </a:lnTo>
              </a:path>
            </a:pathLst>
          </a:custGeom>
          <a:noFill/>
          <a:ln w="20955" cap="rnd">
            <a:solidFill>
              <a:srgbClr val="5C8C39"/>
            </a:solidFill>
          </a:ln>
        </p:spPr>
        <p:txBody>
          <a:bodyPr/>
          <a:p/>
        </p:txBody>
      </p:sp>
      <p:sp>
        <p:nvSpPr>
          <p:cNvPr id="189" name="af-svg-path-0026-freeform-01"/>
          <p:cNvSpPr/>
          <p:nvPr/>
        </p:nvSpPr>
        <p:spPr>
          <a:xfrm>
            <a:off x="8603932" y="5377815"/>
            <a:ext cx="41910" cy="83820"/>
          </a:xfrm>
          <a:custGeom>
            <a:avLst/>
            <a:gdLst/>
            <a:ahLst/>
            <a:cxnLst/>
            <a:rect l="0" t="0" r="0" b="0"/>
            <a:pathLst>
              <a:path w="41910" h="83820">
                <a:moveTo>
                  <a:pt x="41910" y="41910"/>
                </a:moveTo>
                <a:lnTo>
                  <a:pt x="0" y="0"/>
                </a:lnTo>
                <a:moveTo>
                  <a:pt x="41910" y="41910"/>
                </a:moveTo>
                <a:lnTo>
                  <a:pt x="0" y="83820"/>
                </a:lnTo>
              </a:path>
            </a:pathLst>
          </a:custGeom>
          <a:noFill/>
          <a:ln w="20955" cap="rnd">
            <a:solidFill>
              <a:srgbClr val="5C8C39"/>
            </a:solidFill>
          </a:ln>
        </p:spPr>
        <p:txBody>
          <a:bodyPr/>
          <a:p/>
        </p:txBody>
      </p:sp>
      <p:cxnSp>
        <p:nvCxnSpPr>
          <p:cNvPr id="190" name="af-svg-line-0028-line-01"/>
          <p:cNvCxnSpPr/>
          <p:nvPr/>
        </p:nvCxnSpPr>
        <p:spPr>
          <a:xfrm>
            <a:off x="8541068" y="5419725"/>
            <a:ext cx="62864" cy="0"/>
          </a:xfrm>
          <a:prstGeom prst="line">
            <a:avLst/>
          </a:prstGeom>
          <a:ln w="20955" cap="rnd">
            <a:solidFill>
              <a:srgbClr val="5C8C3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af-svg-text-0064-text-01"/>
          <p:cNvSpPr txBox="1"/>
          <p:nvPr/>
        </p:nvSpPr>
        <p:spPr>
          <a:xfrm>
            <a:off x="8829675" y="5335429"/>
            <a:ext cx="894112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777777"/>
                </a:solidFill>
                <a:latin typeface="Arial"/>
              </a:rPr>
              <a:t>action</a:t>
            </a:r>
          </a:p>
        </p:txBody>
      </p:sp>
      <p:cxnSp>
        <p:nvCxnSpPr>
          <p:cNvPr id="192" name="af-reward-to-joint-optimization-connector-01"/>
          <p:cNvCxnSpPr/>
          <p:nvPr/>
        </p:nvCxnSpPr>
        <p:spPr>
          <a:xfrm flipH="1">
            <a:off x="5848350" y="5448300"/>
            <a:ext cx="514350" cy="0"/>
          </a:xfrm>
          <a:prstGeom prst="line">
            <a:avLst/>
          </a:prstGeom>
          <a:ln w="95250" cap="rnd">
            <a:solidFill>
              <a:srgbClr val="D8747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af-behavior-to-reward-connector-01"/>
          <p:cNvCxnSpPr/>
          <p:nvPr/>
        </p:nvCxnSpPr>
        <p:spPr>
          <a:xfrm flipH="1">
            <a:off x="9601200" y="4972050"/>
            <a:ext cx="457200" cy="200025"/>
          </a:xfrm>
          <a:prstGeom prst="line">
            <a:avLst/>
          </a:prstGeom>
          <a:ln w="95250" cap="rnd">
            <a:solidFill>
              <a:srgbClr val="D87478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af-interaction-arrow-connector-01"/>
          <p:cNvCxnSpPr/>
          <p:nvPr/>
        </p:nvCxnSpPr>
        <p:spPr>
          <a:xfrm>
            <a:off x="9696450" y="5448300"/>
            <a:ext cx="1476375" cy="0"/>
          </a:xfrm>
          <a:prstGeom prst="line">
            <a:avLst/>
          </a:prstGeom>
          <a:ln w="38100" cap="rnd">
            <a:solidFill>
              <a:srgbClr val="777777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af-svg-text-0065-text-01"/>
          <p:cNvSpPr txBox="1"/>
          <p:nvPr/>
        </p:nvSpPr>
        <p:spPr>
          <a:xfrm>
            <a:off x="9842659" y="5181124"/>
            <a:ext cx="1155382" cy="416719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ctr"/>
            <a:r>
              <a:rPr sz="1425">
                <a:solidFill>
                  <a:srgbClr val="111111"/>
                </a:solidFill>
                <a:latin typeface="Arial"/>
              </a:rPr>
              <a:t>interaction</a:t>
            </a:r>
          </a:p>
        </p:txBody>
      </p:sp>
      <p:pic>
        <p:nvPicPr>
          <p:cNvPr id="196" name="af-atomic-environment-globe-atomic-raster-01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315700" y="5076825"/>
            <a:ext cx="762000" cy="771525"/>
          </a:xfrm>
          <a:prstGeom prst="rect">
            <a:avLst/>
          </a:prstGeom>
        </p:spPr>
      </p:pic>
      <p:sp>
        <p:nvSpPr>
          <p:cNvPr id="197" name="af-svg-text-0066-text-01"/>
          <p:cNvSpPr txBox="1"/>
          <p:nvPr/>
        </p:nvSpPr>
        <p:spPr>
          <a:xfrm>
            <a:off x="12125325" y="5421154"/>
            <a:ext cx="1485900" cy="46434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5">
                <a:solidFill>
                  <a:srgbClr val="111111"/>
                </a:solidFill>
                <a:latin typeface="Arial"/>
              </a:rPr>
              <a:t>Environment</a:t>
            </a:r>
          </a:p>
        </p:txBody>
      </p:sp>
    </p:spTree>
  </p:cSld>
  <p:clrMapOvr>
    <a:masterClrMapping/>
  </p:clrMapOvr>
</p:sld>
</file>

<file path=ppt/tags/tag1.xml><?xml version="1.0" encoding="utf-8"?>
<ns0:tagLst xmlns:ns0="http://schemas.openxmlformats.org/presentationml/2006/main">
  <ns0:tag name="AISCIENTIFICILLUSTRATORASSETID" val="atomic:observation"/>
  <ns0:tag name="AISCIENTIFICILLUSTRATORSOURCESHA256" val="61c6c0a2d3ee6722cb36713edacd8310a676e2855245e250f1f1a8cae56f5e9f"/>
  <ns0:tag name="AISCIENTIFICILLUSTRATORRASTERREASON" val="Reference-faithful irreducible creative microasset authorized by the user."/>
  <ns0:tag name="AISCIENTIFICILLUSTRATORSOURCETIGHTLYCROPPED" val="True"/>
  <ns0:tag name="AISCIENTIFICILLUSTRATORATOMICRASTERUNIT" val="True"/>
  <ns0:tag name="AISCIENTIFICILLUSTRATORCONTAINSRECONSTRUCTABLECONTENT" val="False"/>
  <ns0:tag name="AISCIENTIFICILLUSTRATORDECOMPOSITIONNOTE" val="No faithful native decomposition; formal text, formulas, nodes, and topology remain native."/>
</ns0:tagLst>
</file>

<file path=ppt/tags/tag2.xml><?xml version="1.0" encoding="utf-8"?>
<ns0:tagLst xmlns:ns0="http://schemas.openxmlformats.org/presentationml/2006/main">
  <ns0:tag name="AISCIENTIFICILLUSTRATORASSETID" val="atomic:environment-globe"/>
  <ns0:tag name="AISCIENTIFICILLUSTRATORSOURCESHA256" val="3bfe64f24f546aab0797223e0256f9da48314e668dc18d93a0b27347b84ba21d"/>
  <ns0:tag name="AISCIENTIFICILLUSTRATORRASTERREASON" val="Reference-faithful irreducible creative microasset authorized by the user."/>
  <ns0:tag name="AISCIENTIFICILLUSTRATORSOURCETIGHTLYCROPPED" val="True"/>
  <ns0:tag name="AISCIENTIFICILLUSTRATORATOMICRASTERUNIT" val="True"/>
  <ns0:tag name="AISCIENTIFICILLUSTRATORCONTAINSRECONSTRUCTABLECONTENT" val="False"/>
  <ns0:tag name="AISCIENTIFICILLUSTRATORDECOMPOSITIONNOTE" val="No faithful native decomposition; formal text, formulas, nodes, and topology remain native."/>
</ns0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