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591925" cy="58007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f-scene-rect-001-rect-01" descr="{&quot;autofigure_element_id&quot;:&quot;scene-rect-001&quot;}"/>
          <p:cNvSpPr/>
          <p:nvPr/>
        </p:nvSpPr>
        <p:spPr>
          <a:xfrm>
            <a:off x="0" y="0"/>
            <a:ext cx="11591925" cy="5800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f-styles-rect-001-rect-01" descr="{&quot;autofigure_element_id&quot;:&quot;styles-rect-001&quot;}"/>
          <p:cNvSpPr/>
          <p:nvPr/>
        </p:nvSpPr>
        <p:spPr>
          <a:xfrm>
            <a:off x="190500" y="504825"/>
            <a:ext cx="5219700" cy="5143500"/>
          </a:xfrm>
          <a:prstGeom prst="roundRect">
            <a:avLst>
              <a:gd name="adj" fmla="val 15555"/>
            </a:avLst>
          </a:prstGeom>
          <a:noFill/>
          <a:ln w="25718" cap="rnd">
            <a:solidFill>
              <a:srgbClr val="4A86E8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f-styles-rect-002-rect-01" descr="{&quot;autofigure_element_id&quot;:&quot;styles-rect-002&quot;}"/>
          <p:cNvSpPr/>
          <p:nvPr/>
        </p:nvSpPr>
        <p:spPr>
          <a:xfrm>
            <a:off x="5524500" y="504825"/>
            <a:ext cx="5876925" cy="5143500"/>
          </a:xfrm>
          <a:prstGeom prst="roundRect">
            <a:avLst>
              <a:gd name="adj" fmla="val 15555"/>
            </a:avLst>
          </a:prstGeom>
          <a:noFill/>
          <a:ln w="25718" cap="rnd">
            <a:solidFill>
              <a:srgbClr val="FF8A0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f-styles-text-001-text-01" descr="{&quot;autofigure_element_id&quot;:&quot;styles-text-001&quot;}"/>
          <p:cNvSpPr txBox="1"/>
          <p:nvPr/>
        </p:nvSpPr>
        <p:spPr>
          <a:xfrm>
            <a:off x="1337310" y="47625"/>
            <a:ext cx="2926080" cy="666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00" b="1" u="sng">
                <a:solidFill>
                  <a:srgbClr val="185DC1"/>
                </a:solidFill>
                <a:latin typeface="Arial"/>
              </a:rPr>
              <a:t>Offline Training</a:t>
            </a:r>
          </a:p>
        </p:txBody>
      </p:sp>
      <p:sp>
        <p:nvSpPr>
          <p:cNvPr id="6" name="af-styles-text-002-text-01" descr="{&quot;autofigure_element_id&quot;:&quot;styles-text-002&quot;}"/>
          <p:cNvSpPr txBox="1"/>
          <p:nvPr/>
        </p:nvSpPr>
        <p:spPr>
          <a:xfrm>
            <a:off x="7522845" y="47625"/>
            <a:ext cx="1889760" cy="666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00" b="1" u="sng">
                <a:solidFill>
                  <a:srgbClr val="B45D00"/>
                </a:solidFill>
                <a:latin typeface="Arial"/>
              </a:rPr>
              <a:t>Sampling</a:t>
            </a:r>
          </a:p>
        </p:txBody>
      </p:sp>
      <p:sp>
        <p:nvSpPr>
          <p:cNvPr id="7" name="af-styles-text-003-text-01" descr="{&quot;autofigure_element_id&quot;:&quot;styles-text-003&quot;}"/>
          <p:cNvSpPr txBox="1"/>
          <p:nvPr/>
        </p:nvSpPr>
        <p:spPr>
          <a:xfrm>
            <a:off x="971550" y="605314"/>
            <a:ext cx="4267390" cy="559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325">
                <a:solidFill>
                  <a:srgbClr val="073B68"/>
                </a:solidFill>
                <a:latin typeface="Arial"/>
              </a:rPr>
              <a:t>Static Multi-Objective Dataset</a:t>
            </a:r>
          </a:p>
        </p:txBody>
      </p:sp>
      <p:cxnSp>
        <p:nvCxnSpPr>
          <p:cNvPr id="8" name="af-molecule-left-g-001-line-001-line-01" descr="{&quot;autofigure_element_id&quot;:&quot;molecule-left-g-001-line-001&quot;,&quot;topology_relation&quot;:{&quot;element_id&quot;:&quot;molecule-left-g-001-line-001&quot;,&quot;relation&quot;:&quot;bond&quot;,&quot;source_id&quot;:&quot;molecule-left-circle-001&quot;,&quot;target_id&quot;:&quot;molecule-left-circle-002&quot;}}"/>
          <p:cNvCxnSpPr/>
          <p:nvPr/>
        </p:nvCxnSpPr>
        <p:spPr>
          <a:xfrm>
            <a:off x="1647825" y="1095375"/>
            <a:ext cx="180975" cy="38100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f-molecule-left-g-001-line-002-line-01" descr="{&quot;autofigure_element_id&quot;:&quot;molecule-left-g-001-line-002&quot;,&quot;topology_relation&quot;:{&quot;element_id&quot;:&quot;molecule-left-g-001-line-002&quot;,&quot;relation&quot;:&quot;bond&quot;,&quot;source_id&quot;:&quot;molecule-left-circle-002&quot;,&quot;target_id&quot;:&quot;molecule-left-circle-003&quot;}}"/>
          <p:cNvCxnSpPr/>
          <p:nvPr/>
        </p:nvCxnSpPr>
        <p:spPr>
          <a:xfrm flipV="1">
            <a:off x="1828800" y="1009650"/>
            <a:ext cx="123825" cy="12382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f-molecule-left-g-001-line-003-line-01" descr="{&quot;autofigure_element_id&quot;:&quot;molecule-left-g-001-line-003&quot;,&quot;topology_relation&quot;:{&quot;element_id&quot;:&quot;molecule-left-g-001-line-003&quot;,&quot;relation&quot;:&quot;bond&quot;,&quot;source_id&quot;:&quot;molecule-left-circle-002&quot;,&quot;target_id&quot;:&quot;molecule-left-circle-004&quot;}}"/>
          <p:cNvCxnSpPr/>
          <p:nvPr/>
        </p:nvCxnSpPr>
        <p:spPr>
          <a:xfrm>
            <a:off x="1828800" y="1133475"/>
            <a:ext cx="180975" cy="57150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f-molecule-left-g-001-line-004-line-01" descr="{&quot;autofigure_element_id&quot;:&quot;molecule-left-g-001-line-004&quot;,&quot;topology_relation&quot;:{&quot;element_id&quot;:&quot;molecule-left-g-001-line-004&quot;,&quot;relation&quot;:&quot;bond&quot;,&quot;source_id&quot;:&quot;molecule-left-circle-004&quot;,&quot;target_id&quot;:&quot;molecule-left-circle-005&quot;}}"/>
          <p:cNvCxnSpPr/>
          <p:nvPr/>
        </p:nvCxnSpPr>
        <p:spPr>
          <a:xfrm flipV="1">
            <a:off x="2009775" y="1123950"/>
            <a:ext cx="171450" cy="6667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f-molecule-left-g-001-line-005-line-01" descr="{&quot;autofigure_element_id&quot;:&quot;molecule-left-g-001-line-005&quot;,&quot;topology_relation&quot;:{&quot;element_id&quot;:&quot;molecule-left-g-001-line-005&quot;,&quot;relation&quot;:&quot;bond&quot;,&quot;source_id&quot;:&quot;molecule-left-circle-002&quot;,&quot;target_id&quot;:&quot;molecule-left-circle-006&quot;}}"/>
          <p:cNvCxnSpPr/>
          <p:nvPr/>
        </p:nvCxnSpPr>
        <p:spPr>
          <a:xfrm>
            <a:off x="1828800" y="1133475"/>
            <a:ext cx="19050" cy="171450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f-molecule-left-g-001-line-006-line-01" descr="{&quot;autofigure_element_id&quot;:&quot;molecule-left-g-001-line-006&quot;,&quot;topology_relation&quot;:{&quot;element_id&quot;:&quot;molecule-left-g-001-line-006&quot;,&quot;relation&quot;:&quot;bond&quot;,&quot;source_id&quot;:&quot;molecule-left-circle-006&quot;,&quot;target_id&quot;:&quot;molecule-left-circle-007&quot;}}"/>
          <p:cNvCxnSpPr/>
          <p:nvPr/>
        </p:nvCxnSpPr>
        <p:spPr>
          <a:xfrm>
            <a:off x="1847850" y="1304925"/>
            <a:ext cx="171450" cy="4762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f-molecule-left-circle-001-ellipse-01" descr="{&quot;autofigure_element_id&quot;:&quot;molecule-left-circle-001&quot;}"/>
          <p:cNvSpPr/>
          <p:nvPr/>
        </p:nvSpPr>
        <p:spPr>
          <a:xfrm>
            <a:off x="1600200" y="1047750"/>
            <a:ext cx="95250" cy="95250"/>
          </a:xfrm>
          <a:prstGeom prst="ellipse">
            <a:avLst/>
          </a:prstGeom>
          <a:solidFill>
            <a:srgbClr val="F0AA2A"/>
          </a:solidFill>
          <a:ln w="9525" cap="rnd">
            <a:solidFill>
              <a:srgbClr val="D88C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f-molecule-left-circle-002-ellipse-01" descr="{&quot;autofigure_element_id&quot;:&quot;molecule-left-circle-002&quot;}"/>
          <p:cNvSpPr/>
          <p:nvPr/>
        </p:nvSpPr>
        <p:spPr>
          <a:xfrm>
            <a:off x="1771650" y="1076325"/>
            <a:ext cx="114300" cy="114300"/>
          </a:xfrm>
          <a:prstGeom prst="ellipse">
            <a:avLst/>
          </a:prstGeom>
          <a:solidFill>
            <a:srgbClr val="E4503D"/>
          </a:solidFill>
          <a:ln w="9525" cap="rnd">
            <a:solidFill>
              <a:srgbClr val="C64131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-molecule-left-circle-003-ellipse-01" descr="{&quot;autofigure_element_id&quot;:&quot;molecule-left-circle-003&quot;}"/>
          <p:cNvSpPr/>
          <p:nvPr/>
        </p:nvSpPr>
        <p:spPr>
          <a:xfrm>
            <a:off x="1905000" y="962025"/>
            <a:ext cx="95250" cy="95250"/>
          </a:xfrm>
          <a:prstGeom prst="ellipse">
            <a:avLst/>
          </a:prstGeom>
          <a:solidFill>
            <a:srgbClr val="7ABB79"/>
          </a:solidFill>
          <a:ln w="9525" cap="rnd">
            <a:solidFill>
              <a:srgbClr val="5E9A5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f-molecule-left-circle-004-ellipse-01" descr="{&quot;autofigure_element_id&quot;:&quot;molecule-left-circle-004&quot;}"/>
          <p:cNvSpPr/>
          <p:nvPr/>
        </p:nvSpPr>
        <p:spPr>
          <a:xfrm>
            <a:off x="1962150" y="1143000"/>
            <a:ext cx="95250" cy="95250"/>
          </a:xfrm>
          <a:prstGeom prst="ellipse">
            <a:avLst/>
          </a:prstGeom>
          <a:solidFill>
            <a:srgbClr val="F3A527"/>
          </a:solidFill>
          <a:ln w="9525" cap="rnd">
            <a:solidFill>
              <a:srgbClr val="D98C1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f-molecule-left-circle-005-ellipse-01" descr="{&quot;autofigure_element_id&quot;:&quot;molecule-left-circle-005&quot;}"/>
          <p:cNvSpPr/>
          <p:nvPr/>
        </p:nvSpPr>
        <p:spPr>
          <a:xfrm>
            <a:off x="2133600" y="1076325"/>
            <a:ext cx="95250" cy="95250"/>
          </a:xfrm>
          <a:prstGeom prst="ellipse">
            <a:avLst/>
          </a:prstGeom>
          <a:solidFill>
            <a:srgbClr val="E35B4A"/>
          </a:solidFill>
          <a:ln w="9525" cap="rnd">
            <a:solidFill>
              <a:srgbClr val="C2453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f-molecule-left-circle-006-ellipse-01" descr="{&quot;autofigure_element_id&quot;:&quot;molecule-left-circle-006&quot;}"/>
          <p:cNvSpPr/>
          <p:nvPr/>
        </p:nvSpPr>
        <p:spPr>
          <a:xfrm>
            <a:off x="1800225" y="1257300"/>
            <a:ext cx="95250" cy="95250"/>
          </a:xfrm>
          <a:prstGeom prst="ellipse">
            <a:avLst/>
          </a:prstGeom>
          <a:solidFill>
            <a:srgbClr val="74B87E"/>
          </a:solidFill>
          <a:ln w="9525" cap="rnd">
            <a:solidFill>
              <a:srgbClr val="59955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f-molecule-left-circle-007-ellipse-01" descr="{&quot;autofigure_element_id&quot;:&quot;molecule-left-circle-007&quot;}"/>
          <p:cNvSpPr/>
          <p:nvPr/>
        </p:nvSpPr>
        <p:spPr>
          <a:xfrm>
            <a:off x="1973580" y="1306830"/>
            <a:ext cx="91440" cy="91440"/>
          </a:xfrm>
          <a:prstGeom prst="ellipse">
            <a:avLst/>
          </a:prstGeom>
          <a:solidFill>
            <a:srgbClr val="F2A72E"/>
          </a:solidFill>
          <a:ln w="9525" cap="rnd">
            <a:solidFill>
              <a:srgbClr val="D58C1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f-molecule-left-circle-008-ellipse-01" descr="{&quot;autofigure_element_id&quot;:&quot;molecule-left-circle-008&quot;}"/>
          <p:cNvSpPr/>
          <p:nvPr/>
        </p:nvSpPr>
        <p:spPr>
          <a:xfrm>
            <a:off x="1685925" y="1228725"/>
            <a:ext cx="95250" cy="95250"/>
          </a:xfrm>
          <a:prstGeom prst="ellipse">
            <a:avLst/>
          </a:prstGeom>
          <a:solidFill>
            <a:srgbClr val="77B47B"/>
          </a:solidFill>
          <a:ln w="9525" cap="rnd">
            <a:solidFill>
              <a:srgbClr val="5C955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af-molecule-left-line-001-line-01" descr="{&quot;autofigure_element_id&quot;:&quot;molecule-left-line-001&quot;,&quot;topology_relation&quot;:{&quot;element_id&quot;:&quot;molecule-left-line-001&quot;,&quot;relation&quot;:&quot;bond&quot;,&quot;source_id&quot;:&quot;molecule-left-circle-008&quot;,&quot;target_id&quot;:&quot;molecule-left-circle-006&quot;}}"/>
          <p:cNvCxnSpPr/>
          <p:nvPr/>
        </p:nvCxnSpPr>
        <p:spPr>
          <a:xfrm>
            <a:off x="1733550" y="1276350"/>
            <a:ext cx="114300" cy="2857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f-dna-left-path-001-freeform-01" descr="{&quot;autofigure_element_id&quot;:&quot;dna-left-path-001&quot;}"/>
          <p:cNvSpPr/>
          <p:nvPr/>
        </p:nvSpPr>
        <p:spPr>
          <a:xfrm>
            <a:off x="1676400" y="1409700"/>
            <a:ext cx="342900" cy="600075"/>
          </a:xfrm>
          <a:custGeom>
            <a:avLst/>
            <a:gdLst/>
            <a:ahLst/>
            <a:cxnLst/>
            <a:rect l="0" t="0" r="0" b="0"/>
            <a:pathLst>
              <a:path w="342900" h="600075">
                <a:moveTo>
                  <a:pt x="38100" y="0"/>
                </a:moveTo>
                <a:cubicBezTo>
                  <a:pt x="0" y="66675"/>
                  <a:pt x="0" y="114300"/>
                  <a:pt x="85725" y="161925"/>
                </a:cubicBezTo>
                <a:cubicBezTo>
                  <a:pt x="200025" y="219075"/>
                  <a:pt x="295275" y="238125"/>
                  <a:pt x="323850" y="295275"/>
                </a:cubicBezTo>
                <a:cubicBezTo>
                  <a:pt x="342900" y="352425"/>
                  <a:pt x="276225" y="390525"/>
                  <a:pt x="190500" y="419100"/>
                </a:cubicBezTo>
                <a:cubicBezTo>
                  <a:pt x="76200" y="457200"/>
                  <a:pt x="47625" y="523875"/>
                  <a:pt x="142875" y="600075"/>
                </a:cubicBezTo>
              </a:path>
            </a:pathLst>
          </a:custGeom>
          <a:noFill/>
          <a:ln w="24765" cap="rnd">
            <a:solidFill>
              <a:srgbClr val="376FC3"/>
            </a:solidFill>
            <a:round/>
          </a:ln>
        </p:spPr>
      </p:sp>
      <p:sp>
        <p:nvSpPr>
          <p:cNvPr id="24" name="af-dna-left-path-002-freeform-01" descr="{&quot;autofigure_element_id&quot;:&quot;dna-left-path-002&quot;}"/>
          <p:cNvSpPr/>
          <p:nvPr/>
        </p:nvSpPr>
        <p:spPr>
          <a:xfrm>
            <a:off x="1685925" y="1409700"/>
            <a:ext cx="342900" cy="600075"/>
          </a:xfrm>
          <a:custGeom>
            <a:avLst/>
            <a:gdLst/>
            <a:ahLst/>
            <a:cxnLst/>
            <a:rect l="0" t="0" r="0" b="0"/>
            <a:pathLst>
              <a:path w="342900" h="600075">
                <a:moveTo>
                  <a:pt x="304800" y="0"/>
                </a:moveTo>
                <a:cubicBezTo>
                  <a:pt x="342900" y="66675"/>
                  <a:pt x="333375" y="114300"/>
                  <a:pt x="257175" y="161925"/>
                </a:cubicBezTo>
                <a:cubicBezTo>
                  <a:pt x="142875" y="219075"/>
                  <a:pt x="47625" y="238125"/>
                  <a:pt x="19050" y="295275"/>
                </a:cubicBezTo>
                <a:cubicBezTo>
                  <a:pt x="0" y="352425"/>
                  <a:pt x="66675" y="390525"/>
                  <a:pt x="152400" y="419100"/>
                </a:cubicBezTo>
                <a:cubicBezTo>
                  <a:pt x="266700" y="457200"/>
                  <a:pt x="295275" y="523875"/>
                  <a:pt x="200025" y="600075"/>
                </a:cubicBezTo>
              </a:path>
            </a:pathLst>
          </a:custGeom>
          <a:noFill/>
          <a:ln w="20955" cap="rnd">
            <a:solidFill>
              <a:srgbClr val="5C9CC7"/>
            </a:solidFill>
            <a:round/>
          </a:ln>
        </p:spPr>
      </p:sp>
      <p:sp>
        <p:nvSpPr>
          <p:cNvPr id="25" name="af-dna-left-path-003-freeform-01" descr="{&quot;autofigure_element_id&quot;:&quot;dna-left-path-003&quot;}"/>
          <p:cNvSpPr/>
          <p:nvPr/>
        </p:nvSpPr>
        <p:spPr>
          <a:xfrm>
            <a:off x="2076450" y="1438275"/>
            <a:ext cx="161925" cy="542925"/>
          </a:xfrm>
          <a:custGeom>
            <a:avLst/>
            <a:gdLst/>
            <a:ahLst/>
            <a:cxnLst/>
            <a:rect l="0" t="0" r="0" b="0"/>
            <a:pathLst>
              <a:path w="161925" h="542925">
                <a:moveTo>
                  <a:pt x="38100" y="0"/>
                </a:moveTo>
                <a:cubicBezTo>
                  <a:pt x="0" y="57150"/>
                  <a:pt x="9525" y="104775"/>
                  <a:pt x="85725" y="152400"/>
                </a:cubicBezTo>
                <a:cubicBezTo>
                  <a:pt x="161925" y="200025"/>
                  <a:pt x="161925" y="247650"/>
                  <a:pt x="95250" y="295275"/>
                </a:cubicBezTo>
                <a:cubicBezTo>
                  <a:pt x="28575" y="342900"/>
                  <a:pt x="28575" y="390525"/>
                  <a:pt x="95250" y="438150"/>
                </a:cubicBezTo>
                <a:cubicBezTo>
                  <a:pt x="142875" y="476250"/>
                  <a:pt x="152400" y="514350"/>
                  <a:pt x="133350" y="542925"/>
                </a:cubicBezTo>
              </a:path>
            </a:pathLst>
          </a:custGeom>
          <a:noFill/>
          <a:ln w="20955" cap="rnd">
            <a:solidFill>
              <a:srgbClr val="729968"/>
            </a:solidFill>
            <a:round/>
          </a:ln>
        </p:spPr>
      </p:sp>
      <p:sp>
        <p:nvSpPr>
          <p:cNvPr id="26" name="af-dna-left-path-004-freeform-01" descr="{&quot;autofigure_element_id&quot;:&quot;dna-left-path-004&quot;}"/>
          <p:cNvSpPr/>
          <p:nvPr/>
        </p:nvSpPr>
        <p:spPr>
          <a:xfrm>
            <a:off x="2095500" y="1438275"/>
            <a:ext cx="161925" cy="542925"/>
          </a:xfrm>
          <a:custGeom>
            <a:avLst/>
            <a:gdLst/>
            <a:ahLst/>
            <a:cxnLst/>
            <a:rect l="0" t="0" r="0" b="0"/>
            <a:pathLst>
              <a:path w="161925" h="542925">
                <a:moveTo>
                  <a:pt x="123825" y="0"/>
                </a:moveTo>
                <a:cubicBezTo>
                  <a:pt x="161925" y="57150"/>
                  <a:pt x="152400" y="104775"/>
                  <a:pt x="76200" y="152400"/>
                </a:cubicBezTo>
                <a:cubicBezTo>
                  <a:pt x="0" y="200025"/>
                  <a:pt x="0" y="247650"/>
                  <a:pt x="66675" y="295275"/>
                </a:cubicBezTo>
                <a:cubicBezTo>
                  <a:pt x="133350" y="342900"/>
                  <a:pt x="133350" y="390525"/>
                  <a:pt x="66675" y="438150"/>
                </a:cubicBezTo>
                <a:cubicBezTo>
                  <a:pt x="19050" y="476250"/>
                  <a:pt x="9525" y="514350"/>
                  <a:pt x="28575" y="542925"/>
                </a:cubicBezTo>
              </a:path>
            </a:pathLst>
          </a:custGeom>
          <a:noFill/>
          <a:ln w="20955" cap="rnd">
            <a:solidFill>
              <a:srgbClr val="9F6C57"/>
            </a:solidFill>
            <a:round/>
          </a:ln>
        </p:spPr>
      </p:sp>
      <p:cxnSp>
        <p:nvCxnSpPr>
          <p:cNvPr id="27" name="af-dna-left-g-001-line-001-line-01" descr="{&quot;autofigure_element_id&quot;:&quot;dna-left-g-001-line-001&quot;,&quot;topology_relation&quot;:{&quot;element_id&quot;:&quot;dna-left-g-001-line-001&quot;,&quot;relation&quot;:&quot;base-pair&quot;,&quot;source_id&quot;:&quot;dna-left-path-001&quot;,&quot;target_id&quot;:&quot;dna-left-path-002&quot;}}"/>
          <p:cNvCxnSpPr/>
          <p:nvPr/>
        </p:nvCxnSpPr>
        <p:spPr>
          <a:xfrm>
            <a:off x="1695450" y="1485900"/>
            <a:ext cx="314325" cy="0"/>
          </a:xfrm>
          <a:prstGeom prst="line">
            <a:avLst/>
          </a:prstGeom>
          <a:ln w="11906" cap="rnd">
            <a:solidFill>
              <a:srgbClr val="E17B46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af-dna-left-g-001-line-002-line-01" descr="{&quot;autofigure_element_id&quot;:&quot;dna-left-g-001-line-002&quot;,&quot;topology_relation&quot;:{&quot;element_id&quot;:&quot;dna-left-g-001-line-002&quot;,&quot;relation&quot;:&quot;base-pair&quot;,&quot;source_id&quot;:&quot;dna-left-path-001&quot;,&quot;target_id&quot;:&quot;dna-left-path-002&quot;}}"/>
          <p:cNvCxnSpPr/>
          <p:nvPr/>
        </p:nvCxnSpPr>
        <p:spPr>
          <a:xfrm>
            <a:off x="1743075" y="1562100"/>
            <a:ext cx="219075" cy="0"/>
          </a:xfrm>
          <a:prstGeom prst="line">
            <a:avLst/>
          </a:prstGeom>
          <a:ln w="11906" cap="rnd">
            <a:solidFill>
              <a:srgbClr val="66B5B3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f-dna-left-g-001-line-003-line-01" descr="{&quot;autofigure_element_id&quot;:&quot;dna-left-g-001-line-003&quot;,&quot;topology_relation&quot;:{&quot;element_id&quot;:&quot;dna-left-g-001-line-003&quot;,&quot;relation&quot;:&quot;base-pair&quot;,&quot;source_id&quot;:&quot;dna-left-path-001&quot;,&quot;target_id&quot;:&quot;dna-left-path-002&quot;}}"/>
          <p:cNvCxnSpPr/>
          <p:nvPr/>
        </p:nvCxnSpPr>
        <p:spPr>
          <a:xfrm>
            <a:off x="1762125" y="1666875"/>
            <a:ext cx="180975" cy="0"/>
          </a:xfrm>
          <a:prstGeom prst="line">
            <a:avLst/>
          </a:prstGeom>
          <a:ln w="11906" cap="rnd">
            <a:solidFill>
              <a:srgbClr val="E17B46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f-dna-left-g-001-line-004-line-01" descr="{&quot;autofigure_element_id&quot;:&quot;dna-left-g-001-line-004&quot;,&quot;topology_relation&quot;:{&quot;element_id&quot;:&quot;dna-left-g-001-line-004&quot;,&quot;relation&quot;:&quot;base-pair&quot;,&quot;source_id&quot;:&quot;dna-left-path-001&quot;,&quot;target_id&quot;:&quot;dna-left-path-002&quot;}}"/>
          <p:cNvCxnSpPr/>
          <p:nvPr/>
        </p:nvCxnSpPr>
        <p:spPr>
          <a:xfrm>
            <a:off x="1743075" y="1847850"/>
            <a:ext cx="219075" cy="0"/>
          </a:xfrm>
          <a:prstGeom prst="line">
            <a:avLst/>
          </a:prstGeom>
          <a:ln w="11906" cap="rnd">
            <a:solidFill>
              <a:srgbClr val="66B5B3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f-dna-left-g-001-line-005-line-01" descr="{&quot;autofigure_element_id&quot;:&quot;dna-left-g-001-line-005&quot;,&quot;topology_relation&quot;:{&quot;element_id&quot;:&quot;dna-left-g-001-line-005&quot;,&quot;relation&quot;:&quot;base-pair&quot;,&quot;source_id&quot;:&quot;dna-left-path-003&quot;,&quot;target_id&quot;:&quot;dna-left-path-004&quot;}}"/>
          <p:cNvCxnSpPr/>
          <p:nvPr/>
        </p:nvCxnSpPr>
        <p:spPr>
          <a:xfrm>
            <a:off x="2105025" y="1514475"/>
            <a:ext cx="133350" cy="0"/>
          </a:xfrm>
          <a:prstGeom prst="line">
            <a:avLst/>
          </a:prstGeom>
          <a:ln w="11906" cap="rnd">
            <a:solidFill>
              <a:srgbClr val="9F6C57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af-dna-left-g-001-line-006-line-01" descr="{&quot;autofigure_element_id&quot;:&quot;dna-left-g-001-line-006&quot;,&quot;topology_relation&quot;:{&quot;element_id&quot;:&quot;dna-left-g-001-line-006&quot;,&quot;relation&quot;:&quot;base-pair&quot;,&quot;source_id&quot;:&quot;dna-left-path-003&quot;,&quot;target_id&quot;:&quot;dna-left-path-004&quot;}}"/>
          <p:cNvCxnSpPr/>
          <p:nvPr/>
        </p:nvCxnSpPr>
        <p:spPr>
          <a:xfrm>
            <a:off x="2124075" y="1619250"/>
            <a:ext cx="85725" cy="0"/>
          </a:xfrm>
          <a:prstGeom prst="line">
            <a:avLst/>
          </a:prstGeom>
          <a:ln w="11906" cap="rnd">
            <a:solidFill>
              <a:srgbClr val="729968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af-dna-left-g-001-line-007-line-01" descr="{&quot;autofigure_element_id&quot;:&quot;dna-left-g-001-line-007&quot;,&quot;topology_relation&quot;:{&quot;element_id&quot;:&quot;dna-left-g-001-line-007&quot;,&quot;relation&quot;:&quot;base-pair&quot;,&quot;source_id&quot;:&quot;dna-left-path-003&quot;,&quot;target_id&quot;:&quot;dna-left-path-004&quot;}}"/>
          <p:cNvCxnSpPr/>
          <p:nvPr/>
        </p:nvCxnSpPr>
        <p:spPr>
          <a:xfrm>
            <a:off x="2114550" y="1752600"/>
            <a:ext cx="104775" cy="0"/>
          </a:xfrm>
          <a:prstGeom prst="line">
            <a:avLst/>
          </a:prstGeom>
          <a:ln w="11906" cap="rnd">
            <a:solidFill>
              <a:srgbClr val="9F6C57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af-dna-left-g-001-line-008-line-01" descr="{&quot;autofigure_element_id&quot;:&quot;dna-left-g-001-line-008&quot;,&quot;topology_relation&quot;:{&quot;element_id&quot;:&quot;dna-left-g-001-line-008&quot;,&quot;relation&quot;:&quot;base-pair&quot;,&quot;source_id&quot;:&quot;dna-left-path-003&quot;,&quot;target_id&quot;:&quot;dna-left-path-004&quot;}}"/>
          <p:cNvCxnSpPr/>
          <p:nvPr/>
        </p:nvCxnSpPr>
        <p:spPr>
          <a:xfrm>
            <a:off x="2124075" y="1885950"/>
            <a:ext cx="85725" cy="0"/>
          </a:xfrm>
          <a:prstGeom prst="line">
            <a:avLst/>
          </a:prstGeom>
          <a:ln w="11906" cap="rnd">
            <a:solidFill>
              <a:srgbClr val="729968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f-dataset-cylinder-path-001-freeform-01" descr="{&quot;autofigure_element_id&quot;:&quot;dataset-cylinder-path-001&quot;}"/>
          <p:cNvSpPr/>
          <p:nvPr/>
        </p:nvSpPr>
        <p:spPr>
          <a:xfrm>
            <a:off x="2400300" y="1143000"/>
            <a:ext cx="800100" cy="704850"/>
          </a:xfrm>
          <a:custGeom>
            <a:avLst/>
            <a:gdLst/>
            <a:ahLst/>
            <a:cxnLst/>
            <a:rect l="0" t="0" r="0" b="0"/>
            <a:pathLst>
              <a:path w="800100" h="704850">
                <a:moveTo>
                  <a:pt x="0" y="0"/>
                </a:moveTo>
                <a:lnTo>
                  <a:pt x="0" y="552450"/>
                </a:lnTo>
                <a:cubicBezTo>
                  <a:pt x="0" y="638175"/>
                  <a:pt x="180975" y="704850"/>
                  <a:pt x="400050" y="704850"/>
                </a:cubicBezTo>
                <a:cubicBezTo>
                  <a:pt x="619125" y="704850"/>
                  <a:pt x="800100" y="638175"/>
                  <a:pt x="800100" y="552450"/>
                </a:cubicBezTo>
                <a:lnTo>
                  <a:pt x="800100" y="0"/>
                </a:lnTo>
              </a:path>
            </a:pathLst>
          </a:custGeom>
          <a:solidFill>
            <a:srgbClr val="FFF4C6"/>
          </a:solidFill>
          <a:ln w="25718" cap="rnd">
            <a:solidFill>
              <a:srgbClr val="D49B00"/>
            </a:solidFill>
            <a:round/>
          </a:ln>
        </p:spPr>
      </p:sp>
      <p:sp>
        <p:nvSpPr>
          <p:cNvPr id="36" name="af-dataset-cylinder-ellipse-001-ellipse-01" descr="{&quot;autofigure_element_id&quot;:&quot;dataset-cylinder-ellipse-001&quot;}"/>
          <p:cNvSpPr/>
          <p:nvPr/>
        </p:nvSpPr>
        <p:spPr>
          <a:xfrm>
            <a:off x="2400300" y="1004888"/>
            <a:ext cx="800100" cy="276225"/>
          </a:xfrm>
          <a:prstGeom prst="ellipse">
            <a:avLst/>
          </a:prstGeom>
          <a:solidFill>
            <a:srgbClr val="FFF4C6"/>
          </a:solidFill>
          <a:ln w="25718" cap="rnd">
            <a:solidFill>
              <a:srgbClr val="D49B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f-dataset-cylinder-text-001-text-01" descr="{&quot;autofigure_element_id&quot;:&quot;dataset-cylinder-text-001&quot;}"/>
          <p:cNvSpPr txBox="1"/>
          <p:nvPr/>
        </p:nvSpPr>
        <p:spPr>
          <a:xfrm>
            <a:off x="2539460" y="1302068"/>
            <a:ext cx="521780" cy="595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550" i="1">
                <a:solidFill>
                  <a:srgbClr val="000000"/>
                </a:solidFill>
                <a:latin typeface="Times New Roman"/>
              </a:rPr>
              <a:t>D</a:t>
            </a:r>
          </a:p>
        </p:txBody>
      </p:sp>
      <p:cxnSp>
        <p:nvCxnSpPr>
          <p:cNvPr id="38" name="af-candlestick-left-top-line-001-line-01" descr="{&quot;autofigure_element_id&quot;:&quot;candlestick-left-top-line-001&quot;}"/>
          <p:cNvCxnSpPr/>
          <p:nvPr/>
        </p:nvCxnSpPr>
        <p:spPr>
          <a:xfrm>
            <a:off x="3409950" y="1162050"/>
            <a:ext cx="0" cy="51435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af-candlestick-left-top-polyline-001-freeform-01" descr="{&quot;autofigure_element_id&quot;:&quot;candlestick-left-top-polyline-001&quot;}"/>
          <p:cNvSpPr/>
          <p:nvPr/>
        </p:nvSpPr>
        <p:spPr>
          <a:xfrm>
            <a:off x="3362325" y="1162050"/>
            <a:ext cx="95250" cy="57150"/>
          </a:xfrm>
          <a:custGeom>
            <a:avLst/>
            <a:gdLst/>
            <a:ahLst/>
            <a:cxnLst/>
            <a:rect l="0" t="0" r="0" b="0"/>
            <a:pathLst>
              <a:path w="95250" h="57150">
                <a:moveTo>
                  <a:pt x="0" y="57150"/>
                </a:moveTo>
                <a:lnTo>
                  <a:pt x="47625" y="0"/>
                </a:lnTo>
                <a:lnTo>
                  <a:pt x="95250" y="57150"/>
                </a:lnTo>
              </a:path>
            </a:pathLst>
          </a:custGeom>
          <a:noFill/>
          <a:ln w="28575" cap="rnd">
            <a:solidFill>
              <a:srgbClr val="000000"/>
            </a:solidFill>
            <a:round/>
          </a:ln>
        </p:spPr>
      </p:sp>
      <p:cxnSp>
        <p:nvCxnSpPr>
          <p:cNvPr id="40" name="af-candlestick-left-top-line-002-line-01" descr="{&quot;autofigure_element_id&quot;:&quot;candlestick-left-top-line-002&quot;}"/>
          <p:cNvCxnSpPr/>
          <p:nvPr/>
        </p:nvCxnSpPr>
        <p:spPr>
          <a:xfrm>
            <a:off x="3409950" y="1676400"/>
            <a:ext cx="638175" cy="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af-candlestick-left-top-polyline-002-freeform-01" descr="{&quot;autofigure_element_id&quot;:&quot;candlestick-left-top-polyline-002&quot;}"/>
          <p:cNvSpPr/>
          <p:nvPr/>
        </p:nvSpPr>
        <p:spPr>
          <a:xfrm>
            <a:off x="3990975" y="1628775"/>
            <a:ext cx="57150" cy="95250"/>
          </a:xfrm>
          <a:custGeom>
            <a:avLst/>
            <a:gdLst/>
            <a:ahLst/>
            <a:cxnLst/>
            <a:rect l="0" t="0" r="0" b="0"/>
            <a:pathLst>
              <a:path w="57150" h="95250">
                <a:moveTo>
                  <a:pt x="0" y="0"/>
                </a:moveTo>
                <a:lnTo>
                  <a:pt x="57150" y="47625"/>
                </a:lnTo>
                <a:lnTo>
                  <a:pt x="0" y="95250"/>
                </a:lnTo>
              </a:path>
            </a:pathLst>
          </a:custGeom>
          <a:noFill/>
          <a:ln w="28575" cap="rnd">
            <a:solidFill>
              <a:srgbClr val="000000"/>
            </a:solidFill>
            <a:round/>
          </a:ln>
        </p:spPr>
      </p:sp>
      <p:cxnSp>
        <p:nvCxnSpPr>
          <p:cNvPr id="42" name="af-candlestick-left-top-line-003-line-01" descr="{&quot;autofigure_element_id&quot;:&quot;candlestick-left-top-line-003&quot;}"/>
          <p:cNvCxnSpPr/>
          <p:nvPr/>
        </p:nvCxnSpPr>
        <p:spPr>
          <a:xfrm>
            <a:off x="3505200" y="1257300"/>
            <a:ext cx="0" cy="295275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af-candlestick-left-top-rect-001-rect-01" descr="{&quot;autofigure_element_id&quot;:&quot;candlestick-left-top-rect-001&quot;}"/>
          <p:cNvSpPr/>
          <p:nvPr/>
        </p:nvSpPr>
        <p:spPr>
          <a:xfrm>
            <a:off x="3467100" y="1323975"/>
            <a:ext cx="76200" cy="14287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af-candlestick-left-top-line-004-line-01" descr="{&quot;autofigure_element_id&quot;:&quot;candlestick-left-top-line-004&quot;}"/>
          <p:cNvCxnSpPr/>
          <p:nvPr/>
        </p:nvCxnSpPr>
        <p:spPr>
          <a:xfrm>
            <a:off x="3629025" y="1352550"/>
            <a:ext cx="0" cy="26670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af-candlestick-left-top-rect-002-rect-01" descr="{&quot;autofigure_element_id&quot;:&quot;candlestick-left-top-rect-002&quot;}"/>
          <p:cNvSpPr/>
          <p:nvPr/>
        </p:nvSpPr>
        <p:spPr>
          <a:xfrm>
            <a:off x="3590925" y="1400175"/>
            <a:ext cx="76200" cy="12382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af-candlestick-left-top-line-005-line-01" descr="{&quot;autofigure_element_id&quot;:&quot;candlestick-left-top-line-005&quot;}"/>
          <p:cNvCxnSpPr/>
          <p:nvPr/>
        </p:nvCxnSpPr>
        <p:spPr>
          <a:xfrm>
            <a:off x="3752850" y="1209675"/>
            <a:ext cx="0" cy="333375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af-candlestick-left-top-rect-003-rect-01" descr="{&quot;autofigure_element_id&quot;:&quot;candlestick-left-top-rect-003&quot;}"/>
          <p:cNvSpPr/>
          <p:nvPr/>
        </p:nvSpPr>
        <p:spPr>
          <a:xfrm>
            <a:off x="3714750" y="1276350"/>
            <a:ext cx="76200" cy="152400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af-candlestick-left-top-line-006-line-01" descr="{&quot;autofigure_element_id&quot;:&quot;candlestick-left-top-line-006&quot;}"/>
          <p:cNvCxnSpPr/>
          <p:nvPr/>
        </p:nvCxnSpPr>
        <p:spPr>
          <a:xfrm>
            <a:off x="3886200" y="1304925"/>
            <a:ext cx="0" cy="28575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af-candlestick-left-top-rect-004-rect-01" descr="{&quot;autofigure_element_id&quot;:&quot;candlestick-left-top-rect-004&quot;}"/>
          <p:cNvSpPr/>
          <p:nvPr/>
        </p:nvSpPr>
        <p:spPr>
          <a:xfrm>
            <a:off x="3848100" y="1371600"/>
            <a:ext cx="76200" cy="12382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af-candlestick-left-top-line-007-line-01" descr="{&quot;autofigure_element_id&quot;:&quot;candlestick-left-top-line-007&quot;}"/>
          <p:cNvCxnSpPr/>
          <p:nvPr/>
        </p:nvCxnSpPr>
        <p:spPr>
          <a:xfrm>
            <a:off x="3990975" y="1152525"/>
            <a:ext cx="0" cy="314325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af-candlestick-left-top-rect-005-rect-01" descr="{&quot;autofigure_element_id&quot;:&quot;candlestick-left-top-rect-005&quot;}"/>
          <p:cNvSpPr/>
          <p:nvPr/>
        </p:nvSpPr>
        <p:spPr>
          <a:xfrm>
            <a:off x="3952875" y="1209675"/>
            <a:ext cx="76200" cy="14287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f-blue-arrow-1-freeform-arrow-01" descr="{&quot;arrow_semantic_centerline&quot;:{&quot;coordinate_space&quot;:&quot;canvas&quot;,&quot;kind&quot;:&quot;straight&quot;,&quot;points&quot;:[{&quot;x&quot;:294.0,&quot;y&quot;:201.0},{&quot;x&quot;:294.0,&quot;y&quot;:253.0}]},&quot;arrow_spec_sha256&quot;:&quot;31230125470de698b4c5c99c38ba890806728d6c94d98375cbf9bfa67857119d&quot;,&quot;autofigure_element_id&quot;:&quot;blue-arrow-1&quot;}"/>
          <p:cNvSpPr/>
          <p:nvPr/>
        </p:nvSpPr>
        <p:spPr>
          <a:xfrm>
            <a:off x="2571750" y="1914525"/>
            <a:ext cx="457200" cy="495300"/>
          </a:xfrm>
          <a:custGeom>
            <a:avLst/>
            <a:gdLst/>
            <a:ahLst/>
            <a:cxnLst/>
            <a:rect l="0" t="0" r="0" b="0"/>
            <a:pathLst>
              <a:path w="457200" h="495300">
                <a:moveTo>
                  <a:pt x="114300" y="0"/>
                </a:moveTo>
                <a:lnTo>
                  <a:pt x="342900" y="0"/>
                </a:lnTo>
                <a:lnTo>
                  <a:pt x="342900" y="257175"/>
                </a:lnTo>
                <a:lnTo>
                  <a:pt x="457200" y="257175"/>
                </a:lnTo>
                <a:lnTo>
                  <a:pt x="228600" y="495300"/>
                </a:lnTo>
                <a:lnTo>
                  <a:pt x="0" y="257175"/>
                </a:lnTo>
                <a:lnTo>
                  <a:pt x="114300" y="257175"/>
                </a:lnTo>
                <a:close/>
              </a:path>
            </a:pathLst>
          </a:custGeom>
          <a:solidFill>
            <a:srgbClr val="4A86E8"/>
          </a:solidFill>
          <a:ln w="13335" cap="rnd">
            <a:solidFill>
              <a:srgbClr val="1E5593"/>
            </a:solidFill>
            <a:round/>
          </a:ln>
        </p:spPr>
      </p:sp>
      <p:sp>
        <p:nvSpPr>
          <p:cNvPr id="53" name="af-styles-text-004-text-01" descr="{&quot;autofigure_element_id&quot;:&quot;styles-text-004&quot;}"/>
          <p:cNvSpPr txBox="1"/>
          <p:nvPr/>
        </p:nvSpPr>
        <p:spPr>
          <a:xfrm>
            <a:off x="990600" y="2737485"/>
            <a:ext cx="1691640" cy="52387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100">
                <a:solidFill>
                  <a:srgbClr val="073B68"/>
                </a:solidFill>
                <a:latin typeface="Arial"/>
              </a:rPr>
              <a:t>Reweighted</a:t>
            </a:r>
          </a:p>
        </p:txBody>
      </p:sp>
      <p:cxnSp>
        <p:nvCxnSpPr>
          <p:cNvPr id="54" name="af-balance-line-001-line-01" descr="{&quot;autofigure_element_id&quot;:&quot;balance-line-001&quot;}"/>
          <p:cNvCxnSpPr/>
          <p:nvPr/>
        </p:nvCxnSpPr>
        <p:spPr>
          <a:xfrm>
            <a:off x="1581150" y="3114675"/>
            <a:ext cx="0" cy="400050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af-balance-line-002-line-01" descr="{&quot;autofigure_element_id&quot;:&quot;balance-line-002&quot;}"/>
          <p:cNvCxnSpPr/>
          <p:nvPr/>
        </p:nvCxnSpPr>
        <p:spPr>
          <a:xfrm>
            <a:off x="1390650" y="3162300"/>
            <a:ext cx="390525" cy="0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af-balance-line-003-line-01" descr="{&quot;autofigure_element_id&quot;:&quot;balance-line-003&quot;,&quot;topology_relation&quot;:{&quot;element_id&quot;:&quot;balance-line-003&quot;,&quot;relation&quot;:&quot;supports&quot;,&quot;source_id&quot;:&quot;balance-line-001&quot;,&quot;target_id&quot;:&quot;balance-line-002&quot;}}"/>
          <p:cNvCxnSpPr/>
          <p:nvPr/>
        </p:nvCxnSpPr>
        <p:spPr>
          <a:xfrm flipH="1">
            <a:off x="1543050" y="3095625"/>
            <a:ext cx="38100" cy="66675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af-balance-line-004-line-01" descr="{&quot;autofigure_element_id&quot;:&quot;balance-line-004&quot;,&quot;topology_relation&quot;:{&quot;element_id&quot;:&quot;balance-line-004&quot;,&quot;relation&quot;:&quot;suspends&quot;,&quot;source_id&quot;:&quot;balance-line-002&quot;,&quot;target_id&quot;:&quot;balance-path-001&quot;}}"/>
          <p:cNvCxnSpPr/>
          <p:nvPr/>
        </p:nvCxnSpPr>
        <p:spPr>
          <a:xfrm flipH="1">
            <a:off x="1343025" y="3162300"/>
            <a:ext cx="76200" cy="200025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af-balance-line-005-line-01" descr="{&quot;autofigure_element_id&quot;:&quot;balance-line-005&quot;,&quot;topology_relation&quot;:{&quot;element_id&quot;:&quot;balance-line-005&quot;,&quot;relation&quot;:&quot;suspends&quot;,&quot;source_id&quot;:&quot;balance-line-002&quot;,&quot;target_id&quot;:&quot;balance-path-001&quot;}}"/>
          <p:cNvCxnSpPr/>
          <p:nvPr/>
        </p:nvCxnSpPr>
        <p:spPr>
          <a:xfrm>
            <a:off x="1419225" y="3162300"/>
            <a:ext cx="76200" cy="200025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af-balance-line-006-line-01" descr="{&quot;autofigure_element_id&quot;:&quot;balance-line-006&quot;,&quot;topology_relation&quot;:{&quot;element_id&quot;:&quot;balance-line-006&quot;,&quot;relation&quot;:&quot;suspends&quot;,&quot;source_id&quot;:&quot;balance-line-002&quot;,&quot;target_id&quot;:&quot;balance-path-002&quot;}}"/>
          <p:cNvCxnSpPr/>
          <p:nvPr/>
        </p:nvCxnSpPr>
        <p:spPr>
          <a:xfrm flipH="1">
            <a:off x="1666875" y="3162300"/>
            <a:ext cx="76200" cy="200025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af-balance-line-007-line-01" descr="{&quot;autofigure_element_id&quot;:&quot;balance-line-007&quot;,&quot;topology_relation&quot;:{&quot;element_id&quot;:&quot;balance-line-007&quot;,&quot;relation&quot;:&quot;suspends&quot;,&quot;source_id&quot;:&quot;balance-line-002&quot;,&quot;target_id&quot;:&quot;balance-path-002&quot;}}"/>
          <p:cNvCxnSpPr/>
          <p:nvPr/>
        </p:nvCxnSpPr>
        <p:spPr>
          <a:xfrm>
            <a:off x="1743075" y="3162300"/>
            <a:ext cx="76200" cy="200025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af-balance-path-001-freeform-01" descr="{&quot;autofigure_element_id&quot;:&quot;balance-path-001&quot;}"/>
          <p:cNvSpPr/>
          <p:nvPr/>
        </p:nvSpPr>
        <p:spPr>
          <a:xfrm>
            <a:off x="1314450" y="3362325"/>
            <a:ext cx="209550" cy="88900"/>
          </a:xfrm>
          <a:custGeom>
            <a:avLst/>
            <a:gdLst/>
            <a:ahLst/>
            <a:cxnLst/>
            <a:rect l="0" t="0" r="0" b="0"/>
            <a:pathLst>
              <a:path w="209550" h="88900">
                <a:moveTo>
                  <a:pt x="0" y="0"/>
                </a:moveTo>
                <a:cubicBezTo>
                  <a:pt x="69850" y="88900"/>
                  <a:pt x="139700" y="88900"/>
                  <a:pt x="209550" y="0"/>
                </a:cubicBezTo>
                <a:close/>
              </a:path>
            </a:pathLst>
          </a:custGeom>
          <a:solidFill>
            <a:srgbClr val="B5B5B5"/>
          </a:solidFill>
          <a:ln>
            <a:noFill/>
          </a:ln>
        </p:spPr>
      </p:sp>
      <p:sp>
        <p:nvSpPr>
          <p:cNvPr id="62" name="af-balance-path-002-freeform-01" descr="{&quot;autofigure_element_id&quot;:&quot;balance-path-002&quot;}"/>
          <p:cNvSpPr/>
          <p:nvPr/>
        </p:nvSpPr>
        <p:spPr>
          <a:xfrm>
            <a:off x="1638300" y="3362325"/>
            <a:ext cx="209550" cy="88900"/>
          </a:xfrm>
          <a:custGeom>
            <a:avLst/>
            <a:gdLst/>
            <a:ahLst/>
            <a:cxnLst/>
            <a:rect l="0" t="0" r="0" b="0"/>
            <a:pathLst>
              <a:path w="209550" h="88900">
                <a:moveTo>
                  <a:pt x="0" y="0"/>
                </a:moveTo>
                <a:cubicBezTo>
                  <a:pt x="69850" y="88900"/>
                  <a:pt x="139700" y="88900"/>
                  <a:pt x="209550" y="0"/>
                </a:cubicBezTo>
                <a:close/>
              </a:path>
            </a:pathLst>
          </a:custGeom>
          <a:solidFill>
            <a:srgbClr val="B5B5B5"/>
          </a:solidFill>
          <a:ln>
            <a:noFill/>
          </a:ln>
        </p:spPr>
      </p:sp>
      <p:cxnSp>
        <p:nvCxnSpPr>
          <p:cNvPr id="63" name="af-balance-line-008-line-01" descr="{&quot;autofigure_element_id&quot;:&quot;balance-line-008&quot;}"/>
          <p:cNvCxnSpPr/>
          <p:nvPr/>
        </p:nvCxnSpPr>
        <p:spPr>
          <a:xfrm>
            <a:off x="1485900" y="3514725"/>
            <a:ext cx="190500" cy="0"/>
          </a:xfrm>
          <a:prstGeom prst="line">
            <a:avLst/>
          </a:prstGeom>
          <a:ln w="2857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af-reweighted-cylinder-path-001-freeform-01" descr="{&quot;autofigure_element_id&quot;:&quot;reweighted-cylinder-path-001&quot;}"/>
          <p:cNvSpPr/>
          <p:nvPr/>
        </p:nvSpPr>
        <p:spPr>
          <a:xfrm>
            <a:off x="2390775" y="2628900"/>
            <a:ext cx="809625" cy="704850"/>
          </a:xfrm>
          <a:custGeom>
            <a:avLst/>
            <a:gdLst/>
            <a:ahLst/>
            <a:cxnLst/>
            <a:rect l="0" t="0" r="0" b="0"/>
            <a:pathLst>
              <a:path w="809625" h="704850">
                <a:moveTo>
                  <a:pt x="0" y="0"/>
                </a:moveTo>
                <a:lnTo>
                  <a:pt x="0" y="552450"/>
                </a:lnTo>
                <a:cubicBezTo>
                  <a:pt x="0" y="638175"/>
                  <a:pt x="180975" y="704850"/>
                  <a:pt x="409575" y="704850"/>
                </a:cubicBezTo>
                <a:cubicBezTo>
                  <a:pt x="638175" y="704850"/>
                  <a:pt x="809625" y="638175"/>
                  <a:pt x="809625" y="552450"/>
                </a:cubicBezTo>
                <a:lnTo>
                  <a:pt x="809625" y="0"/>
                </a:lnTo>
              </a:path>
            </a:pathLst>
          </a:custGeom>
          <a:solidFill>
            <a:srgbClr val="FFF4C6"/>
          </a:solidFill>
          <a:ln w="25718" cap="rnd">
            <a:solidFill>
              <a:srgbClr val="C69000"/>
            </a:solidFill>
            <a:round/>
          </a:ln>
        </p:spPr>
      </p:sp>
      <p:sp>
        <p:nvSpPr>
          <p:cNvPr id="65" name="af-reweighted-cylinder-ellipse-001-ellipse-01" descr="{&quot;autofigure_element_id&quot;:&quot;reweighted-cylinder-ellipse-001&quot;}"/>
          <p:cNvSpPr/>
          <p:nvPr/>
        </p:nvSpPr>
        <p:spPr>
          <a:xfrm>
            <a:off x="2395538" y="2486025"/>
            <a:ext cx="809625" cy="285750"/>
          </a:xfrm>
          <a:prstGeom prst="ellipse">
            <a:avLst/>
          </a:prstGeom>
          <a:solidFill>
            <a:srgbClr val="FFF4C6"/>
          </a:solidFill>
          <a:ln w="25718" cap="rnd">
            <a:solidFill>
              <a:srgbClr val="C69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af-reweighted-cylinder-text-001-text-01" descr="{&quot;autofigure_element_id&quot;:&quot;reweighted-cylinder-text-001&quot;}"/>
          <p:cNvSpPr txBox="1"/>
          <p:nvPr/>
        </p:nvSpPr>
        <p:spPr>
          <a:xfrm>
            <a:off x="2539460" y="2797492"/>
            <a:ext cx="521780" cy="595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550" i="1">
                <a:solidFill>
                  <a:srgbClr val="000000"/>
                </a:solidFill>
                <a:latin typeface="Times New Roman"/>
              </a:rPr>
              <a:t>D</a:t>
            </a:r>
          </a:p>
        </p:txBody>
      </p:sp>
      <p:sp>
        <p:nvSpPr>
          <p:cNvPr id="67" name="af-blue-arrow-2-freeform-arrow-01" descr="{&quot;arrow_semantic_centerline&quot;:{&quot;coordinate_space&quot;:&quot;canvas&quot;,&quot;kind&quot;:&quot;straight&quot;,&quot;points&quot;:[{&quot;x&quot;:294.0,&quot;y&quot;:356.0},{&quot;x&quot;:294.0,&quot;y&quot;:441.0}]},&quot;arrow_spec_sha256&quot;:&quot;b05375ee9097d865939d4de7b7320a5225b8cd8df71e607c6b303d77611053c6&quot;,&quot;autofigure_element_id&quot;:&quot;blue-arrow-2&quot;}"/>
          <p:cNvSpPr/>
          <p:nvPr/>
        </p:nvSpPr>
        <p:spPr>
          <a:xfrm>
            <a:off x="2571750" y="3390900"/>
            <a:ext cx="457200" cy="809625"/>
          </a:xfrm>
          <a:custGeom>
            <a:avLst/>
            <a:gdLst/>
            <a:ahLst/>
            <a:cxnLst/>
            <a:rect l="0" t="0" r="0" b="0"/>
            <a:pathLst>
              <a:path w="457200" h="809625">
                <a:moveTo>
                  <a:pt x="114300" y="0"/>
                </a:moveTo>
                <a:lnTo>
                  <a:pt x="342900" y="0"/>
                </a:lnTo>
                <a:lnTo>
                  <a:pt x="342900" y="571500"/>
                </a:lnTo>
                <a:lnTo>
                  <a:pt x="457200" y="571500"/>
                </a:lnTo>
                <a:lnTo>
                  <a:pt x="228600" y="809625"/>
                </a:lnTo>
                <a:lnTo>
                  <a:pt x="0" y="571500"/>
                </a:lnTo>
                <a:lnTo>
                  <a:pt x="114300" y="571500"/>
                </a:lnTo>
                <a:close/>
              </a:path>
            </a:pathLst>
          </a:custGeom>
          <a:solidFill>
            <a:srgbClr val="4A86E8"/>
          </a:solidFill>
          <a:ln w="13335" cap="rnd">
            <a:solidFill>
              <a:srgbClr val="1E5593"/>
            </a:solidFill>
            <a:round/>
          </a:ln>
        </p:spPr>
      </p:sp>
      <p:sp>
        <p:nvSpPr>
          <p:cNvPr id="68" name="af-styles-text-005-text-01" descr="{&quot;autofigure_element_id&quot;:&quot;styles-text-005&quot;}"/>
          <p:cNvSpPr txBox="1"/>
          <p:nvPr/>
        </p:nvSpPr>
        <p:spPr>
          <a:xfrm>
            <a:off x="3162300" y="3566160"/>
            <a:ext cx="931545" cy="52387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100">
                <a:solidFill>
                  <a:srgbClr val="073B68"/>
                </a:solidFill>
                <a:latin typeface="Arial"/>
              </a:rPr>
              <a:t>Train</a:t>
            </a:r>
          </a:p>
        </p:txBody>
      </p:sp>
      <p:sp>
        <p:nvSpPr>
          <p:cNvPr id="69" name="af-left-model-rect-001-rect-01" descr="{&quot;autofigure_element_id&quot;:&quot;left-model-rect-001&quot;}"/>
          <p:cNvSpPr/>
          <p:nvPr/>
        </p:nvSpPr>
        <p:spPr>
          <a:xfrm>
            <a:off x="1447800" y="4257675"/>
            <a:ext cx="2695575" cy="1181100"/>
          </a:xfrm>
          <a:prstGeom prst="rect">
            <a:avLst/>
          </a:prstGeom>
          <a:solidFill>
            <a:srgbClr val="FFFFFF"/>
          </a:solidFill>
          <a:ln w="38100" cap="rnd">
            <a:solidFill>
              <a:srgbClr val="6CA6D9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af-left-model-g-001-line-001-line-01" descr="{&quot;autofigure_element_id&quot;:&quot;left-model-g-001-line-001&quot;}"/>
          <p:cNvCxnSpPr/>
          <p:nvPr/>
        </p:nvCxnSpPr>
        <p:spPr>
          <a:xfrm flipH="1">
            <a:off x="2400300" y="4371975"/>
            <a:ext cx="400050" cy="247650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af-left-model-g-001-line-002-line-01" descr="{&quot;autofigure_element_id&quot;:&quot;left-model-g-001-line-002&quot;}"/>
          <p:cNvCxnSpPr/>
          <p:nvPr/>
        </p:nvCxnSpPr>
        <p:spPr>
          <a:xfrm>
            <a:off x="2800350" y="4371975"/>
            <a:ext cx="400050" cy="247650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af-left-model-g-001-line-003-line-01" descr="{&quot;autofigure_element_id&quot;:&quot;left-model-g-001-line-003&quot;}"/>
          <p:cNvCxnSpPr/>
          <p:nvPr/>
        </p:nvCxnSpPr>
        <p:spPr>
          <a:xfrm>
            <a:off x="2400300" y="4619625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af-left-model-g-001-line-004-line-01" descr="{&quot;autofigure_element_id&quot;:&quot;left-model-g-001-line-004&quot;}"/>
          <p:cNvCxnSpPr/>
          <p:nvPr/>
        </p:nvCxnSpPr>
        <p:spPr>
          <a:xfrm flipH="1">
            <a:off x="2800350" y="4619625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af-left-model-g-001-line-005-line-01" descr="{&quot;autofigure_element_id&quot;:&quot;left-model-g-001-line-005&quot;}"/>
          <p:cNvCxnSpPr/>
          <p:nvPr/>
        </p:nvCxnSpPr>
        <p:spPr>
          <a:xfrm flipH="1">
            <a:off x="2400300" y="4857750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af-left-model-g-001-line-006-line-01" descr="{&quot;autofigure_element_id&quot;:&quot;left-model-g-001-line-006&quot;}"/>
          <p:cNvCxnSpPr/>
          <p:nvPr/>
        </p:nvCxnSpPr>
        <p:spPr>
          <a:xfrm>
            <a:off x="2800350" y="4857750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af-left-model-g-001-line-007-line-01" descr="{&quot;autofigure_element_id&quot;:&quot;left-model-g-001-line-007&quot;}"/>
          <p:cNvCxnSpPr/>
          <p:nvPr/>
        </p:nvCxnSpPr>
        <p:spPr>
          <a:xfrm>
            <a:off x="2400300" y="5095875"/>
            <a:ext cx="400050" cy="21907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af-left-model-g-001-line-008-line-01" descr="{&quot;autofigure_element_id&quot;:&quot;left-model-g-001-line-008&quot;}"/>
          <p:cNvCxnSpPr/>
          <p:nvPr/>
        </p:nvCxnSpPr>
        <p:spPr>
          <a:xfrm flipH="1">
            <a:off x="2800350" y="5095875"/>
            <a:ext cx="400050" cy="21907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af-left-model-g-001-circle-001-ellipse-01" descr="{&quot;autofigure_element_id&quot;:&quot;left-model-g-001-circle-001&quot;}"/>
          <p:cNvSpPr/>
          <p:nvPr/>
        </p:nvSpPr>
        <p:spPr>
          <a:xfrm>
            <a:off x="2728912" y="430053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-left-model-g-001-circle-002-ellipse-01" descr="{&quot;autofigure_element_id&quot;:&quot;left-model-g-001-circle-002&quot;}"/>
          <p:cNvSpPr/>
          <p:nvPr/>
        </p:nvSpPr>
        <p:spPr>
          <a:xfrm>
            <a:off x="2328862" y="454818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-left-model-g-001-circle-003-ellipse-01" descr="{&quot;autofigure_element_id&quot;:&quot;left-model-g-001-circle-003&quot;}"/>
          <p:cNvSpPr/>
          <p:nvPr/>
        </p:nvSpPr>
        <p:spPr>
          <a:xfrm>
            <a:off x="3128962" y="454818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f-left-model-g-001-circle-004-ellipse-01" descr="{&quot;autofigure_element_id&quot;:&quot;left-model-g-001-circle-004&quot;}"/>
          <p:cNvSpPr/>
          <p:nvPr/>
        </p:nvSpPr>
        <p:spPr>
          <a:xfrm>
            <a:off x="2728912" y="4786312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af-left-model-g-001-circle-005-ellipse-01" descr="{&quot;autofigure_element_id&quot;:&quot;left-model-g-001-circle-005&quot;}"/>
          <p:cNvSpPr/>
          <p:nvPr/>
        </p:nvSpPr>
        <p:spPr>
          <a:xfrm>
            <a:off x="2328862" y="502443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af-left-model-g-001-circle-006-ellipse-01" descr="{&quot;autofigure_element_id&quot;:&quot;left-model-g-001-circle-006&quot;}"/>
          <p:cNvSpPr/>
          <p:nvPr/>
        </p:nvSpPr>
        <p:spPr>
          <a:xfrm>
            <a:off x="3128962" y="502443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af-left-model-g-001-circle-007-ellipse-01" descr="{&quot;autofigure_element_id&quot;:&quot;left-model-g-001-circle-007&quot;}"/>
          <p:cNvSpPr/>
          <p:nvPr/>
        </p:nvSpPr>
        <p:spPr>
          <a:xfrm>
            <a:off x="2728912" y="5243512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af-left-model-text-001-text-01" descr="{&quot;autofigure_element_id&quot;:&quot;left-model-text-001&quot;}"/>
          <p:cNvSpPr txBox="1"/>
          <p:nvPr/>
        </p:nvSpPr>
        <p:spPr>
          <a:xfrm>
            <a:off x="1557528" y="4556284"/>
            <a:ext cx="2485644" cy="5119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025" b="1">
                <a:solidFill>
                  <a:srgbClr val="073B68"/>
                </a:solidFill>
                <a:latin typeface="Arial"/>
              </a:rPr>
              <a:t>Pareto-Conditioned</a:t>
            </a:r>
          </a:p>
        </p:txBody>
      </p:sp>
      <p:sp>
        <p:nvSpPr>
          <p:cNvPr id="86" name="af-left-model-text-002-text-01" descr="{&quot;autofigure_element_id&quot;:&quot;left-model-text-002&quot;}"/>
          <p:cNvSpPr txBox="1"/>
          <p:nvPr/>
        </p:nvSpPr>
        <p:spPr>
          <a:xfrm>
            <a:off x="1755553" y="4842034"/>
            <a:ext cx="2089594" cy="5119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025">
                <a:solidFill>
                  <a:srgbClr val="073B68"/>
                </a:solidFill>
                <a:latin typeface="Arial"/>
              </a:rPr>
              <a:t>Diffusion Model</a:t>
            </a:r>
          </a:p>
        </p:txBody>
      </p:sp>
      <p:cxnSp>
        <p:nvCxnSpPr>
          <p:cNvPr id="87" name="af-noise-curve-line-001-line-01" descr="{&quot;autofigure_element_id&quot;:&quot;noise-curve-line-001&quot;}"/>
          <p:cNvCxnSpPr/>
          <p:nvPr/>
        </p:nvCxnSpPr>
        <p:spPr>
          <a:xfrm>
            <a:off x="8315325" y="1800225"/>
            <a:ext cx="2838450" cy="0"/>
          </a:xfrm>
          <a:prstGeom prst="line">
            <a:avLst/>
          </a:prstGeom>
          <a:ln w="16192" cap="rnd">
            <a:solidFill>
              <a:srgbClr val="8E8E8E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af-noise-curve-path-001-freeform-01" descr="{&quot;autofigure_element_id&quot;:&quot;noise-curve-path-001&quot;}"/>
          <p:cNvSpPr/>
          <p:nvPr/>
        </p:nvSpPr>
        <p:spPr>
          <a:xfrm>
            <a:off x="8315325" y="762000"/>
            <a:ext cx="2838450" cy="1038225"/>
          </a:xfrm>
          <a:custGeom>
            <a:avLst/>
            <a:gdLst/>
            <a:ahLst/>
            <a:cxnLst/>
            <a:rect l="0" t="0" r="0" b="0"/>
            <a:pathLst>
              <a:path w="2838450" h="1038225">
                <a:moveTo>
                  <a:pt x="0" y="1038225"/>
                </a:moveTo>
                <a:cubicBezTo>
                  <a:pt x="390525" y="1038225"/>
                  <a:pt x="581025" y="1009650"/>
                  <a:pt x="704850" y="885825"/>
                </a:cubicBezTo>
                <a:cubicBezTo>
                  <a:pt x="876300" y="704850"/>
                  <a:pt x="1028700" y="200025"/>
                  <a:pt x="1285875" y="47625"/>
                </a:cubicBezTo>
                <a:cubicBezTo>
                  <a:pt x="1362075" y="0"/>
                  <a:pt x="1438275" y="19050"/>
                  <a:pt x="1514475" y="104775"/>
                </a:cubicBezTo>
                <a:cubicBezTo>
                  <a:pt x="1743075" y="361950"/>
                  <a:pt x="1809750" y="752475"/>
                  <a:pt x="2095500" y="933450"/>
                </a:cubicBezTo>
                <a:cubicBezTo>
                  <a:pt x="2266950" y="1038225"/>
                  <a:pt x="2524125" y="1038225"/>
                  <a:pt x="2838450" y="1038225"/>
                </a:cubicBezTo>
              </a:path>
            </a:pathLst>
          </a:custGeom>
          <a:noFill/>
          <a:ln w="16192" cap="rnd">
            <a:solidFill>
              <a:srgbClr val="8E8E8E"/>
            </a:solidFill>
            <a:round/>
          </a:ln>
        </p:spPr>
      </p:sp>
      <p:sp>
        <p:nvSpPr>
          <p:cNvPr id="89" name="af-target-box-rect-001-rect-01" descr="{&quot;autofigure_element_id&quot;:&quot;target-box-rect-001&quot;}"/>
          <p:cNvSpPr/>
          <p:nvPr/>
        </p:nvSpPr>
        <p:spPr>
          <a:xfrm>
            <a:off x="5829300" y="2476500"/>
            <a:ext cx="1438275" cy="1057275"/>
          </a:xfrm>
          <a:prstGeom prst="rect">
            <a:avLst/>
          </a:prstGeom>
          <a:solidFill>
            <a:srgbClr val="C7D8F2"/>
          </a:solidFill>
          <a:ln w="13335" cap="rnd">
            <a:solidFill>
              <a:srgbClr val="1E559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af-target-box-text-001-text-01" descr="{&quot;autofigure_element_id&quot;:&quot;target-box-text-001&quot;}"/>
          <p:cNvSpPr txBox="1"/>
          <p:nvPr/>
        </p:nvSpPr>
        <p:spPr>
          <a:xfrm>
            <a:off x="6041422" y="2712482"/>
            <a:ext cx="1014031" cy="49410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912">
                <a:solidFill>
                  <a:srgbClr val="073B68"/>
                </a:solidFill>
                <a:latin typeface="Arial"/>
              </a:rPr>
              <a:t>Target</a:t>
            </a:r>
          </a:p>
        </p:txBody>
      </p:sp>
      <p:sp>
        <p:nvSpPr>
          <p:cNvPr id="91" name="af-target-box-text-002-text-01" descr="{&quot;autofigure_element_id&quot;:&quot;target-box-text-002&quot;}"/>
          <p:cNvSpPr txBox="1"/>
          <p:nvPr/>
        </p:nvSpPr>
        <p:spPr>
          <a:xfrm>
            <a:off x="5825252" y="3017282"/>
            <a:ext cx="1446371" cy="49410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912">
                <a:solidFill>
                  <a:srgbClr val="073B68"/>
                </a:solidFill>
                <a:latin typeface="Arial"/>
              </a:rPr>
              <a:t>Objectives</a:t>
            </a:r>
          </a:p>
        </p:txBody>
      </p:sp>
      <p:cxnSp>
        <p:nvCxnSpPr>
          <p:cNvPr id="92" name="af-candlestick-right-line-001-line-01" descr="{&quot;autofigure_element_id&quot;:&quot;candlestick-right-line-001&quot;}"/>
          <p:cNvCxnSpPr/>
          <p:nvPr/>
        </p:nvCxnSpPr>
        <p:spPr>
          <a:xfrm>
            <a:off x="6248400" y="3629025"/>
            <a:ext cx="0" cy="51435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af-candlestick-right-polyline-001-freeform-01" descr="{&quot;autofigure_element_id&quot;:&quot;candlestick-right-polyline-001&quot;}"/>
          <p:cNvSpPr/>
          <p:nvPr/>
        </p:nvSpPr>
        <p:spPr>
          <a:xfrm>
            <a:off x="6200775" y="3629025"/>
            <a:ext cx="95250" cy="57150"/>
          </a:xfrm>
          <a:custGeom>
            <a:avLst/>
            <a:gdLst/>
            <a:ahLst/>
            <a:cxnLst/>
            <a:rect l="0" t="0" r="0" b="0"/>
            <a:pathLst>
              <a:path w="95250" h="57150">
                <a:moveTo>
                  <a:pt x="0" y="57150"/>
                </a:moveTo>
                <a:lnTo>
                  <a:pt x="47625" y="0"/>
                </a:lnTo>
                <a:lnTo>
                  <a:pt x="95250" y="57150"/>
                </a:lnTo>
              </a:path>
            </a:pathLst>
          </a:custGeom>
          <a:noFill/>
          <a:ln w="28575" cap="rnd">
            <a:solidFill>
              <a:srgbClr val="000000"/>
            </a:solidFill>
            <a:round/>
          </a:ln>
        </p:spPr>
      </p:sp>
      <p:cxnSp>
        <p:nvCxnSpPr>
          <p:cNvPr id="94" name="af-candlestick-right-line-002-line-01" descr="{&quot;autofigure_element_id&quot;:&quot;candlestick-right-line-002&quot;}"/>
          <p:cNvCxnSpPr/>
          <p:nvPr/>
        </p:nvCxnSpPr>
        <p:spPr>
          <a:xfrm>
            <a:off x="6248400" y="4143375"/>
            <a:ext cx="638175" cy="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af-candlestick-right-polyline-002-freeform-01" descr="{&quot;autofigure_element_id&quot;:&quot;candlestick-right-polyline-002&quot;}"/>
          <p:cNvSpPr/>
          <p:nvPr/>
        </p:nvSpPr>
        <p:spPr>
          <a:xfrm>
            <a:off x="6829425" y="4095750"/>
            <a:ext cx="57150" cy="95250"/>
          </a:xfrm>
          <a:custGeom>
            <a:avLst/>
            <a:gdLst/>
            <a:ahLst/>
            <a:cxnLst/>
            <a:rect l="0" t="0" r="0" b="0"/>
            <a:pathLst>
              <a:path w="57150" h="95250">
                <a:moveTo>
                  <a:pt x="0" y="0"/>
                </a:moveTo>
                <a:lnTo>
                  <a:pt x="57150" y="47625"/>
                </a:lnTo>
                <a:lnTo>
                  <a:pt x="0" y="95250"/>
                </a:lnTo>
              </a:path>
            </a:pathLst>
          </a:custGeom>
          <a:noFill/>
          <a:ln w="28575" cap="rnd">
            <a:solidFill>
              <a:srgbClr val="000000"/>
            </a:solidFill>
            <a:round/>
          </a:ln>
        </p:spPr>
      </p:sp>
      <p:cxnSp>
        <p:nvCxnSpPr>
          <p:cNvPr id="96" name="af-candlestick-right-line-003-line-01" descr="{&quot;autofigure_element_id&quot;:&quot;candlestick-right-line-003&quot;}"/>
          <p:cNvCxnSpPr/>
          <p:nvPr/>
        </p:nvCxnSpPr>
        <p:spPr>
          <a:xfrm>
            <a:off x="6343650" y="3724275"/>
            <a:ext cx="0" cy="295275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af-candlestick-right-rect-001-rect-01" descr="{&quot;autofigure_element_id&quot;:&quot;candlestick-right-rect-001&quot;}"/>
          <p:cNvSpPr/>
          <p:nvPr/>
        </p:nvSpPr>
        <p:spPr>
          <a:xfrm>
            <a:off x="6305550" y="3790950"/>
            <a:ext cx="76200" cy="14287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af-candlestick-right-line-004-line-01" descr="{&quot;autofigure_element_id&quot;:&quot;candlestick-right-line-004&quot;}"/>
          <p:cNvCxnSpPr/>
          <p:nvPr/>
        </p:nvCxnSpPr>
        <p:spPr>
          <a:xfrm>
            <a:off x="6467475" y="3819525"/>
            <a:ext cx="0" cy="26670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af-candlestick-right-rect-002-rect-01" descr="{&quot;autofigure_element_id&quot;:&quot;candlestick-right-rect-002&quot;}"/>
          <p:cNvSpPr/>
          <p:nvPr/>
        </p:nvSpPr>
        <p:spPr>
          <a:xfrm>
            <a:off x="6429375" y="3867150"/>
            <a:ext cx="76200" cy="12382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af-candlestick-right-line-005-line-01" descr="{&quot;autofigure_element_id&quot;:&quot;candlestick-right-line-005&quot;}"/>
          <p:cNvCxnSpPr/>
          <p:nvPr/>
        </p:nvCxnSpPr>
        <p:spPr>
          <a:xfrm>
            <a:off x="6591300" y="3676650"/>
            <a:ext cx="0" cy="333375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af-candlestick-right-rect-003-rect-01" descr="{&quot;autofigure_element_id&quot;:&quot;candlestick-right-rect-003&quot;}"/>
          <p:cNvSpPr/>
          <p:nvPr/>
        </p:nvSpPr>
        <p:spPr>
          <a:xfrm>
            <a:off x="6553200" y="3743325"/>
            <a:ext cx="76200" cy="152400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af-candlestick-right-line-006-line-01" descr="{&quot;autofigure_element_id&quot;:&quot;candlestick-right-line-006&quot;}"/>
          <p:cNvCxnSpPr/>
          <p:nvPr/>
        </p:nvCxnSpPr>
        <p:spPr>
          <a:xfrm>
            <a:off x="6724650" y="3771900"/>
            <a:ext cx="0" cy="28575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af-candlestick-right-rect-004-rect-01" descr="{&quot;autofigure_element_id&quot;:&quot;candlestick-right-rect-004&quot;}"/>
          <p:cNvSpPr/>
          <p:nvPr/>
        </p:nvSpPr>
        <p:spPr>
          <a:xfrm>
            <a:off x="6686550" y="3838575"/>
            <a:ext cx="76200" cy="12382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af-candlestick-right-line-007-line-01" descr="{&quot;autofigure_element_id&quot;:&quot;candlestick-right-line-007&quot;}"/>
          <p:cNvCxnSpPr/>
          <p:nvPr/>
        </p:nvCxnSpPr>
        <p:spPr>
          <a:xfrm>
            <a:off x="6829425" y="3619500"/>
            <a:ext cx="0" cy="314325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af-candlestick-right-rect-005-rect-01" descr="{&quot;autofigure_element_id&quot;:&quot;candlestick-right-rect-005&quot;}"/>
          <p:cNvSpPr/>
          <p:nvPr/>
        </p:nvSpPr>
        <p:spPr>
          <a:xfrm>
            <a:off x="6791325" y="3676650"/>
            <a:ext cx="76200" cy="14287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af-styles-text-006-text-01" descr="{&quot;autofigure_element_id&quot;:&quot;styles-text-006&quot;}"/>
          <p:cNvSpPr txBox="1"/>
          <p:nvPr/>
        </p:nvSpPr>
        <p:spPr>
          <a:xfrm>
            <a:off x="7353300" y="2511504"/>
            <a:ext cx="1235964" cy="47029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762">
                <a:solidFill>
                  <a:srgbClr val="073B68"/>
                </a:solidFill>
                <a:latin typeface="Arial"/>
              </a:rPr>
              <a:t>Condition</a:t>
            </a:r>
          </a:p>
        </p:txBody>
      </p:sp>
      <p:sp>
        <p:nvSpPr>
          <p:cNvPr id="107" name="af-condition-arrow-freeform-arrow-01" descr="{&quot;arrow_semantic_centerline&quot;:{&quot;coordinate_space&quot;:&quot;canvas&quot;,&quot;kind&quot;:&quot;straight&quot;,&quot;points&quot;:[{&quot;x&quot;:769.0,&quot;y&quot;:315.0},{&quot;x&quot;:875.0,&quot;y&quot;:315.0}]},&quot;arrow_spec_sha256&quot;:&quot;06114b3ce242bda2d2f4d42fbda54cf550fa36fe57bbf0e90dc352cdd2f787c5&quot;,&quot;autofigure_element_id&quot;:&quot;condition-arrow&quot;}"/>
          <p:cNvSpPr/>
          <p:nvPr/>
        </p:nvSpPr>
        <p:spPr>
          <a:xfrm>
            <a:off x="7324725" y="2809875"/>
            <a:ext cx="1009650" cy="361950"/>
          </a:xfrm>
          <a:custGeom>
            <a:avLst/>
            <a:gdLst/>
            <a:ahLst/>
            <a:cxnLst/>
            <a:rect l="0" t="0" r="0" b="0"/>
            <a:pathLst>
              <a:path w="1009650" h="361950">
                <a:moveTo>
                  <a:pt x="0" y="95250"/>
                </a:moveTo>
                <a:lnTo>
                  <a:pt x="809625" y="95250"/>
                </a:lnTo>
                <a:lnTo>
                  <a:pt x="809625" y="0"/>
                </a:lnTo>
                <a:lnTo>
                  <a:pt x="1009650" y="190500"/>
                </a:lnTo>
                <a:lnTo>
                  <a:pt x="809625" y="361950"/>
                </a:lnTo>
                <a:lnTo>
                  <a:pt x="80962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E69138"/>
          </a:solidFill>
          <a:ln w="13335" cap="rnd">
            <a:solidFill>
              <a:srgbClr val="C56E11"/>
            </a:solidFill>
            <a:round/>
          </a:ln>
        </p:spPr>
      </p:sp>
      <p:sp>
        <p:nvSpPr>
          <p:cNvPr id="108" name="af-right-model-rect-001-rect-01" descr="{&quot;autofigure_element_id&quot;:&quot;right-model-rect-001&quot;}"/>
          <p:cNvSpPr/>
          <p:nvPr/>
        </p:nvSpPr>
        <p:spPr>
          <a:xfrm>
            <a:off x="8391525" y="2409825"/>
            <a:ext cx="2686050" cy="1181100"/>
          </a:xfrm>
          <a:prstGeom prst="rect">
            <a:avLst/>
          </a:prstGeom>
          <a:solidFill>
            <a:srgbClr val="FFFFFF"/>
          </a:solidFill>
          <a:ln w="38100" cap="rnd">
            <a:solidFill>
              <a:srgbClr val="6CA6D9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af-right-model-g-001-line-001-line-01" descr="{&quot;autofigure_element_id&quot;:&quot;right-model-g-001-line-001&quot;}"/>
          <p:cNvCxnSpPr/>
          <p:nvPr/>
        </p:nvCxnSpPr>
        <p:spPr>
          <a:xfrm flipH="1">
            <a:off x="9334500" y="2533650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af-right-model-g-001-line-002-line-01" descr="{&quot;autofigure_element_id&quot;:&quot;right-model-g-001-line-002&quot;}"/>
          <p:cNvCxnSpPr/>
          <p:nvPr/>
        </p:nvCxnSpPr>
        <p:spPr>
          <a:xfrm>
            <a:off x="9734550" y="2533650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af-right-model-g-001-line-003-line-01" descr="{&quot;autofigure_element_id&quot;:&quot;right-model-g-001-line-003&quot;}"/>
          <p:cNvCxnSpPr/>
          <p:nvPr/>
        </p:nvCxnSpPr>
        <p:spPr>
          <a:xfrm>
            <a:off x="9334500" y="2771775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af-right-model-g-001-line-004-line-01" descr="{&quot;autofigure_element_id&quot;:&quot;right-model-g-001-line-004&quot;}"/>
          <p:cNvCxnSpPr/>
          <p:nvPr/>
        </p:nvCxnSpPr>
        <p:spPr>
          <a:xfrm flipH="1">
            <a:off x="9734550" y="2771775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af-right-model-g-001-line-005-line-01" descr="{&quot;autofigure_element_id&quot;:&quot;right-model-g-001-line-005&quot;}"/>
          <p:cNvCxnSpPr/>
          <p:nvPr/>
        </p:nvCxnSpPr>
        <p:spPr>
          <a:xfrm flipH="1">
            <a:off x="9334500" y="3009900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af-right-model-g-001-line-006-line-01" descr="{&quot;autofigure_element_id&quot;:&quot;right-model-g-001-line-006&quot;}"/>
          <p:cNvCxnSpPr/>
          <p:nvPr/>
        </p:nvCxnSpPr>
        <p:spPr>
          <a:xfrm>
            <a:off x="9734550" y="3009900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af-right-model-g-001-line-007-line-01" descr="{&quot;autofigure_element_id&quot;:&quot;right-model-g-001-line-007&quot;}"/>
          <p:cNvCxnSpPr/>
          <p:nvPr/>
        </p:nvCxnSpPr>
        <p:spPr>
          <a:xfrm>
            <a:off x="9334500" y="3248025"/>
            <a:ext cx="400050" cy="21907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af-right-model-g-001-line-008-line-01" descr="{&quot;autofigure_element_id&quot;:&quot;right-model-g-001-line-008&quot;}"/>
          <p:cNvCxnSpPr/>
          <p:nvPr/>
        </p:nvCxnSpPr>
        <p:spPr>
          <a:xfrm flipH="1">
            <a:off x="9734550" y="3248025"/>
            <a:ext cx="400050" cy="21907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af-right-model-g-001-circle-001-ellipse-01" descr="{&quot;autofigure_element_id&quot;:&quot;right-model-g-001-circle-001&quot;}"/>
          <p:cNvSpPr/>
          <p:nvPr/>
        </p:nvSpPr>
        <p:spPr>
          <a:xfrm>
            <a:off x="9663112" y="2462212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af-right-model-g-001-circle-002-ellipse-01" descr="{&quot;autofigure_element_id&quot;:&quot;right-model-g-001-circle-002&quot;}"/>
          <p:cNvSpPr/>
          <p:nvPr/>
        </p:nvSpPr>
        <p:spPr>
          <a:xfrm>
            <a:off x="9263062" y="270033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af-right-model-g-001-circle-003-ellipse-01" descr="{&quot;autofigure_element_id&quot;:&quot;right-model-g-001-circle-003&quot;}"/>
          <p:cNvSpPr/>
          <p:nvPr/>
        </p:nvSpPr>
        <p:spPr>
          <a:xfrm>
            <a:off x="10063162" y="270033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af-right-model-g-001-circle-004-ellipse-01" descr="{&quot;autofigure_element_id&quot;:&quot;right-model-g-001-circle-004&quot;}"/>
          <p:cNvSpPr/>
          <p:nvPr/>
        </p:nvSpPr>
        <p:spPr>
          <a:xfrm>
            <a:off x="9663112" y="2938462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af-right-model-g-001-circle-005-ellipse-01" descr="{&quot;autofigure_element_id&quot;:&quot;right-model-g-001-circle-005&quot;}"/>
          <p:cNvSpPr/>
          <p:nvPr/>
        </p:nvSpPr>
        <p:spPr>
          <a:xfrm>
            <a:off x="9263062" y="317658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af-right-model-g-001-circle-006-ellipse-01" descr="{&quot;autofigure_element_id&quot;:&quot;right-model-g-001-circle-006&quot;}"/>
          <p:cNvSpPr/>
          <p:nvPr/>
        </p:nvSpPr>
        <p:spPr>
          <a:xfrm>
            <a:off x="10063162" y="317658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af-right-model-g-001-circle-007-ellipse-01" descr="{&quot;autofigure_element_id&quot;:&quot;right-model-g-001-circle-007&quot;}"/>
          <p:cNvSpPr/>
          <p:nvPr/>
        </p:nvSpPr>
        <p:spPr>
          <a:xfrm>
            <a:off x="9663112" y="3395662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af-right-model-text-001-text-01" descr="{&quot;autofigure_element_id&quot;:&quot;right-model-text-001&quot;}"/>
          <p:cNvSpPr txBox="1"/>
          <p:nvPr/>
        </p:nvSpPr>
        <p:spPr>
          <a:xfrm>
            <a:off x="8491728" y="2698909"/>
            <a:ext cx="2485644" cy="5119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025" b="1">
                <a:solidFill>
                  <a:srgbClr val="073B68"/>
                </a:solidFill>
                <a:latin typeface="Arial"/>
              </a:rPr>
              <a:t>Pareto-Conditioned</a:t>
            </a:r>
          </a:p>
        </p:txBody>
      </p:sp>
      <p:sp>
        <p:nvSpPr>
          <p:cNvPr id="125" name="af-right-model-text-002-text-01" descr="{&quot;autofigure_element_id&quot;:&quot;right-model-text-002&quot;}"/>
          <p:cNvSpPr txBox="1"/>
          <p:nvPr/>
        </p:nvSpPr>
        <p:spPr>
          <a:xfrm>
            <a:off x="8689753" y="2994184"/>
            <a:ext cx="2089594" cy="5119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025">
                <a:solidFill>
                  <a:srgbClr val="073B68"/>
                </a:solidFill>
                <a:latin typeface="Arial"/>
              </a:rPr>
              <a:t>Diffusion Model</a:t>
            </a:r>
          </a:p>
        </p:txBody>
      </p:sp>
      <p:sp>
        <p:nvSpPr>
          <p:cNvPr id="126" name="af-noise-arrow-freeform-arrow-01" descr="{&quot;arrow_semantic_centerline&quot;:{&quot;coordinate_space&quot;:&quot;canvas&quot;,&quot;kind&quot;:&quot;straight&quot;,&quot;points&quot;:[{&quot;x&quot;:1022.0,&quot;y&quot;:196.0},{&quot;x&quot;:1022.0,&quot;y&quot;:247.0}]},&quot;arrow_spec_sha256&quot;:&quot;65d538d61b62b240e515ebade0ff7e27aa9cf35f718cb0c9101cb5f7652445a3&quot;,&quot;autofigure_element_id&quot;:&quot;noise-arrow&quot;}"/>
          <p:cNvSpPr/>
          <p:nvPr/>
        </p:nvSpPr>
        <p:spPr>
          <a:xfrm>
            <a:off x="9515475" y="1866900"/>
            <a:ext cx="438150" cy="485775"/>
          </a:xfrm>
          <a:custGeom>
            <a:avLst/>
            <a:gdLst/>
            <a:ahLst/>
            <a:cxnLst/>
            <a:rect l="0" t="0" r="0" b="0"/>
            <a:pathLst>
              <a:path w="438150" h="485775">
                <a:moveTo>
                  <a:pt x="104775" y="0"/>
                </a:moveTo>
                <a:lnTo>
                  <a:pt x="333375" y="0"/>
                </a:lnTo>
                <a:lnTo>
                  <a:pt x="333375" y="257175"/>
                </a:lnTo>
                <a:lnTo>
                  <a:pt x="438150" y="257175"/>
                </a:lnTo>
                <a:lnTo>
                  <a:pt x="219075" y="485775"/>
                </a:lnTo>
                <a:lnTo>
                  <a:pt x="0" y="257175"/>
                </a:lnTo>
                <a:lnTo>
                  <a:pt x="104775" y="257175"/>
                </a:lnTo>
                <a:close/>
              </a:path>
            </a:pathLst>
          </a:custGeom>
          <a:solidFill>
            <a:srgbClr val="E69138"/>
          </a:solidFill>
          <a:ln w="13335" cap="rnd">
            <a:solidFill>
              <a:srgbClr val="C56E11"/>
            </a:solidFill>
            <a:round/>
          </a:ln>
        </p:spPr>
      </p:sp>
      <p:sp>
        <p:nvSpPr>
          <p:cNvPr id="127" name="af-styles-text-007-text-01" descr="{&quot;autofigure_element_id&quot;:&quot;styles-text-007&quot;}"/>
          <p:cNvSpPr txBox="1"/>
          <p:nvPr/>
        </p:nvSpPr>
        <p:spPr>
          <a:xfrm>
            <a:off x="10096500" y="1917382"/>
            <a:ext cx="926401" cy="5000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50">
                <a:solidFill>
                  <a:srgbClr val="073B68"/>
                </a:solidFill>
                <a:latin typeface="Arial"/>
              </a:rPr>
              <a:t>Noise</a:t>
            </a:r>
          </a:p>
        </p:txBody>
      </p:sp>
      <p:sp>
        <p:nvSpPr>
          <p:cNvPr id="128" name="af-sample-arrow-freeform-arrow-01" descr="{&quot;arrow_semantic_centerline&quot;:{&quot;coordinate_space&quot;:&quot;canvas&quot;,&quot;kind&quot;:&quot;straight&quot;,&quot;points&quot;:[{&quot;x&quot;:1022.5,&quot;y&quot;:383.0},{&quot;x&quot;:1022.5,&quot;y&quot;:456.0}]},&quot;arrow_spec_sha256&quot;:&quot;53ee8ebdba5e6c3c339a120d9e2e97e7731aac12276f47adb0e91cc322221663&quot;,&quot;autofigure_element_id&quot;:&quot;sample-arrow&quot;}"/>
          <p:cNvSpPr/>
          <p:nvPr/>
        </p:nvSpPr>
        <p:spPr>
          <a:xfrm>
            <a:off x="9515475" y="3648075"/>
            <a:ext cx="447675" cy="695325"/>
          </a:xfrm>
          <a:custGeom>
            <a:avLst/>
            <a:gdLst/>
            <a:ahLst/>
            <a:cxnLst/>
            <a:rect l="0" t="0" r="0" b="0"/>
            <a:pathLst>
              <a:path w="447675" h="695325">
                <a:moveTo>
                  <a:pt x="104775" y="0"/>
                </a:moveTo>
                <a:lnTo>
                  <a:pt x="333375" y="0"/>
                </a:lnTo>
                <a:lnTo>
                  <a:pt x="333375" y="457200"/>
                </a:lnTo>
                <a:lnTo>
                  <a:pt x="447675" y="457200"/>
                </a:lnTo>
                <a:lnTo>
                  <a:pt x="223838" y="695325"/>
                </a:lnTo>
                <a:lnTo>
                  <a:pt x="0" y="457200"/>
                </a:lnTo>
                <a:lnTo>
                  <a:pt x="104775" y="457200"/>
                </a:lnTo>
                <a:close/>
              </a:path>
            </a:pathLst>
          </a:custGeom>
          <a:solidFill>
            <a:srgbClr val="E69138"/>
          </a:solidFill>
          <a:ln w="13335" cap="rnd">
            <a:solidFill>
              <a:srgbClr val="C56E11"/>
            </a:solidFill>
            <a:round/>
          </a:ln>
        </p:spPr>
      </p:sp>
      <p:sp>
        <p:nvSpPr>
          <p:cNvPr id="129" name="af-styles-text-008-text-01" descr="{&quot;autofigure_element_id&quot;:&quot;styles-text-008&quot;}"/>
          <p:cNvSpPr txBox="1"/>
          <p:nvPr/>
        </p:nvSpPr>
        <p:spPr>
          <a:xfrm>
            <a:off x="10048875" y="3793808"/>
            <a:ext cx="1136904" cy="5000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50">
                <a:solidFill>
                  <a:srgbClr val="073B68"/>
                </a:solidFill>
                <a:latin typeface="Arial"/>
              </a:rPr>
              <a:t>Sample</a:t>
            </a:r>
          </a:p>
        </p:txBody>
      </p:sp>
      <p:sp>
        <p:nvSpPr>
          <p:cNvPr id="130" name="af-designs-cuboid-polygon-001-freeform-01" descr="{&quot;autofigure_element_id&quot;:&quot;designs-cuboid-polygon-001&quot;}"/>
          <p:cNvSpPr/>
          <p:nvPr/>
        </p:nvSpPr>
        <p:spPr>
          <a:xfrm>
            <a:off x="8943975" y="4400550"/>
            <a:ext cx="1571625" cy="247650"/>
          </a:xfrm>
          <a:custGeom>
            <a:avLst/>
            <a:gdLst/>
            <a:ahLst/>
            <a:cxnLst/>
            <a:rect l="0" t="0" r="0" b="0"/>
            <a:pathLst>
              <a:path w="1571625" h="247650">
                <a:moveTo>
                  <a:pt x="0" y="247650"/>
                </a:moveTo>
                <a:lnTo>
                  <a:pt x="257175" y="0"/>
                </a:lnTo>
                <a:lnTo>
                  <a:pt x="1571625" y="0"/>
                </a:lnTo>
                <a:lnTo>
                  <a:pt x="1314450" y="247650"/>
                </a:lnTo>
                <a:close/>
              </a:path>
            </a:pathLst>
          </a:custGeom>
          <a:solidFill>
            <a:srgbClr val="D6E4F3"/>
          </a:solidFill>
          <a:ln w="14288" cap="rnd">
            <a:solidFill>
              <a:srgbClr val="154F91"/>
            </a:solidFill>
            <a:round/>
          </a:ln>
        </p:spPr>
      </p:sp>
      <p:sp>
        <p:nvSpPr>
          <p:cNvPr id="131" name="af-designs-cuboid-polygon-002-freeform-01" descr="{&quot;autofigure_element_id&quot;:&quot;designs-cuboid-polygon-002&quot;}"/>
          <p:cNvSpPr/>
          <p:nvPr/>
        </p:nvSpPr>
        <p:spPr>
          <a:xfrm>
            <a:off x="10258425" y="4400550"/>
            <a:ext cx="257175" cy="1038225"/>
          </a:xfrm>
          <a:custGeom>
            <a:avLst/>
            <a:gdLst/>
            <a:ahLst/>
            <a:cxnLst/>
            <a:rect l="0" t="0" r="0" b="0"/>
            <a:pathLst>
              <a:path w="257175" h="1038225">
                <a:moveTo>
                  <a:pt x="0" y="247650"/>
                </a:moveTo>
                <a:lnTo>
                  <a:pt x="257175" y="0"/>
                </a:lnTo>
                <a:lnTo>
                  <a:pt x="257175" y="781050"/>
                </a:lnTo>
                <a:lnTo>
                  <a:pt x="0" y="1038225"/>
                </a:lnTo>
                <a:close/>
              </a:path>
            </a:pathLst>
          </a:custGeom>
          <a:solidFill>
            <a:srgbClr val="9EB9D7"/>
          </a:solidFill>
          <a:ln w="14288" cap="rnd">
            <a:solidFill>
              <a:srgbClr val="154F91"/>
            </a:solidFill>
            <a:round/>
          </a:ln>
        </p:spPr>
      </p:sp>
      <p:sp>
        <p:nvSpPr>
          <p:cNvPr id="132" name="af-designs-cuboid-rect-001-rect-01" descr="{&quot;autofigure_element_id&quot;:&quot;designs-cuboid-rect-001&quot;}"/>
          <p:cNvSpPr/>
          <p:nvPr/>
        </p:nvSpPr>
        <p:spPr>
          <a:xfrm>
            <a:off x="8943975" y="4648200"/>
            <a:ext cx="1314450" cy="790575"/>
          </a:xfrm>
          <a:prstGeom prst="rect">
            <a:avLst/>
          </a:prstGeom>
          <a:solidFill>
            <a:srgbClr val="C8DCEE"/>
          </a:solidFill>
          <a:ln w="14288" cap="rnd">
            <a:solidFill>
              <a:srgbClr val="154F91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af-designs-cuboid-text-001-text-01" descr="{&quot;autofigure_element_id&quot;:&quot;designs-cuboid-text-001&quot;}"/>
          <p:cNvSpPr txBox="1"/>
          <p:nvPr/>
        </p:nvSpPr>
        <p:spPr>
          <a:xfrm>
            <a:off x="8992314" y="4899184"/>
            <a:ext cx="1217771" cy="5119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025" b="1">
                <a:solidFill>
                  <a:srgbClr val="073B68"/>
                </a:solidFill>
                <a:latin typeface="Arial"/>
              </a:rPr>
              <a:t>Designs</a:t>
            </a:r>
          </a:p>
        </p:txBody>
      </p:sp>
      <p:cxnSp>
        <p:nvCxnSpPr>
          <p:cNvPr id="134" name="af-molecule-right-g-001-line-001-line-01" descr="{&quot;autofigure_element_id&quot;:&quot;molecule-right-g-001-line-001&quot;,&quot;topology_relation&quot;:{&quot;element_id&quot;:&quot;molecule-right-g-001-line-001&quot;,&quot;relation&quot;:&quot;bond&quot;,&quot;source_id&quot;:&quot;molecule-right-circle-001&quot;,&quot;target_id&quot;:&quot;molecule-right-circle-002&quot;}}"/>
          <p:cNvCxnSpPr/>
          <p:nvPr/>
        </p:nvCxnSpPr>
        <p:spPr>
          <a:xfrm>
            <a:off x="8172450" y="4924425"/>
            <a:ext cx="180975" cy="38100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af-molecule-right-g-001-line-002-line-01" descr="{&quot;autofigure_element_id&quot;:&quot;molecule-right-g-001-line-002&quot;,&quot;topology_relation&quot;:{&quot;element_id&quot;:&quot;molecule-right-g-001-line-002&quot;,&quot;relation&quot;:&quot;bond&quot;,&quot;source_id&quot;:&quot;molecule-right-circle-002&quot;,&quot;target_id&quot;:&quot;molecule-right-circle-003&quot;}}"/>
          <p:cNvCxnSpPr/>
          <p:nvPr/>
        </p:nvCxnSpPr>
        <p:spPr>
          <a:xfrm flipV="1">
            <a:off x="8353425" y="4838700"/>
            <a:ext cx="123825" cy="12382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af-molecule-right-g-001-line-003-line-01" descr="{&quot;autofigure_element_id&quot;:&quot;molecule-right-g-001-line-003&quot;,&quot;topology_relation&quot;:{&quot;element_id&quot;:&quot;molecule-right-g-001-line-003&quot;,&quot;relation&quot;:&quot;bond&quot;,&quot;source_id&quot;:&quot;molecule-right-circle-002&quot;,&quot;target_id&quot;:&quot;molecule-right-circle-004&quot;}}"/>
          <p:cNvCxnSpPr/>
          <p:nvPr/>
        </p:nvCxnSpPr>
        <p:spPr>
          <a:xfrm>
            <a:off x="8353425" y="4962525"/>
            <a:ext cx="180975" cy="57150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af-molecule-right-g-001-line-004-line-01" descr="{&quot;autofigure_element_id&quot;:&quot;molecule-right-g-001-line-004&quot;,&quot;topology_relation&quot;:{&quot;element_id&quot;:&quot;molecule-right-g-001-line-004&quot;,&quot;relation&quot;:&quot;bond&quot;,&quot;source_id&quot;:&quot;molecule-right-circle-004&quot;,&quot;target_id&quot;:&quot;molecule-right-circle-005&quot;}}"/>
          <p:cNvCxnSpPr/>
          <p:nvPr/>
        </p:nvCxnSpPr>
        <p:spPr>
          <a:xfrm flipV="1">
            <a:off x="8534400" y="4953000"/>
            <a:ext cx="171450" cy="6667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af-molecule-right-g-001-line-005-line-01" descr="{&quot;autofigure_element_id&quot;:&quot;molecule-right-g-001-line-005&quot;,&quot;topology_relation&quot;:{&quot;element_id&quot;:&quot;molecule-right-g-001-line-005&quot;,&quot;relation&quot;:&quot;bond&quot;,&quot;source_id&quot;:&quot;molecule-right-circle-002&quot;,&quot;target_id&quot;:&quot;molecule-right-circle-006&quot;}}"/>
          <p:cNvCxnSpPr/>
          <p:nvPr/>
        </p:nvCxnSpPr>
        <p:spPr>
          <a:xfrm>
            <a:off x="8353425" y="4962525"/>
            <a:ext cx="19050" cy="171450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af-molecule-right-g-001-line-006-line-01" descr="{&quot;autofigure_element_id&quot;:&quot;molecule-right-g-001-line-006&quot;,&quot;topology_relation&quot;:{&quot;element_id&quot;:&quot;molecule-right-g-001-line-006&quot;,&quot;relation&quot;:&quot;bond&quot;,&quot;source_id&quot;:&quot;molecule-right-circle-006&quot;,&quot;target_id&quot;:&quot;molecule-right-circle-007&quot;}}"/>
          <p:cNvCxnSpPr/>
          <p:nvPr/>
        </p:nvCxnSpPr>
        <p:spPr>
          <a:xfrm>
            <a:off x="8372475" y="5133975"/>
            <a:ext cx="171450" cy="4762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af-molecule-right-circle-001-ellipse-01" descr="{&quot;autofigure_element_id&quot;:&quot;molecule-right-circle-001&quot;}"/>
          <p:cNvSpPr/>
          <p:nvPr/>
        </p:nvSpPr>
        <p:spPr>
          <a:xfrm>
            <a:off x="8124825" y="4876800"/>
            <a:ext cx="95250" cy="95250"/>
          </a:xfrm>
          <a:prstGeom prst="ellipse">
            <a:avLst/>
          </a:prstGeom>
          <a:solidFill>
            <a:srgbClr val="F0AA2A"/>
          </a:solidFill>
          <a:ln w="9525" cap="rnd">
            <a:solidFill>
              <a:srgbClr val="D88C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af-molecule-right-circle-002-ellipse-01" descr="{&quot;autofigure_element_id&quot;:&quot;molecule-right-circle-002&quot;}"/>
          <p:cNvSpPr/>
          <p:nvPr/>
        </p:nvSpPr>
        <p:spPr>
          <a:xfrm>
            <a:off x="8296275" y="4905375"/>
            <a:ext cx="114300" cy="114300"/>
          </a:xfrm>
          <a:prstGeom prst="ellipse">
            <a:avLst/>
          </a:prstGeom>
          <a:solidFill>
            <a:srgbClr val="E4503D"/>
          </a:solidFill>
          <a:ln w="9525" cap="rnd">
            <a:solidFill>
              <a:srgbClr val="C64131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af-molecule-right-circle-003-ellipse-01" descr="{&quot;autofigure_element_id&quot;:&quot;molecule-right-circle-003&quot;}"/>
          <p:cNvSpPr/>
          <p:nvPr/>
        </p:nvSpPr>
        <p:spPr>
          <a:xfrm>
            <a:off x="8429625" y="4791075"/>
            <a:ext cx="95250" cy="95250"/>
          </a:xfrm>
          <a:prstGeom prst="ellipse">
            <a:avLst/>
          </a:prstGeom>
          <a:solidFill>
            <a:srgbClr val="7ABB79"/>
          </a:solidFill>
          <a:ln w="9525" cap="rnd">
            <a:solidFill>
              <a:srgbClr val="5E9A5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af-molecule-right-circle-004-ellipse-01" descr="{&quot;autofigure_element_id&quot;:&quot;molecule-right-circle-004&quot;}"/>
          <p:cNvSpPr/>
          <p:nvPr/>
        </p:nvSpPr>
        <p:spPr>
          <a:xfrm>
            <a:off x="8486775" y="4972050"/>
            <a:ext cx="95250" cy="95250"/>
          </a:xfrm>
          <a:prstGeom prst="ellipse">
            <a:avLst/>
          </a:prstGeom>
          <a:solidFill>
            <a:srgbClr val="F3A527"/>
          </a:solidFill>
          <a:ln w="9525" cap="rnd">
            <a:solidFill>
              <a:srgbClr val="D98C1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af-molecule-right-circle-005-ellipse-01" descr="{&quot;autofigure_element_id&quot;:&quot;molecule-right-circle-005&quot;}"/>
          <p:cNvSpPr/>
          <p:nvPr/>
        </p:nvSpPr>
        <p:spPr>
          <a:xfrm>
            <a:off x="8658225" y="4905375"/>
            <a:ext cx="95250" cy="95250"/>
          </a:xfrm>
          <a:prstGeom prst="ellipse">
            <a:avLst/>
          </a:prstGeom>
          <a:solidFill>
            <a:srgbClr val="E35B4A"/>
          </a:solidFill>
          <a:ln w="9525" cap="rnd">
            <a:solidFill>
              <a:srgbClr val="C2453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af-molecule-right-circle-006-ellipse-01" descr="{&quot;autofigure_element_id&quot;:&quot;molecule-right-circle-006&quot;}"/>
          <p:cNvSpPr/>
          <p:nvPr/>
        </p:nvSpPr>
        <p:spPr>
          <a:xfrm>
            <a:off x="8324850" y="5086350"/>
            <a:ext cx="95250" cy="95250"/>
          </a:xfrm>
          <a:prstGeom prst="ellipse">
            <a:avLst/>
          </a:prstGeom>
          <a:solidFill>
            <a:srgbClr val="74B87E"/>
          </a:solidFill>
          <a:ln w="9525" cap="rnd">
            <a:solidFill>
              <a:srgbClr val="59955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af-molecule-right-circle-007-ellipse-01" descr="{&quot;autofigure_element_id&quot;:&quot;molecule-right-circle-007&quot;}"/>
          <p:cNvSpPr/>
          <p:nvPr/>
        </p:nvSpPr>
        <p:spPr>
          <a:xfrm>
            <a:off x="8498205" y="5135880"/>
            <a:ext cx="91440" cy="91440"/>
          </a:xfrm>
          <a:prstGeom prst="ellipse">
            <a:avLst/>
          </a:prstGeom>
          <a:solidFill>
            <a:srgbClr val="F2A72E"/>
          </a:solidFill>
          <a:ln w="9525" cap="rnd">
            <a:solidFill>
              <a:srgbClr val="D58C1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af-molecule-right-circle-008-ellipse-01" descr="{&quot;autofigure_element_id&quot;:&quot;molecule-right-circle-008&quot;}"/>
          <p:cNvSpPr/>
          <p:nvPr/>
        </p:nvSpPr>
        <p:spPr>
          <a:xfrm>
            <a:off x="8210550" y="5057775"/>
            <a:ext cx="95250" cy="95250"/>
          </a:xfrm>
          <a:prstGeom prst="ellipse">
            <a:avLst/>
          </a:prstGeom>
          <a:solidFill>
            <a:srgbClr val="77B47B"/>
          </a:solidFill>
          <a:ln w="9525" cap="rnd">
            <a:solidFill>
              <a:srgbClr val="5C955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af-molecule-right-line-001-line-01" descr="{&quot;autofigure_element_id&quot;:&quot;molecule-right-line-001&quot;,&quot;topology_relation&quot;:{&quot;element_id&quot;:&quot;molecule-right-line-001&quot;,&quot;relation&quot;:&quot;bond&quot;,&quot;source_id&quot;:&quot;molecule-right-circle-008&quot;,&quot;target_id&quot;:&quot;molecule-right-circle-006&quot;}}"/>
          <p:cNvCxnSpPr/>
          <p:nvPr/>
        </p:nvCxnSpPr>
        <p:spPr>
          <a:xfrm>
            <a:off x="8258175" y="5105400"/>
            <a:ext cx="114300" cy="2857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af-dna-right-path-001-freeform-01" descr="{&quot;autofigure_element_id&quot;:&quot;dna-right-path-001&quot;}"/>
          <p:cNvSpPr/>
          <p:nvPr/>
        </p:nvSpPr>
        <p:spPr>
          <a:xfrm>
            <a:off x="10629900" y="4438650"/>
            <a:ext cx="342900" cy="600075"/>
          </a:xfrm>
          <a:custGeom>
            <a:avLst/>
            <a:gdLst/>
            <a:ahLst/>
            <a:cxnLst/>
            <a:rect l="0" t="0" r="0" b="0"/>
            <a:pathLst>
              <a:path w="342900" h="600075">
                <a:moveTo>
                  <a:pt x="38100" y="0"/>
                </a:moveTo>
                <a:cubicBezTo>
                  <a:pt x="0" y="66675"/>
                  <a:pt x="0" y="114300"/>
                  <a:pt x="85725" y="161925"/>
                </a:cubicBezTo>
                <a:cubicBezTo>
                  <a:pt x="200025" y="219075"/>
                  <a:pt x="295275" y="238125"/>
                  <a:pt x="323850" y="295275"/>
                </a:cubicBezTo>
                <a:cubicBezTo>
                  <a:pt x="342900" y="352425"/>
                  <a:pt x="276225" y="390525"/>
                  <a:pt x="190500" y="419100"/>
                </a:cubicBezTo>
                <a:cubicBezTo>
                  <a:pt x="76200" y="457200"/>
                  <a:pt x="47625" y="523875"/>
                  <a:pt x="142875" y="600075"/>
                </a:cubicBezTo>
              </a:path>
            </a:pathLst>
          </a:custGeom>
          <a:noFill/>
          <a:ln w="24765" cap="rnd">
            <a:solidFill>
              <a:srgbClr val="376FC3"/>
            </a:solidFill>
            <a:round/>
          </a:ln>
        </p:spPr>
      </p:sp>
      <p:sp>
        <p:nvSpPr>
          <p:cNvPr id="150" name="af-dna-right-path-002-freeform-01" descr="{&quot;autofigure_element_id&quot;:&quot;dna-right-path-002&quot;}"/>
          <p:cNvSpPr/>
          <p:nvPr/>
        </p:nvSpPr>
        <p:spPr>
          <a:xfrm>
            <a:off x="10639425" y="4438650"/>
            <a:ext cx="342900" cy="600075"/>
          </a:xfrm>
          <a:custGeom>
            <a:avLst/>
            <a:gdLst/>
            <a:ahLst/>
            <a:cxnLst/>
            <a:rect l="0" t="0" r="0" b="0"/>
            <a:pathLst>
              <a:path w="342900" h="600075">
                <a:moveTo>
                  <a:pt x="304800" y="0"/>
                </a:moveTo>
                <a:cubicBezTo>
                  <a:pt x="342900" y="66675"/>
                  <a:pt x="333375" y="114300"/>
                  <a:pt x="257175" y="161925"/>
                </a:cubicBezTo>
                <a:cubicBezTo>
                  <a:pt x="142875" y="219075"/>
                  <a:pt x="47625" y="238125"/>
                  <a:pt x="19050" y="295275"/>
                </a:cubicBezTo>
                <a:cubicBezTo>
                  <a:pt x="0" y="352425"/>
                  <a:pt x="66675" y="390525"/>
                  <a:pt x="152400" y="419100"/>
                </a:cubicBezTo>
                <a:cubicBezTo>
                  <a:pt x="266700" y="457200"/>
                  <a:pt x="295275" y="523875"/>
                  <a:pt x="200025" y="600075"/>
                </a:cubicBezTo>
              </a:path>
            </a:pathLst>
          </a:custGeom>
          <a:noFill/>
          <a:ln w="20955" cap="rnd">
            <a:solidFill>
              <a:srgbClr val="5C9CC7"/>
            </a:solidFill>
            <a:round/>
          </a:ln>
        </p:spPr>
      </p:sp>
      <p:sp>
        <p:nvSpPr>
          <p:cNvPr id="151" name="af-dna-right-path-003-freeform-01" descr="{&quot;autofigure_element_id&quot;:&quot;dna-right-path-003&quot;}"/>
          <p:cNvSpPr/>
          <p:nvPr/>
        </p:nvSpPr>
        <p:spPr>
          <a:xfrm>
            <a:off x="11029950" y="4467225"/>
            <a:ext cx="161925" cy="542925"/>
          </a:xfrm>
          <a:custGeom>
            <a:avLst/>
            <a:gdLst/>
            <a:ahLst/>
            <a:cxnLst/>
            <a:rect l="0" t="0" r="0" b="0"/>
            <a:pathLst>
              <a:path w="161925" h="542925">
                <a:moveTo>
                  <a:pt x="38100" y="0"/>
                </a:moveTo>
                <a:cubicBezTo>
                  <a:pt x="0" y="57150"/>
                  <a:pt x="9525" y="104775"/>
                  <a:pt x="85725" y="152400"/>
                </a:cubicBezTo>
                <a:cubicBezTo>
                  <a:pt x="161925" y="200025"/>
                  <a:pt x="161925" y="247650"/>
                  <a:pt x="95250" y="295275"/>
                </a:cubicBezTo>
                <a:cubicBezTo>
                  <a:pt x="28575" y="342900"/>
                  <a:pt x="28575" y="390525"/>
                  <a:pt x="95250" y="438150"/>
                </a:cubicBezTo>
                <a:cubicBezTo>
                  <a:pt x="142875" y="476250"/>
                  <a:pt x="152400" y="514350"/>
                  <a:pt x="133350" y="542925"/>
                </a:cubicBezTo>
              </a:path>
            </a:pathLst>
          </a:custGeom>
          <a:noFill/>
          <a:ln w="20955" cap="rnd">
            <a:solidFill>
              <a:srgbClr val="729968"/>
            </a:solidFill>
            <a:round/>
          </a:ln>
        </p:spPr>
      </p:sp>
      <p:sp>
        <p:nvSpPr>
          <p:cNvPr id="152" name="af-dna-right-path-004-freeform-01" descr="{&quot;autofigure_element_id&quot;:&quot;dna-right-path-004&quot;}"/>
          <p:cNvSpPr/>
          <p:nvPr/>
        </p:nvSpPr>
        <p:spPr>
          <a:xfrm>
            <a:off x="11049000" y="4467225"/>
            <a:ext cx="161925" cy="542925"/>
          </a:xfrm>
          <a:custGeom>
            <a:avLst/>
            <a:gdLst/>
            <a:ahLst/>
            <a:cxnLst/>
            <a:rect l="0" t="0" r="0" b="0"/>
            <a:pathLst>
              <a:path w="161925" h="542925">
                <a:moveTo>
                  <a:pt x="123825" y="0"/>
                </a:moveTo>
                <a:cubicBezTo>
                  <a:pt x="161925" y="57150"/>
                  <a:pt x="152400" y="104775"/>
                  <a:pt x="76200" y="152400"/>
                </a:cubicBezTo>
                <a:cubicBezTo>
                  <a:pt x="0" y="200025"/>
                  <a:pt x="0" y="247650"/>
                  <a:pt x="66675" y="295275"/>
                </a:cubicBezTo>
                <a:cubicBezTo>
                  <a:pt x="133350" y="342900"/>
                  <a:pt x="133350" y="390525"/>
                  <a:pt x="66675" y="438150"/>
                </a:cubicBezTo>
                <a:cubicBezTo>
                  <a:pt x="19050" y="476250"/>
                  <a:pt x="9525" y="514350"/>
                  <a:pt x="28575" y="542925"/>
                </a:cubicBezTo>
              </a:path>
            </a:pathLst>
          </a:custGeom>
          <a:noFill/>
          <a:ln w="20955" cap="rnd">
            <a:solidFill>
              <a:srgbClr val="9F6C57"/>
            </a:solidFill>
            <a:round/>
          </a:ln>
        </p:spPr>
      </p:sp>
      <p:cxnSp>
        <p:nvCxnSpPr>
          <p:cNvPr id="153" name="af-dna-right-g-001-line-001-line-01" descr="{&quot;autofigure_element_id&quot;:&quot;dna-right-g-001-line-001&quot;,&quot;topology_relation&quot;:{&quot;element_id&quot;:&quot;dna-right-g-001-line-001&quot;,&quot;relation&quot;:&quot;base-pair&quot;,&quot;source_id&quot;:&quot;dna-right-path-001&quot;,&quot;target_id&quot;:&quot;dna-right-path-002&quot;}}"/>
          <p:cNvCxnSpPr/>
          <p:nvPr/>
        </p:nvCxnSpPr>
        <p:spPr>
          <a:xfrm>
            <a:off x="10648950" y="4514850"/>
            <a:ext cx="314325" cy="0"/>
          </a:xfrm>
          <a:prstGeom prst="line">
            <a:avLst/>
          </a:prstGeom>
          <a:ln w="11906" cap="rnd">
            <a:solidFill>
              <a:srgbClr val="E17B46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af-dna-right-g-001-line-002-line-01" descr="{&quot;autofigure_element_id&quot;:&quot;dna-right-g-001-line-002&quot;,&quot;topology_relation&quot;:{&quot;element_id&quot;:&quot;dna-right-g-001-line-002&quot;,&quot;relation&quot;:&quot;base-pair&quot;,&quot;source_id&quot;:&quot;dna-right-path-001&quot;,&quot;target_id&quot;:&quot;dna-right-path-002&quot;}}"/>
          <p:cNvCxnSpPr/>
          <p:nvPr/>
        </p:nvCxnSpPr>
        <p:spPr>
          <a:xfrm>
            <a:off x="10696575" y="4591050"/>
            <a:ext cx="219075" cy="0"/>
          </a:xfrm>
          <a:prstGeom prst="line">
            <a:avLst/>
          </a:prstGeom>
          <a:ln w="11906" cap="rnd">
            <a:solidFill>
              <a:srgbClr val="66B5B3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af-dna-right-g-001-line-003-line-01" descr="{&quot;autofigure_element_id&quot;:&quot;dna-right-g-001-line-003&quot;,&quot;topology_relation&quot;:{&quot;element_id&quot;:&quot;dna-right-g-001-line-003&quot;,&quot;relation&quot;:&quot;base-pair&quot;,&quot;source_id&quot;:&quot;dna-right-path-001&quot;,&quot;target_id&quot;:&quot;dna-right-path-002&quot;}}"/>
          <p:cNvCxnSpPr/>
          <p:nvPr/>
        </p:nvCxnSpPr>
        <p:spPr>
          <a:xfrm>
            <a:off x="10715625" y="4695825"/>
            <a:ext cx="180975" cy="0"/>
          </a:xfrm>
          <a:prstGeom prst="line">
            <a:avLst/>
          </a:prstGeom>
          <a:ln w="11906" cap="rnd">
            <a:solidFill>
              <a:srgbClr val="E17B46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af-dna-right-g-001-line-004-line-01" descr="{&quot;autofigure_element_id&quot;:&quot;dna-right-g-001-line-004&quot;,&quot;topology_relation&quot;:{&quot;element_id&quot;:&quot;dna-right-g-001-line-004&quot;,&quot;relation&quot;:&quot;base-pair&quot;,&quot;source_id&quot;:&quot;dna-right-path-001&quot;,&quot;target_id&quot;:&quot;dna-right-path-002&quot;}}"/>
          <p:cNvCxnSpPr/>
          <p:nvPr/>
        </p:nvCxnSpPr>
        <p:spPr>
          <a:xfrm>
            <a:off x="10696575" y="4876800"/>
            <a:ext cx="219075" cy="0"/>
          </a:xfrm>
          <a:prstGeom prst="line">
            <a:avLst/>
          </a:prstGeom>
          <a:ln w="11906" cap="rnd">
            <a:solidFill>
              <a:srgbClr val="66B5B3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af-dna-right-g-001-line-005-line-01" descr="{&quot;autofigure_element_id&quot;:&quot;dna-right-g-001-line-005&quot;,&quot;topology_relation&quot;:{&quot;element_id&quot;:&quot;dna-right-g-001-line-005&quot;,&quot;relation&quot;:&quot;base-pair&quot;,&quot;source_id&quot;:&quot;dna-right-path-003&quot;,&quot;target_id&quot;:&quot;dna-right-path-004&quot;}}"/>
          <p:cNvCxnSpPr/>
          <p:nvPr/>
        </p:nvCxnSpPr>
        <p:spPr>
          <a:xfrm>
            <a:off x="11058525" y="4543425"/>
            <a:ext cx="133350" cy="0"/>
          </a:xfrm>
          <a:prstGeom prst="line">
            <a:avLst/>
          </a:prstGeom>
          <a:ln w="11906" cap="rnd">
            <a:solidFill>
              <a:srgbClr val="9F6C57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af-dna-right-g-001-line-006-line-01" descr="{&quot;autofigure_element_id&quot;:&quot;dna-right-g-001-line-006&quot;,&quot;topology_relation&quot;:{&quot;element_id&quot;:&quot;dna-right-g-001-line-006&quot;,&quot;relation&quot;:&quot;base-pair&quot;,&quot;source_id&quot;:&quot;dna-right-path-003&quot;,&quot;target_id&quot;:&quot;dna-right-path-004&quot;}}"/>
          <p:cNvCxnSpPr/>
          <p:nvPr/>
        </p:nvCxnSpPr>
        <p:spPr>
          <a:xfrm>
            <a:off x="11077575" y="4648200"/>
            <a:ext cx="85725" cy="0"/>
          </a:xfrm>
          <a:prstGeom prst="line">
            <a:avLst/>
          </a:prstGeom>
          <a:ln w="11906" cap="rnd">
            <a:solidFill>
              <a:srgbClr val="729968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af-dna-right-g-001-line-007-line-01" descr="{&quot;autofigure_element_id&quot;:&quot;dna-right-g-001-line-007&quot;,&quot;topology_relation&quot;:{&quot;element_id&quot;:&quot;dna-right-g-001-line-007&quot;,&quot;relation&quot;:&quot;base-pair&quot;,&quot;source_id&quot;:&quot;dna-right-path-003&quot;,&quot;target_id&quot;:&quot;dna-right-path-004&quot;}}"/>
          <p:cNvCxnSpPr/>
          <p:nvPr/>
        </p:nvCxnSpPr>
        <p:spPr>
          <a:xfrm>
            <a:off x="11068050" y="4781550"/>
            <a:ext cx="104775" cy="0"/>
          </a:xfrm>
          <a:prstGeom prst="line">
            <a:avLst/>
          </a:prstGeom>
          <a:ln w="11906" cap="rnd">
            <a:solidFill>
              <a:srgbClr val="9F6C57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af-dna-right-g-001-line-008-line-01" descr="{&quot;autofigure_element_id&quot;:&quot;dna-right-g-001-line-008&quot;,&quot;topology_relation&quot;:{&quot;element_id&quot;:&quot;dna-right-g-001-line-008&quot;,&quot;relation&quot;:&quot;base-pair&quot;,&quot;source_id&quot;:&quot;dna-right-path-003&quot;,&quot;target_id&quot;:&quot;dna-right-path-004&quot;}}"/>
          <p:cNvCxnSpPr/>
          <p:nvPr/>
        </p:nvCxnSpPr>
        <p:spPr>
          <a:xfrm>
            <a:off x="11077575" y="4914900"/>
            <a:ext cx="85725" cy="0"/>
          </a:xfrm>
          <a:prstGeom prst="line">
            <a:avLst/>
          </a:prstGeom>
          <a:ln w="11906" cap="rnd">
            <a:solidFill>
              <a:srgbClr val="729968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