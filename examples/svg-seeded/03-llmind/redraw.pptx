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25425" cy="624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vg-rect-0001-rect-01"/>
          <p:cNvSpPr/>
          <p:nvPr/>
        </p:nvSpPr>
        <p:spPr>
          <a:xfrm>
            <a:off x="0" y="0"/>
            <a:ext cx="12925425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svg-text-0001-text-01"/>
          <p:cNvSpPr txBox="1"/>
          <p:nvPr/>
        </p:nvSpPr>
        <p:spPr>
          <a:xfrm>
            <a:off x="657225" y="87154"/>
            <a:ext cx="745141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 b="1">
                <a:solidFill>
                  <a:srgbClr val="000000"/>
                </a:solidFill>
                <a:latin typeface="Liberation Serif"/>
              </a:rPr>
              <a:t>CSF</a:t>
            </a:r>
          </a:p>
        </p:txBody>
      </p:sp>
      <p:sp>
        <p:nvSpPr>
          <p:cNvPr id="4" name="af-svg-text-0002-text-01"/>
          <p:cNvSpPr txBox="1"/>
          <p:nvPr/>
        </p:nvSpPr>
        <p:spPr>
          <a:xfrm>
            <a:off x="1104900" y="87154"/>
            <a:ext cx="3005995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000000"/>
                </a:solidFill>
                <a:latin typeface="Liberation Serif"/>
              </a:rPr>
              <a:t>(SPSA Based Optimization)</a:t>
            </a:r>
          </a:p>
        </p:txBody>
      </p:sp>
      <p:sp>
        <p:nvSpPr>
          <p:cNvPr id="5" name="af-svg-path-0001-freeform-01"/>
          <p:cNvSpPr/>
          <p:nvPr/>
        </p:nvSpPr>
        <p:spPr>
          <a:xfrm>
            <a:off x="666750" y="409575"/>
            <a:ext cx="7334250" cy="1114425"/>
          </a:xfrm>
          <a:custGeom>
            <a:avLst/>
            <a:gdLst/>
            <a:ahLst/>
            <a:cxnLst/>
            <a:rect l="0" t="0" r="0" b="0"/>
            <a:pathLst>
              <a:path w="7334250" h="1114425">
                <a:moveTo>
                  <a:pt x="0" y="1114425"/>
                </a:moveTo>
                <a:lnTo>
                  <a:pt x="0" y="0"/>
                </a:lnTo>
                <a:lnTo>
                  <a:pt x="7334250" y="0"/>
                </a:lnTo>
                <a:lnTo>
                  <a:pt x="7334250" y="34290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cxnSp>
        <p:nvCxnSpPr>
          <p:cNvPr id="6" name="af-svg-path-0002-line-01"/>
          <p:cNvCxnSpPr/>
          <p:nvPr/>
        </p:nvCxnSpPr>
        <p:spPr>
          <a:xfrm>
            <a:off x="666750" y="1381125"/>
            <a:ext cx="0" cy="142875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f-svg-path-0003-freeform-01"/>
          <p:cNvSpPr/>
          <p:nvPr/>
        </p:nvSpPr>
        <p:spPr>
          <a:xfrm>
            <a:off x="623888" y="1455420"/>
            <a:ext cx="85725" cy="68580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0"/>
                </a:moveTo>
                <a:lnTo>
                  <a:pt x="42862" y="68580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th:001" descr="AI_AUTOFIGURE_NATIVE_MATH_V1:eyJjb250ZW50X3J1bnMiOlt7ImNhbm9uaWNhbF9sYXRleCI6IlxcbmFibGFfe1xcdGhldGF9IFxcbWF0aGNhbHtMfV97dGV4dH0iLCJmb3JtdWxhX2lkIjoiRVEwMDEiLCJraW5kIjoibWF0aCIsImxhdGV4X3NoYTI1NiI6IjM0NTVkMzY5YTAwODk2ZDUxZjI1NzNlYjIzN2ZmNjlkMWNjYzMzOThhMzg3ZTQ0ZGE0NTI2MDFiYzA0Yjg5NjAiLCJtb2RlIjoiaW5saW5lIiwib21tbF9zaGEyNTYiOiI4ZjU5NjRkNDYwZGE3NWYxZGJmYTE0MWY3ZjMxNTc2NjE4OTEyM2ExMTQ0NWMzYTU5ZDc4NTQyMTI0Nzg3MDBmIiwic2VtYW50aWNfb21tbF9wcm9maWxlIjoib2ZmaWNlLW1hdGgtc2VtYW50aWMtdjIiLCJzZW1hbnRpY19vbW1sX3NoYTI1NiI6IjY3NjhkNjcxNDllNzE5NDcxZjgyMmYwN2IxZTFlMGFiZTIyOGZiYjAzOGM4MmJhYWE0YjU1OWJlMzJjMTliNTQifV0sImZvcm11bGFzIjpbeyJjYW5vbmljYWxfbGF0ZXgiOiJcXG5hYmxhX3tcXHRoZXRhfSBcXG1hdGhjYWx7TH1fe3RleHR9IiwiZm9ybXVsYV9pZCI6IkVRMDAxIiwibGF0ZXhfc2hhMjU2IjoiMzQ1NWQzNjlhMDA4OTZkNTFmMjU3M2ViMjM3ZmY2OWQxY2NjMzM5OGEzODdlNDRkYTQ1MjYwMWJjMDRiODk2MCIsIm1vZGUiOiJpbmxpbmUiLCJvbW1sX3NoYTI1NiI6IjhmNTk2NGQ0NjBkYTc1ZjFkYmZhMTQxZjdmMzE1NzY2MTg5MTIzYTExNDQ1YzNhNTlkNzg1NDIxMjQ3ODcwMGYiLCJzZW1hbnRpY19vbW1sX3Byb2ZpbGUiOiJvZmZpY2UtbWF0aC1zZW1hbnRpYy12MiIsInNlbWFudGljX29tbWxfc2hhMjU2IjoiNjc2OGQ2NzE0OWU3MTk0NzFmODIyZjA3YjFlMWUwYWJlMjI4ZmJiMDM4YzgyYmFhYTRiNTU5YmUzMmMxOWI1NCJ9XSwia2luZCI6Im5hdGl2ZV9vZmZpY2VfbWF0aCIsInBsYWNlaG9sZGVyX25hbWUiOiJtYXRoOjAwMSIsInNjaGVtYV92ZXJzaW9uIjoiMS4wIn0="/>
              <p:cNvSpPr txBox="1"/>
              <p:nvPr/>
            </p:nvSpPr>
            <p:spPr>
              <a:xfrm rot="16200000">
                <a:off x="37576" y="925116"/>
                <a:ext cx="972598" cy="416719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∇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sub>
                    </m:sSub>
                    <m:sSub>
                      <m:e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text</m:t>
                        </m:r>
                      </m:sub>
                    </m:sSub>
                  </m:oMath>
                </a14:m>
                <a:endParaRPr lang="en-US" dirty="0" sz="1425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8" name="math:001" descr="AI_AUTOFIGURE_MATH_FALLBACK_ONLY_V1:eyJjb250ZW50X3J1bnMiOlt7ImNhbm9uaWNhbF9sYXRleCI6IlxcbmFibGFfe1xcdGhldGF9IFxcbWF0aGNhbHtMfV97dGV4dH0iLCJmb3JtdWxhX2lkIjoiRVEwMDEiLCJraW5kIjoibWF0aCIsImxhdGV4X3NoYTI1NiI6IjM0NTVkMzY5YTAwODk2ZDUxZjI1NzNlYjIzN2ZmNjlkMWNjYzMzOThhMzg3ZTQ0ZGE0NTI2MDFiYzA0Yjg5NjAiLCJtb2RlIjoiaW5saW5lIiwib21tbF9zaGEyNTYiOiI4ZjU5NjRkNDYwZGE3NWYxZGJmYTE0MWY3ZjMxNTc2NjE4OTEyM2ExMTQ0NWMzYTU5ZDc4NTQyMTI0Nzg3MDBmIiwic2VtYW50aWNfb21tbF9wcm9maWxlIjoib2ZmaWNlLW1hdGgtc2VtYW50aWMtdjIiLCJzZW1hbnRpY19vbW1sX3NoYTI1NiI6IjY3NjhkNjcxNDllNzE5NDcxZjgyMmYwN2IxZTFlMGFiZTIyOGZiYjAzOGM4MmJhYWE0YjU1OWJlMzJjMTliNTQifV0sImZvcm11bGFzIjpbeyJjYW5vbmljYWxfbGF0ZXgiOiJcXG5hYmxhX3tcXHRoZXRhfSBcXG1hdGhjYWx7TH1fe3RleHR9IiwiZm9ybXVsYV9pZCI6IkVRMDAxIiwibGF0ZXhfc2hhMjU2IjoiMzQ1NWQzNjlhMDA4OTZkNTFmMjU3M2ViMjM3ZmY2OWQxY2NjMzM5OGEzODdlNDRkYTQ1MjYwMWJjMDRiODk2MCIsIm1vZGUiOiJpbmxpbmUiLCJvbW1sX3NoYTI1NiI6IjhmNTk2NGQ0NjBkYTc1ZjFkYmZhMTQxZjdmMzE1NzY2MTg5MTIzYTExNDQ1YzNhNTlkNzg1NDIxMjQ3ODcwMGYiLCJzZW1hbnRpY19vbW1sX3Byb2ZpbGUiOiJvZmZpY2UtbWF0aC1zZW1hbnRpYy12MiIsInNlbWFudGljX29tbWxfc2hhMjU2IjoiNjc2OGQ2NzE0OWU3MTk0NzFmODIyZjA3YjFlMWUwYWJlMjI4ZmJiMDM4YzgyYmFhYTRiNTU5YmUzMmMxOWI1NCJ9XSwia2luZCI6Im5hdGl2ZV9vZmZpY2VfbWF0aCIsInBsYWNlaG9sZGVyX25hbWUiOiJtYXRoOjAwMSIsInNjaGVtYV92ZXJzaW9uIjoiMS4wIn0="/>
              <p:cNvSpPr txBox="1"/>
              <p:nvPr/>
            </p:nvSpPr>
            <p:spPr>
              <a:xfrm rot="16200000">
                <a:off x="37576" y="925116"/>
                <a:ext cx="972598" cy="416719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:r>
                  <a:rPr lang="en-US" dirty="0" sz="1425">
                    <a:solidFill>
                      <a:srgbClr val="000000"/>
                    </a:solidFill>
                  </a:rPr>
                  <a:t>\(\nabla_{\theta} \mathcal{L}_{text}\)</a:t>
                </a:r>
                <a:endParaRPr lang="en-US" dirty="0" sz="1425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9" name="af-svg-rect-0002-rect-01"/>
          <p:cNvSpPr/>
          <p:nvPr/>
        </p:nvSpPr>
        <p:spPr>
          <a:xfrm>
            <a:off x="495300" y="1562100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f-svg-rect-0003-rect-01"/>
          <p:cNvSpPr/>
          <p:nvPr/>
        </p:nvSpPr>
        <p:spPr>
          <a:xfrm>
            <a:off x="495300" y="1943100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svg-rect-0004-rect-01"/>
          <p:cNvSpPr/>
          <p:nvPr/>
        </p:nvSpPr>
        <p:spPr>
          <a:xfrm>
            <a:off x="495300" y="2324100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svg-rect-0005-rect-01"/>
          <p:cNvSpPr/>
          <p:nvPr/>
        </p:nvSpPr>
        <p:spPr>
          <a:xfrm>
            <a:off x="495300" y="2705100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-svg-rect-0006-rect-01"/>
          <p:cNvSpPr/>
          <p:nvPr/>
        </p:nvSpPr>
        <p:spPr>
          <a:xfrm>
            <a:off x="495300" y="3095625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f-svg-rect-0007-rect-01"/>
          <p:cNvSpPr/>
          <p:nvPr/>
        </p:nvSpPr>
        <p:spPr>
          <a:xfrm>
            <a:off x="495300" y="3476625"/>
            <a:ext cx="352425" cy="352425"/>
          </a:xfrm>
          <a:prstGeom prst="rect">
            <a:avLst/>
          </a:prstGeom>
          <a:solidFill>
            <a:srgbClr val="F2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svg-rect-0008-rect-01"/>
          <p:cNvSpPr/>
          <p:nvPr/>
        </p:nvSpPr>
        <p:spPr>
          <a:xfrm>
            <a:off x="1352550" y="117157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svg-rect-0009-rect-01"/>
          <p:cNvSpPr/>
          <p:nvPr/>
        </p:nvSpPr>
        <p:spPr>
          <a:xfrm>
            <a:off x="1352550" y="1562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svg-rect-0010-rect-01"/>
          <p:cNvSpPr/>
          <p:nvPr/>
        </p:nvSpPr>
        <p:spPr>
          <a:xfrm>
            <a:off x="1352550" y="1943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svg-rect-0011-rect-01"/>
          <p:cNvSpPr/>
          <p:nvPr/>
        </p:nvSpPr>
        <p:spPr>
          <a:xfrm>
            <a:off x="1352550" y="2324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svg-rect-0012-rect-01"/>
          <p:cNvSpPr/>
          <p:nvPr/>
        </p:nvSpPr>
        <p:spPr>
          <a:xfrm>
            <a:off x="1352550" y="2705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svg-rect-0013-rect-01"/>
          <p:cNvSpPr/>
          <p:nvPr/>
        </p:nvSpPr>
        <p:spPr>
          <a:xfrm>
            <a:off x="1352550" y="309562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svg-rect-0014-rect-01"/>
          <p:cNvSpPr/>
          <p:nvPr/>
        </p:nvSpPr>
        <p:spPr>
          <a:xfrm>
            <a:off x="1352550" y="3476625"/>
            <a:ext cx="352425" cy="33337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svg-rect-0015-rect-01"/>
          <p:cNvSpPr/>
          <p:nvPr/>
        </p:nvSpPr>
        <p:spPr>
          <a:xfrm>
            <a:off x="1352550" y="383857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svg-rect-0016-rect-01"/>
          <p:cNvSpPr/>
          <p:nvPr/>
        </p:nvSpPr>
        <p:spPr>
          <a:xfrm>
            <a:off x="2133600" y="117157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f-svg-rect-0017-rect-01"/>
          <p:cNvSpPr/>
          <p:nvPr/>
        </p:nvSpPr>
        <p:spPr>
          <a:xfrm>
            <a:off x="2133600" y="1562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f-svg-rect-0018-rect-01"/>
          <p:cNvSpPr/>
          <p:nvPr/>
        </p:nvSpPr>
        <p:spPr>
          <a:xfrm>
            <a:off x="2133600" y="1943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f-svg-rect-0019-rect-01"/>
          <p:cNvSpPr/>
          <p:nvPr/>
        </p:nvSpPr>
        <p:spPr>
          <a:xfrm>
            <a:off x="2133600" y="2324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f-svg-rect-0020-rect-01"/>
          <p:cNvSpPr/>
          <p:nvPr/>
        </p:nvSpPr>
        <p:spPr>
          <a:xfrm>
            <a:off x="2133600" y="2705100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svg-rect-0021-rect-01"/>
          <p:cNvSpPr/>
          <p:nvPr/>
        </p:nvSpPr>
        <p:spPr>
          <a:xfrm>
            <a:off x="2133600" y="309562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f-svg-rect-0022-rect-01"/>
          <p:cNvSpPr/>
          <p:nvPr/>
        </p:nvSpPr>
        <p:spPr>
          <a:xfrm>
            <a:off x="2133600" y="3476625"/>
            <a:ext cx="352425" cy="33337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f-svg-rect-0023-rect-01"/>
          <p:cNvSpPr/>
          <p:nvPr/>
        </p:nvSpPr>
        <p:spPr>
          <a:xfrm>
            <a:off x="2133600" y="3838575"/>
            <a:ext cx="352425" cy="352425"/>
          </a:xfrm>
          <a:prstGeom prst="rect">
            <a:avLst/>
          </a:prstGeom>
          <a:solidFill>
            <a:srgbClr val="F6C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svg-rect-0024-rect-01"/>
          <p:cNvSpPr/>
          <p:nvPr/>
        </p:nvSpPr>
        <p:spPr>
          <a:xfrm>
            <a:off x="2962275" y="1943100"/>
            <a:ext cx="352425" cy="352425"/>
          </a:xfrm>
          <a:prstGeom prst="rect">
            <a:avLst/>
          </a:prstGeom>
          <a:solidFill>
            <a:srgbClr val="D9F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f-svg-rect-0025-rect-01"/>
          <p:cNvSpPr/>
          <p:nvPr/>
        </p:nvSpPr>
        <p:spPr>
          <a:xfrm>
            <a:off x="2962275" y="2324100"/>
            <a:ext cx="352425" cy="352425"/>
          </a:xfrm>
          <a:prstGeom prst="rect">
            <a:avLst/>
          </a:prstGeom>
          <a:solidFill>
            <a:srgbClr val="D9F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f-svg-rect-0026-rect-01"/>
          <p:cNvSpPr/>
          <p:nvPr/>
        </p:nvSpPr>
        <p:spPr>
          <a:xfrm>
            <a:off x="2962275" y="2714625"/>
            <a:ext cx="352425" cy="352425"/>
          </a:xfrm>
          <a:prstGeom prst="rect">
            <a:avLst/>
          </a:prstGeom>
          <a:solidFill>
            <a:srgbClr val="D9F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svg-rect-0027-rect-01"/>
          <p:cNvSpPr/>
          <p:nvPr/>
        </p:nvSpPr>
        <p:spPr>
          <a:xfrm>
            <a:off x="2962275" y="3095625"/>
            <a:ext cx="352425" cy="352425"/>
          </a:xfrm>
          <a:prstGeom prst="rect">
            <a:avLst/>
          </a:prstGeom>
          <a:solidFill>
            <a:srgbClr val="D9F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af-svg-path-0004-line-01"/>
          <p:cNvCxnSpPr/>
          <p:nvPr/>
        </p:nvCxnSpPr>
        <p:spPr>
          <a:xfrm>
            <a:off x="866775" y="2505075"/>
            <a:ext cx="45720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f-svg-path-0005-freeform-01"/>
          <p:cNvSpPr/>
          <p:nvPr/>
        </p:nvSpPr>
        <p:spPr>
          <a:xfrm>
            <a:off x="125920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37" name="af-svg-path-0006-line-01"/>
          <p:cNvCxnSpPr/>
          <p:nvPr/>
        </p:nvCxnSpPr>
        <p:spPr>
          <a:xfrm>
            <a:off x="1724025" y="2505075"/>
            <a:ext cx="38100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f-svg-path-0007-freeform-01"/>
          <p:cNvSpPr/>
          <p:nvPr/>
        </p:nvSpPr>
        <p:spPr>
          <a:xfrm>
            <a:off x="204025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39" name="af-svg-path-0008-line-01"/>
          <p:cNvCxnSpPr/>
          <p:nvPr/>
        </p:nvCxnSpPr>
        <p:spPr>
          <a:xfrm>
            <a:off x="2505075" y="2505075"/>
            <a:ext cx="41910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f-svg-path-0009-freeform-01"/>
          <p:cNvSpPr/>
          <p:nvPr/>
        </p:nvSpPr>
        <p:spPr>
          <a:xfrm>
            <a:off x="285940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41" name="af-svg-path-0010-line-01"/>
          <p:cNvCxnSpPr/>
          <p:nvPr/>
        </p:nvCxnSpPr>
        <p:spPr>
          <a:xfrm>
            <a:off x="3333750" y="2505075"/>
            <a:ext cx="51435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f-svg-path-0011-freeform-01"/>
          <p:cNvSpPr/>
          <p:nvPr/>
        </p:nvSpPr>
        <p:spPr>
          <a:xfrm>
            <a:off x="37833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43" name="af-svg-path-0012-line-01"/>
          <p:cNvCxnSpPr/>
          <p:nvPr/>
        </p:nvCxnSpPr>
        <p:spPr>
          <a:xfrm flipH="1">
            <a:off x="876300" y="2886075"/>
            <a:ext cx="457200" cy="0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f-svg-path-0013-freeform-01"/>
          <p:cNvSpPr/>
          <p:nvPr/>
        </p:nvSpPr>
        <p:spPr>
          <a:xfrm>
            <a:off x="87630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cxnSp>
        <p:nvCxnSpPr>
          <p:cNvPr id="45" name="af-svg-path-0014-line-01"/>
          <p:cNvCxnSpPr/>
          <p:nvPr/>
        </p:nvCxnSpPr>
        <p:spPr>
          <a:xfrm flipH="1">
            <a:off x="1733550" y="2886075"/>
            <a:ext cx="381000" cy="0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f-svg-path-0015-freeform-01"/>
          <p:cNvSpPr/>
          <p:nvPr/>
        </p:nvSpPr>
        <p:spPr>
          <a:xfrm>
            <a:off x="173355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cxnSp>
        <p:nvCxnSpPr>
          <p:cNvPr id="47" name="af-svg-path-0016-line-01"/>
          <p:cNvCxnSpPr/>
          <p:nvPr/>
        </p:nvCxnSpPr>
        <p:spPr>
          <a:xfrm flipH="1">
            <a:off x="2514600" y="2886075"/>
            <a:ext cx="428625" cy="0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af-svg-path-0017-freeform-01"/>
          <p:cNvSpPr/>
          <p:nvPr/>
        </p:nvSpPr>
        <p:spPr>
          <a:xfrm>
            <a:off x="251460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cxnSp>
        <p:nvCxnSpPr>
          <p:cNvPr id="49" name="af-svg-path-0018-line-01"/>
          <p:cNvCxnSpPr/>
          <p:nvPr/>
        </p:nvCxnSpPr>
        <p:spPr>
          <a:xfrm flipH="1">
            <a:off x="3343275" y="2886075"/>
            <a:ext cx="504825" cy="0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af-svg-path-0019-freeform-01"/>
          <p:cNvSpPr/>
          <p:nvPr/>
        </p:nvSpPr>
        <p:spPr>
          <a:xfrm>
            <a:off x="3343275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1" name="af-svg-rect-0028-rect-01"/>
          <p:cNvSpPr/>
          <p:nvPr/>
        </p:nvSpPr>
        <p:spPr>
          <a:xfrm>
            <a:off x="3876675" y="2181225"/>
            <a:ext cx="2200275" cy="10287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38100">
            <a:solidFill>
              <a:srgbClr val="D86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svg-text-0004-text-01"/>
          <p:cNvSpPr txBox="1"/>
          <p:nvPr/>
        </p:nvSpPr>
        <p:spPr>
          <a:xfrm>
            <a:off x="4238387" y="2296954"/>
            <a:ext cx="1476851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Bio-inspired</a:t>
            </a:r>
          </a:p>
        </p:txBody>
      </p:sp>
      <p:sp>
        <p:nvSpPr>
          <p:cNvPr id="53" name="af-svg-text-0005-text-01"/>
          <p:cNvSpPr txBox="1"/>
          <p:nvPr/>
        </p:nvSpPr>
        <p:spPr>
          <a:xfrm>
            <a:off x="3913061" y="2573179"/>
            <a:ext cx="2127504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Adaptive Sampling</a:t>
            </a:r>
          </a:p>
        </p:txBody>
      </p:sp>
      <p:sp>
        <p:nvSpPr>
          <p:cNvPr id="54" name="af-svg-text-0006-text-01"/>
          <p:cNvSpPr txBox="1"/>
          <p:nvPr/>
        </p:nvSpPr>
        <p:spPr>
          <a:xfrm>
            <a:off x="4451985" y="2858929"/>
            <a:ext cx="1049655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(BASS)</a:t>
            </a:r>
          </a:p>
        </p:txBody>
      </p:sp>
      <p:cxnSp>
        <p:nvCxnSpPr>
          <p:cNvPr id="55" name="af-svg-path-0020-line-01"/>
          <p:cNvCxnSpPr/>
          <p:nvPr/>
        </p:nvCxnSpPr>
        <p:spPr>
          <a:xfrm>
            <a:off x="6096000" y="2505075"/>
            <a:ext cx="102870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af-svg-path-0021-freeform-01"/>
          <p:cNvSpPr/>
          <p:nvPr/>
        </p:nvSpPr>
        <p:spPr>
          <a:xfrm>
            <a:off x="70599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57" name="af-svg-path-0022-freeform-01"/>
          <p:cNvSpPr/>
          <p:nvPr/>
        </p:nvSpPr>
        <p:spPr>
          <a:xfrm>
            <a:off x="6115050" y="2886075"/>
            <a:ext cx="942975" cy="1371600"/>
          </a:xfrm>
          <a:custGeom>
            <a:avLst/>
            <a:gdLst/>
            <a:ahLst/>
            <a:cxnLst/>
            <a:rect l="0" t="0" r="0" b="0"/>
            <a:pathLst>
              <a:path w="942975" h="1371600">
                <a:moveTo>
                  <a:pt x="942975" y="1371600"/>
                </a:moveTo>
                <a:lnTo>
                  <a:pt x="457200" y="1371600"/>
                </a:lnTo>
                <a:lnTo>
                  <a:pt x="457200" y="0"/>
                </a:ln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8" name="af-svg-path-0023-freeform-01"/>
          <p:cNvSpPr/>
          <p:nvPr/>
        </p:nvSpPr>
        <p:spPr>
          <a:xfrm>
            <a:off x="611505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cxnSp>
        <p:nvCxnSpPr>
          <p:cNvPr id="59" name="af-svg-path-0024-line-01"/>
          <p:cNvCxnSpPr/>
          <p:nvPr/>
        </p:nvCxnSpPr>
        <p:spPr>
          <a:xfrm flipV="1">
            <a:off x="4419600" y="3238500"/>
            <a:ext cx="0" cy="428625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af-svg-path-0025-freeform-01"/>
          <p:cNvSpPr/>
          <p:nvPr/>
        </p:nvSpPr>
        <p:spPr>
          <a:xfrm>
            <a:off x="4379595" y="3238500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61" name="af-svg-path-0026-line-01"/>
          <p:cNvCxnSpPr/>
          <p:nvPr/>
        </p:nvCxnSpPr>
        <p:spPr>
          <a:xfrm flipV="1">
            <a:off x="5314950" y="3238500"/>
            <a:ext cx="0" cy="116205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af-svg-path-0027-freeform-01"/>
          <p:cNvSpPr/>
          <p:nvPr/>
        </p:nvSpPr>
        <p:spPr>
          <a:xfrm>
            <a:off x="5274945" y="3238500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63" name="af-svg-text-0007-text-01"/>
          <p:cNvSpPr txBox="1"/>
          <p:nvPr/>
        </p:nvSpPr>
        <p:spPr>
          <a:xfrm>
            <a:off x="3640979" y="3706654"/>
            <a:ext cx="1538192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Pixel Budget</a:t>
            </a:r>
          </a:p>
        </p:txBody>
      </p:sp>
      <p:sp>
        <p:nvSpPr>
          <p:cNvPr id="64" name="af-svg-text-0008-text-01"/>
          <p:cNvSpPr txBox="1"/>
          <p:nvPr/>
        </p:nvSpPr>
        <p:spPr>
          <a:xfrm>
            <a:off x="4184285" y="3973354"/>
            <a:ext cx="451580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i="1">
                <a:solidFill>
                  <a:srgbClr val="000000"/>
                </a:solidFill>
                <a:latin typeface="Liberation Serif"/>
              </a:rPr>
              <a:t>B</a:t>
            </a:r>
          </a:p>
        </p:txBody>
      </p:sp>
      <p:sp>
        <p:nvSpPr>
          <p:cNvPr id="65" name="af-svg-text-0009-text-01"/>
          <p:cNvSpPr txBox="1"/>
          <p:nvPr/>
        </p:nvSpPr>
        <p:spPr>
          <a:xfrm rot="16200000">
            <a:off x="0" y="2419350"/>
            <a:ext cx="647700" cy="47625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Latent Encoding Layer</a:t>
            </a:r>
          </a:p>
        </p:txBody>
      </p:sp>
      <p:sp>
        <p:nvSpPr>
          <p:cNvPr id="66" name="af-svg-text-0010-text-01"/>
          <p:cNvSpPr txBox="1"/>
          <p:nvPr/>
        </p:nvSpPr>
        <p:spPr>
          <a:xfrm>
            <a:off x="1015079" y="4230529"/>
            <a:ext cx="1798892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Transformation</a:t>
            </a:r>
          </a:p>
        </p:txBody>
      </p:sp>
      <p:sp>
        <p:nvSpPr>
          <p:cNvPr id="67" name="af-svg-text-0011-text-01"/>
          <p:cNvSpPr txBox="1"/>
          <p:nvPr/>
        </p:nvSpPr>
        <p:spPr>
          <a:xfrm>
            <a:off x="1421463" y="4516279"/>
            <a:ext cx="986123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Layers</a:t>
            </a:r>
          </a:p>
        </p:txBody>
      </p:sp>
      <p:sp>
        <p:nvSpPr>
          <p:cNvPr id="68" name="af-svg-text-0012-text-01"/>
          <p:cNvSpPr txBox="1"/>
          <p:nvPr/>
        </p:nvSpPr>
        <p:spPr>
          <a:xfrm rot="16200000">
            <a:off x="2580322" y="3919538"/>
            <a:ext cx="916305" cy="4286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Liberation Serif"/>
              </a:rPr>
              <a:t>Möbius</a:t>
            </a:r>
          </a:p>
        </p:txBody>
      </p:sp>
      <p:sp>
        <p:nvSpPr>
          <p:cNvPr id="69" name="af-svg-text-0013-text-01"/>
          <p:cNvSpPr txBox="1"/>
          <p:nvPr/>
        </p:nvSpPr>
        <p:spPr>
          <a:xfrm rot="16200000">
            <a:off x="2650808" y="3919538"/>
            <a:ext cx="1289685" cy="4286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Liberation Serif"/>
              </a:rPr>
              <a:t>Parameters</a:t>
            </a:r>
          </a:p>
        </p:txBody>
      </p:sp>
      <p:cxnSp>
        <p:nvCxnSpPr>
          <p:cNvPr id="70" name="af-svg-path-0028-line-01"/>
          <p:cNvCxnSpPr/>
          <p:nvPr/>
        </p:nvCxnSpPr>
        <p:spPr>
          <a:xfrm>
            <a:off x="447675" y="4276725"/>
            <a:ext cx="0" cy="1028700"/>
          </a:xfrm>
          <a:prstGeom prst="line">
            <a:avLst/>
          </a:prstGeom>
          <a:ln w="38100">
            <a:solidFill>
              <a:srgbClr val="DADADA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f-svg-path-0029-line-01"/>
          <p:cNvCxnSpPr/>
          <p:nvPr/>
        </p:nvCxnSpPr>
        <p:spPr>
          <a:xfrm>
            <a:off x="3629025" y="4276725"/>
            <a:ext cx="0" cy="1028700"/>
          </a:xfrm>
          <a:prstGeom prst="line">
            <a:avLst/>
          </a:prstGeom>
          <a:ln w="38100">
            <a:solidFill>
              <a:srgbClr val="DADADA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af-svg-path-0030-freeform-01"/>
          <p:cNvSpPr/>
          <p:nvPr/>
        </p:nvSpPr>
        <p:spPr>
          <a:xfrm>
            <a:off x="447675" y="5305425"/>
            <a:ext cx="3181350" cy="390525"/>
          </a:xfrm>
          <a:custGeom>
            <a:avLst/>
            <a:gdLst/>
            <a:ahLst/>
            <a:cxnLst/>
            <a:rect l="0" t="0" r="0" b="0"/>
            <a:pathLst>
              <a:path w="3181350" h="390525">
                <a:moveTo>
                  <a:pt x="0" y="0"/>
                </a:moveTo>
                <a:cubicBezTo>
                  <a:pt x="0" y="139700"/>
                  <a:pt x="19050" y="209550"/>
                  <a:pt x="57150" y="209550"/>
                </a:cubicBezTo>
                <a:lnTo>
                  <a:pt x="1524000" y="209550"/>
                </a:lnTo>
                <a:cubicBezTo>
                  <a:pt x="1562100" y="209550"/>
                  <a:pt x="1581150" y="269875"/>
                  <a:pt x="1581150" y="390525"/>
                </a:cubicBezTo>
                <a:cubicBezTo>
                  <a:pt x="1581150" y="269875"/>
                  <a:pt x="1600200" y="209550"/>
                  <a:pt x="1638300" y="209550"/>
                </a:cubicBezTo>
                <a:lnTo>
                  <a:pt x="3124200" y="209550"/>
                </a:lnTo>
                <a:cubicBezTo>
                  <a:pt x="3162300" y="209550"/>
                  <a:pt x="3181350" y="139700"/>
                  <a:pt x="3181350" y="0"/>
                </a:cubicBezTo>
              </a:path>
            </a:pathLst>
          </a:custGeom>
          <a:noFill/>
          <a:ln w="38100" cap="rnd">
            <a:solidFill>
              <a:srgbClr val="7E7F7E"/>
            </a:solidFill>
          </a:ln>
        </p:spPr>
        <p:txBody>
          <a:bodyPr/>
          <a:p/>
        </p:txBody>
      </p:sp>
      <p:sp>
        <p:nvSpPr>
          <p:cNvPr id="73" name="af-svg-text-0014-text-01"/>
          <p:cNvSpPr txBox="1"/>
          <p:nvPr/>
        </p:nvSpPr>
        <p:spPr>
          <a:xfrm>
            <a:off x="1178433" y="5812155"/>
            <a:ext cx="1719834" cy="43624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MLP Network</a:t>
            </a:r>
          </a:p>
        </p:txBody>
      </p:sp>
      <p:sp>
        <p:nvSpPr>
          <p:cNvPr id="74" name="af-svg-rect-0029-rect-01"/>
          <p:cNvSpPr/>
          <p:nvPr/>
        </p:nvSpPr>
        <p:spPr>
          <a:xfrm>
            <a:off x="4514850" y="676275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E7F7FD"/>
          </a:solidFill>
          <a:ln w="38100">
            <a:solidFill>
              <a:srgbClr val="60C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f-svg-text-0015-text-01"/>
          <p:cNvSpPr txBox="1"/>
          <p:nvPr/>
        </p:nvSpPr>
        <p:spPr>
          <a:xfrm>
            <a:off x="4552617" y="761524"/>
            <a:ext cx="130559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GT Answers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math:002" descr="AI_AUTOFIGURE_NATIVE_MATH_V1:eyJjb250ZW50X3J1bnMiOlt7ImNhbm9uaWNhbF9sYXRleCI6Inlfe2d0fSIsImZvcm11bGFfaWQiOiJFUTAwMiIsImtpbmQiOiJtYXRoIiwibGF0ZXhfc2hhMjU2IjoiNjUzZDhmMmEzM2VkMGNkOTYxNmQ5ZGI3MTc1YTAwMTg0MDI5Y2E5ZDU3NzVjY2E3YTE0ZjJkY2RiODMyZGVjMiIsIm1vZGUiOiJpbmxpbmUiLCJvbW1sX3NoYTI1NiI6IjcwZWMyYzkyOTAwMGIyMTE4NTViZjc1MWVjNTMwNmM2ODZkNWZlMDJhNTQxMWNkYmE5ZjE0Yzk2MjkwYjg0OWEiLCJzZW1hbnRpY19vbW1sX3Byb2ZpbGUiOiJvZmZpY2UtbWF0aC1zZW1hbnRpYy12MiIsInNlbWFudGljX29tbWxfc2hhMjU2IjoiM2M0YjBjNDU4NWUxMGQzZDhlMzY3YjQ4MzJjNTA2MzNhMWU0NThlODRjZWRiOWJjMzJhNjUxNDc1MDY4ZTcxNyJ9XSwiZm9ybXVsYXMiOlt7ImNhbm9uaWNhbF9sYXRleCI6Inlfe2d0fSIsImZvcm11bGFfaWQiOiJFUTAwMiIsImxhdGV4X3NoYTI1NiI6IjY1M2Q4ZjJhMzNlZDBjZDk2MTZkOWRiNzE3NWEwMDE4NDAyOWNhOWQ1Nzc1Y2NhN2ExNGYyZGNkYjgzMmRlYzIiLCJtb2RlIjoiaW5saW5lIiwib21tbF9zaGEyNTYiOiI3MGVjMmM5MjkwMDBiMjExODU1YmY3NTFlYzUzMDZjNjg2ZDVmZTAyYTU0MTFjZGJhOWYxNGM5NjI5MGI4NDlhIiwic2VtYW50aWNfb21tbF9wcm9maWxlIjoib2ZmaWNlLW1hdGgtc2VtYW50aWMtdjIiLCJzZW1hbnRpY19vbW1sX3NoYTI1NiI6IjNjNGIwYzQ1ODVlMTBkM2Q4ZTM2N2I0ODMyYzUwNjMzYTFlNDU4ZTg0Y2VkYjliYzMyYTY1MTQ3NTA2OGU3MTcifV0sImtpbmQiOiJuYXRpdmVfb2ZmaWNlX21hdGgiLCJwbGFjZWhvbGRlcl9uYW1lIjoibWF0aDowMDIiLCJzY2hlbWFfdmVyc2lvbiI6IjEuMCJ9"/>
              <p:cNvSpPr txBox="1"/>
              <p:nvPr/>
            </p:nvSpPr>
            <p:spPr>
              <a:xfrm>
                <a:off x="4935569" y="1018222"/>
                <a:ext cx="539686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gt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76" name="math:002" descr="AI_AUTOFIGURE_MATH_FALLBACK_ONLY_V1:eyJjb250ZW50X3J1bnMiOlt7ImNhbm9uaWNhbF9sYXRleCI6Inlfe2d0fSIsImZvcm11bGFfaWQiOiJFUTAwMiIsImtpbmQiOiJtYXRoIiwibGF0ZXhfc2hhMjU2IjoiNjUzZDhmMmEzM2VkMGNkOTYxNmQ5ZGI3MTc1YTAwMTg0MDI5Y2E5ZDU3NzVjY2E3YTE0ZjJkY2RiODMyZGVjMiIsIm1vZGUiOiJpbmxpbmUiLCJvbW1sX3NoYTI1NiI6IjcwZWMyYzkyOTAwMGIyMTE4NTViZjc1MWVjNTMwNmM2ODZkNWZlMDJhNTQxMWNkYmE5ZjE0Yzk2MjkwYjg0OWEiLCJzZW1hbnRpY19vbW1sX3Byb2ZpbGUiOiJvZmZpY2UtbWF0aC1zZW1hbnRpYy12MiIsInNlbWFudGljX29tbWxfc2hhMjU2IjoiM2M0YjBjNDU4NWUxMGQzZDhlMzY3YjQ4MzJjNTA2MzNhMWU0NThlODRjZWRiOWJjMzJhNjUxNDc1MDY4ZTcxNyJ9XSwiZm9ybXVsYXMiOlt7ImNhbm9uaWNhbF9sYXRleCI6Inlfe2d0fSIsImZvcm11bGFfaWQiOiJFUTAwMiIsImxhdGV4X3NoYTI1NiI6IjY1M2Q4ZjJhMzNlZDBjZDk2MTZkOWRiNzE3NWEwMDE4NDAyOWNhOWQ1Nzc1Y2NhN2ExNGYyZGNkYjgzMmRlYzIiLCJtb2RlIjoiaW5saW5lIiwib21tbF9zaGEyNTYiOiI3MGVjMmM5MjkwMDBiMjExODU1YmY3NTFlYzUzMDZjNjg2ZDVmZTAyYTU0MTFjZGJhOWYxNGM5NjI5MGI4NDlhIiwic2VtYW50aWNfb21tbF9wcm9maWxlIjoib2ZmaWNlLW1hdGgtc2VtYW50aWMtdjIiLCJzZW1hbnRpY19vbW1sX3NoYTI1NiI6IjNjNGIwYzQ1ODVlMTBkM2Q4ZTM2N2I0ODMyYzUwNjMzYTFlNDU4ZTg0Y2VkYjliYzMyYTY1MTQ3NTA2OGU3MTcifV0sImtpbmQiOiJuYXRpdmVfb2ZmaWNlX21hdGgiLCJwbGFjZWhvbGRlcl9uYW1lIjoibWF0aDowMDIiLCJzY2hlbWFfdmVyc2lvbiI6IjEuMCJ9"/>
              <p:cNvSpPr txBox="1"/>
              <p:nvPr/>
            </p:nvSpPr>
            <p:spPr>
              <a:xfrm>
                <a:off x="4935569" y="1018222"/>
                <a:ext cx="539686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\(y_{gt}\)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cxnSp>
        <p:nvCxnSpPr>
          <p:cNvPr id="77" name="af-svg-path-0031-line-01"/>
          <p:cNvCxnSpPr/>
          <p:nvPr/>
        </p:nvCxnSpPr>
        <p:spPr>
          <a:xfrm>
            <a:off x="5895975" y="990600"/>
            <a:ext cx="127635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f-svg-path-0032-freeform-01"/>
          <p:cNvSpPr/>
          <p:nvPr/>
        </p:nvSpPr>
        <p:spPr>
          <a:xfrm>
            <a:off x="7107555" y="95059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79" name="af-svg-rect-0030-rect-01"/>
          <p:cNvSpPr/>
          <p:nvPr/>
        </p:nvSpPr>
        <p:spPr>
          <a:xfrm>
            <a:off x="7200900" y="752475"/>
            <a:ext cx="1600200" cy="476250"/>
          </a:xfrm>
          <a:prstGeom prst="roundRect">
            <a:avLst>
              <a:gd name="adj" fmla="val 20000"/>
            </a:avLst>
          </a:prstGeom>
          <a:solidFill>
            <a:srgbClr val="FF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-svg-text-0017-text-01"/>
          <p:cNvSpPr txBox="1"/>
          <p:nvPr/>
        </p:nvSpPr>
        <p:spPr>
          <a:xfrm>
            <a:off x="7080504" y="859155"/>
            <a:ext cx="1840992" cy="4762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Liberation Serif"/>
              </a:rPr>
              <a:t>Semantic Loss</a:t>
            </a:r>
          </a:p>
        </p:txBody>
      </p:sp>
      <p:cxnSp>
        <p:nvCxnSpPr>
          <p:cNvPr id="81" name="af-svg-path-0033-line-01"/>
          <p:cNvCxnSpPr/>
          <p:nvPr/>
        </p:nvCxnSpPr>
        <p:spPr>
          <a:xfrm flipH="1">
            <a:off x="8820150" y="990600"/>
            <a:ext cx="1381125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af-svg-path-0034-freeform-01"/>
          <p:cNvSpPr/>
          <p:nvPr/>
        </p:nvSpPr>
        <p:spPr>
          <a:xfrm>
            <a:off x="8820150" y="95059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3" name="af-svg-text-0018-text-01"/>
          <p:cNvSpPr txBox="1"/>
          <p:nvPr/>
        </p:nvSpPr>
        <p:spPr>
          <a:xfrm>
            <a:off x="7078266" y="1621631"/>
            <a:ext cx="1940719" cy="4881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75">
                <a:solidFill>
                  <a:srgbClr val="000000"/>
                </a:solidFill>
                <a:latin typeface="Liberation Serif"/>
              </a:rPr>
              <a:t>Sampled Image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math:003" descr="AI_AUTOFIGURE_NATIVE_MATH_V1:eyJjb250ZW50X3J1bnMiOlt7ImNhbm9uaWNhbF9sYXRleCI6IknMgiA9IFxcbWF0aGJie0V9X3tcXHRoZXRhfShJKSIsImZvcm11bGFfaWQiOiJFUTAwMyIsImtpbmQiOiJtYXRoIiwibGF0ZXhfc2hhMjU2IjoiYzBkMzQ1ZGI5ZTFjZWY1NTg0NTU3YjUzMzZlMzFhNmU3YmQyOWQ1NzJmMjMwMjJlYjJhZTJhOWQ3Y2VkNjhkZCIsIm1vZGUiOiJpbmxpbmUiLCJvbW1sX3NoYTI1NiI6ImE2OWY0MTM1YzUxOTExNTIyMzIzMjYwMzEyYTVlMTc5OTEzMjczZTAzZTEwNWFiY2Y4MDFiMzk5ZjcyODk3YWQiLCJzZW1hbnRpY19vbW1sX3Byb2ZpbGUiOiJvZmZpY2UtbWF0aC1zZW1hbnRpYy12MiIsInNlbWFudGljX29tbWxfc2hhMjU2IjoiMDg4OTczOWQyZGEwMDgyMzc4NDVkZjA4ODBjNTg5YzllZTM0ZDYyMjYyYzhhYTNjZTgyODZiODgyMjMyOTliZSJ9XSwiZm9ybXVsYXMiOlt7ImNhbm9uaWNhbF9sYXRleCI6IknMgiA9IFxcbWF0aGJie0V9X3tcXHRoZXRhfShJKSIsImZvcm11bGFfaWQiOiJFUTAwMyIsImxhdGV4X3NoYTI1NiI6ImMwZDM0NWRiOWUxY2VmNTU4NDU1N2I1MzM2ZTMxYTZlN2JkMjlkNTcyZjIzMDIyZWIyYWUyYTlkN2NlZDY4ZGQiLCJtb2RlIjoiaW5saW5lIiwib21tbF9zaGEyNTYiOiJhNjlmNDEzNWM1MTkxMTUyMjMyMzI2MDMxMmE1ZTE3OTkxMzI3M2UwM2UxMDVhYmNmODAxYjM5OWY3Mjg5N2FkIiwic2VtYW50aWNfb21tbF9wcm9maWxlIjoib2ZmaWNlLW1hdGgtc2VtYW50aWMtdjIiLCJzZW1hbnRpY19vbW1sX3NoYTI1NiI6IjA4ODk3MzlkMmRhMDA4MjM3ODQ1ZGYwODgwYzU4OWM5ZWUzNGQ2MjI2MmM4YWEzY2U4Mjg2Yjg4MjIzMjk5YmUifV0sImtpbmQiOiJuYXRpdmVfb2ZmaWNlX21hdGgiLCJwbGFjZWhvbGRlcl9uYW1lIjoibWF0aDowMDMiLCJzY2hlbWFfdmVyc2lvbiI6IjEuMCJ9"/>
              <p:cNvSpPr txBox="1"/>
              <p:nvPr/>
            </p:nvSpPr>
            <p:spPr>
              <a:xfrm>
                <a:off x="7543895" y="1923098"/>
                <a:ext cx="1009460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000000"/>
                        </a:solidFill>
                        <a:latin typeface="Cambria Math"/>
                      </a:rPr>
                      <m:t>Î=</m:t>
                    </m:r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𝔼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sub>
                    </m:sSub>
                    <m:r>
                      <a:rPr lang="en-US" dirty="0" sz="1350">
                        <a:solidFill>
                          <a:srgbClr val="000000"/>
                        </a:solidFill>
                        <a:latin typeface="Cambria Math"/>
                      </a:rPr>
                      <m:t>(I)</m:t>
                    </m:r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84" name="math:003" descr="AI_AUTOFIGURE_MATH_FALLBACK_ONLY_V1:eyJjb250ZW50X3J1bnMiOlt7ImNhbm9uaWNhbF9sYXRleCI6IknMgiA9IFxcbWF0aGJie0V9X3tcXHRoZXRhfShJKSIsImZvcm11bGFfaWQiOiJFUTAwMyIsImtpbmQiOiJtYXRoIiwibGF0ZXhfc2hhMjU2IjoiYzBkMzQ1ZGI5ZTFjZWY1NTg0NTU3YjUzMzZlMzFhNmU3YmQyOWQ1NzJmMjMwMjJlYjJhZTJhOWQ3Y2VkNjhkZCIsIm1vZGUiOiJpbmxpbmUiLCJvbW1sX3NoYTI1NiI6ImE2OWY0MTM1YzUxOTExNTIyMzIzMjYwMzEyYTVlMTc5OTEzMjczZTAzZTEwNWFiY2Y4MDFiMzk5ZjcyODk3YWQiLCJzZW1hbnRpY19vbW1sX3Byb2ZpbGUiOiJvZmZpY2UtbWF0aC1zZW1hbnRpYy12MiIsInNlbWFudGljX29tbWxfc2hhMjU2IjoiMDg4OTczOWQyZGEwMDgyMzc4NDVkZjA4ODBjNTg5YzllZTM0ZDYyMjYyYzhhYTNjZTgyODZiODgyMjMyOTliZSJ9XSwiZm9ybXVsYXMiOlt7ImNhbm9uaWNhbF9sYXRleCI6IknMgiA9IFxcbWF0aGJie0V9X3tcXHRoZXRhfShJKSIsImZvcm11bGFfaWQiOiJFUTAwMyIsImxhdGV4X3NoYTI1NiI6ImMwZDM0NWRiOWUxY2VmNTU4NDU1N2I1MzM2ZTMxYTZlN2JkMjlkNTcyZjIzMDIyZWIyYWUyYTlkN2NlZDY4ZGQiLCJtb2RlIjoiaW5saW5lIiwib21tbF9zaGEyNTYiOiJhNjlmNDEzNWM1MTkxMTUyMjMyMzI2MDMxMmE1ZTE3OTkxMzI3M2UwM2UxMDVhYmNmODAxYjM5OWY3Mjg5N2FkIiwic2VtYW50aWNfb21tbF9wcm9maWxlIjoib2ZmaWNlLW1hdGgtc2VtYW50aWMtdjIiLCJzZW1hbnRpY19vbW1sX3NoYTI1NiI6IjA4ODk3MzlkMmRhMDA4MjM3ODQ1ZGYwODgwYzU4OWM5ZWUzNGQ2MjI2MmM4YWEzY2U4Mjg2Yjg4MjIzMjk5YmUifV0sImtpbmQiOiJuYXRpdmVfb2ZmaWNlX21hdGgiLCJwbGFjZWhvbGRlcl9uYW1lIjoibWF0aDowMDMiLCJzY2hlbWFfdmVyc2lvbiI6IjEuMCJ9"/>
              <p:cNvSpPr txBox="1"/>
              <p:nvPr/>
            </p:nvSpPr>
            <p:spPr>
              <a:xfrm>
                <a:off x="7543895" y="1923098"/>
                <a:ext cx="1009460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\(Î = \mathbb{E}_{\theta}(I)\)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pic>
        <p:nvPicPr>
          <p:cNvPr id="85" name="af-atomic-photo-1-atomic-raster-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2190750"/>
            <a:ext cx="1809750" cy="1228725"/>
          </a:xfrm>
          <a:prstGeom prst="rect">
            <a:avLst/>
          </a:prstGeom>
        </p:spPr>
      </p:pic>
      <p:cxnSp>
        <p:nvCxnSpPr>
          <p:cNvPr id="86" name="af-svg-path-0035-line-01"/>
          <p:cNvCxnSpPr/>
          <p:nvPr/>
        </p:nvCxnSpPr>
        <p:spPr>
          <a:xfrm>
            <a:off x="8953500" y="2505075"/>
            <a:ext cx="38100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af-svg-path-0036-freeform-01"/>
          <p:cNvSpPr/>
          <p:nvPr/>
        </p:nvSpPr>
        <p:spPr>
          <a:xfrm>
            <a:off x="92697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cxnSp>
        <p:nvCxnSpPr>
          <p:cNvPr id="88" name="af-svg-path-0037-line-01"/>
          <p:cNvCxnSpPr/>
          <p:nvPr/>
        </p:nvCxnSpPr>
        <p:spPr>
          <a:xfrm>
            <a:off x="8048625" y="3419475"/>
            <a:ext cx="0" cy="53340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af-svg-path-0038-freeform-01"/>
          <p:cNvSpPr/>
          <p:nvPr/>
        </p:nvSpPr>
        <p:spPr>
          <a:xfrm>
            <a:off x="8008620" y="388810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80010" y="0"/>
                </a:moveTo>
                <a:lnTo>
                  <a:pt x="40005" y="64770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90" name="af-svg-rect-0032-rect-01"/>
          <p:cNvSpPr/>
          <p:nvPr/>
        </p:nvSpPr>
        <p:spPr>
          <a:xfrm>
            <a:off x="7058025" y="3971925"/>
            <a:ext cx="1990725" cy="581025"/>
          </a:xfrm>
          <a:prstGeom prst="roundRect">
            <a:avLst>
              <a:gd name="adj" fmla="val 16393"/>
            </a:avLst>
          </a:prstGeom>
          <a:solidFill>
            <a:srgbClr val="FF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f-svg-text-0020-text-01"/>
          <p:cNvSpPr txBox="1"/>
          <p:nvPr/>
        </p:nvSpPr>
        <p:spPr>
          <a:xfrm>
            <a:off x="7070026" y="4135755"/>
            <a:ext cx="1966722" cy="4762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Liberation Serif"/>
              </a:rPr>
              <a:t>Perceptual Loss</a:t>
            </a:r>
          </a:p>
        </p:txBody>
      </p:sp>
      <p:sp>
        <p:nvSpPr>
          <p:cNvPr id="92" name="af-svg-path-0039-freeform-01"/>
          <p:cNvSpPr/>
          <p:nvPr/>
        </p:nvSpPr>
        <p:spPr>
          <a:xfrm>
            <a:off x="6219825" y="4562475"/>
            <a:ext cx="1838325" cy="447675"/>
          </a:xfrm>
          <a:custGeom>
            <a:avLst/>
            <a:gdLst/>
            <a:ahLst/>
            <a:cxnLst/>
            <a:rect l="0" t="0" r="0" b="0"/>
            <a:pathLst>
              <a:path w="1838325" h="447675">
                <a:moveTo>
                  <a:pt x="0" y="447675"/>
                </a:moveTo>
                <a:lnTo>
                  <a:pt x="1838325" y="447675"/>
                </a:lnTo>
                <a:lnTo>
                  <a:pt x="1838325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93" name="af-svg-path-0040-freeform-01"/>
          <p:cNvSpPr/>
          <p:nvPr/>
        </p:nvSpPr>
        <p:spPr>
          <a:xfrm>
            <a:off x="8018145" y="45624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math:004" descr="AI_AUTOFIGURE_NATIVE_MATH_V1:eyJjb250ZW50X3J1bnMiOlt7ImNhbm9uaWNhbF9sYXRleCI6IlxcbWF0aGNhbHtMfV97aW1nfSIsImZvcm11bGFfaWQiOiJFUTAwNCIsImtpbmQiOiJtYXRoIiwibGF0ZXhfc2hhMjU2IjoiODk5ZTFhMDRjM2VjNjA4NzEyODRkZTFjMzZlZTM4OWE0NGQ4YmY2NDQyMzcwNDdhMzc4YzYwYTg5MWJiMTk1MyIsIm1vZGUiOiJpbmxpbmUiLCJvbW1sX3NoYTI1NiI6IjUxMTk3OGJmYWUzYWE4NzAxYjM5MTZhN2ExODE0MWJlZjFmMmFmYWEyYTFhMGE2NmY0MzlkMWYzZWQ3MjgyY2YiLCJzZW1hbnRpY19vbW1sX3Byb2ZpbGUiOiJvZmZpY2UtbWF0aC1zZW1hbnRpYy12MiIsInNlbWFudGljX29tbWxfc2hhMjU2IjoiZDMwNmRlY2JiOTZhMDA2MGFjYmY0YWJiMDE1ZDU4YzIxOGMyMzA5MDU1MzFlOTVmNTUxMTkxNmU3ZGE2NGRjMSJ9XSwiZm9ybXVsYXMiOlt7ImNhbm9uaWNhbF9sYXRleCI6IlxcbWF0aGNhbHtMfV97aW1nfSIsImZvcm11bGFfaWQiOiJFUTAwNCIsImxhdGV4X3NoYTI1NiI6Ijg5OWUxYTA0YzNlYzYwODcxMjg0ZGUxYzM2ZWUzODlhNDRkOGJmNjQ0MjM3MDQ3YTM3OGM2MGE4OTFiYjE5NTMiLCJtb2RlIjoiaW5saW5lIiwib21tbF9zaGEyNTYiOiI1MTE5NzhiZmFlM2FhODcwMWIzOTE2YTdhMTgxNDFiZWYxZjJhZmFhMmExYTBhNjZmNDM5ZDFmM2VkNzI4MmNmIiwic2VtYW50aWNfb21tbF9wcm9maWxlIjoib2ZmaWNlLW1hdGgtc2VtYW50aWMtdjIiLCJzZW1hbnRpY19vbW1sX3NoYTI1NiI6ImQzMDZkZWNiYjk2YTAwNjBhY2JmNGFiYjAxNWQ1OGMyMThjMjMwOTA1NTMxZTk1ZjU1MTE5MTZlN2RhNjRkYzEifV0sImtpbmQiOiJuYXRpdmVfb2ZmaWNlX21hdGgiLCJwbGFjZWhvbGRlcl9uYW1lIjoibWF0aDowMDQiLCJzY2hlbWFfdmVyc2lvbiI6IjEuMCJ9"/>
              <p:cNvSpPr txBox="1"/>
              <p:nvPr/>
            </p:nvSpPr>
            <p:spPr>
              <a:xfrm rot="16200000">
                <a:off x="6055995" y="3538538"/>
                <a:ext cx="746760" cy="428625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500">
                            <a:solidFill>
                              <a:srgbClr val="00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dirty="0" sz="1500">
                            <a:solidFill>
                              <a:srgbClr val="000000"/>
                            </a:solidFill>
                            <a:latin typeface="Cambria Math"/>
                          </a:rPr>
                          <m:t>img</m:t>
                        </m:r>
                      </m:sub>
                    </m:sSub>
                  </m:oMath>
                </a14:m>
                <a:endParaRPr lang="en-US" dirty="0" sz="150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4" name="math:004" descr="AI_AUTOFIGURE_MATH_FALLBACK_ONLY_V1:eyJjb250ZW50X3J1bnMiOlt7ImNhbm9uaWNhbF9sYXRleCI6IlxcbWF0aGNhbHtMfV97aW1nfSIsImZvcm11bGFfaWQiOiJFUTAwNCIsImtpbmQiOiJtYXRoIiwibGF0ZXhfc2hhMjU2IjoiODk5ZTFhMDRjM2VjNjA4NzEyODRkZTFjMzZlZTM4OWE0NGQ4YmY2NDQyMzcwNDdhMzc4YzYwYTg5MWJiMTk1MyIsIm1vZGUiOiJpbmxpbmUiLCJvbW1sX3NoYTI1NiI6IjUxMTk3OGJmYWUzYWE4NzAxYjM5MTZhN2ExODE0MWJlZjFmMmFmYWEyYTFhMGE2NmY0MzlkMWYzZWQ3MjgyY2YiLCJzZW1hbnRpY19vbW1sX3Byb2ZpbGUiOiJvZmZpY2UtbWF0aC1zZW1hbnRpYy12MiIsInNlbWFudGljX29tbWxfc2hhMjU2IjoiZDMwNmRlY2JiOTZhMDA2MGFjYmY0YWJiMDE1ZDU4YzIxOGMyMzA5MDU1MzFlOTVmNTUxMTkxNmU3ZGE2NGRjMSJ9XSwiZm9ybXVsYXMiOlt7ImNhbm9uaWNhbF9sYXRleCI6IlxcbWF0aGNhbHtMfV97aW1nfSIsImZvcm11bGFfaWQiOiJFUTAwNCIsImxhdGV4X3NoYTI1NiI6Ijg5OWUxYTA0YzNlYzYwODcxMjg0ZGUxYzM2ZWUzODlhNDRkOGJmNjQ0MjM3MDQ3YTM3OGM2MGE4OTFiYjE5NTMiLCJtb2RlIjoiaW5saW5lIiwib21tbF9zaGEyNTYiOiI1MTE5NzhiZmFlM2FhODcwMWIzOTE2YTdhMTgxNDFiZWYxZjJhZmFhMmExYTBhNjZmNDM5ZDFmM2VkNzI4MmNmIiwic2VtYW50aWNfb21tbF9wcm9maWxlIjoib2ZmaWNlLW1hdGgtc2VtYW50aWMtdjIiLCJzZW1hbnRpY19vbW1sX3NoYTI1NiI6ImQzMDZkZWNiYjk2YTAwNjBhY2JmNGFiYjAxNWQ1OGMyMThjMjMwOTA1NTMxZTk1ZjU1MTE5MTZlN2RhNjRkYzEifV0sImtpbmQiOiJuYXRpdmVfb2ZmaWNlX21hdGgiLCJwbGFjZWhvbGRlcl9uYW1lIjoibWF0aDowMDQiLCJzY2hlbWFfdmVyc2lvbiI6IjEuMCJ9"/>
              <p:cNvSpPr txBox="1"/>
              <p:nvPr/>
            </p:nvSpPr>
            <p:spPr>
              <a:xfrm rot="16200000">
                <a:off x="6055995" y="3538538"/>
                <a:ext cx="746760" cy="428625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:r>
                  <a:rPr lang="en-US" dirty="0" sz="1500">
                    <a:solidFill>
                      <a:srgbClr val="000000"/>
                    </a:solidFill>
                  </a:rPr>
                  <a:t>\(\mathcal{L}_{img}\)</a:t>
                </a:r>
                <a:endParaRPr lang="en-US" dirty="0" sz="1500">
                  <a:solidFill>
                    <a:srgbClr val="000000"/>
                  </a:solidFill>
                </a:endParaRPr>
              </a:p>
            </p:txBody>
          </p:sp>
        </mc:Fallback>
      </mc:AlternateContent>
      <p:pic>
        <p:nvPicPr>
          <p:cNvPr id="95" name="af-atomic-photo-2-atomic-raster-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4400550"/>
            <a:ext cx="1809750" cy="1219200"/>
          </a:xfrm>
          <a:prstGeom prst="rect">
            <a:avLst/>
          </a:prstGeom>
        </p:spPr>
      </p:pic>
      <p:sp>
        <p:nvSpPr>
          <p:cNvPr id="96" name="af-svg-text-0022-text-01"/>
          <p:cNvSpPr txBox="1"/>
          <p:nvPr/>
        </p:nvSpPr>
        <p:spPr>
          <a:xfrm>
            <a:off x="4570476" y="5640705"/>
            <a:ext cx="1488948" cy="4762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Input Image</a:t>
            </a:r>
          </a:p>
        </p:txBody>
      </p:sp>
      <p:sp>
        <p:nvSpPr>
          <p:cNvPr id="97" name="af-svg-text-0023-text-01"/>
          <p:cNvSpPr txBox="1"/>
          <p:nvPr/>
        </p:nvSpPr>
        <p:spPr>
          <a:xfrm>
            <a:off x="5131118" y="5935028"/>
            <a:ext cx="367665" cy="3133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i="1">
                <a:solidFill>
                  <a:srgbClr val="000000"/>
                </a:solidFill>
                <a:latin typeface="Liberation Serif"/>
              </a:rPr>
              <a:t>I</a:t>
            </a:r>
          </a:p>
        </p:txBody>
      </p:sp>
      <p:sp>
        <p:nvSpPr>
          <p:cNvPr id="98" name="af-svg-rect-0034-rect-01"/>
          <p:cNvSpPr/>
          <p:nvPr/>
        </p:nvSpPr>
        <p:spPr>
          <a:xfrm>
            <a:off x="9353550" y="1790700"/>
            <a:ext cx="3390900" cy="2181225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38100">
            <a:solidFill>
              <a:srgbClr val="C2F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svg-rect-0035-rect-01"/>
          <p:cNvSpPr/>
          <p:nvPr/>
        </p:nvSpPr>
        <p:spPr>
          <a:xfrm>
            <a:off x="9525000" y="1924050"/>
            <a:ext cx="3057525" cy="590550"/>
          </a:xfrm>
          <a:prstGeom prst="roundRect">
            <a:avLst>
              <a:gd name="adj" fmla="val 19354"/>
            </a:avLst>
          </a:prstGeom>
          <a:solidFill>
            <a:srgbClr val="F5F9FC">
              <a:alpha val="80000"/>
            </a:srgbClr>
          </a:solidFill>
          <a:ln w="28575">
            <a:solidFill>
              <a:srgbClr val="EEFBE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svg-text-0024-text-01"/>
          <p:cNvSpPr txBox="1"/>
          <p:nvPr/>
        </p:nvSpPr>
        <p:spPr>
          <a:xfrm>
            <a:off x="9974675" y="2132648"/>
            <a:ext cx="2158174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Self and Cross Attention</a:t>
            </a:r>
          </a:p>
        </p:txBody>
      </p:sp>
      <p:sp>
        <p:nvSpPr>
          <p:cNvPr id="101" name="af-svg-rect-0036-rect-01"/>
          <p:cNvSpPr/>
          <p:nvPr/>
        </p:nvSpPr>
        <p:spPr>
          <a:xfrm>
            <a:off x="95250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svg-rect-0037-rect-01"/>
          <p:cNvSpPr/>
          <p:nvPr/>
        </p:nvSpPr>
        <p:spPr>
          <a:xfrm>
            <a:off x="98298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svg-rect-0038-rect-01"/>
          <p:cNvSpPr/>
          <p:nvPr/>
        </p:nvSpPr>
        <p:spPr>
          <a:xfrm>
            <a:off x="101346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svg-rect-0039-rect-01"/>
          <p:cNvSpPr/>
          <p:nvPr/>
        </p:nvSpPr>
        <p:spPr>
          <a:xfrm>
            <a:off x="104394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svg-rect-0040-rect-01"/>
          <p:cNvSpPr/>
          <p:nvPr/>
        </p:nvSpPr>
        <p:spPr>
          <a:xfrm>
            <a:off x="107442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f-svg-rect-0041-rect-01"/>
          <p:cNvSpPr/>
          <p:nvPr/>
        </p:nvSpPr>
        <p:spPr>
          <a:xfrm>
            <a:off x="110490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af-svg-rect-0042-rect-01"/>
          <p:cNvSpPr/>
          <p:nvPr/>
        </p:nvSpPr>
        <p:spPr>
          <a:xfrm>
            <a:off x="113538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f-svg-rect-0043-rect-01"/>
          <p:cNvSpPr/>
          <p:nvPr/>
        </p:nvSpPr>
        <p:spPr>
          <a:xfrm>
            <a:off x="116586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f-svg-rect-0044-rect-01"/>
          <p:cNvSpPr/>
          <p:nvPr/>
        </p:nvSpPr>
        <p:spPr>
          <a:xfrm>
            <a:off x="119634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f-svg-rect-0045-rect-01"/>
          <p:cNvSpPr/>
          <p:nvPr/>
        </p:nvSpPr>
        <p:spPr>
          <a:xfrm>
            <a:off x="122682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af-svg-rect-0046-rect-01"/>
          <p:cNvSpPr/>
          <p:nvPr/>
        </p:nvSpPr>
        <p:spPr>
          <a:xfrm>
            <a:off x="9486900" y="3333750"/>
            <a:ext cx="1447800" cy="485775"/>
          </a:xfrm>
          <a:prstGeom prst="roundRect">
            <a:avLst>
              <a:gd name="adj" fmla="val 19607"/>
            </a:avLst>
          </a:prstGeom>
          <a:solidFill>
            <a:srgbClr val="EAF7E5">
              <a:alpha val="92000"/>
            </a:srgbClr>
          </a:solidFill>
          <a:ln w="28575">
            <a:solidFill>
              <a:srgbClr val="EEFBEF">
                <a:alpha val="9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af-svg-rect-0047-rect-01"/>
          <p:cNvSpPr/>
          <p:nvPr/>
        </p:nvSpPr>
        <p:spPr>
          <a:xfrm>
            <a:off x="11163300" y="3333750"/>
            <a:ext cx="1447800" cy="485775"/>
          </a:xfrm>
          <a:prstGeom prst="roundRect">
            <a:avLst>
              <a:gd name="adj" fmla="val 19607"/>
            </a:avLst>
          </a:prstGeom>
          <a:solidFill>
            <a:srgbClr val="EAF7E5">
              <a:alpha val="92000"/>
            </a:srgbClr>
          </a:solidFill>
          <a:ln w="28575">
            <a:solidFill>
              <a:srgbClr val="EEFBEF">
                <a:alpha val="9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f-svg-text-0025-text-01"/>
          <p:cNvSpPr txBox="1"/>
          <p:nvPr/>
        </p:nvSpPr>
        <p:spPr>
          <a:xfrm>
            <a:off x="9484042" y="3485198"/>
            <a:ext cx="145351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Visual Encoder</a:t>
            </a:r>
          </a:p>
        </p:txBody>
      </p:sp>
      <p:sp>
        <p:nvSpPr>
          <p:cNvPr id="114" name="af-svg-text-0026-text-01"/>
          <p:cNvSpPr txBox="1"/>
          <p:nvPr/>
        </p:nvSpPr>
        <p:spPr>
          <a:xfrm>
            <a:off x="11224736" y="3485198"/>
            <a:ext cx="1324928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Text Encoder</a:t>
            </a:r>
          </a:p>
        </p:txBody>
      </p:sp>
      <p:cxnSp>
        <p:nvCxnSpPr>
          <p:cNvPr id="115" name="af-svg-path-0041-line-01"/>
          <p:cNvCxnSpPr/>
          <p:nvPr/>
        </p:nvCxnSpPr>
        <p:spPr>
          <a:xfrm flipV="1">
            <a:off x="10210800" y="3086100"/>
            <a:ext cx="0" cy="247650"/>
          </a:xfrm>
          <a:prstGeom prst="line">
            <a:avLst/>
          </a:prstGeom>
          <a:ln w="23812" cap="sq">
            <a:solidFill>
              <a:srgbClr val="EEFBEF">
                <a:alpha val="9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af-svg-path-0042-freeform-01"/>
          <p:cNvSpPr/>
          <p:nvPr/>
        </p:nvSpPr>
        <p:spPr>
          <a:xfrm>
            <a:off x="10180320" y="308610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cxnSp>
        <p:nvCxnSpPr>
          <p:cNvPr id="117" name="af-svg-path-0043-line-01"/>
          <p:cNvCxnSpPr/>
          <p:nvPr/>
        </p:nvCxnSpPr>
        <p:spPr>
          <a:xfrm flipV="1">
            <a:off x="11887200" y="3086100"/>
            <a:ext cx="0" cy="247650"/>
          </a:xfrm>
          <a:prstGeom prst="line">
            <a:avLst/>
          </a:prstGeom>
          <a:ln w="23812" cap="sq">
            <a:solidFill>
              <a:srgbClr val="EEFBEF">
                <a:alpha val="9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af-svg-path-0044-freeform-01"/>
          <p:cNvSpPr/>
          <p:nvPr/>
        </p:nvSpPr>
        <p:spPr>
          <a:xfrm>
            <a:off x="11856720" y="308610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cxnSp>
        <p:nvCxnSpPr>
          <p:cNvPr id="119" name="af-svg-path-0045-line-01"/>
          <p:cNvCxnSpPr/>
          <p:nvPr/>
        </p:nvCxnSpPr>
        <p:spPr>
          <a:xfrm flipV="1">
            <a:off x="10210800" y="2533650"/>
            <a:ext cx="0" cy="238125"/>
          </a:xfrm>
          <a:prstGeom prst="line">
            <a:avLst/>
          </a:prstGeom>
          <a:ln w="23812" cap="sq">
            <a:solidFill>
              <a:srgbClr val="EEFBEF">
                <a:alpha val="9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af-svg-path-0046-freeform-01"/>
          <p:cNvSpPr/>
          <p:nvPr/>
        </p:nvSpPr>
        <p:spPr>
          <a:xfrm>
            <a:off x="10180320" y="253365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cxnSp>
        <p:nvCxnSpPr>
          <p:cNvPr id="121" name="af-svg-path-0047-line-01"/>
          <p:cNvCxnSpPr/>
          <p:nvPr/>
        </p:nvCxnSpPr>
        <p:spPr>
          <a:xfrm flipV="1">
            <a:off x="11887200" y="2533650"/>
            <a:ext cx="0" cy="238125"/>
          </a:xfrm>
          <a:prstGeom prst="line">
            <a:avLst/>
          </a:prstGeom>
          <a:ln w="23812" cap="sq">
            <a:solidFill>
              <a:srgbClr val="EEFBEF">
                <a:alpha val="9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af-svg-path-0048-freeform-01"/>
          <p:cNvSpPr/>
          <p:nvPr/>
        </p:nvSpPr>
        <p:spPr>
          <a:xfrm>
            <a:off x="11856720" y="253365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cxnSp>
        <p:nvCxnSpPr>
          <p:cNvPr id="123" name="af-svg-line-0001-line-01"/>
          <p:cNvCxnSpPr/>
          <p:nvPr/>
        </p:nvCxnSpPr>
        <p:spPr>
          <a:xfrm flipV="1">
            <a:off x="11039475" y="2428875"/>
            <a:ext cx="0" cy="476250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f-svg-line-0002-line-01"/>
          <p:cNvCxnSpPr/>
          <p:nvPr/>
        </p:nvCxnSpPr>
        <p:spPr>
          <a:xfrm flipH="1" flipV="1">
            <a:off x="10963275" y="249650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af-svg-line-0003-line-01"/>
          <p:cNvCxnSpPr/>
          <p:nvPr/>
        </p:nvCxnSpPr>
        <p:spPr>
          <a:xfrm flipV="1">
            <a:off x="11039475" y="249650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af-svg-line-0004-line-01"/>
          <p:cNvCxnSpPr/>
          <p:nvPr/>
        </p:nvCxnSpPr>
        <p:spPr>
          <a:xfrm flipH="1" flipV="1">
            <a:off x="10963275" y="240125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af-svg-line-0005-line-01"/>
          <p:cNvCxnSpPr/>
          <p:nvPr/>
        </p:nvCxnSpPr>
        <p:spPr>
          <a:xfrm flipV="1">
            <a:off x="11039475" y="240125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af-svg-line-0006-line-01"/>
          <p:cNvCxnSpPr/>
          <p:nvPr/>
        </p:nvCxnSpPr>
        <p:spPr>
          <a:xfrm flipV="1">
            <a:off x="11039475" y="2667000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af-svg-line-0007-line-01"/>
          <p:cNvCxnSpPr/>
          <p:nvPr/>
        </p:nvCxnSpPr>
        <p:spPr>
          <a:xfrm flipV="1">
            <a:off x="11319510" y="2634615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af-svg-line-0008-line-01"/>
          <p:cNvCxnSpPr/>
          <p:nvPr/>
        </p:nvCxnSpPr>
        <p:spPr>
          <a:xfrm>
            <a:off x="11319510" y="2743200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af-svg-line-0009-line-01"/>
          <p:cNvCxnSpPr/>
          <p:nvPr/>
        </p:nvCxnSpPr>
        <p:spPr>
          <a:xfrm flipV="1">
            <a:off x="11402378" y="2586990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af-svg-line-0010-line-01"/>
          <p:cNvCxnSpPr/>
          <p:nvPr/>
        </p:nvCxnSpPr>
        <p:spPr>
          <a:xfrm>
            <a:off x="11402378" y="2695575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af-svg-line-0011-line-01"/>
          <p:cNvCxnSpPr/>
          <p:nvPr/>
        </p:nvCxnSpPr>
        <p:spPr>
          <a:xfrm>
            <a:off x="11039475" y="2905125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af-svg-line-0012-line-01"/>
          <p:cNvCxnSpPr/>
          <p:nvPr/>
        </p:nvCxnSpPr>
        <p:spPr>
          <a:xfrm flipV="1">
            <a:off x="11319510" y="3043238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svg-line-0013-line-01"/>
          <p:cNvCxnSpPr/>
          <p:nvPr/>
        </p:nvCxnSpPr>
        <p:spPr>
          <a:xfrm>
            <a:off x="11319510" y="3067050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f-svg-line-0014-line-01"/>
          <p:cNvCxnSpPr/>
          <p:nvPr/>
        </p:nvCxnSpPr>
        <p:spPr>
          <a:xfrm flipV="1">
            <a:off x="11402378" y="3090862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f-svg-line-0015-line-01"/>
          <p:cNvCxnSpPr/>
          <p:nvPr/>
        </p:nvCxnSpPr>
        <p:spPr>
          <a:xfrm>
            <a:off x="11402378" y="3114675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f-svg-line-0016-line-01"/>
          <p:cNvCxnSpPr/>
          <p:nvPr/>
        </p:nvCxnSpPr>
        <p:spPr>
          <a:xfrm>
            <a:off x="11039475" y="2905125"/>
            <a:ext cx="0" cy="476250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af-svg-line-0017-line-01"/>
          <p:cNvCxnSpPr/>
          <p:nvPr/>
        </p:nvCxnSpPr>
        <p:spPr>
          <a:xfrm>
            <a:off x="11039475" y="322897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af-svg-line-0018-line-01"/>
          <p:cNvCxnSpPr/>
          <p:nvPr/>
        </p:nvCxnSpPr>
        <p:spPr>
          <a:xfrm flipH="1">
            <a:off x="10963275" y="322897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af-svg-line-0019-line-01"/>
          <p:cNvCxnSpPr/>
          <p:nvPr/>
        </p:nvCxnSpPr>
        <p:spPr>
          <a:xfrm>
            <a:off x="11039475" y="332422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af-svg-line-0020-line-01"/>
          <p:cNvCxnSpPr/>
          <p:nvPr/>
        </p:nvCxnSpPr>
        <p:spPr>
          <a:xfrm flipH="1">
            <a:off x="10963275" y="332422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af-svg-line-0021-line-01"/>
          <p:cNvCxnSpPr/>
          <p:nvPr/>
        </p:nvCxnSpPr>
        <p:spPr>
          <a:xfrm flipH="1">
            <a:off x="10627042" y="2905125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af-svg-line-0022-line-01"/>
          <p:cNvCxnSpPr/>
          <p:nvPr/>
        </p:nvCxnSpPr>
        <p:spPr>
          <a:xfrm flipH="1">
            <a:off x="10723245" y="3067050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af-svg-line-0023-line-01"/>
          <p:cNvCxnSpPr/>
          <p:nvPr/>
        </p:nvCxnSpPr>
        <p:spPr>
          <a:xfrm flipH="1" flipV="1">
            <a:off x="10647045" y="3043238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af-svg-line-0024-line-01"/>
          <p:cNvCxnSpPr/>
          <p:nvPr/>
        </p:nvCxnSpPr>
        <p:spPr>
          <a:xfrm flipH="1">
            <a:off x="10641330" y="3114675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af-svg-line-0025-line-01"/>
          <p:cNvCxnSpPr/>
          <p:nvPr/>
        </p:nvCxnSpPr>
        <p:spPr>
          <a:xfrm flipH="1" flipV="1">
            <a:off x="10565130" y="3090862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af-svg-line-0026-line-01"/>
          <p:cNvCxnSpPr/>
          <p:nvPr/>
        </p:nvCxnSpPr>
        <p:spPr>
          <a:xfrm flipH="1" flipV="1">
            <a:off x="10627042" y="2667000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af-svg-line-0027-line-01"/>
          <p:cNvCxnSpPr/>
          <p:nvPr/>
        </p:nvCxnSpPr>
        <p:spPr>
          <a:xfrm flipH="1">
            <a:off x="10647045" y="2743200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af-svg-line-0028-line-01"/>
          <p:cNvCxnSpPr/>
          <p:nvPr/>
        </p:nvCxnSpPr>
        <p:spPr>
          <a:xfrm flipH="1" flipV="1">
            <a:off x="10723245" y="2634615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af-svg-line-0029-line-01"/>
          <p:cNvCxnSpPr/>
          <p:nvPr/>
        </p:nvCxnSpPr>
        <p:spPr>
          <a:xfrm flipH="1">
            <a:off x="10565130" y="2695575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af-svg-line-0030-line-01"/>
          <p:cNvCxnSpPr/>
          <p:nvPr/>
        </p:nvCxnSpPr>
        <p:spPr>
          <a:xfrm flipH="1" flipV="1">
            <a:off x="10641330" y="2586990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af-svg-line-0031-line-01"/>
          <p:cNvCxnSpPr/>
          <p:nvPr/>
        </p:nvCxnSpPr>
        <p:spPr>
          <a:xfrm flipV="1">
            <a:off x="11039475" y="2428875"/>
            <a:ext cx="0" cy="476250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svg-line-0032-line-01"/>
          <p:cNvCxnSpPr/>
          <p:nvPr/>
        </p:nvCxnSpPr>
        <p:spPr>
          <a:xfrm flipH="1" flipV="1">
            <a:off x="10963275" y="249650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svg-line-0033-line-01"/>
          <p:cNvCxnSpPr/>
          <p:nvPr/>
        </p:nvCxnSpPr>
        <p:spPr>
          <a:xfrm flipV="1">
            <a:off x="11039475" y="249650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svg-line-0034-line-01"/>
          <p:cNvCxnSpPr/>
          <p:nvPr/>
        </p:nvCxnSpPr>
        <p:spPr>
          <a:xfrm flipH="1" flipV="1">
            <a:off x="10963275" y="240125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svg-line-0035-line-01"/>
          <p:cNvCxnSpPr/>
          <p:nvPr/>
        </p:nvCxnSpPr>
        <p:spPr>
          <a:xfrm flipV="1">
            <a:off x="11039475" y="240125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svg-line-0036-line-01"/>
          <p:cNvCxnSpPr/>
          <p:nvPr/>
        </p:nvCxnSpPr>
        <p:spPr>
          <a:xfrm flipV="1">
            <a:off x="11039475" y="2667000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svg-line-0037-line-01"/>
          <p:cNvCxnSpPr/>
          <p:nvPr/>
        </p:nvCxnSpPr>
        <p:spPr>
          <a:xfrm flipV="1">
            <a:off x="11319510" y="2634615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af-svg-line-0038-line-01"/>
          <p:cNvCxnSpPr/>
          <p:nvPr/>
        </p:nvCxnSpPr>
        <p:spPr>
          <a:xfrm>
            <a:off x="11319510" y="2743200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af-svg-line-0039-line-01"/>
          <p:cNvCxnSpPr/>
          <p:nvPr/>
        </p:nvCxnSpPr>
        <p:spPr>
          <a:xfrm flipV="1">
            <a:off x="11402378" y="2586990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af-svg-line-0040-line-01"/>
          <p:cNvCxnSpPr/>
          <p:nvPr/>
        </p:nvCxnSpPr>
        <p:spPr>
          <a:xfrm>
            <a:off x="11402378" y="2695575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af-svg-line-0041-line-01"/>
          <p:cNvCxnSpPr/>
          <p:nvPr/>
        </p:nvCxnSpPr>
        <p:spPr>
          <a:xfrm>
            <a:off x="11039475" y="2905125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af-svg-line-0042-line-01"/>
          <p:cNvCxnSpPr/>
          <p:nvPr/>
        </p:nvCxnSpPr>
        <p:spPr>
          <a:xfrm flipV="1">
            <a:off x="11319510" y="3043238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af-svg-line-0043-line-01"/>
          <p:cNvCxnSpPr/>
          <p:nvPr/>
        </p:nvCxnSpPr>
        <p:spPr>
          <a:xfrm>
            <a:off x="11319510" y="3067050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af-svg-line-0044-line-01"/>
          <p:cNvCxnSpPr/>
          <p:nvPr/>
        </p:nvCxnSpPr>
        <p:spPr>
          <a:xfrm flipV="1">
            <a:off x="11402378" y="3090862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af-svg-line-0045-line-01"/>
          <p:cNvCxnSpPr/>
          <p:nvPr/>
        </p:nvCxnSpPr>
        <p:spPr>
          <a:xfrm>
            <a:off x="11402378" y="3114675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af-svg-line-0046-line-01"/>
          <p:cNvCxnSpPr/>
          <p:nvPr/>
        </p:nvCxnSpPr>
        <p:spPr>
          <a:xfrm>
            <a:off x="11039475" y="2905125"/>
            <a:ext cx="0" cy="476250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af-svg-line-0047-line-01"/>
          <p:cNvCxnSpPr/>
          <p:nvPr/>
        </p:nvCxnSpPr>
        <p:spPr>
          <a:xfrm>
            <a:off x="11039475" y="322897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af-svg-line-0048-line-01"/>
          <p:cNvCxnSpPr/>
          <p:nvPr/>
        </p:nvCxnSpPr>
        <p:spPr>
          <a:xfrm flipH="1">
            <a:off x="10963275" y="322897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f-svg-line-0049-line-01"/>
          <p:cNvCxnSpPr/>
          <p:nvPr/>
        </p:nvCxnSpPr>
        <p:spPr>
          <a:xfrm>
            <a:off x="11039475" y="332422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af-svg-line-0050-line-01"/>
          <p:cNvCxnSpPr/>
          <p:nvPr/>
        </p:nvCxnSpPr>
        <p:spPr>
          <a:xfrm flipH="1">
            <a:off x="10963275" y="332422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af-svg-line-0051-line-01"/>
          <p:cNvCxnSpPr/>
          <p:nvPr/>
        </p:nvCxnSpPr>
        <p:spPr>
          <a:xfrm flipH="1">
            <a:off x="10627042" y="2905125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af-svg-line-0052-line-01"/>
          <p:cNvCxnSpPr/>
          <p:nvPr/>
        </p:nvCxnSpPr>
        <p:spPr>
          <a:xfrm flipH="1">
            <a:off x="10723245" y="3067050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af-svg-line-0053-line-01"/>
          <p:cNvCxnSpPr/>
          <p:nvPr/>
        </p:nvCxnSpPr>
        <p:spPr>
          <a:xfrm flipH="1" flipV="1">
            <a:off x="10647045" y="3043238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af-svg-line-0054-line-01"/>
          <p:cNvCxnSpPr/>
          <p:nvPr/>
        </p:nvCxnSpPr>
        <p:spPr>
          <a:xfrm flipH="1">
            <a:off x="10641330" y="3114675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af-svg-line-0055-line-01"/>
          <p:cNvCxnSpPr/>
          <p:nvPr/>
        </p:nvCxnSpPr>
        <p:spPr>
          <a:xfrm flipH="1" flipV="1">
            <a:off x="10565130" y="3090862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af-svg-line-0056-line-01"/>
          <p:cNvCxnSpPr/>
          <p:nvPr/>
        </p:nvCxnSpPr>
        <p:spPr>
          <a:xfrm flipH="1" flipV="1">
            <a:off x="10627042" y="2667000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af-svg-line-0057-line-01"/>
          <p:cNvCxnSpPr/>
          <p:nvPr/>
        </p:nvCxnSpPr>
        <p:spPr>
          <a:xfrm flipH="1">
            <a:off x="10647045" y="2743200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af-svg-line-0058-line-01"/>
          <p:cNvCxnSpPr/>
          <p:nvPr/>
        </p:nvCxnSpPr>
        <p:spPr>
          <a:xfrm flipH="1" flipV="1">
            <a:off x="10723245" y="2634615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af-svg-line-0059-line-01"/>
          <p:cNvCxnSpPr/>
          <p:nvPr/>
        </p:nvCxnSpPr>
        <p:spPr>
          <a:xfrm flipH="1">
            <a:off x="10565130" y="2695575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af-svg-line-0060-line-01"/>
          <p:cNvCxnSpPr/>
          <p:nvPr/>
        </p:nvCxnSpPr>
        <p:spPr>
          <a:xfrm flipH="1" flipV="1">
            <a:off x="10641330" y="2586990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af-svg-circle-0001-ellipse-01"/>
          <p:cNvSpPr/>
          <p:nvPr/>
        </p:nvSpPr>
        <p:spPr>
          <a:xfrm>
            <a:off x="10987088" y="2852738"/>
            <a:ext cx="104775" cy="104775"/>
          </a:xfrm>
          <a:prstGeom prst="ellipse">
            <a:avLst/>
          </a:prstGeom>
          <a:solidFill>
            <a:srgbClr val="CDD6D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af-svg-circle-0002-ellipse-01"/>
          <p:cNvSpPr/>
          <p:nvPr/>
        </p:nvSpPr>
        <p:spPr>
          <a:xfrm>
            <a:off x="11007090" y="2872740"/>
            <a:ext cx="64770" cy="64770"/>
          </a:xfrm>
          <a:prstGeom prst="ellipse">
            <a:avLst/>
          </a:prstGeom>
          <a:solidFill>
            <a:srgbClr val="2BA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af-svg-path-0049-line-01"/>
          <p:cNvCxnSpPr/>
          <p:nvPr/>
        </p:nvCxnSpPr>
        <p:spPr>
          <a:xfrm flipV="1">
            <a:off x="11049000" y="1323975"/>
            <a:ext cx="0" cy="466725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af-svg-path-0050-freeform-01"/>
          <p:cNvSpPr/>
          <p:nvPr/>
        </p:nvSpPr>
        <p:spPr>
          <a:xfrm>
            <a:off x="11008995" y="13239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87" name="af-svg-text-0027-text-01"/>
          <p:cNvSpPr txBox="1"/>
          <p:nvPr/>
        </p:nvSpPr>
        <p:spPr>
          <a:xfrm>
            <a:off x="9951625" y="1429702"/>
            <a:ext cx="1166050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0000"/>
                </a:solidFill>
                <a:latin typeface="Liberation Serif"/>
              </a:rPr>
              <a:t>Inference</a:t>
            </a:r>
          </a:p>
        </p:txBody>
      </p:sp>
      <p:sp>
        <p:nvSpPr>
          <p:cNvPr id="188" name="af-svg-rect-0048-rect-01"/>
          <p:cNvSpPr/>
          <p:nvPr/>
        </p:nvSpPr>
        <p:spPr>
          <a:xfrm>
            <a:off x="10210800" y="676275"/>
            <a:ext cx="1685925" cy="638175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38100">
            <a:solidFill>
              <a:srgbClr val="8DD9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af-svg-text-0028-text-01"/>
          <p:cNvSpPr txBox="1"/>
          <p:nvPr/>
        </p:nvSpPr>
        <p:spPr>
          <a:xfrm>
            <a:off x="10183797" y="761524"/>
            <a:ext cx="173993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Predicted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math:005" descr="AI_AUTOFIGURE_NATIVE_MATH_V1:eyJjb250ZW50X3J1bnMiOlt7ImNhbm9uaWNhbF9sYXRleCI6Inlfe3ByZWR9IiwiZm9ybXVsYV9pZCI6IkVRMDA1Iiwia2luZCI6Im1hdGg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mb3JtdWxhcyI6W3siY2Fub25pY2FsX2xhdGV4IjoieV97cHJlZH0iLCJmb3JtdWxhX2lkIjoiRVEwMDU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raW5kIjoibmF0aXZlX29mZmljZV9tYXRoIiwicGxhY2Vob2xkZXJfbmFtZSI6Im1hdGg6MDA1Iiwic2NoZW1hX3ZlcnNpb24iOiIxLjAifQ=="/>
              <p:cNvSpPr txBox="1"/>
              <p:nvPr/>
            </p:nvSpPr>
            <p:spPr>
              <a:xfrm>
                <a:off x="10692194" y="1018222"/>
                <a:ext cx="72313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pred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0" name="math:005" descr="AI_AUTOFIGURE_MATH_FALLBACK_ONLY_V1:eyJjb250ZW50X3J1bnMiOlt7ImNhbm9uaWNhbF9sYXRleCI6Inlfe3ByZWR9IiwiZm9ybXVsYV9pZCI6IkVRMDA1Iiwia2luZCI6Im1hdGg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mb3JtdWxhcyI6W3siY2Fub25pY2FsX2xhdGV4IjoieV97cHJlZH0iLCJmb3JtdWxhX2lkIjoiRVEwMDU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raW5kIjoibmF0aXZlX29mZmljZV9tYXRoIiwicGxhY2Vob2xkZXJfbmFtZSI6Im1hdGg6MDA1Iiwic2NoZW1hX3ZlcnNpb24iOiIxLjAifQ=="/>
              <p:cNvSpPr txBox="1"/>
              <p:nvPr/>
            </p:nvSpPr>
            <p:spPr>
              <a:xfrm>
                <a:off x="10692194" y="1018222"/>
                <a:ext cx="72313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\(y_{pred}\)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cxnSp>
        <p:nvCxnSpPr>
          <p:cNvPr id="191" name="af-svg-path-0051-line-01"/>
          <p:cNvCxnSpPr/>
          <p:nvPr/>
        </p:nvCxnSpPr>
        <p:spPr>
          <a:xfrm flipV="1">
            <a:off x="10629900" y="3990975"/>
            <a:ext cx="0" cy="390525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af-svg-path-0052-freeform-01"/>
          <p:cNvSpPr/>
          <p:nvPr/>
        </p:nvSpPr>
        <p:spPr>
          <a:xfrm>
            <a:off x="10589895" y="39909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3" name="af-svg-rect-0049-rect-01"/>
          <p:cNvSpPr/>
          <p:nvPr/>
        </p:nvSpPr>
        <p:spPr>
          <a:xfrm>
            <a:off x="9925050" y="4381500"/>
            <a:ext cx="1400175" cy="647700"/>
          </a:xfrm>
          <a:prstGeom prst="roundRect">
            <a:avLst>
              <a:gd name="adj" fmla="val 11764"/>
            </a:avLst>
          </a:prstGeom>
          <a:solidFill>
            <a:srgbClr val="E7F7FD"/>
          </a:solidFill>
          <a:ln w="38100">
            <a:solidFill>
              <a:srgbClr val="60C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af-svg-text-0030-text-01"/>
          <p:cNvSpPr txBox="1"/>
          <p:nvPr/>
        </p:nvSpPr>
        <p:spPr>
          <a:xfrm>
            <a:off x="10074592" y="4476274"/>
            <a:ext cx="1101090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math:006" descr="AI_AUTOFIGURE_NATIVE_MATH_V1:eyJjb250ZW50X3J1bnMiOlt7ImNhbm9uaWNhbF9sYXRleCI6IjxxX3sxfSwgcV97Mn0gLi4uIHFfe259PiIsImZvcm11bGFfaWQiOiJFUTAwNiIsImtpbmQiOiJtYXRoIiwibGF0ZXhfc2hhMjU2IjoiNzU3NDczYWYwODA2ZDEyYjY4NGQ1YzZiN2ZmYzMxMWIwYjI5ZTMzOTI0MDE2YjYyNmVlZmNkZGIyYWQ3Y2E3YyIsIm1vZGUiOiJpbmxpbmUiLCJvbW1sX3NoYTI1NiI6IjFmMjhjNDhhMDVhMzk0MWYyNGNhYjk2YWJlNDJlYTI3NDhjYzM5ZjBjYmM5NjA0ZGQwYTE5NGQyMjJmM2E4MjYiLCJzZW1hbnRpY19vbW1sX3Byb2ZpbGUiOiJvZmZpY2UtbWF0aC1zZW1hbnRpYy12MiIsInNlbWFudGljX29tbWxfc2hhMjU2IjoiYTA2MWY5OTI2ODY1YzlmOTRlMWI0Mzg5Mzc2Zjc3ODhlZGZlZDkzNTI2MzE5ZGE1OGQzZGIyM2U3NDFkYTY5ZSJ9XSwiZm9ybXVsYXMiOlt7ImNhbm9uaWNhbF9sYXRleCI6IjxxX3sxfSwgcV97Mn0gLi4uIHFfe259PiIsImZvcm11bGFfaWQiOiJFUTAwNiIsImxhdGV4X3NoYTI1NiI6Ijc1NzQ3M2FmMDgwNmQxMmI2ODRkNWM2YjdmZmMzMTFiMGIyOWUzMzkyNDAxNmI2MjZlZWZjZGRiMmFkN2NhN2MiLCJtb2RlIjoiaW5saW5lIiwib21tbF9zaGEyNTYiOiIxZjI4YzQ4YTA1YTM5NDFmMjRjYWI5NmFiZTQyZWEyNzQ4Y2MzOWYwY2JjOTYwNGRkMGExOTRkMjIyZjNhODI2Iiwic2VtYW50aWNfb21tbF9wcm9maWxlIjoib2ZmaWNlLW1hdGgtc2VtYW50aWMtdjIiLCJzZW1hbnRpY19vbW1sX3NoYTI1NiI6ImEwNjFmOTkyNjg2NWM5Zjk0ZTFiNDM4OTM3NmY3Nzg4ZWRmZWQ5MzUyNjMxOWRhNThkM2RiMjNlNzQxZGE2OWUifV0sImtpbmQiOiJuYXRpdmVfb2ZmaWNlX21hdGgiLCJwbGFjZWhvbGRlcl9uYW1lIjoibWF0aDowMDYiLCJzY2hlbWFfdmVyc2lvbiI6IjEuMCJ9"/>
              <p:cNvSpPr txBox="1"/>
              <p:nvPr/>
            </p:nvSpPr>
            <p:spPr>
              <a:xfrm>
                <a:off x="9964293" y="4751546"/>
                <a:ext cx="132168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&lt;"/>
                        <m:sepChr m:val=""/>
                        <m:endChr m:val="&gt;"/>
                      </m:dPr>
                      <m:e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endParaRPr lang="en-US" dirty="0" sz="1275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5" name="math:006" descr="AI_AUTOFIGURE_MATH_FALLBACK_ONLY_V1:eyJjb250ZW50X3J1bnMiOlt7ImNhbm9uaWNhbF9sYXRleCI6IjxxX3sxfSwgcV97Mn0gLi4uIHFfe259PiIsImZvcm11bGFfaWQiOiJFUTAwNiIsImtpbmQiOiJtYXRoIiwibGF0ZXhfc2hhMjU2IjoiNzU3NDczYWYwODA2ZDEyYjY4NGQ1YzZiN2ZmYzMxMWIwYjI5ZTMzOTI0MDE2YjYyNmVlZmNkZGIyYWQ3Y2E3YyIsIm1vZGUiOiJpbmxpbmUiLCJvbW1sX3NoYTI1NiI6IjFmMjhjNDhhMDVhMzk0MWYyNGNhYjk2YWJlNDJlYTI3NDhjYzM5ZjBjYmM5NjA0ZGQwYTE5NGQyMjJmM2E4MjYiLCJzZW1hbnRpY19vbW1sX3Byb2ZpbGUiOiJvZmZpY2UtbWF0aC1zZW1hbnRpYy12MiIsInNlbWFudGljX29tbWxfc2hhMjU2IjoiYTA2MWY5OTI2ODY1YzlmOTRlMWI0Mzg5Mzc2Zjc3ODhlZGZlZDkzNTI2MzE5ZGE1OGQzZGIyM2U3NDFkYTY5ZSJ9XSwiZm9ybXVsYXMiOlt7ImNhbm9uaWNhbF9sYXRleCI6IjxxX3sxfSwgcV97Mn0gLi4uIHFfe259PiIsImZvcm11bGFfaWQiOiJFUTAwNiIsImxhdGV4X3NoYTI1NiI6Ijc1NzQ3M2FmMDgwNmQxMmI2ODRkNWM2YjdmZmMzMTFiMGIyOWUzMzkyNDAxNmI2MjZlZWZjZGRiMmFkN2NhN2MiLCJtb2RlIjoiaW5saW5lIiwib21tbF9zaGEyNTYiOiIxZjI4YzQ4YTA1YTM5NDFmMjRjYWI5NmFiZTQyZWEyNzQ4Y2MzOWYwY2JjOTYwNGRkMGExOTRkMjIyZjNhODI2Iiwic2VtYW50aWNfb21tbF9wcm9maWxlIjoib2ZmaWNlLW1hdGgtc2VtYW50aWMtdjIiLCJzZW1hbnRpY19vbW1sX3NoYTI1NiI6ImEwNjFmOTkyNjg2NWM5Zjk0ZTFiNDM4OTM3NmY3Nzg4ZWRmZWQ5MzUyNjMxOWRhNThkM2RiMjNlNzQxZGE2OWUifV0sImtpbmQiOiJuYXRpdmVfb2ZmaWNlX21hdGgiLCJwbGFjZWhvbGRlcl9uYW1lIjoibWF0aDowMDYiLCJzY2hlbWFfdmVyc2lvbiI6IjEuMCJ9"/>
              <p:cNvSpPr txBox="1"/>
              <p:nvPr/>
            </p:nvSpPr>
            <p:spPr>
              <a:xfrm>
                <a:off x="9964293" y="4751546"/>
                <a:ext cx="132168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000000"/>
                    </a:solidFill>
                  </a:rPr>
                  <a:t>\(&lt;q_{1}, q_{2} ... q_{n}&gt;\)</a:t>
                </a:r>
                <a:endParaRPr lang="en-US" dirty="0" sz="1275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196" name="af-svg-text-0032-text-01"/>
          <p:cNvSpPr txBox="1"/>
          <p:nvPr/>
        </p:nvSpPr>
        <p:spPr>
          <a:xfrm>
            <a:off x="11401425" y="4021931"/>
            <a:ext cx="1524000" cy="4881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75">
                <a:solidFill>
                  <a:srgbClr val="000000"/>
                </a:solidFill>
                <a:latin typeface="Liberation Serif"/>
              </a:rPr>
              <a:t>Frozen VLM</a:t>
            </a:r>
          </a:p>
        </p:txBody>
      </p:sp>
      <p:cxnSp>
        <p:nvCxnSpPr>
          <p:cNvPr id="197" name="af-svg-path-0053-line-01"/>
          <p:cNvCxnSpPr/>
          <p:nvPr/>
        </p:nvCxnSpPr>
        <p:spPr>
          <a:xfrm>
            <a:off x="10582275" y="5581650"/>
            <a:ext cx="666750" cy="0"/>
          </a:xfrm>
          <a:prstGeom prst="line">
            <a:avLst/>
          </a:prstGeom>
          <a:ln w="38100" cap="sq">
            <a:solidFill>
              <a:srgbClr val="4E9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af-svg-path-0054-freeform-01"/>
          <p:cNvSpPr/>
          <p:nvPr/>
        </p:nvSpPr>
        <p:spPr>
          <a:xfrm>
            <a:off x="11184255" y="554164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9" name="af-svg-text-0033-text-01"/>
          <p:cNvSpPr txBox="1"/>
          <p:nvPr/>
        </p:nvSpPr>
        <p:spPr>
          <a:xfrm>
            <a:off x="11334750" y="5449252"/>
            <a:ext cx="1590675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Liberation Serif"/>
              </a:rPr>
              <a:t>Forward Pass</a:t>
            </a:r>
          </a:p>
        </p:txBody>
      </p:sp>
      <p:cxnSp>
        <p:nvCxnSpPr>
          <p:cNvPr id="200" name="af-svg-path-0055-line-01"/>
          <p:cNvCxnSpPr/>
          <p:nvPr/>
        </p:nvCxnSpPr>
        <p:spPr>
          <a:xfrm>
            <a:off x="10582275" y="5857875"/>
            <a:ext cx="666750" cy="0"/>
          </a:xfrm>
          <a:prstGeom prst="line">
            <a:avLst/>
          </a:prstGeom>
          <a:ln w="38100" cap="sq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af-svg-path-0056-freeform-01"/>
          <p:cNvSpPr/>
          <p:nvPr/>
        </p:nvSpPr>
        <p:spPr>
          <a:xfrm>
            <a:off x="11184255" y="58178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202" name="af-svg-text-0034-text-01"/>
          <p:cNvSpPr txBox="1"/>
          <p:nvPr/>
        </p:nvSpPr>
        <p:spPr>
          <a:xfrm>
            <a:off x="11334750" y="5735002"/>
            <a:ext cx="1590675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Liberation Serif"/>
              </a:rPr>
              <a:t>Backward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