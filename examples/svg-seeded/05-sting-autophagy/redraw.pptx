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002500" cy="12611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eed-auto-0002-rect-01" descr="{&quot;autofigure_element_id&quot;:&quot;seed-auto-0002&quot;}"/>
          <p:cNvSpPr/>
          <p:nvPr/>
        </p:nvSpPr>
        <p:spPr>
          <a:xfrm>
            <a:off x="0" y="0"/>
            <a:ext cx="20002500" cy="12611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seed-auto-0003-text-01" descr="{&quot;autofigure_element_id&quot;:&quot;seed-auto-0003&quot;}"/>
          <p:cNvSpPr txBox="1"/>
          <p:nvPr/>
        </p:nvSpPr>
        <p:spPr>
          <a:xfrm>
            <a:off x="322306" y="2346181"/>
            <a:ext cx="108813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Trans Golgi</a:t>
            </a:r>
          </a:p>
        </p:txBody>
      </p:sp>
      <p:sp>
        <p:nvSpPr>
          <p:cNvPr id="4" name="af-seed-auto-0004-text-01" descr="{&quot;autofigure_element_id&quot;:&quot;seed-auto-0004&quot;}"/>
          <p:cNvSpPr txBox="1"/>
          <p:nvPr/>
        </p:nvSpPr>
        <p:spPr>
          <a:xfrm>
            <a:off x="0" y="4368255"/>
            <a:ext cx="91744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Cis Golgi</a:t>
            </a:r>
          </a:p>
        </p:txBody>
      </p:sp>
      <p:sp>
        <p:nvSpPr>
          <p:cNvPr id="5" name="af-seed-auto-0005-freeform-01" descr="{&quot;autofigure_element_id&quot;:&quot;seed-auto-0005&quot;}"/>
          <p:cNvSpPr/>
          <p:nvPr/>
        </p:nvSpPr>
        <p:spPr>
          <a:xfrm>
            <a:off x="1611530" y="2315128"/>
            <a:ext cx="4004407" cy="1181985"/>
          </a:xfrm>
          <a:custGeom>
            <a:avLst/>
            <a:gdLst/>
            <a:ahLst/>
            <a:cxnLst/>
            <a:rect l="0" t="0" r="0" b="0"/>
            <a:pathLst>
              <a:path w="4004407" h="1181985">
                <a:moveTo>
                  <a:pt x="244171" y="410276"/>
                </a:moveTo>
                <a:cubicBezTo>
                  <a:pt x="419974" y="156296"/>
                  <a:pt x="683679" y="78148"/>
                  <a:pt x="976685" y="146527"/>
                </a:cubicBezTo>
                <a:cubicBezTo>
                  <a:pt x="1845934" y="371202"/>
                  <a:pt x="2597981" y="351665"/>
                  <a:pt x="3418396" y="97685"/>
                </a:cubicBezTo>
                <a:cubicBezTo>
                  <a:pt x="3740702" y="0"/>
                  <a:pt x="4004407" y="117222"/>
                  <a:pt x="3916505" y="380970"/>
                </a:cubicBezTo>
                <a:cubicBezTo>
                  <a:pt x="3828604" y="644719"/>
                  <a:pt x="3555132" y="771709"/>
                  <a:pt x="3154691" y="879163"/>
                </a:cubicBezTo>
                <a:cubicBezTo>
                  <a:pt x="2090105" y="1181985"/>
                  <a:pt x="1074353" y="1123375"/>
                  <a:pt x="224637" y="771709"/>
                </a:cubicBezTo>
                <a:cubicBezTo>
                  <a:pt x="0" y="674025"/>
                  <a:pt x="9767" y="547035"/>
                  <a:pt x="244171" y="410276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6" name="af-seed-auto-0006-freeform-01" descr="{&quot;autofigure_element_id&quot;:&quot;seed-auto-0006&quot;}"/>
          <p:cNvSpPr/>
          <p:nvPr/>
        </p:nvSpPr>
        <p:spPr>
          <a:xfrm>
            <a:off x="791115" y="3028227"/>
            <a:ext cx="6006610" cy="1260133"/>
          </a:xfrm>
          <a:custGeom>
            <a:avLst/>
            <a:gdLst/>
            <a:ahLst/>
            <a:cxnLst/>
            <a:rect l="0" t="0" r="0" b="0"/>
            <a:pathLst>
              <a:path w="6006610" h="1260133">
                <a:moveTo>
                  <a:pt x="175803" y="390739"/>
                </a:moveTo>
                <a:cubicBezTo>
                  <a:pt x="302772" y="97685"/>
                  <a:pt x="576244" y="19537"/>
                  <a:pt x="849716" y="126990"/>
                </a:cubicBezTo>
                <a:cubicBezTo>
                  <a:pt x="1826400" y="468887"/>
                  <a:pt x="3076556" y="615414"/>
                  <a:pt x="4463448" y="302823"/>
                </a:cubicBezTo>
                <a:cubicBezTo>
                  <a:pt x="5098293" y="156296"/>
                  <a:pt x="5518268" y="0"/>
                  <a:pt x="5733138" y="48842"/>
                </a:cubicBezTo>
                <a:cubicBezTo>
                  <a:pt x="6006610" y="107453"/>
                  <a:pt x="6006610" y="380970"/>
                  <a:pt x="5821040" y="547035"/>
                </a:cubicBezTo>
                <a:cubicBezTo>
                  <a:pt x="5596403" y="761941"/>
                  <a:pt x="4951791" y="928005"/>
                  <a:pt x="4170443" y="1035458"/>
                </a:cubicBezTo>
                <a:cubicBezTo>
                  <a:pt x="2637048" y="1260133"/>
                  <a:pt x="1142721" y="1074532"/>
                  <a:pt x="302772" y="781478"/>
                </a:cubicBezTo>
                <a:cubicBezTo>
                  <a:pt x="0" y="674025"/>
                  <a:pt x="19534" y="556803"/>
                  <a:pt x="175803" y="390739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7" name="af-seed-auto-0007-freeform-01" descr="{&quot;autofigure_element_id&quot;:&quot;seed-auto-0007&quot;}"/>
          <p:cNvSpPr/>
          <p:nvPr/>
        </p:nvSpPr>
        <p:spPr>
          <a:xfrm>
            <a:off x="1621296" y="4073454"/>
            <a:ext cx="2334276" cy="576340"/>
          </a:xfrm>
          <a:custGeom>
            <a:avLst/>
            <a:gdLst/>
            <a:ahLst/>
            <a:cxnLst/>
            <a:rect l="0" t="0" r="0" b="0"/>
            <a:pathLst>
              <a:path w="2334276" h="576340">
                <a:moveTo>
                  <a:pt x="175803" y="146527"/>
                </a:moveTo>
                <a:cubicBezTo>
                  <a:pt x="361373" y="19537"/>
                  <a:pt x="556710" y="0"/>
                  <a:pt x="810648" y="39074"/>
                </a:cubicBezTo>
                <a:lnTo>
                  <a:pt x="2011970" y="117222"/>
                </a:lnTo>
                <a:cubicBezTo>
                  <a:pt x="2246375" y="136759"/>
                  <a:pt x="2334276" y="273517"/>
                  <a:pt x="2246375" y="410276"/>
                </a:cubicBezTo>
                <a:cubicBezTo>
                  <a:pt x="2158473" y="547035"/>
                  <a:pt x="1953369" y="576340"/>
                  <a:pt x="1679897" y="566571"/>
                </a:cubicBezTo>
                <a:lnTo>
                  <a:pt x="390674" y="517729"/>
                </a:lnTo>
                <a:cubicBezTo>
                  <a:pt x="97668" y="507961"/>
                  <a:pt x="0" y="263749"/>
                  <a:pt x="175803" y="146527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8" name="af-seed-auto-0008-freeform-01" descr="{&quot;autofigure_element_id&quot;:&quot;seed-auto-0008&quot;}"/>
          <p:cNvSpPr/>
          <p:nvPr/>
        </p:nvSpPr>
        <p:spPr>
          <a:xfrm>
            <a:off x="4141143" y="4190675"/>
            <a:ext cx="2051038" cy="449350"/>
          </a:xfrm>
          <a:custGeom>
            <a:avLst/>
            <a:gdLst/>
            <a:ahLst/>
            <a:cxnLst/>
            <a:rect l="0" t="0" r="0" b="0"/>
            <a:pathLst>
              <a:path w="2051038" h="449350">
                <a:moveTo>
                  <a:pt x="9767" y="126990"/>
                </a:moveTo>
                <a:cubicBezTo>
                  <a:pt x="263705" y="48842"/>
                  <a:pt x="664146" y="39074"/>
                  <a:pt x="1084120" y="39074"/>
                </a:cubicBezTo>
                <a:cubicBezTo>
                  <a:pt x="1445493" y="39074"/>
                  <a:pt x="1738499" y="0"/>
                  <a:pt x="1875234" y="78148"/>
                </a:cubicBezTo>
                <a:cubicBezTo>
                  <a:pt x="2051038" y="175833"/>
                  <a:pt x="1943602" y="332128"/>
                  <a:pt x="1758032" y="371202"/>
                </a:cubicBezTo>
                <a:cubicBezTo>
                  <a:pt x="1416193" y="439581"/>
                  <a:pt x="898550" y="449350"/>
                  <a:pt x="419974" y="420044"/>
                </a:cubicBezTo>
                <a:cubicBezTo>
                  <a:pt x="156270" y="400507"/>
                  <a:pt x="0" y="283286"/>
                  <a:pt x="9767" y="126990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9" name="af-seed-auto-0009-freeform-01" descr="{&quot;autofigure_element_id&quot;:&quot;seed-auto-0009&quot;}"/>
          <p:cNvSpPr/>
          <p:nvPr/>
        </p:nvSpPr>
        <p:spPr>
          <a:xfrm>
            <a:off x="1670131" y="4610720"/>
            <a:ext cx="742280" cy="664256"/>
          </a:xfrm>
          <a:custGeom>
            <a:avLst/>
            <a:gdLst/>
            <a:ahLst/>
            <a:cxnLst/>
            <a:rect l="0" t="0" r="0" b="0"/>
            <a:pathLst>
              <a:path w="742280" h="664256">
                <a:moveTo>
                  <a:pt x="78135" y="136759"/>
                </a:moveTo>
                <a:cubicBezTo>
                  <a:pt x="224637" y="0"/>
                  <a:pt x="468809" y="9768"/>
                  <a:pt x="605544" y="136759"/>
                </a:cubicBezTo>
                <a:cubicBezTo>
                  <a:pt x="742280" y="263749"/>
                  <a:pt x="683679" y="478655"/>
                  <a:pt x="517643" y="566571"/>
                </a:cubicBezTo>
                <a:cubicBezTo>
                  <a:pt x="322306" y="664256"/>
                  <a:pt x="87902" y="576340"/>
                  <a:pt x="39067" y="400507"/>
                </a:cubicBezTo>
                <a:cubicBezTo>
                  <a:pt x="0" y="302823"/>
                  <a:pt x="9767" y="214906"/>
                  <a:pt x="78135" y="136759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10" name="af-seed-auto-0010-freeform-01" descr="{&quot;autofigure_element_id&quot;:&quot;seed-auto-0010&quot;}"/>
          <p:cNvSpPr/>
          <p:nvPr/>
        </p:nvSpPr>
        <p:spPr>
          <a:xfrm>
            <a:off x="2236608" y="4659562"/>
            <a:ext cx="3701635" cy="537266"/>
          </a:xfrm>
          <a:custGeom>
            <a:avLst/>
            <a:gdLst/>
            <a:ahLst/>
            <a:cxnLst/>
            <a:rect l="0" t="0" r="0" b="0"/>
            <a:pathLst>
              <a:path w="3701635" h="537266">
                <a:moveTo>
                  <a:pt x="136736" y="117222"/>
                </a:moveTo>
                <a:cubicBezTo>
                  <a:pt x="351606" y="0"/>
                  <a:pt x="586011" y="9768"/>
                  <a:pt x="830182" y="58611"/>
                </a:cubicBezTo>
                <a:cubicBezTo>
                  <a:pt x="1416193" y="166064"/>
                  <a:pt x="2099872" y="195369"/>
                  <a:pt x="2744484" y="97685"/>
                </a:cubicBezTo>
                <a:cubicBezTo>
                  <a:pt x="3008188" y="58611"/>
                  <a:pt x="3252360" y="48842"/>
                  <a:pt x="3447697" y="87916"/>
                </a:cubicBezTo>
                <a:cubicBezTo>
                  <a:pt x="3682101" y="136759"/>
                  <a:pt x="3701635" y="322360"/>
                  <a:pt x="3506298" y="420044"/>
                </a:cubicBezTo>
                <a:cubicBezTo>
                  <a:pt x="3262126" y="537266"/>
                  <a:pt x="2939821" y="517729"/>
                  <a:pt x="2510079" y="517729"/>
                </a:cubicBezTo>
                <a:lnTo>
                  <a:pt x="556710" y="507961"/>
                </a:lnTo>
                <a:cubicBezTo>
                  <a:pt x="234404" y="507961"/>
                  <a:pt x="0" y="293054"/>
                  <a:pt x="136736" y="117222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11" name="af-seed-auto-0011-ellipse-01" descr="{&quot;autofigure_element_id&quot;:&quot;seed-auto-0011&quot;}"/>
          <p:cNvSpPr/>
          <p:nvPr/>
        </p:nvSpPr>
        <p:spPr>
          <a:xfrm>
            <a:off x="6455885" y="4063685"/>
            <a:ext cx="234404" cy="234443"/>
          </a:xfrm>
          <a:prstGeom prst="ellipse">
            <a:avLst/>
          </a:prstGeom>
          <a:solidFill>
            <a:srgbClr val="BFD2EA"/>
          </a:solidFill>
          <a:ln w="20955">
            <a:solidFill>
              <a:srgbClr val="5E8FC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f-seed-auto-0012-ellipse-01" descr="{&quot;autofigure_element_id&quot;:&quot;seed-auto-0012&quot;}"/>
          <p:cNvSpPr/>
          <p:nvPr/>
        </p:nvSpPr>
        <p:spPr>
          <a:xfrm>
            <a:off x="1484561" y="3086838"/>
            <a:ext cx="332073" cy="332128"/>
          </a:xfrm>
          <a:prstGeom prst="ellipse">
            <a:avLst/>
          </a:prstGeom>
          <a:solidFill>
            <a:srgbClr val="BFD2EA"/>
          </a:solidFill>
          <a:ln w="20955">
            <a:solidFill>
              <a:srgbClr val="5E8FC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-seed-auto-0013-ellipse-01" descr="{&quot;autofigure_element_id&quot;:&quot;seed-auto-0013&quot;}"/>
          <p:cNvSpPr/>
          <p:nvPr/>
        </p:nvSpPr>
        <p:spPr>
          <a:xfrm>
            <a:off x="6241014" y="3106375"/>
            <a:ext cx="351606" cy="351665"/>
          </a:xfrm>
          <a:prstGeom prst="ellipse">
            <a:avLst/>
          </a:prstGeom>
          <a:solidFill>
            <a:srgbClr val="BFD2EA"/>
          </a:solidFill>
          <a:ln w="20955">
            <a:solidFill>
              <a:srgbClr val="5E8FC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f-seed-auto-0014-freeform-01" descr="{&quot;autofigure_element_id&quot;:&quot;seed-auto-0014&quot;}"/>
          <p:cNvSpPr/>
          <p:nvPr/>
        </p:nvSpPr>
        <p:spPr>
          <a:xfrm>
            <a:off x="6729357" y="3155217"/>
            <a:ext cx="625078" cy="1113606"/>
          </a:xfrm>
          <a:custGeom>
            <a:avLst/>
            <a:gdLst/>
            <a:ahLst/>
            <a:cxnLst/>
            <a:rect l="0" t="0" r="0" b="0"/>
            <a:pathLst>
              <a:path w="625078" h="1113606">
                <a:moveTo>
                  <a:pt x="293005" y="87916"/>
                </a:moveTo>
                <a:cubicBezTo>
                  <a:pt x="517643" y="0"/>
                  <a:pt x="625078" y="214906"/>
                  <a:pt x="605544" y="410276"/>
                </a:cubicBezTo>
                <a:cubicBezTo>
                  <a:pt x="576244" y="732636"/>
                  <a:pt x="341840" y="976847"/>
                  <a:pt x="0" y="1113606"/>
                </a:cubicBezTo>
              </a:path>
            </a:pathLst>
          </a:custGeom>
          <a:noFill/>
          <a:ln w="33338" cap="rnd">
            <a:solidFill>
              <a:srgbClr val="111111"/>
            </a:solidFill>
            <a:prstDash val="dot"/>
            <a:round/>
          </a:ln>
        </p:spPr>
      </p:sp>
      <p:sp>
        <p:nvSpPr>
          <p:cNvPr id="15" name="af-seed-auto-0015-freeform-arrow-01" descr="{&quot;arrow_spec_sha256&quot;:&quot;5f86e83d885f46245549fd3118a21643837a71821317f770dddafe5dd43eb3e7&quot;,&quot;autofigure_element_id&quot;:&quot;seed-auto-0015&quot;}"/>
          <p:cNvSpPr/>
          <p:nvPr/>
        </p:nvSpPr>
        <p:spPr>
          <a:xfrm>
            <a:off x="6582854" y="4171138"/>
            <a:ext cx="634845" cy="537266"/>
          </a:xfrm>
          <a:custGeom>
            <a:avLst/>
            <a:gdLst/>
            <a:ahLst/>
            <a:cxnLst/>
            <a:rect l="0" t="0" r="0" b="0"/>
            <a:pathLst>
              <a:path w="634845" h="537266">
                <a:moveTo>
                  <a:pt x="634845" y="0"/>
                </a:moveTo>
                <a:cubicBezTo>
                  <a:pt x="517643" y="244212"/>
                  <a:pt x="293005" y="420044"/>
                  <a:pt x="0" y="537266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16" name="af-seed-auto-0016-freeform-01" descr="{&quot;autofigure_element_id&quot;:&quot;seed-auto-0016&quot;}"/>
          <p:cNvSpPr/>
          <p:nvPr/>
        </p:nvSpPr>
        <p:spPr>
          <a:xfrm>
            <a:off x="3068743" y="2616974"/>
            <a:ext cx="481505" cy="495750"/>
          </a:xfrm>
          <a:custGeom>
            <a:avLst/>
            <a:gdLst/>
            <a:ahLst/>
            <a:cxnLst/>
            <a:rect l="0" t="0" r="0" b="0"/>
            <a:pathLst>
              <a:path w="481505" h="495750">
                <a:moveTo>
                  <a:pt x="84972" y="212464"/>
                </a:moveTo>
                <a:cubicBezTo>
                  <a:pt x="169943" y="0"/>
                  <a:pt x="368210" y="0"/>
                  <a:pt x="439020" y="184136"/>
                </a:cubicBezTo>
                <a:cubicBezTo>
                  <a:pt x="481505" y="311614"/>
                  <a:pt x="396534" y="439093"/>
                  <a:pt x="226591" y="467421"/>
                </a:cubicBezTo>
                <a:cubicBezTo>
                  <a:pt x="99133" y="495750"/>
                  <a:pt x="0" y="368271"/>
                  <a:pt x="84972" y="212464"/>
                </a:cubicBezTo>
                <a:close/>
              </a:path>
            </a:pathLst>
          </a:custGeom>
          <a:solidFill>
            <a:srgbClr val="284E9A"/>
          </a:solidFill>
          <a:ln>
            <a:noFill/>
          </a:ln>
        </p:spPr>
      </p:sp>
      <p:sp>
        <p:nvSpPr>
          <p:cNvPr id="17" name="af-seed-auto-0017-freeform-01" descr="{&quot;autofigure_element_id&quot;:&quot;seed-auto-0017&quot;}"/>
          <p:cNvSpPr/>
          <p:nvPr/>
        </p:nvSpPr>
        <p:spPr>
          <a:xfrm>
            <a:off x="3408629" y="2631138"/>
            <a:ext cx="325724" cy="495750"/>
          </a:xfrm>
          <a:custGeom>
            <a:avLst/>
            <a:gdLst/>
            <a:ahLst/>
            <a:cxnLst/>
            <a:rect l="0" t="0" r="0" b="0"/>
            <a:pathLst>
              <a:path w="325724" h="495750">
                <a:moveTo>
                  <a:pt x="42486" y="42493"/>
                </a:moveTo>
                <a:cubicBezTo>
                  <a:pt x="184105" y="0"/>
                  <a:pt x="325724" y="141643"/>
                  <a:pt x="297400" y="297450"/>
                </a:cubicBezTo>
                <a:cubicBezTo>
                  <a:pt x="269077" y="439093"/>
                  <a:pt x="113295" y="495750"/>
                  <a:pt x="0" y="410764"/>
                </a:cubicBezTo>
                <a:cubicBezTo>
                  <a:pt x="113295" y="354107"/>
                  <a:pt x="155781" y="269121"/>
                  <a:pt x="42486" y="42493"/>
                </a:cubicBezTo>
                <a:close/>
              </a:path>
            </a:pathLst>
          </a:custGeom>
          <a:solidFill>
            <a:srgbClr val="203D7E"/>
          </a:solidFill>
          <a:ln>
            <a:noFill/>
          </a:ln>
        </p:spPr>
      </p:sp>
      <p:sp>
        <p:nvSpPr>
          <p:cNvPr id="18" name="af-seed-auto-0018-ellipse-01" descr="{&quot;autofigure_element_id&quot;:&quot;seed-auto-0018&quot;}"/>
          <p:cNvSpPr/>
          <p:nvPr/>
        </p:nvSpPr>
        <p:spPr>
          <a:xfrm>
            <a:off x="3493601" y="2461167"/>
            <a:ext cx="339886" cy="453257"/>
          </a:xfrm>
          <a:prstGeom prst="ellipse">
            <a:avLst/>
          </a:prstGeom>
          <a:solidFill>
            <a:srgbClr val="F9C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seed-auto-0019-text-01" descr="{&quot;autofigure_element_id&quot;:&quot;seed-auto-0019&quot;}"/>
          <p:cNvSpPr txBox="1"/>
          <p:nvPr/>
        </p:nvSpPr>
        <p:spPr>
          <a:xfrm>
            <a:off x="2402644" y="2004284"/>
            <a:ext cx="99669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ARFGEFs</a:t>
            </a:r>
          </a:p>
        </p:txBody>
      </p:sp>
      <p:sp>
        <p:nvSpPr>
          <p:cNvPr id="20" name="af-seed-auto-0020-freeform-arrow-01" descr="{&quot;arrow_spec_sha256&quot;:&quot;22290665e80404f6b499a2413611927bb8323aabe9841c8ef1b041f7a7ea2a61&quot;,&quot;autofigure_element_id&quot;:&quot;seed-auto-0020&quot;}"/>
          <p:cNvSpPr/>
          <p:nvPr/>
        </p:nvSpPr>
        <p:spPr>
          <a:xfrm>
            <a:off x="3672334" y="2149064"/>
            <a:ext cx="576244" cy="175833"/>
          </a:xfrm>
          <a:custGeom>
            <a:avLst/>
            <a:gdLst/>
            <a:ahLst/>
            <a:cxnLst/>
            <a:rect l="0" t="0" r="0" b="0"/>
            <a:pathLst>
              <a:path w="576244" h="175833">
                <a:moveTo>
                  <a:pt x="0" y="175833"/>
                </a:moveTo>
                <a:cubicBezTo>
                  <a:pt x="166036" y="39074"/>
                  <a:pt x="400441" y="0"/>
                  <a:pt x="576244" y="107453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21" name="af-seed-auto-0021-freeform-01" descr="{&quot;autofigure_element_id&quot;:&quot;seed-auto-0021&quot;}"/>
          <p:cNvSpPr/>
          <p:nvPr/>
        </p:nvSpPr>
        <p:spPr>
          <a:xfrm>
            <a:off x="4452705" y="1913644"/>
            <a:ext cx="334026" cy="241281"/>
          </a:xfrm>
          <a:custGeom>
            <a:avLst/>
            <a:gdLst/>
            <a:ahLst/>
            <a:cxnLst/>
            <a:rect l="0" t="0" r="0" b="0"/>
            <a:pathLst>
              <a:path w="334026" h="241281">
                <a:moveTo>
                  <a:pt x="0" y="241281"/>
                </a:moveTo>
                <a:cubicBezTo>
                  <a:pt x="46393" y="120641"/>
                  <a:pt x="120621" y="74240"/>
                  <a:pt x="167013" y="0"/>
                </a:cubicBezTo>
                <a:cubicBezTo>
                  <a:pt x="213406" y="74240"/>
                  <a:pt x="287634" y="120641"/>
                  <a:pt x="334026" y="241281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22" name="af-seed-auto-0022-ellipse-01" descr="{&quot;autofigure_element_id&quot;:&quot;seed-auto-0022&quot;}"/>
          <p:cNvSpPr/>
          <p:nvPr/>
        </p:nvSpPr>
        <p:spPr>
          <a:xfrm>
            <a:off x="4500953" y="1906220"/>
            <a:ext cx="89074" cy="8908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seed-auto-0023-ellipse-01" descr="{&quot;autofigure_element_id&quot;:&quot;seed-auto-0023&quot;}"/>
          <p:cNvSpPr/>
          <p:nvPr/>
        </p:nvSpPr>
        <p:spPr>
          <a:xfrm>
            <a:off x="4649409" y="1906220"/>
            <a:ext cx="89074" cy="8908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f-seed-auto-0024-freeform-01" descr="{&quot;autofigure_element_id&quot;:&quot;seed-auto-0024&quot;}"/>
          <p:cNvSpPr/>
          <p:nvPr/>
        </p:nvSpPr>
        <p:spPr>
          <a:xfrm>
            <a:off x="4582604" y="2164205"/>
            <a:ext cx="37114" cy="194881"/>
          </a:xfrm>
          <a:custGeom>
            <a:avLst/>
            <a:gdLst/>
            <a:ahLst/>
            <a:cxnLst/>
            <a:rect l="0" t="0" r="0" b="0"/>
            <a:pathLst>
              <a:path w="37114" h="194881">
                <a:moveTo>
                  <a:pt x="37114" y="0"/>
                </a:moveTo>
                <a:cubicBezTo>
                  <a:pt x="0" y="64960"/>
                  <a:pt x="0" y="129921"/>
                  <a:pt x="37114" y="194881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25" name="af-seed-auto-0025-freeform-01" descr="{&quot;autofigure_element_id&quot;:&quot;seed-auto-0025&quot;}"/>
          <p:cNvSpPr/>
          <p:nvPr/>
        </p:nvSpPr>
        <p:spPr>
          <a:xfrm>
            <a:off x="4336479" y="1435966"/>
            <a:ext cx="527410" cy="801015"/>
          </a:xfrm>
          <a:custGeom>
            <a:avLst/>
            <a:gdLst/>
            <a:ahLst/>
            <a:cxnLst/>
            <a:rect l="0" t="0" r="0" b="0"/>
            <a:pathLst>
              <a:path w="527410" h="801015">
                <a:moveTo>
                  <a:pt x="527410" y="801015"/>
                </a:moveTo>
                <a:cubicBezTo>
                  <a:pt x="478575" y="595877"/>
                  <a:pt x="351606" y="459118"/>
                  <a:pt x="214871" y="361434"/>
                </a:cubicBezTo>
                <a:cubicBezTo>
                  <a:pt x="78135" y="244212"/>
                  <a:pt x="0" y="126990"/>
                  <a:pt x="29301" y="0"/>
                </a:cubicBezTo>
              </a:path>
            </a:pathLst>
          </a:custGeom>
          <a:noFill/>
          <a:ln w="28575">
            <a:solidFill>
              <a:srgbClr val="2A63A3"/>
            </a:solidFill>
            <a:miter/>
          </a:ln>
        </p:spPr>
      </p:sp>
      <p:sp>
        <p:nvSpPr>
          <p:cNvPr id="26" name="af-seed-auto-0026-ellipse-01" descr="{&quot;autofigure_element_id&quot;:&quot;seed-auto-0026&quot;}"/>
          <p:cNvSpPr/>
          <p:nvPr/>
        </p:nvSpPr>
        <p:spPr>
          <a:xfrm>
            <a:off x="4238811" y="1738788"/>
            <a:ext cx="781348" cy="781478"/>
          </a:xfrm>
          <a:prstGeom prst="ellipse">
            <a:avLst/>
          </a:prstGeom>
          <a:solidFill>
            <a:srgbClr val="C4D6ED"/>
          </a:solidFill>
          <a:ln w="23812">
            <a:solidFill>
              <a:srgbClr val="5B8FC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f-seed-auto-0027-ellipse-01" descr="{&quot;autofigure_element_id&quot;:&quot;seed-auto-0027&quot;}"/>
          <p:cNvSpPr/>
          <p:nvPr/>
        </p:nvSpPr>
        <p:spPr>
          <a:xfrm>
            <a:off x="4170443" y="1670409"/>
            <a:ext cx="918083" cy="918237"/>
          </a:xfrm>
          <a:prstGeom prst="ellipse">
            <a:avLst/>
          </a:prstGeom>
          <a:noFill/>
          <a:ln w="66675" cap="rnd">
            <a:solidFill>
              <a:srgbClr val="2F3E73"/>
            </a:solidFill>
            <a:prstDash val="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f-seed-auto-0028-freeform-01" descr="{&quot;autofigure_element_id&quot;:&quot;seed-auto-0028&quot;}"/>
          <p:cNvSpPr/>
          <p:nvPr/>
        </p:nvSpPr>
        <p:spPr>
          <a:xfrm>
            <a:off x="4478294" y="1558267"/>
            <a:ext cx="302382" cy="218423"/>
          </a:xfrm>
          <a:custGeom>
            <a:avLst/>
            <a:gdLst/>
            <a:ahLst/>
            <a:cxnLst/>
            <a:rect l="0" t="0" r="0" b="0"/>
            <a:pathLst>
              <a:path w="302382" h="218423">
                <a:moveTo>
                  <a:pt x="0" y="218423"/>
                </a:moveTo>
                <a:cubicBezTo>
                  <a:pt x="41997" y="109212"/>
                  <a:pt x="109193" y="67207"/>
                  <a:pt x="151191" y="0"/>
                </a:cubicBezTo>
                <a:cubicBezTo>
                  <a:pt x="193188" y="67207"/>
                  <a:pt x="260384" y="109212"/>
                  <a:pt x="302382" y="218423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29" name="af-seed-auto-0029-ellipse-01" descr="{&quot;autofigure_element_id&quot;:&quot;seed-auto-0029&quot;}"/>
          <p:cNvSpPr/>
          <p:nvPr/>
        </p:nvSpPr>
        <p:spPr>
          <a:xfrm>
            <a:off x="4521971" y="1551546"/>
            <a:ext cx="80635" cy="80649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f-seed-auto-0030-ellipse-01" descr="{&quot;autofigure_element_id&quot;:&quot;seed-auto-0030&quot;}"/>
          <p:cNvSpPr/>
          <p:nvPr/>
        </p:nvSpPr>
        <p:spPr>
          <a:xfrm>
            <a:off x="4656363" y="1551546"/>
            <a:ext cx="80635" cy="80649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seed-auto-0031-freeform-01" descr="{&quot;autofigure_element_id&quot;:&quot;seed-auto-0031&quot;}"/>
          <p:cNvSpPr/>
          <p:nvPr/>
        </p:nvSpPr>
        <p:spPr>
          <a:xfrm>
            <a:off x="4595887" y="1785091"/>
            <a:ext cx="33598" cy="176419"/>
          </a:xfrm>
          <a:custGeom>
            <a:avLst/>
            <a:gdLst/>
            <a:ahLst/>
            <a:cxnLst/>
            <a:rect l="0" t="0" r="0" b="0"/>
            <a:pathLst>
              <a:path w="33598" h="176419">
                <a:moveTo>
                  <a:pt x="33598" y="0"/>
                </a:moveTo>
                <a:cubicBezTo>
                  <a:pt x="0" y="58806"/>
                  <a:pt x="0" y="117612"/>
                  <a:pt x="33598" y="176419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32" name="af-seed-auto-0032-freeform-01" descr="{&quot;autofigure_element_id&quot;:&quot;seed-auto-0032&quot;}"/>
          <p:cNvSpPr/>
          <p:nvPr/>
        </p:nvSpPr>
        <p:spPr>
          <a:xfrm>
            <a:off x="2829455" y="4930149"/>
            <a:ext cx="298865" cy="215883"/>
          </a:xfrm>
          <a:custGeom>
            <a:avLst/>
            <a:gdLst/>
            <a:ahLst/>
            <a:cxnLst/>
            <a:rect l="0" t="0" r="0" b="0"/>
            <a:pathLst>
              <a:path w="298865" h="215883">
                <a:moveTo>
                  <a:pt x="0" y="215883"/>
                </a:moveTo>
                <a:cubicBezTo>
                  <a:pt x="41509" y="107942"/>
                  <a:pt x="107924" y="66426"/>
                  <a:pt x="149433" y="0"/>
                </a:cubicBezTo>
                <a:cubicBezTo>
                  <a:pt x="190942" y="66426"/>
                  <a:pt x="257356" y="107942"/>
                  <a:pt x="298865" y="215883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33" name="af-seed-auto-0033-ellipse-01" descr="{&quot;autofigure_element_id&quot;:&quot;seed-auto-0033&quot;}"/>
          <p:cNvSpPr/>
          <p:nvPr/>
        </p:nvSpPr>
        <p:spPr>
          <a:xfrm>
            <a:off x="2872625" y="4923506"/>
            <a:ext cx="79697" cy="79711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seed-auto-0034-ellipse-01" descr="{&quot;autofigure_element_id&quot;:&quot;seed-auto-0034&quot;}"/>
          <p:cNvSpPr/>
          <p:nvPr/>
        </p:nvSpPr>
        <p:spPr>
          <a:xfrm>
            <a:off x="3005454" y="4923506"/>
            <a:ext cx="79697" cy="79711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f-seed-auto-0035-freeform-01" descr="{&quot;autofigure_element_id&quot;:&quot;seed-auto-0035&quot;}"/>
          <p:cNvSpPr/>
          <p:nvPr/>
        </p:nvSpPr>
        <p:spPr>
          <a:xfrm>
            <a:off x="2945681" y="5154335"/>
            <a:ext cx="33207" cy="174367"/>
          </a:xfrm>
          <a:custGeom>
            <a:avLst/>
            <a:gdLst/>
            <a:ahLst/>
            <a:cxnLst/>
            <a:rect l="0" t="0" r="0" b="0"/>
            <a:pathLst>
              <a:path w="33207" h="174367">
                <a:moveTo>
                  <a:pt x="33207" y="0"/>
                </a:moveTo>
                <a:cubicBezTo>
                  <a:pt x="0" y="58122"/>
                  <a:pt x="0" y="116245"/>
                  <a:pt x="33207" y="174367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36" name="af-seed-auto-0036-freeform-01" descr="{&quot;autofigure_element_id&quot;:&quot;seed-auto-0036&quot;}"/>
          <p:cNvSpPr/>
          <p:nvPr/>
        </p:nvSpPr>
        <p:spPr>
          <a:xfrm>
            <a:off x="5460253" y="4884823"/>
            <a:ext cx="291833" cy="210804"/>
          </a:xfrm>
          <a:custGeom>
            <a:avLst/>
            <a:gdLst/>
            <a:ahLst/>
            <a:cxnLst/>
            <a:rect l="0" t="0" r="0" b="0"/>
            <a:pathLst>
              <a:path w="291833" h="210804">
                <a:moveTo>
                  <a:pt x="0" y="210804"/>
                </a:moveTo>
                <a:cubicBezTo>
                  <a:pt x="40532" y="105402"/>
                  <a:pt x="105384" y="64863"/>
                  <a:pt x="145917" y="0"/>
                </a:cubicBezTo>
                <a:cubicBezTo>
                  <a:pt x="186449" y="64863"/>
                  <a:pt x="251301" y="105402"/>
                  <a:pt x="291833" y="210804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37" name="af-seed-auto-0037-ellipse-01" descr="{&quot;autofigure_element_id&quot;:&quot;seed-auto-0037&quot;}"/>
          <p:cNvSpPr/>
          <p:nvPr/>
        </p:nvSpPr>
        <p:spPr>
          <a:xfrm>
            <a:off x="5502406" y="4878337"/>
            <a:ext cx="77822" cy="77835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f-seed-auto-0038-ellipse-01" descr="{&quot;autofigure_element_id&quot;:&quot;seed-auto-0038&quot;}"/>
          <p:cNvSpPr/>
          <p:nvPr/>
        </p:nvSpPr>
        <p:spPr>
          <a:xfrm>
            <a:off x="5632110" y="4878337"/>
            <a:ext cx="77822" cy="77835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f-seed-auto-0039-freeform-01" descr="{&quot;autofigure_element_id&quot;:&quot;seed-auto-0039&quot;}"/>
          <p:cNvSpPr/>
          <p:nvPr/>
        </p:nvSpPr>
        <p:spPr>
          <a:xfrm>
            <a:off x="5573744" y="5103735"/>
            <a:ext cx="32426" cy="170265"/>
          </a:xfrm>
          <a:custGeom>
            <a:avLst/>
            <a:gdLst/>
            <a:ahLst/>
            <a:cxnLst/>
            <a:rect l="0" t="0" r="0" b="0"/>
            <a:pathLst>
              <a:path w="32426" h="170265">
                <a:moveTo>
                  <a:pt x="32426" y="0"/>
                </a:moveTo>
                <a:cubicBezTo>
                  <a:pt x="0" y="56755"/>
                  <a:pt x="0" y="113510"/>
                  <a:pt x="32426" y="170265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40" name="af-seed-auto-0040-freeform-01" descr="{&quot;autofigure_element_id&quot;:&quot;seed-auto-0040&quot;}"/>
          <p:cNvSpPr/>
          <p:nvPr/>
        </p:nvSpPr>
        <p:spPr>
          <a:xfrm>
            <a:off x="3207432" y="4970200"/>
            <a:ext cx="298865" cy="307707"/>
          </a:xfrm>
          <a:custGeom>
            <a:avLst/>
            <a:gdLst/>
            <a:ahLst/>
            <a:cxnLst/>
            <a:rect l="0" t="0" r="0" b="0"/>
            <a:pathLst>
              <a:path w="298865" h="307707">
                <a:moveTo>
                  <a:pt x="52741" y="131874"/>
                </a:moveTo>
                <a:cubicBezTo>
                  <a:pt x="105482" y="0"/>
                  <a:pt x="228544" y="0"/>
                  <a:pt x="272495" y="114291"/>
                </a:cubicBezTo>
                <a:cubicBezTo>
                  <a:pt x="298865" y="193416"/>
                  <a:pt x="246125" y="272540"/>
                  <a:pt x="140643" y="290124"/>
                </a:cubicBezTo>
                <a:cubicBezTo>
                  <a:pt x="61531" y="307707"/>
                  <a:pt x="0" y="228582"/>
                  <a:pt x="52741" y="131874"/>
                </a:cubicBezTo>
                <a:close/>
              </a:path>
            </a:pathLst>
          </a:custGeom>
          <a:solidFill>
            <a:srgbClr val="284E9A"/>
          </a:solidFill>
          <a:ln>
            <a:noFill/>
          </a:ln>
        </p:spPr>
      </p:sp>
      <p:sp>
        <p:nvSpPr>
          <p:cNvPr id="41" name="af-seed-auto-0041-freeform-01" descr="{&quot;autofigure_element_id&quot;:&quot;seed-auto-0041&quot;}"/>
          <p:cNvSpPr/>
          <p:nvPr/>
        </p:nvSpPr>
        <p:spPr>
          <a:xfrm>
            <a:off x="3418396" y="4978991"/>
            <a:ext cx="202174" cy="307707"/>
          </a:xfrm>
          <a:custGeom>
            <a:avLst/>
            <a:gdLst/>
            <a:ahLst/>
            <a:cxnLst/>
            <a:rect l="0" t="0" r="0" b="0"/>
            <a:pathLst>
              <a:path w="202174" h="307707">
                <a:moveTo>
                  <a:pt x="26370" y="26375"/>
                </a:moveTo>
                <a:cubicBezTo>
                  <a:pt x="114272" y="0"/>
                  <a:pt x="202174" y="87916"/>
                  <a:pt x="184593" y="184624"/>
                </a:cubicBezTo>
                <a:cubicBezTo>
                  <a:pt x="167013" y="272540"/>
                  <a:pt x="70321" y="307707"/>
                  <a:pt x="0" y="254957"/>
                </a:cubicBezTo>
                <a:cubicBezTo>
                  <a:pt x="70321" y="219791"/>
                  <a:pt x="96692" y="167041"/>
                  <a:pt x="26370" y="26375"/>
                </a:cubicBezTo>
                <a:close/>
              </a:path>
            </a:pathLst>
          </a:custGeom>
          <a:solidFill>
            <a:srgbClr val="203D7E"/>
          </a:solidFill>
          <a:ln>
            <a:noFill/>
          </a:ln>
        </p:spPr>
      </p:sp>
      <p:sp>
        <p:nvSpPr>
          <p:cNvPr id="42" name="af-seed-auto-0042-ellipse-01" descr="{&quot;autofigure_element_id&quot;:&quot;seed-auto-0042&quot;}"/>
          <p:cNvSpPr/>
          <p:nvPr/>
        </p:nvSpPr>
        <p:spPr>
          <a:xfrm>
            <a:off x="3471137" y="4873492"/>
            <a:ext cx="210964" cy="281332"/>
          </a:xfrm>
          <a:prstGeom prst="ellipse">
            <a:avLst/>
          </a:prstGeom>
          <a:solidFill>
            <a:srgbClr val="F9C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f-seed-auto-0043-text-01" descr="{&quot;autofigure_element_id&quot;:&quot;seed-auto-0043&quot;}"/>
          <p:cNvSpPr txBox="1"/>
          <p:nvPr/>
        </p:nvSpPr>
        <p:spPr>
          <a:xfrm>
            <a:off x="3711401" y="5169270"/>
            <a:ext cx="99669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ARFGEFs</a:t>
            </a:r>
          </a:p>
        </p:txBody>
      </p:sp>
      <p:sp>
        <p:nvSpPr>
          <p:cNvPr id="44" name="af-seed-auto-0044-ellipse-01" descr="{&quot;autofigure_element_id&quot;:&quot;seed-auto-0044&quot;}"/>
          <p:cNvSpPr/>
          <p:nvPr/>
        </p:nvSpPr>
        <p:spPr>
          <a:xfrm>
            <a:off x="3262126" y="5607104"/>
            <a:ext cx="273472" cy="390739"/>
          </a:xfrm>
          <a:prstGeom prst="ellipse">
            <a:avLst/>
          </a:prstGeom>
          <a:solidFill>
            <a:srgbClr val="F6C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f-seed-auto-0045-text-01" descr="{&quot;autofigure_element_id&quot;:&quot;seed-auto-0045&quot;}"/>
          <p:cNvSpPr txBox="1"/>
          <p:nvPr/>
        </p:nvSpPr>
        <p:spPr>
          <a:xfrm>
            <a:off x="3486764" y="5794452"/>
            <a:ext cx="69037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ARFs</a:t>
            </a:r>
          </a:p>
        </p:txBody>
      </p:sp>
      <p:sp>
        <p:nvSpPr>
          <p:cNvPr id="46" name="af-seed-auto-0046-freeform-arrow-01" descr="{&quot;arrow_spec_sha256&quot;:&quot;7c437ca1ee665d80d4ba2609aa445a12454cf3eed2fbafa7ec601c25dbc0a6e2&quot;,&quot;autofigure_element_id&quot;:&quot;seed-auto-0046&quot;}"/>
          <p:cNvSpPr/>
          <p:nvPr/>
        </p:nvSpPr>
        <p:spPr>
          <a:xfrm>
            <a:off x="2568680" y="5187060"/>
            <a:ext cx="234404" cy="722867"/>
          </a:xfrm>
          <a:custGeom>
            <a:avLst/>
            <a:gdLst/>
            <a:ahLst/>
            <a:cxnLst/>
            <a:rect l="0" t="0" r="0" b="0"/>
            <a:pathLst>
              <a:path w="234404" h="722867">
                <a:moveTo>
                  <a:pt x="234404" y="0"/>
                </a:moveTo>
                <a:cubicBezTo>
                  <a:pt x="58601" y="263749"/>
                  <a:pt x="0" y="537266"/>
                  <a:pt x="9767" y="722867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47" name="af-seed-auto-0047-ellipse-01" descr="{&quot;autofigure_element_id&quot;:&quot;seed-auto-0047&quot;}"/>
          <p:cNvSpPr/>
          <p:nvPr/>
        </p:nvSpPr>
        <p:spPr>
          <a:xfrm>
            <a:off x="2324509" y="5900158"/>
            <a:ext cx="546943" cy="547035"/>
          </a:xfrm>
          <a:prstGeom prst="ellipse">
            <a:avLst/>
          </a:prstGeom>
          <a:solidFill>
            <a:srgbClr val="F5D8C5"/>
          </a:solidFill>
          <a:ln w="19050">
            <a:solidFill>
              <a:srgbClr val="D38E6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f-seed-auto-0048-ellipse-01" descr="{&quot;autofigure_element_id&quot;:&quot;seed-auto-0048&quot;}"/>
          <p:cNvSpPr/>
          <p:nvPr/>
        </p:nvSpPr>
        <p:spPr>
          <a:xfrm>
            <a:off x="2246375" y="5822011"/>
            <a:ext cx="703213" cy="703330"/>
          </a:xfrm>
          <a:prstGeom prst="ellipse">
            <a:avLst/>
          </a:prstGeom>
          <a:noFill/>
          <a:ln w="57150">
            <a:solidFill>
              <a:srgbClr val="33447D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f-seed-auto-0049-freeform-01" descr="{&quot;autofigure_element_id&quot;:&quot;seed-auto-0049&quot;}"/>
          <p:cNvSpPr/>
          <p:nvPr/>
        </p:nvSpPr>
        <p:spPr>
          <a:xfrm>
            <a:off x="2613217" y="5837249"/>
            <a:ext cx="203932" cy="147309"/>
          </a:xfrm>
          <a:custGeom>
            <a:avLst/>
            <a:gdLst/>
            <a:ahLst/>
            <a:cxnLst/>
            <a:rect l="0" t="0" r="0" b="0"/>
            <a:pathLst>
              <a:path w="203932" h="147309">
                <a:moveTo>
                  <a:pt x="0" y="147309"/>
                </a:moveTo>
                <a:cubicBezTo>
                  <a:pt x="28324" y="73654"/>
                  <a:pt x="73642" y="45326"/>
                  <a:pt x="101966" y="0"/>
                </a:cubicBezTo>
                <a:cubicBezTo>
                  <a:pt x="130290" y="45326"/>
                  <a:pt x="175608" y="73654"/>
                  <a:pt x="203932" y="147309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50" name="af-seed-auto-0050-ellipse-01" descr="{&quot;autofigure_element_id&quot;:&quot;seed-auto-0050&quot;}"/>
          <p:cNvSpPr/>
          <p:nvPr/>
        </p:nvSpPr>
        <p:spPr>
          <a:xfrm>
            <a:off x="2642674" y="5832717"/>
            <a:ext cx="54382" cy="54391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f-seed-auto-0051-ellipse-01" descr="{&quot;autofigure_element_id&quot;:&quot;seed-auto-0051&quot;}"/>
          <p:cNvSpPr/>
          <p:nvPr/>
        </p:nvSpPr>
        <p:spPr>
          <a:xfrm>
            <a:off x="2733310" y="5832717"/>
            <a:ext cx="54382" cy="54391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seed-auto-0052-freeform-01" descr="{&quot;autofigure_element_id&quot;:&quot;seed-auto-0052&quot;}"/>
          <p:cNvSpPr/>
          <p:nvPr/>
        </p:nvSpPr>
        <p:spPr>
          <a:xfrm>
            <a:off x="2692524" y="5990224"/>
            <a:ext cx="22659" cy="118980"/>
          </a:xfrm>
          <a:custGeom>
            <a:avLst/>
            <a:gdLst/>
            <a:ahLst/>
            <a:cxnLst/>
            <a:rect l="0" t="0" r="0" b="0"/>
            <a:pathLst>
              <a:path w="22659" h="118980">
                <a:moveTo>
                  <a:pt x="22659" y="0"/>
                </a:moveTo>
                <a:cubicBezTo>
                  <a:pt x="0" y="39660"/>
                  <a:pt x="0" y="79320"/>
                  <a:pt x="22659" y="118980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53" name="af-seed-auto-0053-text-01" descr="{&quot;autofigure_element_id&quot;:&quot;seed-auto-0053&quot;}"/>
          <p:cNvSpPr txBox="1"/>
          <p:nvPr/>
        </p:nvSpPr>
        <p:spPr>
          <a:xfrm>
            <a:off x="1465027" y="5491630"/>
            <a:ext cx="69951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COP I</a:t>
            </a:r>
          </a:p>
        </p:txBody>
      </p:sp>
      <p:sp>
        <p:nvSpPr>
          <p:cNvPr id="54" name="af-seed-auto-0054-freeform-arrow-01" descr="{&quot;arrow_spec_sha256&quot;:&quot;4333ab1c97d0309526387c85d3f5dd42039f4114d6cea555b608535b3e4d4202&quot;,&quot;autofigure_element_id&quot;:&quot;seed-auto-0054&quot;}"/>
          <p:cNvSpPr/>
          <p:nvPr/>
        </p:nvSpPr>
        <p:spPr>
          <a:xfrm>
            <a:off x="2803085" y="6505804"/>
            <a:ext cx="644612" cy="488424"/>
          </a:xfrm>
          <a:custGeom>
            <a:avLst/>
            <a:gdLst/>
            <a:ahLst/>
            <a:cxnLst/>
            <a:rect l="0" t="0" r="0" b="0"/>
            <a:pathLst>
              <a:path w="644612" h="488424">
                <a:moveTo>
                  <a:pt x="0" y="0"/>
                </a:moveTo>
                <a:cubicBezTo>
                  <a:pt x="126969" y="273517"/>
                  <a:pt x="390674" y="410276"/>
                  <a:pt x="644612" y="488424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55" name="af-seed-auto-0055-freeform-arrow-01" descr="{&quot;arrow_spec_sha256&quot;:&quot;91a177c819bb5f9ef19add0763ca172c25163f680e542b6d6fe500017dcf5218&quot;,&quot;autofigure_element_id&quot;:&quot;seed-auto-0055&quot;}"/>
          <p:cNvSpPr/>
          <p:nvPr/>
        </p:nvSpPr>
        <p:spPr>
          <a:xfrm>
            <a:off x="1582229" y="7003996"/>
            <a:ext cx="1474794" cy="224675"/>
          </a:xfrm>
          <a:custGeom>
            <a:avLst/>
            <a:gdLst/>
            <a:ahLst/>
            <a:cxnLst/>
            <a:rect l="0" t="0" r="0" b="0"/>
            <a:pathLst>
              <a:path w="1474794" h="224675">
                <a:moveTo>
                  <a:pt x="1474794" y="9768"/>
                </a:moveTo>
                <a:cubicBezTo>
                  <a:pt x="957151" y="185601"/>
                  <a:pt x="468809" y="224675"/>
                  <a:pt x="0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56" name="af-seed-auto-0056-ellipse-01" descr="{&quot;autofigure_element_id&quot;:&quot;seed-auto-0056&quot;}"/>
          <p:cNvSpPr/>
          <p:nvPr/>
        </p:nvSpPr>
        <p:spPr>
          <a:xfrm>
            <a:off x="1035286" y="6310434"/>
            <a:ext cx="507876" cy="507961"/>
          </a:xfrm>
          <a:prstGeom prst="ellipse">
            <a:avLst/>
          </a:prstGeom>
          <a:solidFill>
            <a:srgbClr val="F7DED2"/>
          </a:solidFill>
          <a:ln w="19050">
            <a:solidFill>
              <a:srgbClr val="D9986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f-seed-auto-0057-freeform-01" descr="{&quot;autofigure_element_id&quot;:&quot;seed-auto-0057&quot;}"/>
          <p:cNvSpPr/>
          <p:nvPr/>
        </p:nvSpPr>
        <p:spPr>
          <a:xfrm>
            <a:off x="1089589" y="6188914"/>
            <a:ext cx="203932" cy="147309"/>
          </a:xfrm>
          <a:custGeom>
            <a:avLst/>
            <a:gdLst/>
            <a:ahLst/>
            <a:cxnLst/>
            <a:rect l="0" t="0" r="0" b="0"/>
            <a:pathLst>
              <a:path w="203932" h="147309">
                <a:moveTo>
                  <a:pt x="0" y="147309"/>
                </a:moveTo>
                <a:cubicBezTo>
                  <a:pt x="28324" y="73654"/>
                  <a:pt x="73642" y="45326"/>
                  <a:pt x="101966" y="0"/>
                </a:cubicBezTo>
                <a:cubicBezTo>
                  <a:pt x="130290" y="45326"/>
                  <a:pt x="175608" y="73654"/>
                  <a:pt x="203932" y="147309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58" name="af-seed-auto-0058-ellipse-01" descr="{&quot;autofigure_element_id&quot;:&quot;seed-auto-0058&quot;}"/>
          <p:cNvSpPr/>
          <p:nvPr/>
        </p:nvSpPr>
        <p:spPr>
          <a:xfrm>
            <a:off x="1119046" y="6184382"/>
            <a:ext cx="54382" cy="54391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f-seed-auto-0059-ellipse-01" descr="{&quot;autofigure_element_id&quot;:&quot;seed-auto-0059&quot;}"/>
          <p:cNvSpPr/>
          <p:nvPr/>
        </p:nvSpPr>
        <p:spPr>
          <a:xfrm>
            <a:off x="1209682" y="6184382"/>
            <a:ext cx="54382" cy="54391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f-seed-auto-0060-freeform-01" descr="{&quot;autofigure_element_id&quot;:&quot;seed-auto-0060&quot;}"/>
          <p:cNvSpPr/>
          <p:nvPr/>
        </p:nvSpPr>
        <p:spPr>
          <a:xfrm>
            <a:off x="1168896" y="6341889"/>
            <a:ext cx="22659" cy="118980"/>
          </a:xfrm>
          <a:custGeom>
            <a:avLst/>
            <a:gdLst/>
            <a:ahLst/>
            <a:cxnLst/>
            <a:rect l="0" t="0" r="0" b="0"/>
            <a:pathLst>
              <a:path w="22659" h="118980">
                <a:moveTo>
                  <a:pt x="22659" y="0"/>
                </a:moveTo>
                <a:cubicBezTo>
                  <a:pt x="0" y="39660"/>
                  <a:pt x="0" y="79320"/>
                  <a:pt x="22659" y="118980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61" name="af-seed-auto-0061-freeform-arrow-01" descr="{&quot;arrow_spec_sha256&quot;:&quot;7f8fde998cc868a66bf0f45467ff8ae83106ac41e45ba8da3a4bb31e354289ec&quot;,&quot;autofigure_element_id&quot;:&quot;seed-auto-0061&quot;}"/>
          <p:cNvSpPr/>
          <p:nvPr/>
        </p:nvSpPr>
        <p:spPr>
          <a:xfrm>
            <a:off x="1045052" y="4913542"/>
            <a:ext cx="468809" cy="1435966"/>
          </a:xfrm>
          <a:custGeom>
            <a:avLst/>
            <a:gdLst/>
            <a:ahLst/>
            <a:cxnLst/>
            <a:rect l="0" t="0" r="0" b="0"/>
            <a:pathLst>
              <a:path w="468809" h="1435966">
                <a:moveTo>
                  <a:pt x="39067" y="1435966"/>
                </a:moveTo>
                <a:cubicBezTo>
                  <a:pt x="0" y="869394"/>
                  <a:pt x="166036" y="322360"/>
                  <a:pt x="468809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62" name="af-seed-auto-0062-text-01" descr="{&quot;autofigure_element_id&quot;:&quot;seed-auto-0062&quot;}"/>
          <p:cNvSpPr txBox="1"/>
          <p:nvPr/>
        </p:nvSpPr>
        <p:spPr>
          <a:xfrm>
            <a:off x="4375547" y="6204728"/>
            <a:ext cx="75895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ERGIC</a:t>
            </a:r>
          </a:p>
        </p:txBody>
      </p:sp>
      <p:sp>
        <p:nvSpPr>
          <p:cNvPr id="63" name="af-seed-auto-0063-freeform-01" descr="{&quot;autofigure_element_id&quot;:&quot;seed-auto-0063&quot;}"/>
          <p:cNvSpPr/>
          <p:nvPr/>
        </p:nvSpPr>
        <p:spPr>
          <a:xfrm>
            <a:off x="3359795" y="6906311"/>
            <a:ext cx="781348" cy="361434"/>
          </a:xfrm>
          <a:custGeom>
            <a:avLst/>
            <a:gdLst/>
            <a:ahLst/>
            <a:cxnLst/>
            <a:rect l="0" t="0" r="0" b="0"/>
            <a:pathLst>
              <a:path w="781348" h="361434">
                <a:moveTo>
                  <a:pt x="29301" y="166064"/>
                </a:moveTo>
                <a:cubicBezTo>
                  <a:pt x="195337" y="0"/>
                  <a:pt x="498109" y="0"/>
                  <a:pt x="634845" y="87916"/>
                </a:cubicBezTo>
                <a:cubicBezTo>
                  <a:pt x="781348" y="185601"/>
                  <a:pt x="683679" y="312591"/>
                  <a:pt x="488342" y="332128"/>
                </a:cubicBezTo>
                <a:cubicBezTo>
                  <a:pt x="263705" y="361434"/>
                  <a:pt x="0" y="322360"/>
                  <a:pt x="29301" y="166064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64" name="af-seed-auto-0064-freeform-01" descr="{&quot;autofigure_element_id&quot;:&quot;seed-auto-0064&quot;}"/>
          <p:cNvSpPr/>
          <p:nvPr/>
        </p:nvSpPr>
        <p:spPr>
          <a:xfrm>
            <a:off x="3975106" y="6896543"/>
            <a:ext cx="595778" cy="410276"/>
          </a:xfrm>
          <a:custGeom>
            <a:avLst/>
            <a:gdLst/>
            <a:ahLst/>
            <a:cxnLst/>
            <a:rect l="0" t="0" r="0" b="0"/>
            <a:pathLst>
              <a:path w="595778" h="410276">
                <a:moveTo>
                  <a:pt x="126969" y="136759"/>
                </a:moveTo>
                <a:cubicBezTo>
                  <a:pt x="293005" y="0"/>
                  <a:pt x="527410" y="39074"/>
                  <a:pt x="566477" y="156296"/>
                </a:cubicBezTo>
                <a:cubicBezTo>
                  <a:pt x="595778" y="273517"/>
                  <a:pt x="468809" y="351665"/>
                  <a:pt x="312539" y="380970"/>
                </a:cubicBezTo>
                <a:cubicBezTo>
                  <a:pt x="126969" y="410276"/>
                  <a:pt x="0" y="273517"/>
                  <a:pt x="126969" y="136759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65" name="af-seed-auto-0065-freeform-01" descr="{&quot;autofigure_element_id&quot;:&quot;seed-auto-0065&quot;}"/>
          <p:cNvSpPr/>
          <p:nvPr/>
        </p:nvSpPr>
        <p:spPr>
          <a:xfrm>
            <a:off x="3418396" y="7238439"/>
            <a:ext cx="2197540" cy="400507"/>
          </a:xfrm>
          <a:custGeom>
            <a:avLst/>
            <a:gdLst/>
            <a:ahLst/>
            <a:cxnLst/>
            <a:rect l="0" t="0" r="0" b="0"/>
            <a:pathLst>
              <a:path w="2197540" h="400507">
                <a:moveTo>
                  <a:pt x="68368" y="87916"/>
                </a:moveTo>
                <a:cubicBezTo>
                  <a:pt x="273472" y="0"/>
                  <a:pt x="488342" y="48842"/>
                  <a:pt x="693446" y="107453"/>
                </a:cubicBezTo>
                <a:cubicBezTo>
                  <a:pt x="1035286" y="214906"/>
                  <a:pt x="1425959" y="175833"/>
                  <a:pt x="1718965" y="78148"/>
                </a:cubicBezTo>
                <a:cubicBezTo>
                  <a:pt x="1924069" y="9768"/>
                  <a:pt x="2119406" y="39074"/>
                  <a:pt x="2158473" y="156296"/>
                </a:cubicBezTo>
                <a:cubicBezTo>
                  <a:pt x="2197540" y="293054"/>
                  <a:pt x="2011970" y="390739"/>
                  <a:pt x="1787333" y="400507"/>
                </a:cubicBezTo>
                <a:lnTo>
                  <a:pt x="527410" y="390739"/>
                </a:lnTo>
                <a:cubicBezTo>
                  <a:pt x="263705" y="390739"/>
                  <a:pt x="0" y="283286"/>
                  <a:pt x="68368" y="87916"/>
                </a:cubicBezTo>
                <a:close/>
              </a:path>
            </a:pathLst>
          </a:custGeom>
          <a:solidFill>
            <a:srgbClr val="BFD2EA"/>
          </a:solidFill>
          <a:ln w="20955">
            <a:solidFill>
              <a:srgbClr val="5E8FCA"/>
            </a:solidFill>
            <a:round/>
          </a:ln>
        </p:spPr>
      </p:sp>
      <p:sp>
        <p:nvSpPr>
          <p:cNvPr id="66" name="af-seed-auto-0066-ellipse-01" descr="{&quot;autofigure_element_id&quot;:&quot;seed-auto-0066&quot;}"/>
          <p:cNvSpPr/>
          <p:nvPr/>
        </p:nvSpPr>
        <p:spPr>
          <a:xfrm>
            <a:off x="5000625" y="7414272"/>
            <a:ext cx="234404" cy="234443"/>
          </a:xfrm>
          <a:prstGeom prst="ellipse">
            <a:avLst/>
          </a:prstGeom>
          <a:solidFill>
            <a:srgbClr val="BFD2EA"/>
          </a:solidFill>
          <a:ln w="20955">
            <a:solidFill>
              <a:srgbClr val="5E8FC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seed-auto-0067-freeform-01" descr="{&quot;autofigure_element_id&quot;:&quot;seed-auto-0067&quot;}"/>
          <p:cNvSpPr/>
          <p:nvPr/>
        </p:nvSpPr>
        <p:spPr>
          <a:xfrm>
            <a:off x="4611123" y="6760956"/>
            <a:ext cx="232060" cy="167627"/>
          </a:xfrm>
          <a:custGeom>
            <a:avLst/>
            <a:gdLst/>
            <a:ahLst/>
            <a:cxnLst/>
            <a:rect l="0" t="0" r="0" b="0"/>
            <a:pathLst>
              <a:path w="232060" h="167627">
                <a:moveTo>
                  <a:pt x="0" y="167627"/>
                </a:moveTo>
                <a:cubicBezTo>
                  <a:pt x="32231" y="83814"/>
                  <a:pt x="83800" y="51578"/>
                  <a:pt x="116030" y="0"/>
                </a:cubicBezTo>
                <a:cubicBezTo>
                  <a:pt x="148261" y="51578"/>
                  <a:pt x="199830" y="83814"/>
                  <a:pt x="232060" y="167627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68" name="af-seed-auto-0068-ellipse-01" descr="{&quot;autofigure_element_id&quot;:&quot;seed-auto-0068&quot;}"/>
          <p:cNvSpPr/>
          <p:nvPr/>
        </p:nvSpPr>
        <p:spPr>
          <a:xfrm>
            <a:off x="4644643" y="6755799"/>
            <a:ext cx="61883" cy="6189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-seed-auto-0069-ellipse-01" descr="{&quot;autofigure_element_id&quot;:&quot;seed-auto-0069&quot;}"/>
          <p:cNvSpPr/>
          <p:nvPr/>
        </p:nvSpPr>
        <p:spPr>
          <a:xfrm>
            <a:off x="4747781" y="6755799"/>
            <a:ext cx="61883" cy="6189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-seed-auto-0070-freeform-01" descr="{&quot;autofigure_element_id&quot;:&quot;seed-auto-0070&quot;}"/>
          <p:cNvSpPr/>
          <p:nvPr/>
        </p:nvSpPr>
        <p:spPr>
          <a:xfrm>
            <a:off x="4701369" y="6935030"/>
            <a:ext cx="25784" cy="135391"/>
          </a:xfrm>
          <a:custGeom>
            <a:avLst/>
            <a:gdLst/>
            <a:ahLst/>
            <a:cxnLst/>
            <a:rect l="0" t="0" r="0" b="0"/>
            <a:pathLst>
              <a:path w="25784" h="135391">
                <a:moveTo>
                  <a:pt x="25784" y="0"/>
                </a:moveTo>
                <a:cubicBezTo>
                  <a:pt x="0" y="45130"/>
                  <a:pt x="0" y="90261"/>
                  <a:pt x="25784" y="135391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71" name="af-seed-auto-0071-text-01" descr="{&quot;autofigure_element_id&quot;:&quot;seed-auto-0071&quot;}"/>
          <p:cNvSpPr txBox="1"/>
          <p:nvPr/>
        </p:nvSpPr>
        <p:spPr>
          <a:xfrm>
            <a:off x="879016" y="8177960"/>
            <a:ext cx="74523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COP II</a:t>
            </a:r>
          </a:p>
        </p:txBody>
      </p:sp>
      <p:sp>
        <p:nvSpPr>
          <p:cNvPr id="72" name="af-seed-auto-0072-ellipse-01" descr="{&quot;autofigure_element_id&quot;:&quot;seed-auto-0072&quot;}"/>
          <p:cNvSpPr/>
          <p:nvPr/>
        </p:nvSpPr>
        <p:spPr>
          <a:xfrm>
            <a:off x="2197540" y="8049223"/>
            <a:ext cx="527410" cy="527498"/>
          </a:xfrm>
          <a:prstGeom prst="ellipse">
            <a:avLst/>
          </a:prstGeom>
          <a:solidFill>
            <a:srgbClr val="F6D5C3"/>
          </a:solidFill>
          <a:ln w="19050">
            <a:solidFill>
              <a:srgbClr val="D28C6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f-seed-auto-0073-ellipse-01" descr="{&quot;autofigure_element_id&quot;:&quot;seed-auto-0073&quot;}"/>
          <p:cNvSpPr/>
          <p:nvPr/>
        </p:nvSpPr>
        <p:spPr>
          <a:xfrm>
            <a:off x="2119406" y="7971075"/>
            <a:ext cx="683679" cy="683793"/>
          </a:xfrm>
          <a:prstGeom prst="ellipse">
            <a:avLst/>
          </a:prstGeom>
          <a:noFill/>
          <a:ln w="47625">
            <a:solidFill>
              <a:srgbClr val="D4422E"/>
            </a:solidFill>
            <a:prstDash val="sys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f-seed-auto-0074-freeform-01" descr="{&quot;autofigure_element_id&quot;:&quot;seed-auto-0074&quot;}"/>
          <p:cNvSpPr/>
          <p:nvPr/>
        </p:nvSpPr>
        <p:spPr>
          <a:xfrm>
            <a:off x="2452455" y="7952515"/>
            <a:ext cx="193384" cy="139689"/>
          </a:xfrm>
          <a:custGeom>
            <a:avLst/>
            <a:gdLst/>
            <a:ahLst/>
            <a:cxnLst/>
            <a:rect l="0" t="0" r="0" b="0"/>
            <a:pathLst>
              <a:path w="193384" h="139689">
                <a:moveTo>
                  <a:pt x="0" y="139689"/>
                </a:moveTo>
                <a:cubicBezTo>
                  <a:pt x="26859" y="69845"/>
                  <a:pt x="69833" y="42981"/>
                  <a:pt x="96692" y="0"/>
                </a:cubicBezTo>
                <a:cubicBezTo>
                  <a:pt x="123551" y="42981"/>
                  <a:pt x="166525" y="69845"/>
                  <a:pt x="193384" y="139689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75" name="af-seed-auto-0075-ellipse-01" descr="{&quot;autofigure_element_id&quot;:&quot;seed-auto-0075&quot;}"/>
          <p:cNvSpPr/>
          <p:nvPr/>
        </p:nvSpPr>
        <p:spPr>
          <a:xfrm>
            <a:off x="2480388" y="7948217"/>
            <a:ext cx="51569" cy="5157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af-seed-auto-0076-ellipse-01" descr="{&quot;autofigure_element_id&quot;:&quot;seed-auto-0076&quot;}"/>
          <p:cNvSpPr/>
          <p:nvPr/>
        </p:nvSpPr>
        <p:spPr>
          <a:xfrm>
            <a:off x="2566336" y="7948217"/>
            <a:ext cx="51569" cy="5157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-seed-auto-0077-freeform-01" descr="{&quot;autofigure_element_id&quot;:&quot;seed-auto-0077&quot;}"/>
          <p:cNvSpPr/>
          <p:nvPr/>
        </p:nvSpPr>
        <p:spPr>
          <a:xfrm>
            <a:off x="2527660" y="8097577"/>
            <a:ext cx="21487" cy="112826"/>
          </a:xfrm>
          <a:custGeom>
            <a:avLst/>
            <a:gdLst/>
            <a:ahLst/>
            <a:cxnLst/>
            <a:rect l="0" t="0" r="0" b="0"/>
            <a:pathLst>
              <a:path w="21487" h="112826">
                <a:moveTo>
                  <a:pt x="21487" y="0"/>
                </a:moveTo>
                <a:cubicBezTo>
                  <a:pt x="0" y="37609"/>
                  <a:pt x="0" y="75217"/>
                  <a:pt x="21487" y="11282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78" name="af-seed-auto-0078-freeform-arrow-01" descr="{&quot;arrow_spec_sha256&quot;:&quot;bae61e73ab3b35b6ff98f97ce5b30f19a68f597b256b35459f6e3905000b7647&quot;,&quot;autofigure_element_id&quot;:&quot;seed-auto-0078&quot;}"/>
          <p:cNvSpPr/>
          <p:nvPr/>
        </p:nvSpPr>
        <p:spPr>
          <a:xfrm>
            <a:off x="2490546" y="8752553"/>
            <a:ext cx="234404" cy="849857"/>
          </a:xfrm>
          <a:custGeom>
            <a:avLst/>
            <a:gdLst/>
            <a:ahLst/>
            <a:cxnLst/>
            <a:rect l="0" t="0" r="0" b="0"/>
            <a:pathLst>
              <a:path w="234404" h="849857">
                <a:moveTo>
                  <a:pt x="48834" y="0"/>
                </a:moveTo>
                <a:cubicBezTo>
                  <a:pt x="0" y="253980"/>
                  <a:pt x="19534" y="547035"/>
                  <a:pt x="234404" y="849857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79" name="af-seed-auto-0079-freeform-arrow-01" descr="{&quot;arrow_spec_sha256&quot;:&quot;ead8879f16a7b54f3dce07566e756aa6800480d360f9a0e9f04dc39a5b200c5d&quot;,&quot;autofigure_element_id&quot;:&quot;seed-auto-0079&quot;}"/>
          <p:cNvSpPr/>
          <p:nvPr/>
        </p:nvSpPr>
        <p:spPr>
          <a:xfrm>
            <a:off x="2568680" y="7482651"/>
            <a:ext cx="761814" cy="537266"/>
          </a:xfrm>
          <a:custGeom>
            <a:avLst/>
            <a:gdLst/>
            <a:ahLst/>
            <a:cxnLst/>
            <a:rect l="0" t="0" r="0" b="0"/>
            <a:pathLst>
              <a:path w="761814" h="537266">
                <a:moveTo>
                  <a:pt x="0" y="537266"/>
                </a:moveTo>
                <a:cubicBezTo>
                  <a:pt x="166036" y="283286"/>
                  <a:pt x="488342" y="78148"/>
                  <a:pt x="761814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80" name="af-seed-auto-0080-text-01" descr="{&quot;autofigure_element_id&quot;:&quot;seed-auto-0080&quot;}"/>
          <p:cNvSpPr txBox="1"/>
          <p:nvPr/>
        </p:nvSpPr>
        <p:spPr>
          <a:xfrm>
            <a:off x="7793943" y="1349797"/>
            <a:ext cx="74371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Step 3</a:t>
            </a:r>
          </a:p>
        </p:txBody>
      </p:sp>
      <p:sp>
        <p:nvSpPr>
          <p:cNvPr id="81" name="af-seed-auto-0081-text-01" descr="{&quot;autofigure_element_id&quot;:&quot;seed-auto-0081&quot;}"/>
          <p:cNvSpPr txBox="1"/>
          <p:nvPr/>
        </p:nvSpPr>
        <p:spPr>
          <a:xfrm>
            <a:off x="6573087" y="6048433"/>
            <a:ext cx="74371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Step 2</a:t>
            </a:r>
          </a:p>
        </p:txBody>
      </p:sp>
      <p:sp>
        <p:nvSpPr>
          <p:cNvPr id="82" name="af-seed-auto-0082-text-01" descr="{&quot;autofigure_element_id&quot;:&quot;seed-auto-0082&quot;}"/>
          <p:cNvSpPr txBox="1"/>
          <p:nvPr/>
        </p:nvSpPr>
        <p:spPr>
          <a:xfrm>
            <a:off x="6553553" y="9379482"/>
            <a:ext cx="74371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Step 1</a:t>
            </a:r>
          </a:p>
        </p:txBody>
      </p:sp>
      <p:cxnSp>
        <p:nvCxnSpPr>
          <p:cNvPr id="83" name="af-seed-auto-0083-connector-01" descr="{&quot;arrow_spec_sha256&quot;:&quot;40176f19e1e9b20c732f8429fe100024641f2e85c43258630f483014e8468851&quot;,&quot;autofigure_element_id&quot;:&quot;seed-auto-0083&quot;}"/>
          <p:cNvCxnSpPr/>
          <p:nvPr/>
        </p:nvCxnSpPr>
        <p:spPr>
          <a:xfrm>
            <a:off x="5322931" y="2100222"/>
            <a:ext cx="4287645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af-seed-auto-0084-rect-01" descr="{&quot;autofigure_element_id&quot;:&quot;seed-auto-0084&quot;}"/>
          <p:cNvSpPr/>
          <p:nvPr/>
        </p:nvSpPr>
        <p:spPr>
          <a:xfrm>
            <a:off x="9766846" y="1787631"/>
            <a:ext cx="1738499" cy="615414"/>
          </a:xfrm>
          <a:prstGeom prst="roundRect">
            <a:avLst>
              <a:gd name="adj" fmla="val 49206"/>
            </a:avLst>
          </a:prstGeom>
          <a:solidFill>
            <a:srgbClr val="0D5D9E"/>
          </a:solidFill>
          <a:ln w="23812">
            <a:solidFill>
              <a:srgbClr val="17498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seed-auto-0085-freeform-01" descr="{&quot;autofigure_element_id&quot;:&quot;seed-auto-0085&quot;}"/>
          <p:cNvSpPr/>
          <p:nvPr/>
        </p:nvSpPr>
        <p:spPr>
          <a:xfrm>
            <a:off x="10510298" y="1667674"/>
            <a:ext cx="232060" cy="167627"/>
          </a:xfrm>
          <a:custGeom>
            <a:avLst/>
            <a:gdLst/>
            <a:ahLst/>
            <a:cxnLst/>
            <a:rect l="0" t="0" r="0" b="0"/>
            <a:pathLst>
              <a:path w="232060" h="167627">
                <a:moveTo>
                  <a:pt x="232060" y="0"/>
                </a:moveTo>
                <a:cubicBezTo>
                  <a:pt x="199830" y="83814"/>
                  <a:pt x="148261" y="116049"/>
                  <a:pt x="116030" y="167627"/>
                </a:cubicBezTo>
                <a:cubicBezTo>
                  <a:pt x="83800" y="116049"/>
                  <a:pt x="32231" y="83814"/>
                  <a:pt x="0" y="0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86" name="af-seed-auto-0086-ellipse-01" descr="{&quot;autofigure_element_id&quot;:&quot;seed-auto-0086&quot;}"/>
          <p:cNvSpPr/>
          <p:nvPr/>
        </p:nvSpPr>
        <p:spPr>
          <a:xfrm>
            <a:off x="10646956" y="1778566"/>
            <a:ext cx="61883" cy="6189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f-seed-auto-0087-ellipse-01" descr="{&quot;autofigure_element_id&quot;:&quot;seed-auto-0087&quot;}"/>
          <p:cNvSpPr/>
          <p:nvPr/>
        </p:nvSpPr>
        <p:spPr>
          <a:xfrm>
            <a:off x="10543818" y="1778566"/>
            <a:ext cx="61883" cy="6189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f-seed-auto-0088-freeform-01" descr="{&quot;autofigure_element_id&quot;:&quot;seed-auto-0088&quot;}"/>
          <p:cNvSpPr/>
          <p:nvPr/>
        </p:nvSpPr>
        <p:spPr>
          <a:xfrm>
            <a:off x="10626328" y="1525836"/>
            <a:ext cx="25784" cy="135391"/>
          </a:xfrm>
          <a:custGeom>
            <a:avLst/>
            <a:gdLst/>
            <a:ahLst/>
            <a:cxnLst/>
            <a:rect l="0" t="0" r="0" b="0"/>
            <a:pathLst>
              <a:path w="25784" h="135391">
                <a:moveTo>
                  <a:pt x="0" y="135391"/>
                </a:moveTo>
                <a:cubicBezTo>
                  <a:pt x="25784" y="90261"/>
                  <a:pt x="25784" y="45130"/>
                  <a:pt x="0" y="0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89" name="af-seed-auto-0089-freeform-01" descr="{&quot;autofigure_element_id&quot;:&quot;seed-auto-0089&quot;}"/>
          <p:cNvSpPr/>
          <p:nvPr/>
        </p:nvSpPr>
        <p:spPr>
          <a:xfrm>
            <a:off x="10204791" y="2381945"/>
            <a:ext cx="217996" cy="157468"/>
          </a:xfrm>
          <a:custGeom>
            <a:avLst/>
            <a:gdLst/>
            <a:ahLst/>
            <a:cxnLst/>
            <a:rect l="0" t="0" r="0" b="0"/>
            <a:pathLst>
              <a:path w="217996" h="157468">
                <a:moveTo>
                  <a:pt x="0" y="157468"/>
                </a:moveTo>
                <a:cubicBezTo>
                  <a:pt x="30277" y="78734"/>
                  <a:pt x="78721" y="48452"/>
                  <a:pt x="108998" y="0"/>
                </a:cubicBezTo>
                <a:cubicBezTo>
                  <a:pt x="139275" y="48452"/>
                  <a:pt x="187719" y="78734"/>
                  <a:pt x="217996" y="157468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90" name="af-seed-auto-0090-ellipse-01" descr="{&quot;autofigure_element_id&quot;:&quot;seed-auto-0090&quot;}"/>
          <p:cNvSpPr/>
          <p:nvPr/>
        </p:nvSpPr>
        <p:spPr>
          <a:xfrm>
            <a:off x="10236279" y="2377100"/>
            <a:ext cx="58132" cy="58142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f-seed-auto-0091-ellipse-01" descr="{&quot;autofigure_element_id&quot;:&quot;seed-auto-0091&quot;}"/>
          <p:cNvSpPr/>
          <p:nvPr/>
        </p:nvSpPr>
        <p:spPr>
          <a:xfrm>
            <a:off x="10333166" y="2377100"/>
            <a:ext cx="58132" cy="58142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f-seed-auto-0092-freeform-01" descr="{&quot;autofigure_element_id&quot;:&quot;seed-auto-0092&quot;}"/>
          <p:cNvSpPr/>
          <p:nvPr/>
        </p:nvSpPr>
        <p:spPr>
          <a:xfrm>
            <a:off x="10289567" y="2545469"/>
            <a:ext cx="24222" cy="127186"/>
          </a:xfrm>
          <a:custGeom>
            <a:avLst/>
            <a:gdLst/>
            <a:ahLst/>
            <a:cxnLst/>
            <a:rect l="0" t="0" r="0" b="0"/>
            <a:pathLst>
              <a:path w="24222" h="127186">
                <a:moveTo>
                  <a:pt x="24222" y="0"/>
                </a:moveTo>
                <a:cubicBezTo>
                  <a:pt x="0" y="42395"/>
                  <a:pt x="0" y="84790"/>
                  <a:pt x="24222" y="12718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93" name="af-seed-auto-0093-freeform-01" descr="{&quot;autofigure_element_id&quot;:&quot;seed-auto-0093&quot;}"/>
          <p:cNvSpPr/>
          <p:nvPr/>
        </p:nvSpPr>
        <p:spPr>
          <a:xfrm>
            <a:off x="10966605" y="2381945"/>
            <a:ext cx="217996" cy="157468"/>
          </a:xfrm>
          <a:custGeom>
            <a:avLst/>
            <a:gdLst/>
            <a:ahLst/>
            <a:cxnLst/>
            <a:rect l="0" t="0" r="0" b="0"/>
            <a:pathLst>
              <a:path w="217996" h="157468">
                <a:moveTo>
                  <a:pt x="0" y="157468"/>
                </a:moveTo>
                <a:cubicBezTo>
                  <a:pt x="30277" y="78734"/>
                  <a:pt x="78721" y="48452"/>
                  <a:pt x="108998" y="0"/>
                </a:cubicBezTo>
                <a:cubicBezTo>
                  <a:pt x="139275" y="48452"/>
                  <a:pt x="187719" y="78734"/>
                  <a:pt x="217996" y="157468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94" name="af-seed-auto-0094-ellipse-01" descr="{&quot;autofigure_element_id&quot;:&quot;seed-auto-0094&quot;}"/>
          <p:cNvSpPr/>
          <p:nvPr/>
        </p:nvSpPr>
        <p:spPr>
          <a:xfrm>
            <a:off x="10998093" y="2377100"/>
            <a:ext cx="58132" cy="58142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f-seed-auto-0095-ellipse-01" descr="{&quot;autofigure_element_id&quot;:&quot;seed-auto-0095&quot;}"/>
          <p:cNvSpPr/>
          <p:nvPr/>
        </p:nvSpPr>
        <p:spPr>
          <a:xfrm>
            <a:off x="11094980" y="2377100"/>
            <a:ext cx="58132" cy="58142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f-seed-auto-0096-freeform-01" descr="{&quot;autofigure_element_id&quot;:&quot;seed-auto-0096&quot;}"/>
          <p:cNvSpPr/>
          <p:nvPr/>
        </p:nvSpPr>
        <p:spPr>
          <a:xfrm>
            <a:off x="11051381" y="2545469"/>
            <a:ext cx="24222" cy="127186"/>
          </a:xfrm>
          <a:custGeom>
            <a:avLst/>
            <a:gdLst/>
            <a:ahLst/>
            <a:cxnLst/>
            <a:rect l="0" t="0" r="0" b="0"/>
            <a:pathLst>
              <a:path w="24222" h="127186">
                <a:moveTo>
                  <a:pt x="24222" y="0"/>
                </a:moveTo>
                <a:cubicBezTo>
                  <a:pt x="0" y="42395"/>
                  <a:pt x="0" y="84790"/>
                  <a:pt x="24222" y="12718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97" name="af-seed-auto-0097-text-01" descr="{&quot;autofigure_element_id&quot;:&quot;seed-auto-0097&quot;}"/>
          <p:cNvSpPr txBox="1"/>
          <p:nvPr/>
        </p:nvSpPr>
        <p:spPr>
          <a:xfrm>
            <a:off x="9805913" y="3029974"/>
            <a:ext cx="101193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Endosome</a:t>
            </a:r>
          </a:p>
        </p:txBody>
      </p:sp>
      <p:sp>
        <p:nvSpPr>
          <p:cNvPr id="98" name="af-seed-auto-0098-ellipse-01" descr="{&quot;autofigure_element_id&quot;:&quot;seed-auto-0098&quot;}"/>
          <p:cNvSpPr/>
          <p:nvPr/>
        </p:nvSpPr>
        <p:spPr>
          <a:xfrm>
            <a:off x="10909567" y="1211291"/>
            <a:ext cx="957151" cy="468887"/>
          </a:xfrm>
          <a:prstGeom prst="ellipse">
            <a:avLst/>
          </a:prstGeom>
          <a:solidFill>
            <a:srgbClr val="E6B7DD"/>
          </a:solidFill>
          <a:ln w="19050">
            <a:solidFill>
              <a:srgbClr val="A35A9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f-seed-auto-0099-text-01" descr="{&quot;autofigure_element_id&quot;:&quot;seed-auto-0099&quot;}"/>
          <p:cNvSpPr txBox="1"/>
          <p:nvPr/>
        </p:nvSpPr>
        <p:spPr>
          <a:xfrm>
            <a:off x="11039908" y="1310723"/>
            <a:ext cx="69646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>
                <a:solidFill>
                  <a:srgbClr val="111111"/>
                </a:solidFill>
                <a:latin typeface="Arial"/>
              </a:rPr>
              <a:t>TBK1</a:t>
            </a:r>
          </a:p>
        </p:txBody>
      </p:sp>
      <p:sp>
        <p:nvSpPr>
          <p:cNvPr id="100" name="af-seed-auto-0100-freeform-arrow-01" descr="{&quot;arrow_spec_sha256&quot;:&quot;b29d6a107350c7eaa2c3e054f0fdab7559cf96de0f43d42179f8c19480d1474a&quot;,&quot;autofigure_element_id&quot;:&quot;seed-auto-0100&quot;}"/>
          <p:cNvSpPr/>
          <p:nvPr/>
        </p:nvSpPr>
        <p:spPr>
          <a:xfrm>
            <a:off x="11017002" y="752173"/>
            <a:ext cx="703213" cy="488424"/>
          </a:xfrm>
          <a:custGeom>
            <a:avLst/>
            <a:gdLst/>
            <a:ahLst/>
            <a:cxnLst/>
            <a:rect l="0" t="0" r="0" b="0"/>
            <a:pathLst>
              <a:path w="703213" h="488424">
                <a:moveTo>
                  <a:pt x="0" y="488424"/>
                </a:moveTo>
                <a:cubicBezTo>
                  <a:pt x="234404" y="283286"/>
                  <a:pt x="478575" y="107453"/>
                  <a:pt x="703213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101" name="af-seed-auto-0101-rect-01" descr="{&quot;autofigure_element_id&quot;:&quot;seed-auto-0101&quot;}"/>
          <p:cNvSpPr/>
          <p:nvPr/>
        </p:nvSpPr>
        <p:spPr>
          <a:xfrm>
            <a:off x="11769049" y="39074"/>
            <a:ext cx="927850" cy="410276"/>
          </a:xfrm>
          <a:prstGeom prst="roundRect">
            <a:avLst>
              <a:gd name="adj" fmla="val 19047"/>
            </a:avLst>
          </a:prstGeom>
          <a:solidFill>
            <a:srgbClr val="C9D6E7"/>
          </a:solidFill>
          <a:ln w="19050">
            <a:solidFill>
              <a:srgbClr val="2873B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seed-auto-0102-rect-01" descr="{&quot;autofigure_element_id&quot;:&quot;seed-auto-0102&quot;}"/>
          <p:cNvSpPr/>
          <p:nvPr/>
        </p:nvSpPr>
        <p:spPr>
          <a:xfrm>
            <a:off x="11769049" y="459118"/>
            <a:ext cx="927850" cy="410276"/>
          </a:xfrm>
          <a:prstGeom prst="roundRect">
            <a:avLst>
              <a:gd name="adj" fmla="val 19047"/>
            </a:avLst>
          </a:prstGeom>
          <a:solidFill>
            <a:srgbClr val="C9D6E7"/>
          </a:solidFill>
          <a:ln w="19050">
            <a:solidFill>
              <a:srgbClr val="2873B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f-seed-auto-0103-text-01" descr="{&quot;autofigure_element_id&quot;:&quot;seed-auto-0103&quot;}"/>
          <p:cNvSpPr txBox="1"/>
          <p:nvPr/>
        </p:nvSpPr>
        <p:spPr>
          <a:xfrm>
            <a:off x="11917818" y="109200"/>
            <a:ext cx="64008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>
                <a:solidFill>
                  <a:srgbClr val="111111"/>
                </a:solidFill>
                <a:latin typeface="Arial"/>
              </a:rPr>
              <a:t>IRF3</a:t>
            </a:r>
          </a:p>
        </p:txBody>
      </p:sp>
      <p:sp>
        <p:nvSpPr>
          <p:cNvPr id="104" name="af-seed-auto-0104-text-01" descr="{&quot;autofigure_element_id&quot;:&quot;seed-auto-0104&quot;}"/>
          <p:cNvSpPr txBox="1"/>
          <p:nvPr/>
        </p:nvSpPr>
        <p:spPr>
          <a:xfrm>
            <a:off x="11917818" y="519476"/>
            <a:ext cx="64008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>
                <a:solidFill>
                  <a:srgbClr val="111111"/>
                </a:solidFill>
                <a:latin typeface="Arial"/>
              </a:rPr>
              <a:t>IRF3</a:t>
            </a:r>
          </a:p>
        </p:txBody>
      </p:sp>
      <p:sp>
        <p:nvSpPr>
          <p:cNvPr id="105" name="af-seed-auto-0105-ellipse-01" descr="{&quot;autofigure_element_id&quot;:&quot;seed-auto-0105&quot;}"/>
          <p:cNvSpPr/>
          <p:nvPr/>
        </p:nvSpPr>
        <p:spPr>
          <a:xfrm>
            <a:off x="12735967" y="97685"/>
            <a:ext cx="312539" cy="312591"/>
          </a:xfrm>
          <a:prstGeom prst="ellipse">
            <a:avLst/>
          </a:prstGeom>
          <a:solidFill>
            <a:srgbClr val="A4C85B"/>
          </a:solidFill>
          <a:ln w="17145">
            <a:solidFill>
              <a:srgbClr val="527C2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f-seed-auto-0106-ellipse-01" descr="{&quot;autofigure_element_id&quot;:&quot;seed-auto-0106&quot;}"/>
          <p:cNvSpPr/>
          <p:nvPr/>
        </p:nvSpPr>
        <p:spPr>
          <a:xfrm>
            <a:off x="12735967" y="507961"/>
            <a:ext cx="312539" cy="312591"/>
          </a:xfrm>
          <a:prstGeom prst="ellipse">
            <a:avLst/>
          </a:prstGeom>
          <a:solidFill>
            <a:srgbClr val="A4C85B"/>
          </a:solidFill>
          <a:ln w="17145">
            <a:solidFill>
              <a:srgbClr val="527C2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af-seed-auto-0107-freeform-01" descr="{&quot;autofigure_element_id&quot;:&quot;seed-auto-0107&quot;}"/>
          <p:cNvSpPr/>
          <p:nvPr/>
        </p:nvSpPr>
        <p:spPr>
          <a:xfrm>
            <a:off x="12843402" y="214906"/>
            <a:ext cx="52090" cy="156296"/>
          </a:xfrm>
          <a:custGeom>
            <a:avLst/>
            <a:gdLst/>
            <a:ahLst/>
            <a:cxnLst/>
            <a:rect l="0" t="0" r="0" b="0"/>
            <a:pathLst>
              <a:path w="52090" h="156296">
                <a:moveTo>
                  <a:pt x="0" y="0"/>
                </a:moveTo>
                <a:cubicBezTo>
                  <a:pt x="52090" y="52099"/>
                  <a:pt x="52090" y="104197"/>
                  <a:pt x="0" y="156296"/>
                </a:cubicBezTo>
              </a:path>
            </a:pathLst>
          </a:custGeom>
          <a:noFill/>
          <a:ln w="19050">
            <a:solidFill>
              <a:srgbClr val="2B5A76"/>
            </a:solidFill>
            <a:miter/>
          </a:ln>
        </p:spPr>
      </p:sp>
      <p:sp>
        <p:nvSpPr>
          <p:cNvPr id="108" name="af-seed-auto-0108-freeform-01" descr="{&quot;autofigure_element_id&quot;:&quot;seed-auto-0108&quot;}"/>
          <p:cNvSpPr/>
          <p:nvPr/>
        </p:nvSpPr>
        <p:spPr>
          <a:xfrm>
            <a:off x="12843402" y="625182"/>
            <a:ext cx="52090" cy="156296"/>
          </a:xfrm>
          <a:custGeom>
            <a:avLst/>
            <a:gdLst/>
            <a:ahLst/>
            <a:cxnLst/>
            <a:rect l="0" t="0" r="0" b="0"/>
            <a:pathLst>
              <a:path w="52090" h="156296">
                <a:moveTo>
                  <a:pt x="0" y="0"/>
                </a:moveTo>
                <a:cubicBezTo>
                  <a:pt x="52090" y="52099"/>
                  <a:pt x="52090" y="104197"/>
                  <a:pt x="0" y="156296"/>
                </a:cubicBezTo>
              </a:path>
            </a:pathLst>
          </a:custGeom>
          <a:noFill/>
          <a:ln w="19050">
            <a:solidFill>
              <a:srgbClr val="2B5A76"/>
            </a:solidFill>
            <a:miter/>
          </a:ln>
        </p:spPr>
      </p:sp>
      <p:cxnSp>
        <p:nvCxnSpPr>
          <p:cNvPr id="109" name="af-seed-auto-0109-connector-01" descr="{&quot;arrow_spec_sha256&quot;:&quot;4dcc45ea70e9af2c6517cf237c3acbd7960ce4f89e7e63f9e957975b21747ef3&quot;,&quot;autofigure_element_id&quot;:&quot;seed-auto-0109&quot;}"/>
          <p:cNvCxnSpPr/>
          <p:nvPr/>
        </p:nvCxnSpPr>
        <p:spPr>
          <a:xfrm>
            <a:off x="13077806" y="400507"/>
            <a:ext cx="664146" cy="19537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af-seed-auto-0110-text-01" descr="{&quot;autofigure_element_id&quot;:&quot;seed-auto-0110&quot;}"/>
          <p:cNvSpPr txBox="1"/>
          <p:nvPr/>
        </p:nvSpPr>
        <p:spPr>
          <a:xfrm>
            <a:off x="14210760" y="99432"/>
            <a:ext cx="60502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IFN;</a:t>
            </a:r>
          </a:p>
        </p:txBody>
      </p:sp>
      <p:sp>
        <p:nvSpPr>
          <p:cNvPr id="111" name="af-seed-auto-0111-text-01" descr="{&quot;autofigure_element_id&quot;:&quot;seed-auto-0111&quot;}"/>
          <p:cNvSpPr txBox="1"/>
          <p:nvPr/>
        </p:nvSpPr>
        <p:spPr>
          <a:xfrm>
            <a:off x="13829854" y="382718"/>
            <a:ext cx="95250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cytokines</a:t>
            </a:r>
          </a:p>
        </p:txBody>
      </p:sp>
      <p:cxnSp>
        <p:nvCxnSpPr>
          <p:cNvPr id="112" name="af-seed-auto-0112-connector-01" descr="{&quot;arrow_spec_sha256&quot;:&quot;2664772fb5f5e97f929e8cf6b2cb97e659198198edc6d6877b0f9a99f9905133&quot;,&quot;autofigure_element_id&quot;:&quot;seed-auto-0112&quot;}"/>
          <p:cNvCxnSpPr/>
          <p:nvPr/>
        </p:nvCxnSpPr>
        <p:spPr>
          <a:xfrm>
            <a:off x="12091355" y="2100222"/>
            <a:ext cx="2949587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af-seed-auto-0113-freeform-01" descr="{&quot;autofigure_element_id&quot;:&quot;seed-auto-0113&quot;}"/>
          <p:cNvSpPr/>
          <p:nvPr/>
        </p:nvSpPr>
        <p:spPr>
          <a:xfrm>
            <a:off x="14953041" y="1201522"/>
            <a:ext cx="2051038" cy="2002537"/>
          </a:xfrm>
          <a:custGeom>
            <a:avLst/>
            <a:gdLst/>
            <a:ahLst/>
            <a:cxnLst/>
            <a:rect l="0" t="0" r="0" b="0"/>
            <a:pathLst>
              <a:path w="2051038" h="2002537">
                <a:moveTo>
                  <a:pt x="673912" y="214906"/>
                </a:moveTo>
                <a:cubicBezTo>
                  <a:pt x="1308757" y="0"/>
                  <a:pt x="1875234" y="322360"/>
                  <a:pt x="1982670" y="840089"/>
                </a:cubicBezTo>
                <a:cubicBezTo>
                  <a:pt x="2051038" y="1230828"/>
                  <a:pt x="1826400" y="1504345"/>
                  <a:pt x="1445493" y="1689946"/>
                </a:cubicBezTo>
                <a:cubicBezTo>
                  <a:pt x="1045052" y="1885315"/>
                  <a:pt x="712980" y="2002537"/>
                  <a:pt x="449275" y="1865779"/>
                </a:cubicBezTo>
                <a:cubicBezTo>
                  <a:pt x="136736" y="1699714"/>
                  <a:pt x="126969" y="1338281"/>
                  <a:pt x="205104" y="1094069"/>
                </a:cubicBezTo>
                <a:cubicBezTo>
                  <a:pt x="0" y="1064764"/>
                  <a:pt x="19534" y="722867"/>
                  <a:pt x="117202" y="527498"/>
                </a:cubicBezTo>
                <a:cubicBezTo>
                  <a:pt x="224637" y="322360"/>
                  <a:pt x="390674" y="253980"/>
                  <a:pt x="673912" y="214906"/>
                </a:cubicBezTo>
                <a:close/>
              </a:path>
            </a:pathLst>
          </a:custGeom>
          <a:solidFill>
            <a:srgbClr val="EFEDEB"/>
          </a:solidFill>
          <a:ln w="19050">
            <a:solidFill>
              <a:srgbClr val="5E8FCA"/>
            </a:solidFill>
            <a:miter/>
          </a:ln>
        </p:spPr>
      </p:sp>
      <p:sp>
        <p:nvSpPr>
          <p:cNvPr id="114" name="af-seed-auto-0114-text-01" descr="{&quot;autofigure_element_id&quot;:&quot;seed-auto-0114&quot;}"/>
          <p:cNvSpPr txBox="1"/>
          <p:nvPr/>
        </p:nvSpPr>
        <p:spPr>
          <a:xfrm>
            <a:off x="14493999" y="2902984"/>
            <a:ext cx="63855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MVB</a:t>
            </a:r>
          </a:p>
        </p:txBody>
      </p:sp>
      <p:sp>
        <p:nvSpPr>
          <p:cNvPr id="115" name="af-seed-auto-0115-ellipse-01" descr="{&quot;autofigure_element_id&quot;:&quot;seed-auto-0115&quot;}"/>
          <p:cNvSpPr/>
          <p:nvPr/>
        </p:nvSpPr>
        <p:spPr>
          <a:xfrm>
            <a:off x="15626953" y="1680178"/>
            <a:ext cx="507876" cy="507961"/>
          </a:xfrm>
          <a:prstGeom prst="ellipse">
            <a:avLst/>
          </a:prstGeom>
          <a:noFill/>
          <a:ln w="19050">
            <a:solidFill>
              <a:srgbClr val="5E8FC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f-seed-auto-0116-freeform-01" descr="{&quot;autofigure_element_id&quot;:&quot;seed-auto-0116&quot;}"/>
          <p:cNvSpPr/>
          <p:nvPr/>
        </p:nvSpPr>
        <p:spPr>
          <a:xfrm>
            <a:off x="15851591" y="1787631"/>
            <a:ext cx="175803" cy="126990"/>
          </a:xfrm>
          <a:custGeom>
            <a:avLst/>
            <a:gdLst/>
            <a:ahLst/>
            <a:cxnLst/>
            <a:rect l="0" t="0" r="0" b="0"/>
            <a:pathLst>
              <a:path w="175803" h="126990">
                <a:moveTo>
                  <a:pt x="0" y="126990"/>
                </a:moveTo>
                <a:cubicBezTo>
                  <a:pt x="24417" y="63495"/>
                  <a:pt x="63484" y="39074"/>
                  <a:pt x="87902" y="0"/>
                </a:cubicBezTo>
                <a:cubicBezTo>
                  <a:pt x="112319" y="39074"/>
                  <a:pt x="151386" y="63495"/>
                  <a:pt x="175803" y="126990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17" name="af-seed-auto-0117-ellipse-01" descr="{&quot;autofigure_element_id&quot;:&quot;seed-auto-0117&quot;}"/>
          <p:cNvSpPr/>
          <p:nvPr/>
        </p:nvSpPr>
        <p:spPr>
          <a:xfrm>
            <a:off x="15876984" y="1783723"/>
            <a:ext cx="46881" cy="46889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f-seed-auto-0118-ellipse-01" descr="{&quot;autofigure_element_id&quot;:&quot;seed-auto-0118&quot;}"/>
          <p:cNvSpPr/>
          <p:nvPr/>
        </p:nvSpPr>
        <p:spPr>
          <a:xfrm>
            <a:off x="15955119" y="1783723"/>
            <a:ext cx="46881" cy="46889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af-seed-auto-0119-freeform-01" descr="{&quot;autofigure_element_id&quot;:&quot;seed-auto-0119&quot;}"/>
          <p:cNvSpPr/>
          <p:nvPr/>
        </p:nvSpPr>
        <p:spPr>
          <a:xfrm>
            <a:off x="15919958" y="1919505"/>
            <a:ext cx="19534" cy="102569"/>
          </a:xfrm>
          <a:custGeom>
            <a:avLst/>
            <a:gdLst/>
            <a:ahLst/>
            <a:cxnLst/>
            <a:rect l="0" t="0" r="0" b="0"/>
            <a:pathLst>
              <a:path w="19534" h="102569">
                <a:moveTo>
                  <a:pt x="19534" y="0"/>
                </a:moveTo>
                <a:cubicBezTo>
                  <a:pt x="0" y="34190"/>
                  <a:pt x="0" y="68379"/>
                  <a:pt x="19534" y="102569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20" name="af-seed-auto-0120-freeform-01" descr="{&quot;autofigure_element_id&quot;:&quot;seed-auto-0120&quot;}"/>
          <p:cNvSpPr/>
          <p:nvPr/>
        </p:nvSpPr>
        <p:spPr>
          <a:xfrm>
            <a:off x="15705088" y="1706227"/>
            <a:ext cx="351606" cy="354921"/>
          </a:xfrm>
          <a:custGeom>
            <a:avLst/>
            <a:gdLst/>
            <a:ahLst/>
            <a:cxnLst/>
            <a:rect l="0" t="0" r="0" b="0"/>
            <a:pathLst>
              <a:path w="351606" h="354921">
                <a:moveTo>
                  <a:pt x="0" y="208394"/>
                </a:moveTo>
                <a:cubicBezTo>
                  <a:pt x="65112" y="45586"/>
                  <a:pt x="123713" y="0"/>
                  <a:pt x="175803" y="71635"/>
                </a:cubicBezTo>
                <a:cubicBezTo>
                  <a:pt x="214871" y="130246"/>
                  <a:pt x="273472" y="143271"/>
                  <a:pt x="351606" y="110709"/>
                </a:cubicBezTo>
                <a:cubicBezTo>
                  <a:pt x="325562" y="188857"/>
                  <a:pt x="322306" y="257236"/>
                  <a:pt x="341840" y="315847"/>
                </a:cubicBezTo>
                <a:cubicBezTo>
                  <a:pt x="283239" y="276773"/>
                  <a:pt x="231149" y="289798"/>
                  <a:pt x="185570" y="354921"/>
                </a:cubicBezTo>
                <a:cubicBezTo>
                  <a:pt x="107435" y="283286"/>
                  <a:pt x="45579" y="234443"/>
                  <a:pt x="0" y="208394"/>
                </a:cubicBezTo>
                <a:close/>
              </a:path>
            </a:pathLst>
          </a:custGeom>
          <a:noFill/>
          <a:ln w="14288">
            <a:solidFill>
              <a:srgbClr val="6794C8"/>
            </a:solidFill>
            <a:miter/>
          </a:ln>
        </p:spPr>
      </p:sp>
      <p:sp>
        <p:nvSpPr>
          <p:cNvPr id="121" name="af-seed-auto-0121-ellipse-01" descr="{&quot;autofigure_element_id&quot;:&quot;seed-auto-0121&quot;}"/>
          <p:cNvSpPr/>
          <p:nvPr/>
        </p:nvSpPr>
        <p:spPr>
          <a:xfrm>
            <a:off x="16291099" y="2041611"/>
            <a:ext cx="507876" cy="507961"/>
          </a:xfrm>
          <a:prstGeom prst="ellipse">
            <a:avLst/>
          </a:prstGeom>
          <a:noFill/>
          <a:ln w="19050">
            <a:solidFill>
              <a:srgbClr val="5E8FC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f-seed-auto-0122-freeform-01" descr="{&quot;autofigure_element_id&quot;:&quot;seed-auto-0122&quot;}"/>
          <p:cNvSpPr/>
          <p:nvPr/>
        </p:nvSpPr>
        <p:spPr>
          <a:xfrm>
            <a:off x="16515736" y="2149064"/>
            <a:ext cx="175803" cy="126990"/>
          </a:xfrm>
          <a:custGeom>
            <a:avLst/>
            <a:gdLst/>
            <a:ahLst/>
            <a:cxnLst/>
            <a:rect l="0" t="0" r="0" b="0"/>
            <a:pathLst>
              <a:path w="175803" h="126990">
                <a:moveTo>
                  <a:pt x="0" y="126990"/>
                </a:moveTo>
                <a:cubicBezTo>
                  <a:pt x="24417" y="63495"/>
                  <a:pt x="63484" y="39074"/>
                  <a:pt x="87902" y="0"/>
                </a:cubicBezTo>
                <a:cubicBezTo>
                  <a:pt x="112319" y="39074"/>
                  <a:pt x="151386" y="63495"/>
                  <a:pt x="175803" y="126990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23" name="af-seed-auto-0123-ellipse-01" descr="{&quot;autofigure_element_id&quot;:&quot;seed-auto-0123&quot;}"/>
          <p:cNvSpPr/>
          <p:nvPr/>
        </p:nvSpPr>
        <p:spPr>
          <a:xfrm>
            <a:off x="16541130" y="2145157"/>
            <a:ext cx="46881" cy="46889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f-seed-auto-0124-ellipse-01" descr="{&quot;autofigure_element_id&quot;:&quot;seed-auto-0124&quot;}"/>
          <p:cNvSpPr/>
          <p:nvPr/>
        </p:nvSpPr>
        <p:spPr>
          <a:xfrm>
            <a:off x="16619265" y="2145157"/>
            <a:ext cx="46881" cy="46889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af-seed-auto-0125-freeform-01" descr="{&quot;autofigure_element_id&quot;:&quot;seed-auto-0125&quot;}"/>
          <p:cNvSpPr/>
          <p:nvPr/>
        </p:nvSpPr>
        <p:spPr>
          <a:xfrm>
            <a:off x="16584104" y="2280939"/>
            <a:ext cx="19534" cy="102569"/>
          </a:xfrm>
          <a:custGeom>
            <a:avLst/>
            <a:gdLst/>
            <a:ahLst/>
            <a:cxnLst/>
            <a:rect l="0" t="0" r="0" b="0"/>
            <a:pathLst>
              <a:path w="19534" h="102569">
                <a:moveTo>
                  <a:pt x="19534" y="0"/>
                </a:moveTo>
                <a:cubicBezTo>
                  <a:pt x="0" y="34190"/>
                  <a:pt x="0" y="68379"/>
                  <a:pt x="19534" y="102569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26" name="af-seed-auto-0126-freeform-01" descr="{&quot;autofigure_element_id&quot;:&quot;seed-auto-0126&quot;}"/>
          <p:cNvSpPr/>
          <p:nvPr/>
        </p:nvSpPr>
        <p:spPr>
          <a:xfrm>
            <a:off x="16379000" y="2070916"/>
            <a:ext cx="351606" cy="332128"/>
          </a:xfrm>
          <a:custGeom>
            <a:avLst/>
            <a:gdLst/>
            <a:ahLst/>
            <a:cxnLst/>
            <a:rect l="0" t="0" r="0" b="0"/>
            <a:pathLst>
              <a:path w="351606" h="332128">
                <a:moveTo>
                  <a:pt x="0" y="185601"/>
                </a:moveTo>
                <a:cubicBezTo>
                  <a:pt x="78135" y="35818"/>
                  <a:pt x="139991" y="0"/>
                  <a:pt x="185570" y="78148"/>
                </a:cubicBezTo>
                <a:cubicBezTo>
                  <a:pt x="218126" y="130246"/>
                  <a:pt x="273472" y="140015"/>
                  <a:pt x="351606" y="107453"/>
                </a:cubicBezTo>
                <a:cubicBezTo>
                  <a:pt x="319050" y="185601"/>
                  <a:pt x="319050" y="247468"/>
                  <a:pt x="351606" y="293054"/>
                </a:cubicBezTo>
                <a:cubicBezTo>
                  <a:pt x="286494" y="253980"/>
                  <a:pt x="231149" y="267005"/>
                  <a:pt x="185570" y="332128"/>
                </a:cubicBezTo>
                <a:cubicBezTo>
                  <a:pt x="107435" y="273517"/>
                  <a:pt x="45579" y="224675"/>
                  <a:pt x="0" y="185601"/>
                </a:cubicBezTo>
                <a:close/>
              </a:path>
            </a:pathLst>
          </a:custGeom>
          <a:noFill/>
          <a:ln w="14288">
            <a:solidFill>
              <a:srgbClr val="6794C8"/>
            </a:solidFill>
            <a:miter/>
          </a:ln>
        </p:spPr>
      </p:sp>
      <p:sp>
        <p:nvSpPr>
          <p:cNvPr id="127" name="af-seed-auto-0127-freeform-01" descr="{&quot;autofigure_element_id&quot;:&quot;seed-auto-0127&quot;}"/>
          <p:cNvSpPr/>
          <p:nvPr/>
        </p:nvSpPr>
        <p:spPr>
          <a:xfrm>
            <a:off x="17013845" y="3184523"/>
            <a:ext cx="2236608" cy="2363971"/>
          </a:xfrm>
          <a:custGeom>
            <a:avLst/>
            <a:gdLst/>
            <a:ahLst/>
            <a:cxnLst/>
            <a:rect l="0" t="0" r="0" b="0"/>
            <a:pathLst>
              <a:path w="2236608" h="2363971">
                <a:moveTo>
                  <a:pt x="253938" y="0"/>
                </a:moveTo>
                <a:cubicBezTo>
                  <a:pt x="752047" y="107453"/>
                  <a:pt x="1132954" y="185601"/>
                  <a:pt x="1465027" y="351665"/>
                </a:cubicBezTo>
                <a:cubicBezTo>
                  <a:pt x="1953369" y="595877"/>
                  <a:pt x="2236608" y="1015921"/>
                  <a:pt x="2226841" y="1504345"/>
                </a:cubicBezTo>
                <a:cubicBezTo>
                  <a:pt x="2217074" y="1973232"/>
                  <a:pt x="1953369" y="2168601"/>
                  <a:pt x="1601763" y="2266286"/>
                </a:cubicBezTo>
                <a:cubicBezTo>
                  <a:pt x="1250156" y="2363971"/>
                  <a:pt x="888783" y="2276054"/>
                  <a:pt x="586011" y="2051380"/>
                </a:cubicBezTo>
                <a:cubicBezTo>
                  <a:pt x="351606" y="1865779"/>
                  <a:pt x="224637" y="1631335"/>
                  <a:pt x="253938" y="1357818"/>
                </a:cubicBezTo>
                <a:cubicBezTo>
                  <a:pt x="78135" y="1260133"/>
                  <a:pt x="0" y="1113606"/>
                  <a:pt x="39067" y="928005"/>
                </a:cubicBezTo>
                <a:cubicBezTo>
                  <a:pt x="78135" y="722867"/>
                  <a:pt x="224637" y="615414"/>
                  <a:pt x="449275" y="615414"/>
                </a:cubicBezTo>
                <a:cubicBezTo>
                  <a:pt x="302772" y="439581"/>
                  <a:pt x="205104" y="224675"/>
                  <a:pt x="253938" y="0"/>
                </a:cubicBezTo>
                <a:close/>
              </a:path>
            </a:pathLst>
          </a:custGeom>
          <a:solidFill>
            <a:srgbClr val="FDE9A7"/>
          </a:solidFill>
          <a:ln w="19050">
            <a:solidFill>
              <a:srgbClr val="648DC6"/>
            </a:solidFill>
            <a:miter/>
          </a:ln>
        </p:spPr>
      </p:sp>
      <p:sp>
        <p:nvSpPr>
          <p:cNvPr id="128" name="af-seed-auto-0128-text-01" descr="{&quot;autofigure_element_id&quot;:&quot;seed-auto-0128&quot;}"/>
          <p:cNvSpPr txBox="1"/>
          <p:nvPr/>
        </p:nvSpPr>
        <p:spPr>
          <a:xfrm>
            <a:off x="18439805" y="2854142"/>
            <a:ext cx="101193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Lysosome</a:t>
            </a:r>
          </a:p>
        </p:txBody>
      </p:sp>
      <p:sp>
        <p:nvSpPr>
          <p:cNvPr id="129" name="af-seed-auto-0129-text-01" descr="{&quot;autofigure_element_id&quot;:&quot;seed-auto-0129&quot;}"/>
          <p:cNvSpPr txBox="1"/>
          <p:nvPr/>
        </p:nvSpPr>
        <p:spPr>
          <a:xfrm>
            <a:off x="16662239" y="3928674"/>
            <a:ext cx="69646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RAB7</a:t>
            </a:r>
          </a:p>
        </p:txBody>
      </p:sp>
      <p:sp>
        <p:nvSpPr>
          <p:cNvPr id="130" name="af-seed-auto-0130-text-01" descr="{&quot;autofigure_element_id&quot;:&quot;seed-auto-0130&quot;}"/>
          <p:cNvSpPr txBox="1"/>
          <p:nvPr/>
        </p:nvSpPr>
        <p:spPr>
          <a:xfrm>
            <a:off x="16896643" y="5042280"/>
            <a:ext cx="69646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RAB7</a:t>
            </a:r>
          </a:p>
        </p:txBody>
      </p:sp>
      <p:sp>
        <p:nvSpPr>
          <p:cNvPr id="131" name="af-seed-auto-0131-ellipse-01" descr="{&quot;autofigure_element_id&quot;:&quot;seed-auto-0131&quot;}"/>
          <p:cNvSpPr/>
          <p:nvPr/>
        </p:nvSpPr>
        <p:spPr>
          <a:xfrm>
            <a:off x="17599099" y="4100361"/>
            <a:ext cx="196851" cy="258777"/>
          </a:xfrm>
          <a:prstGeom prst="ellipse">
            <a:avLst/>
          </a:prstGeom>
          <a:solidFill>
            <a:srgbClr val="E2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af-seed-auto-0132-ellipse-01" descr="{&quot;autofigure_element_id&quot;:&quot;seed-auto-0132&quot;}"/>
          <p:cNvSpPr/>
          <p:nvPr/>
        </p:nvSpPr>
        <p:spPr>
          <a:xfrm>
            <a:off x="17335214" y="4686589"/>
            <a:ext cx="314413" cy="82705"/>
          </a:xfrm>
          <a:prstGeom prst="ellipse">
            <a:avLst/>
          </a:prstGeom>
          <a:solidFill>
            <a:srgbClr val="E2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af-seed-auto-0133-ellipse-01" descr="{&quot;autofigure_element_id&quot;:&quot;seed-auto-0133&quot;}"/>
          <p:cNvSpPr/>
          <p:nvPr/>
        </p:nvSpPr>
        <p:spPr>
          <a:xfrm>
            <a:off x="18264001" y="3721789"/>
            <a:ext cx="605544" cy="605645"/>
          </a:xfrm>
          <a:prstGeom prst="ellipse">
            <a:avLst/>
          </a:prstGeom>
          <a:noFill/>
          <a:ln w="19050">
            <a:solidFill>
              <a:srgbClr val="5E8FC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af-seed-auto-0134-freeform-01" descr="{&quot;autofigure_element_id&quot;:&quot;seed-auto-0134&quot;}"/>
          <p:cNvSpPr/>
          <p:nvPr/>
        </p:nvSpPr>
        <p:spPr>
          <a:xfrm>
            <a:off x="18518916" y="3869293"/>
            <a:ext cx="193384" cy="139689"/>
          </a:xfrm>
          <a:custGeom>
            <a:avLst/>
            <a:gdLst/>
            <a:ahLst/>
            <a:cxnLst/>
            <a:rect l="0" t="0" r="0" b="0"/>
            <a:pathLst>
              <a:path w="193384" h="139689">
                <a:moveTo>
                  <a:pt x="0" y="139689"/>
                </a:moveTo>
                <a:cubicBezTo>
                  <a:pt x="26859" y="69845"/>
                  <a:pt x="69833" y="42981"/>
                  <a:pt x="96692" y="0"/>
                </a:cubicBezTo>
                <a:cubicBezTo>
                  <a:pt x="123551" y="42981"/>
                  <a:pt x="166525" y="69845"/>
                  <a:pt x="193384" y="139689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35" name="af-seed-auto-0135-ellipse-01" descr="{&quot;autofigure_element_id&quot;:&quot;seed-auto-0135&quot;}"/>
          <p:cNvSpPr/>
          <p:nvPr/>
        </p:nvSpPr>
        <p:spPr>
          <a:xfrm>
            <a:off x="18546849" y="3864994"/>
            <a:ext cx="51569" cy="5157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f-seed-auto-0136-ellipse-01" descr="{&quot;autofigure_element_id&quot;:&quot;seed-auto-0136&quot;}"/>
          <p:cNvSpPr/>
          <p:nvPr/>
        </p:nvSpPr>
        <p:spPr>
          <a:xfrm>
            <a:off x="18632798" y="3864994"/>
            <a:ext cx="51569" cy="5157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af-seed-auto-0137-freeform-01" descr="{&quot;autofigure_element_id&quot;:&quot;seed-auto-0137&quot;}"/>
          <p:cNvSpPr/>
          <p:nvPr/>
        </p:nvSpPr>
        <p:spPr>
          <a:xfrm>
            <a:off x="18594121" y="4014354"/>
            <a:ext cx="21487" cy="112826"/>
          </a:xfrm>
          <a:custGeom>
            <a:avLst/>
            <a:gdLst/>
            <a:ahLst/>
            <a:cxnLst/>
            <a:rect l="0" t="0" r="0" b="0"/>
            <a:pathLst>
              <a:path w="21487" h="112826">
                <a:moveTo>
                  <a:pt x="21487" y="0"/>
                </a:moveTo>
                <a:cubicBezTo>
                  <a:pt x="0" y="37609"/>
                  <a:pt x="0" y="75217"/>
                  <a:pt x="21487" y="11282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38" name="af-seed-auto-0138-freeform-01" descr="{&quot;autofigure_element_id&quot;:&quot;seed-auto-0138&quot;}"/>
          <p:cNvSpPr/>
          <p:nvPr/>
        </p:nvSpPr>
        <p:spPr>
          <a:xfrm>
            <a:off x="18332369" y="3819473"/>
            <a:ext cx="410208" cy="341897"/>
          </a:xfrm>
          <a:custGeom>
            <a:avLst/>
            <a:gdLst/>
            <a:ahLst/>
            <a:cxnLst/>
            <a:rect l="0" t="0" r="0" b="0"/>
            <a:pathLst>
              <a:path w="410208" h="341897">
                <a:moveTo>
                  <a:pt x="0" y="205138"/>
                </a:moveTo>
                <a:cubicBezTo>
                  <a:pt x="84646" y="42330"/>
                  <a:pt x="156270" y="0"/>
                  <a:pt x="214871" y="78148"/>
                </a:cubicBezTo>
                <a:cubicBezTo>
                  <a:pt x="253938" y="123734"/>
                  <a:pt x="309283" y="133502"/>
                  <a:pt x="380907" y="107453"/>
                </a:cubicBezTo>
                <a:cubicBezTo>
                  <a:pt x="367885" y="179089"/>
                  <a:pt x="377651" y="244212"/>
                  <a:pt x="410208" y="302823"/>
                </a:cubicBezTo>
                <a:cubicBezTo>
                  <a:pt x="332073" y="250724"/>
                  <a:pt x="276727" y="263749"/>
                  <a:pt x="244171" y="341897"/>
                </a:cubicBezTo>
                <a:cubicBezTo>
                  <a:pt x="179059" y="263749"/>
                  <a:pt x="97668" y="218163"/>
                  <a:pt x="0" y="205138"/>
                </a:cubicBezTo>
                <a:close/>
              </a:path>
            </a:pathLst>
          </a:custGeom>
          <a:noFill/>
          <a:ln w="16192">
            <a:solidFill>
              <a:srgbClr val="6794C8"/>
            </a:solidFill>
            <a:miter/>
          </a:ln>
        </p:spPr>
      </p:sp>
      <p:sp>
        <p:nvSpPr>
          <p:cNvPr id="139" name="af-seed-auto-0139-ellipse-01" descr="{&quot;autofigure_element_id&quot;:&quot;seed-auto-0139&quot;}"/>
          <p:cNvSpPr/>
          <p:nvPr/>
        </p:nvSpPr>
        <p:spPr>
          <a:xfrm>
            <a:off x="18361670" y="4464193"/>
            <a:ext cx="683679" cy="683793"/>
          </a:xfrm>
          <a:prstGeom prst="ellipse">
            <a:avLst/>
          </a:prstGeom>
          <a:noFill/>
          <a:ln w="19050">
            <a:solidFill>
              <a:srgbClr val="5E8FC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af-seed-auto-0140-freeform-01" descr="{&quot;autofigure_element_id&quot;:&quot;seed-auto-0140&quot;}"/>
          <p:cNvSpPr/>
          <p:nvPr/>
        </p:nvSpPr>
        <p:spPr>
          <a:xfrm>
            <a:off x="18655652" y="4670307"/>
            <a:ext cx="193384" cy="139689"/>
          </a:xfrm>
          <a:custGeom>
            <a:avLst/>
            <a:gdLst/>
            <a:ahLst/>
            <a:cxnLst/>
            <a:rect l="0" t="0" r="0" b="0"/>
            <a:pathLst>
              <a:path w="193384" h="139689">
                <a:moveTo>
                  <a:pt x="0" y="139689"/>
                </a:moveTo>
                <a:cubicBezTo>
                  <a:pt x="26859" y="69845"/>
                  <a:pt x="69833" y="42981"/>
                  <a:pt x="96692" y="0"/>
                </a:cubicBezTo>
                <a:cubicBezTo>
                  <a:pt x="123551" y="42981"/>
                  <a:pt x="166525" y="69845"/>
                  <a:pt x="193384" y="139689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41" name="af-seed-auto-0141-ellipse-01" descr="{&quot;autofigure_element_id&quot;:&quot;seed-auto-0141&quot;}"/>
          <p:cNvSpPr/>
          <p:nvPr/>
        </p:nvSpPr>
        <p:spPr>
          <a:xfrm>
            <a:off x="18683585" y="4666009"/>
            <a:ext cx="51569" cy="5157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seed-auto-0142-ellipse-01" descr="{&quot;autofigure_element_id&quot;:&quot;seed-auto-0142&quot;}"/>
          <p:cNvSpPr/>
          <p:nvPr/>
        </p:nvSpPr>
        <p:spPr>
          <a:xfrm>
            <a:off x="18769533" y="4666009"/>
            <a:ext cx="51569" cy="51578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f-seed-auto-0143-freeform-01" descr="{&quot;autofigure_element_id&quot;:&quot;seed-auto-0143&quot;}"/>
          <p:cNvSpPr/>
          <p:nvPr/>
        </p:nvSpPr>
        <p:spPr>
          <a:xfrm>
            <a:off x="18730857" y="4815369"/>
            <a:ext cx="21487" cy="112826"/>
          </a:xfrm>
          <a:custGeom>
            <a:avLst/>
            <a:gdLst/>
            <a:ahLst/>
            <a:cxnLst/>
            <a:rect l="0" t="0" r="0" b="0"/>
            <a:pathLst>
              <a:path w="21487" h="112826">
                <a:moveTo>
                  <a:pt x="21487" y="0"/>
                </a:moveTo>
                <a:cubicBezTo>
                  <a:pt x="0" y="37609"/>
                  <a:pt x="0" y="75217"/>
                  <a:pt x="21487" y="11282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44" name="af-seed-auto-0144-ellipse-01" descr="{&quot;autofigure_element_id&quot;:&quot;seed-auto-0144&quot;}"/>
          <p:cNvSpPr/>
          <p:nvPr/>
        </p:nvSpPr>
        <p:spPr>
          <a:xfrm>
            <a:off x="18273768" y="4376276"/>
            <a:ext cx="859482" cy="859626"/>
          </a:xfrm>
          <a:prstGeom prst="ellipse">
            <a:avLst/>
          </a:prstGeom>
          <a:noFill/>
          <a:ln w="66675" cap="rnd">
            <a:solidFill>
              <a:srgbClr val="5A2C9C"/>
            </a:solidFill>
            <a:prstDash val="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f-seed-auto-0145-freeform-arrow-01" descr="{&quot;arrow_spec_sha256&quot;:&quot;5de0551b2477126e2586aafa94b311cc74e5f71697ff667e96a2f711f24024c1&quot;,&quot;autofigure_element_id&quot;:&quot;seed-auto-0145&quot;}"/>
          <p:cNvSpPr/>
          <p:nvPr/>
        </p:nvSpPr>
        <p:spPr>
          <a:xfrm>
            <a:off x="17131047" y="2295591"/>
            <a:ext cx="996218" cy="1025690"/>
          </a:xfrm>
          <a:custGeom>
            <a:avLst/>
            <a:gdLst/>
            <a:ahLst/>
            <a:cxnLst/>
            <a:rect l="0" t="0" r="0" b="0"/>
            <a:pathLst>
              <a:path w="996218" h="1025690">
                <a:moveTo>
                  <a:pt x="0" y="0"/>
                </a:moveTo>
                <a:cubicBezTo>
                  <a:pt x="429741" y="146527"/>
                  <a:pt x="781348" y="498192"/>
                  <a:pt x="996218" y="102569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cxnSp>
        <p:nvCxnSpPr>
          <p:cNvPr id="146" name="af-seed-auto-0146-connector-01" descr="{&quot;arrow_spec_sha256&quot;:&quot;b526bc1e649a91092f6653570a6d0e8f6de9ca4818a5ab6e46eb51d799f88e75&quot;,&quot;autofigure_element_id&quot;:&quot;seed-auto-0146&quot;}"/>
          <p:cNvCxnSpPr/>
          <p:nvPr/>
        </p:nvCxnSpPr>
        <p:spPr>
          <a:xfrm>
            <a:off x="5772206" y="7170060"/>
            <a:ext cx="1279457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af-seed-auto-0147-rect-01" descr="{&quot;autofigure_element_id&quot;:&quot;seed-auto-0147&quot;}"/>
          <p:cNvSpPr/>
          <p:nvPr/>
        </p:nvSpPr>
        <p:spPr>
          <a:xfrm>
            <a:off x="7227466" y="6623025"/>
            <a:ext cx="302772" cy="1064764"/>
          </a:xfrm>
          <a:prstGeom prst="roundRect">
            <a:avLst>
              <a:gd name="adj" fmla="val 48387"/>
            </a:avLst>
          </a:prstGeom>
          <a:solidFill>
            <a:srgbClr val="D5E1F2"/>
          </a:solidFill>
          <a:ln w="19050">
            <a:solidFill>
              <a:srgbClr val="5E8FC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af-seed-auto-0148-freeform-01" descr="{&quot;autofigure_element_id&quot;:&quot;seed-auto-0148&quot;}"/>
          <p:cNvSpPr/>
          <p:nvPr/>
        </p:nvSpPr>
        <p:spPr>
          <a:xfrm>
            <a:off x="7509142" y="7068859"/>
            <a:ext cx="132048" cy="182866"/>
          </a:xfrm>
          <a:custGeom>
            <a:avLst/>
            <a:gdLst/>
            <a:ahLst/>
            <a:cxnLst/>
            <a:rect l="0" t="0" r="0" b="0"/>
            <a:pathLst>
              <a:path w="132048" h="182866">
                <a:moveTo>
                  <a:pt x="0" y="0"/>
                </a:moveTo>
                <a:cubicBezTo>
                  <a:pt x="66024" y="25398"/>
                  <a:pt x="91418" y="66035"/>
                  <a:pt x="132048" y="91433"/>
                </a:cubicBezTo>
                <a:cubicBezTo>
                  <a:pt x="91418" y="116831"/>
                  <a:pt x="66024" y="157468"/>
                  <a:pt x="0" y="182866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49" name="af-seed-auto-0149-ellipse-01" descr="{&quot;autofigure_element_id&quot;:&quot;seed-auto-0149&quot;}"/>
          <p:cNvSpPr/>
          <p:nvPr/>
        </p:nvSpPr>
        <p:spPr>
          <a:xfrm>
            <a:off x="7596496" y="7095273"/>
            <a:ext cx="48756" cy="48764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af-seed-auto-0150-ellipse-01" descr="{&quot;autofigure_element_id&quot;:&quot;seed-auto-0150&quot;}"/>
          <p:cNvSpPr/>
          <p:nvPr/>
        </p:nvSpPr>
        <p:spPr>
          <a:xfrm>
            <a:off x="7596496" y="7176546"/>
            <a:ext cx="48756" cy="48764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af-seed-auto-0151-freeform-01" descr="{&quot;autofigure_element_id&quot;:&quot;seed-auto-0151&quot;}"/>
          <p:cNvSpPr/>
          <p:nvPr/>
        </p:nvSpPr>
        <p:spPr>
          <a:xfrm>
            <a:off x="7397409" y="7139973"/>
            <a:ext cx="106654" cy="20318"/>
          </a:xfrm>
          <a:custGeom>
            <a:avLst/>
            <a:gdLst/>
            <a:ahLst/>
            <a:cxnLst/>
            <a:rect l="0" t="0" r="0" b="0"/>
            <a:pathLst>
              <a:path w="106654" h="20318">
                <a:moveTo>
                  <a:pt x="106654" y="20318"/>
                </a:moveTo>
                <a:cubicBezTo>
                  <a:pt x="71103" y="0"/>
                  <a:pt x="35551" y="0"/>
                  <a:pt x="0" y="20318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52" name="af-seed-auto-0152-ellipse-01" descr="{&quot;autofigure_element_id&quot;:&quot;seed-auto-0152&quot;}"/>
          <p:cNvSpPr/>
          <p:nvPr/>
        </p:nvSpPr>
        <p:spPr>
          <a:xfrm>
            <a:off x="7647440" y="7443577"/>
            <a:ext cx="195337" cy="195369"/>
          </a:xfrm>
          <a:prstGeom prst="ellipse">
            <a:avLst/>
          </a:prstGeom>
          <a:solidFill>
            <a:srgbClr val="20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af-seed-auto-0153-text-01" descr="{&quot;autofigure_element_id&quot;:&quot;seed-auto-0153&quot;}"/>
          <p:cNvSpPr txBox="1"/>
          <p:nvPr/>
        </p:nvSpPr>
        <p:spPr>
          <a:xfrm>
            <a:off x="7198165" y="7787221"/>
            <a:ext cx="72085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WIPI2</a:t>
            </a:r>
          </a:p>
        </p:txBody>
      </p:sp>
      <p:sp>
        <p:nvSpPr>
          <p:cNvPr id="154" name="af-seed-auto-0154-ellipse-01" descr="{&quot;autofigure_element_id&quot;:&quot;seed-auto-0154&quot;}"/>
          <p:cNvSpPr/>
          <p:nvPr/>
        </p:nvSpPr>
        <p:spPr>
          <a:xfrm>
            <a:off x="8213917" y="7511957"/>
            <a:ext cx="156270" cy="156296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af-seed-auto-0155-ellipse-01" descr="{&quot;autofigure_element_id&quot;:&quot;seed-auto-0155&quot;}"/>
          <p:cNvSpPr/>
          <p:nvPr/>
        </p:nvSpPr>
        <p:spPr>
          <a:xfrm>
            <a:off x="8340886" y="7599873"/>
            <a:ext cx="156270" cy="156296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af-seed-auto-0156-ellipse-01" descr="{&quot;autofigure_element_id&quot;:&quot;seed-auto-0156&quot;}"/>
          <p:cNvSpPr/>
          <p:nvPr/>
        </p:nvSpPr>
        <p:spPr>
          <a:xfrm>
            <a:off x="8233451" y="7668252"/>
            <a:ext cx="156270" cy="156296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af-seed-auto-0157-text-01" descr="{&quot;autofigure_element_id&quot;:&quot;seed-auto-0157&quot;}"/>
          <p:cNvSpPr txBox="1"/>
          <p:nvPr/>
        </p:nvSpPr>
        <p:spPr>
          <a:xfrm>
            <a:off x="8126016" y="7992359"/>
            <a:ext cx="59436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LC3</a:t>
            </a:r>
          </a:p>
        </p:txBody>
      </p:sp>
      <p:cxnSp>
        <p:nvCxnSpPr>
          <p:cNvPr id="158" name="af-seed-auto-0158-connector-01" descr="{&quot;arrow_spec_sha256&quot;:&quot;e48d952ec7540a84fa34a47f568c1f0f2598086dc4b49ff1b5c6b9e2ec9f3e0f&quot;,&quot;autofigure_element_id&quot;:&quot;seed-auto-0158&quot;}"/>
          <p:cNvCxnSpPr/>
          <p:nvPr/>
        </p:nvCxnSpPr>
        <p:spPr>
          <a:xfrm>
            <a:off x="7784176" y="7170060"/>
            <a:ext cx="1552928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af-seed-auto-0159-text-01" descr="{&quot;autofigure_element_id&quot;:&quot;seed-auto-0159&quot;}"/>
          <p:cNvSpPr txBox="1"/>
          <p:nvPr/>
        </p:nvSpPr>
        <p:spPr>
          <a:xfrm>
            <a:off x="8516689" y="5667462"/>
            <a:ext cx="163525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Isolation membrane</a:t>
            </a:r>
          </a:p>
        </p:txBody>
      </p:sp>
      <p:sp>
        <p:nvSpPr>
          <p:cNvPr id="160" name="af-seed-auto-0160-freeform-01" descr="{&quot;autofigure_element_id&quot;:&quot;seed-auto-0160&quot;}"/>
          <p:cNvSpPr/>
          <p:nvPr/>
        </p:nvSpPr>
        <p:spPr>
          <a:xfrm>
            <a:off x="9327338" y="6310434"/>
            <a:ext cx="410208" cy="2031843"/>
          </a:xfrm>
          <a:custGeom>
            <a:avLst/>
            <a:gdLst/>
            <a:ahLst/>
            <a:cxnLst/>
            <a:rect l="0" t="0" r="0" b="0"/>
            <a:pathLst>
              <a:path w="410208" h="2031843">
                <a:moveTo>
                  <a:pt x="410208" y="0"/>
                </a:moveTo>
                <a:cubicBezTo>
                  <a:pt x="97668" y="273517"/>
                  <a:pt x="0" y="625182"/>
                  <a:pt x="19534" y="1094069"/>
                </a:cubicBezTo>
                <a:cubicBezTo>
                  <a:pt x="48834" y="1523882"/>
                  <a:pt x="195337" y="1826705"/>
                  <a:pt x="410208" y="2031843"/>
                </a:cubicBezTo>
              </a:path>
            </a:pathLst>
          </a:custGeom>
          <a:solidFill>
            <a:srgbClr val="E7EEF7"/>
          </a:solidFill>
          <a:ln w="20955">
            <a:solidFill>
              <a:srgbClr val="648FC7"/>
            </a:solidFill>
            <a:miter/>
          </a:ln>
        </p:spPr>
      </p:sp>
      <p:sp>
        <p:nvSpPr>
          <p:cNvPr id="161" name="af-seed-auto-0161-ellipse-01" descr="{&quot;autofigure_element_id&quot;:&quot;seed-auto-0161&quot;}"/>
          <p:cNvSpPr/>
          <p:nvPr/>
        </p:nvSpPr>
        <p:spPr>
          <a:xfrm>
            <a:off x="9815680" y="6349508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af-seed-auto-0162-ellipse-01" descr="{&quot;autofigure_element_id&quot;:&quot;seed-auto-0162&quot;}"/>
          <p:cNvSpPr/>
          <p:nvPr/>
        </p:nvSpPr>
        <p:spPr>
          <a:xfrm>
            <a:off x="9815680" y="6496035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af-seed-auto-0163-ellipse-01" descr="{&quot;autofigure_element_id&quot;:&quot;seed-auto-0163&quot;}"/>
          <p:cNvSpPr/>
          <p:nvPr/>
        </p:nvSpPr>
        <p:spPr>
          <a:xfrm>
            <a:off x="9815680" y="6642562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af-seed-auto-0164-ellipse-01" descr="{&quot;autofigure_element_id&quot;:&quot;seed-auto-0164&quot;}"/>
          <p:cNvSpPr/>
          <p:nvPr/>
        </p:nvSpPr>
        <p:spPr>
          <a:xfrm>
            <a:off x="9815680" y="6789089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f-seed-auto-0165-ellipse-01" descr="{&quot;autofigure_element_id&quot;:&quot;seed-auto-0165&quot;}"/>
          <p:cNvSpPr/>
          <p:nvPr/>
        </p:nvSpPr>
        <p:spPr>
          <a:xfrm>
            <a:off x="9815680" y="6935617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f-seed-auto-0166-ellipse-01" descr="{&quot;autofigure_element_id&quot;:&quot;seed-auto-0166&quot;}"/>
          <p:cNvSpPr/>
          <p:nvPr/>
        </p:nvSpPr>
        <p:spPr>
          <a:xfrm>
            <a:off x="9815680" y="7082144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af-seed-auto-0167-ellipse-01" descr="{&quot;autofigure_element_id&quot;:&quot;seed-auto-0167&quot;}"/>
          <p:cNvSpPr/>
          <p:nvPr/>
        </p:nvSpPr>
        <p:spPr>
          <a:xfrm>
            <a:off x="9815680" y="7228671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af-seed-auto-0168-ellipse-01" descr="{&quot;autofigure_element_id&quot;:&quot;seed-auto-0168&quot;}"/>
          <p:cNvSpPr/>
          <p:nvPr/>
        </p:nvSpPr>
        <p:spPr>
          <a:xfrm>
            <a:off x="9815680" y="7375198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af-seed-auto-0169-ellipse-01" descr="{&quot;autofigure_element_id&quot;:&quot;seed-auto-0169&quot;}"/>
          <p:cNvSpPr/>
          <p:nvPr/>
        </p:nvSpPr>
        <p:spPr>
          <a:xfrm>
            <a:off x="9815680" y="7521725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af-seed-auto-0170-ellipse-01" descr="{&quot;autofigure_element_id&quot;:&quot;seed-auto-0170&quot;}"/>
          <p:cNvSpPr/>
          <p:nvPr/>
        </p:nvSpPr>
        <p:spPr>
          <a:xfrm>
            <a:off x="9815680" y="7668252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af-seed-auto-0171-ellipse-01" descr="{&quot;autofigure_element_id&quot;:&quot;seed-auto-0171&quot;}"/>
          <p:cNvSpPr/>
          <p:nvPr/>
        </p:nvSpPr>
        <p:spPr>
          <a:xfrm>
            <a:off x="9815680" y="7814779"/>
            <a:ext cx="97668" cy="9768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af-seed-auto-0172-freeform-01" descr="{&quot;autofigure_element_id&quot;:&quot;seed-auto-0172&quot;}"/>
          <p:cNvSpPr/>
          <p:nvPr/>
        </p:nvSpPr>
        <p:spPr>
          <a:xfrm>
            <a:off x="10003203" y="6986413"/>
            <a:ext cx="152363" cy="210999"/>
          </a:xfrm>
          <a:custGeom>
            <a:avLst/>
            <a:gdLst/>
            <a:ahLst/>
            <a:cxnLst/>
            <a:rect l="0" t="0" r="0" b="0"/>
            <a:pathLst>
              <a:path w="152363" h="210999">
                <a:moveTo>
                  <a:pt x="0" y="0"/>
                </a:moveTo>
                <a:cubicBezTo>
                  <a:pt x="76181" y="29305"/>
                  <a:pt x="105482" y="76194"/>
                  <a:pt x="152363" y="105500"/>
                </a:cubicBezTo>
                <a:cubicBezTo>
                  <a:pt x="105482" y="134805"/>
                  <a:pt x="76181" y="181694"/>
                  <a:pt x="0" y="210999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73" name="af-seed-auto-0173-ellipse-01" descr="{&quot;autofigure_element_id&quot;:&quot;seed-auto-0173&quot;}"/>
          <p:cNvSpPr/>
          <p:nvPr/>
        </p:nvSpPr>
        <p:spPr>
          <a:xfrm>
            <a:off x="10103997" y="7016890"/>
            <a:ext cx="56257" cy="56266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af-seed-auto-0174-ellipse-01" descr="{&quot;autofigure_element_id&quot;:&quot;seed-auto-0174&quot;}"/>
          <p:cNvSpPr/>
          <p:nvPr/>
        </p:nvSpPr>
        <p:spPr>
          <a:xfrm>
            <a:off x="10103997" y="7110668"/>
            <a:ext cx="56257" cy="56266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af-seed-auto-0175-freeform-01" descr="{&quot;autofigure_element_id&quot;:&quot;seed-auto-0175&quot;}"/>
          <p:cNvSpPr/>
          <p:nvPr/>
        </p:nvSpPr>
        <p:spPr>
          <a:xfrm>
            <a:off x="9874281" y="7068468"/>
            <a:ext cx="123062" cy="23444"/>
          </a:xfrm>
          <a:custGeom>
            <a:avLst/>
            <a:gdLst/>
            <a:ahLst/>
            <a:cxnLst/>
            <a:rect l="0" t="0" r="0" b="0"/>
            <a:pathLst>
              <a:path w="123062" h="23444">
                <a:moveTo>
                  <a:pt x="123062" y="23444"/>
                </a:moveTo>
                <a:cubicBezTo>
                  <a:pt x="82042" y="0"/>
                  <a:pt x="41021" y="0"/>
                  <a:pt x="0" y="23444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cxnSp>
        <p:nvCxnSpPr>
          <p:cNvPr id="176" name="af-seed-auto-0176-connector-01" descr="{&quot;arrow_spec_sha256&quot;:&quot;77c8800c7718dabae64ff5af978701b2c8ff0da2ad4182b4716e1e1ddd35f50d&quot;,&quot;autofigure_element_id&quot;:&quot;seed-auto-0176&quot;}"/>
          <p:cNvCxnSpPr/>
          <p:nvPr/>
        </p:nvCxnSpPr>
        <p:spPr>
          <a:xfrm>
            <a:off x="10196587" y="7170060"/>
            <a:ext cx="1367358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af-seed-auto-0177-freeform-01" descr="{&quot;autofigure_element_id&quot;:&quot;seed-auto-0177&quot;}"/>
          <p:cNvSpPr/>
          <p:nvPr/>
        </p:nvSpPr>
        <p:spPr>
          <a:xfrm>
            <a:off x="11710448" y="5812242"/>
            <a:ext cx="1054819" cy="2617951"/>
          </a:xfrm>
          <a:custGeom>
            <a:avLst/>
            <a:gdLst/>
            <a:ahLst/>
            <a:cxnLst/>
            <a:rect l="0" t="0" r="0" b="0"/>
            <a:pathLst>
              <a:path w="1054819" h="2617951">
                <a:moveTo>
                  <a:pt x="468809" y="126990"/>
                </a:moveTo>
                <a:cubicBezTo>
                  <a:pt x="107435" y="439581"/>
                  <a:pt x="0" y="957310"/>
                  <a:pt x="48834" y="1435966"/>
                </a:cubicBezTo>
                <a:cubicBezTo>
                  <a:pt x="97668" y="1914621"/>
                  <a:pt x="312539" y="2373739"/>
                  <a:pt x="722747" y="2559340"/>
                </a:cubicBezTo>
                <a:cubicBezTo>
                  <a:pt x="849716" y="2617951"/>
                  <a:pt x="957151" y="2608183"/>
                  <a:pt x="1025519" y="2559340"/>
                </a:cubicBezTo>
                <a:cubicBezTo>
                  <a:pt x="712980" y="2315128"/>
                  <a:pt x="576244" y="1953695"/>
                  <a:pt x="556710" y="1533650"/>
                </a:cubicBezTo>
                <a:cubicBezTo>
                  <a:pt x="527410" y="1064764"/>
                  <a:pt x="644612" y="713099"/>
                  <a:pt x="976685" y="468887"/>
                </a:cubicBezTo>
                <a:cubicBezTo>
                  <a:pt x="1054819" y="400507"/>
                  <a:pt x="1054819" y="302823"/>
                  <a:pt x="986451" y="195369"/>
                </a:cubicBezTo>
                <a:cubicBezTo>
                  <a:pt x="869249" y="19537"/>
                  <a:pt x="644612" y="0"/>
                  <a:pt x="468809" y="126990"/>
                </a:cubicBezTo>
                <a:close/>
              </a:path>
            </a:pathLst>
          </a:custGeom>
          <a:solidFill>
            <a:srgbClr val="EEF1F4"/>
          </a:solidFill>
          <a:ln w="19050">
            <a:solidFill>
              <a:srgbClr val="638EC6"/>
            </a:solidFill>
            <a:miter/>
          </a:ln>
        </p:spPr>
      </p:sp>
      <p:sp>
        <p:nvSpPr>
          <p:cNvPr id="178" name="af-seed-auto-0178-ellipse-01" descr="{&quot;autofigure_element_id&quot;:&quot;seed-auto-0178&quot;}"/>
          <p:cNvSpPr/>
          <p:nvPr/>
        </p:nvSpPr>
        <p:spPr>
          <a:xfrm>
            <a:off x="12062054" y="6115065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af-seed-auto-0179-ellipse-01" descr="{&quot;autofigure_element_id&quot;:&quot;seed-auto-0179&quot;}"/>
          <p:cNvSpPr/>
          <p:nvPr/>
        </p:nvSpPr>
        <p:spPr>
          <a:xfrm>
            <a:off x="11964386" y="6251823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af-seed-auto-0180-ellipse-01" descr="{&quot;autofigure_element_id&quot;:&quot;seed-auto-0180&quot;}"/>
          <p:cNvSpPr/>
          <p:nvPr/>
        </p:nvSpPr>
        <p:spPr>
          <a:xfrm>
            <a:off x="11866718" y="6408119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af-seed-auto-0181-ellipse-01" descr="{&quot;autofigure_element_id&quot;:&quot;seed-auto-0181&quot;}"/>
          <p:cNvSpPr/>
          <p:nvPr/>
        </p:nvSpPr>
        <p:spPr>
          <a:xfrm>
            <a:off x="11798350" y="6583952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af-seed-auto-0182-ellipse-01" descr="{&quot;autofigure_element_id&quot;:&quot;seed-auto-0182&quot;}"/>
          <p:cNvSpPr/>
          <p:nvPr/>
        </p:nvSpPr>
        <p:spPr>
          <a:xfrm>
            <a:off x="11759282" y="6779321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af-seed-auto-0183-ellipse-01" descr="{&quot;autofigure_element_id&quot;:&quot;seed-auto-0183&quot;}"/>
          <p:cNvSpPr/>
          <p:nvPr/>
        </p:nvSpPr>
        <p:spPr>
          <a:xfrm>
            <a:off x="11759282" y="6984459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af-seed-auto-0184-ellipse-01" descr="{&quot;autofigure_element_id&quot;:&quot;seed-auto-0184&quot;}"/>
          <p:cNvSpPr/>
          <p:nvPr/>
        </p:nvSpPr>
        <p:spPr>
          <a:xfrm>
            <a:off x="11769049" y="7199365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af-seed-auto-0185-ellipse-01" descr="{&quot;autofigure_element_id&quot;:&quot;seed-auto-0185&quot;}"/>
          <p:cNvSpPr/>
          <p:nvPr/>
        </p:nvSpPr>
        <p:spPr>
          <a:xfrm>
            <a:off x="11817883" y="7414272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af-seed-auto-0186-ellipse-01" descr="{&quot;autofigure_element_id&quot;:&quot;seed-auto-0186&quot;}"/>
          <p:cNvSpPr/>
          <p:nvPr/>
        </p:nvSpPr>
        <p:spPr>
          <a:xfrm>
            <a:off x="11876484" y="7619410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af-seed-auto-0187-ellipse-01" descr="{&quot;autofigure_element_id&quot;:&quot;seed-auto-0187&quot;}"/>
          <p:cNvSpPr/>
          <p:nvPr/>
        </p:nvSpPr>
        <p:spPr>
          <a:xfrm>
            <a:off x="11974153" y="7824548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af-seed-auto-0188-ellipse-01" descr="{&quot;autofigure_element_id&quot;:&quot;seed-auto-0188&quot;}"/>
          <p:cNvSpPr/>
          <p:nvPr/>
        </p:nvSpPr>
        <p:spPr>
          <a:xfrm>
            <a:off x="12081588" y="8010149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af-seed-auto-0189-ellipse-01" descr="{&quot;autofigure_element_id&quot;:&quot;seed-auto-0189&quot;}"/>
          <p:cNvSpPr/>
          <p:nvPr/>
        </p:nvSpPr>
        <p:spPr>
          <a:xfrm>
            <a:off x="12218324" y="8176213"/>
            <a:ext cx="97668" cy="97685"/>
          </a:xfrm>
          <a:prstGeom prst="ellipse">
            <a:avLst/>
          </a:prstGeom>
          <a:solidFill>
            <a:srgbClr val="5A2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af-seed-auto-0190-freeform-01" descr="{&quot;autofigure_element_id&quot;:&quot;seed-auto-0190&quot;}"/>
          <p:cNvSpPr/>
          <p:nvPr/>
        </p:nvSpPr>
        <p:spPr>
          <a:xfrm>
            <a:off x="11952959" y="6781568"/>
            <a:ext cx="216238" cy="156198"/>
          </a:xfrm>
          <a:custGeom>
            <a:avLst/>
            <a:gdLst/>
            <a:ahLst/>
            <a:cxnLst/>
            <a:rect l="0" t="0" r="0" b="0"/>
            <a:pathLst>
              <a:path w="216238" h="156198">
                <a:moveTo>
                  <a:pt x="0" y="156198"/>
                </a:moveTo>
                <a:cubicBezTo>
                  <a:pt x="30033" y="78099"/>
                  <a:pt x="78086" y="48061"/>
                  <a:pt x="108119" y="0"/>
                </a:cubicBezTo>
                <a:cubicBezTo>
                  <a:pt x="138152" y="48061"/>
                  <a:pt x="186205" y="78099"/>
                  <a:pt x="216238" y="156198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91" name="af-seed-auto-0191-ellipse-01" descr="{&quot;autofigure_element_id&quot;:&quot;seed-auto-0191&quot;}"/>
          <p:cNvSpPr/>
          <p:nvPr/>
        </p:nvSpPr>
        <p:spPr>
          <a:xfrm>
            <a:off x="11984193" y="6776762"/>
            <a:ext cx="57663" cy="5767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af-seed-auto-0192-ellipse-01" descr="{&quot;autofigure_element_id&quot;:&quot;seed-auto-0192&quot;}"/>
          <p:cNvSpPr/>
          <p:nvPr/>
        </p:nvSpPr>
        <p:spPr>
          <a:xfrm>
            <a:off x="12080299" y="6776762"/>
            <a:ext cx="57663" cy="5767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af-seed-auto-0193-freeform-01" descr="{&quot;autofigure_element_id&quot;:&quot;seed-auto-0193&quot;}"/>
          <p:cNvSpPr/>
          <p:nvPr/>
        </p:nvSpPr>
        <p:spPr>
          <a:xfrm>
            <a:off x="12037051" y="6943773"/>
            <a:ext cx="24026" cy="126160"/>
          </a:xfrm>
          <a:custGeom>
            <a:avLst/>
            <a:gdLst/>
            <a:ahLst/>
            <a:cxnLst/>
            <a:rect l="0" t="0" r="0" b="0"/>
            <a:pathLst>
              <a:path w="24026" h="126160">
                <a:moveTo>
                  <a:pt x="24026" y="0"/>
                </a:moveTo>
                <a:cubicBezTo>
                  <a:pt x="0" y="42053"/>
                  <a:pt x="0" y="84107"/>
                  <a:pt x="24026" y="126160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94" name="af-seed-auto-0194-freeform-01" descr="{&quot;autofigure_element_id&quot;:&quot;seed-auto-0194&quot;}"/>
          <p:cNvSpPr/>
          <p:nvPr/>
        </p:nvSpPr>
        <p:spPr>
          <a:xfrm>
            <a:off x="12833928" y="6781568"/>
            <a:ext cx="216238" cy="156198"/>
          </a:xfrm>
          <a:custGeom>
            <a:avLst/>
            <a:gdLst/>
            <a:ahLst/>
            <a:cxnLst/>
            <a:rect l="0" t="0" r="0" b="0"/>
            <a:pathLst>
              <a:path w="216238" h="156198">
                <a:moveTo>
                  <a:pt x="0" y="156198"/>
                </a:moveTo>
                <a:cubicBezTo>
                  <a:pt x="30033" y="78099"/>
                  <a:pt x="78086" y="48061"/>
                  <a:pt x="108119" y="0"/>
                </a:cubicBezTo>
                <a:cubicBezTo>
                  <a:pt x="138152" y="48061"/>
                  <a:pt x="186205" y="78099"/>
                  <a:pt x="216238" y="156198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195" name="af-seed-auto-0195-ellipse-01" descr="{&quot;autofigure_element_id&quot;:&quot;seed-auto-0195&quot;}"/>
          <p:cNvSpPr/>
          <p:nvPr/>
        </p:nvSpPr>
        <p:spPr>
          <a:xfrm>
            <a:off x="12865163" y="6776762"/>
            <a:ext cx="57663" cy="5767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af-seed-auto-0196-ellipse-01" descr="{&quot;autofigure_element_id&quot;:&quot;seed-auto-0196&quot;}"/>
          <p:cNvSpPr/>
          <p:nvPr/>
        </p:nvSpPr>
        <p:spPr>
          <a:xfrm>
            <a:off x="12961268" y="6776762"/>
            <a:ext cx="57663" cy="57673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af-seed-auto-0197-freeform-01" descr="{&quot;autofigure_element_id&quot;:&quot;seed-auto-0197&quot;}"/>
          <p:cNvSpPr/>
          <p:nvPr/>
        </p:nvSpPr>
        <p:spPr>
          <a:xfrm>
            <a:off x="12918021" y="6943773"/>
            <a:ext cx="24026" cy="126160"/>
          </a:xfrm>
          <a:custGeom>
            <a:avLst/>
            <a:gdLst/>
            <a:ahLst/>
            <a:cxnLst/>
            <a:rect l="0" t="0" r="0" b="0"/>
            <a:pathLst>
              <a:path w="24026" h="126160">
                <a:moveTo>
                  <a:pt x="24026" y="0"/>
                </a:moveTo>
                <a:cubicBezTo>
                  <a:pt x="0" y="42053"/>
                  <a:pt x="0" y="84107"/>
                  <a:pt x="24026" y="126160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198" name="af-seed-auto-0198-freeform-01" descr="{&quot;autofigure_element_id&quot;:&quot;seed-auto-0198&quot;}"/>
          <p:cNvSpPr/>
          <p:nvPr/>
        </p:nvSpPr>
        <p:spPr>
          <a:xfrm>
            <a:off x="12301342" y="7081308"/>
            <a:ext cx="410852" cy="97403"/>
          </a:xfrm>
          <a:custGeom>
            <a:avLst/>
            <a:gdLst/>
            <a:ahLst/>
            <a:cxnLst/>
            <a:rect l="0" t="0" r="0" b="0"/>
            <a:pathLst>
              <a:path w="410852" h="97403">
                <a:moveTo>
                  <a:pt x="0" y="48702"/>
                </a:moveTo>
                <a:cubicBezTo>
                  <a:pt x="45650" y="97403"/>
                  <a:pt x="91300" y="0"/>
                  <a:pt x="136951" y="48702"/>
                </a:cubicBezTo>
                <a:cubicBezTo>
                  <a:pt x="182601" y="97403"/>
                  <a:pt x="228251" y="97403"/>
                  <a:pt x="273901" y="48702"/>
                </a:cubicBezTo>
                <a:cubicBezTo>
                  <a:pt x="319552" y="0"/>
                  <a:pt x="365202" y="0"/>
                  <a:pt x="410852" y="48702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199" name="af-seed-auto-0199-freeform-01" descr="{&quot;autofigure_element_id&quot;:&quot;seed-auto-0199&quot;}"/>
          <p:cNvSpPr/>
          <p:nvPr/>
        </p:nvSpPr>
        <p:spPr>
          <a:xfrm>
            <a:off x="12301342" y="7081308"/>
            <a:ext cx="410852" cy="97403"/>
          </a:xfrm>
          <a:custGeom>
            <a:avLst/>
            <a:gdLst/>
            <a:ahLst/>
            <a:cxnLst/>
            <a:rect l="0" t="0" r="0" b="0"/>
            <a:pathLst>
              <a:path w="410852" h="97403">
                <a:moveTo>
                  <a:pt x="0" y="48702"/>
                </a:moveTo>
                <a:cubicBezTo>
                  <a:pt x="45650" y="0"/>
                  <a:pt x="91300" y="97403"/>
                  <a:pt x="136951" y="48702"/>
                </a:cubicBezTo>
                <a:cubicBezTo>
                  <a:pt x="182601" y="0"/>
                  <a:pt x="228251" y="0"/>
                  <a:pt x="273901" y="48702"/>
                </a:cubicBezTo>
                <a:cubicBezTo>
                  <a:pt x="319552" y="97403"/>
                  <a:pt x="365202" y="97403"/>
                  <a:pt x="410852" y="48702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200" name="af-seed-auto-0200-line-01" descr="{&quot;autofigure_element_id&quot;:&quot;seed-auto-0200&quot;}"/>
          <p:cNvCxnSpPr/>
          <p:nvPr/>
        </p:nvCxnSpPr>
        <p:spPr>
          <a:xfrm flipV="1">
            <a:off x="12331776" y="7108702"/>
            <a:ext cx="0" cy="42614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af-seed-auto-0201-line-01" descr="{&quot;autofigure_element_id&quot;:&quot;seed-auto-0201&quot;}"/>
          <p:cNvCxnSpPr/>
          <p:nvPr/>
        </p:nvCxnSpPr>
        <p:spPr>
          <a:xfrm>
            <a:off x="12377426" y="7105658"/>
            <a:ext cx="0" cy="4870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af-seed-auto-0202-line-01" descr="{&quot;autofigure_element_id&quot;:&quot;seed-auto-0202&quot;}"/>
          <p:cNvCxnSpPr/>
          <p:nvPr/>
        </p:nvCxnSpPr>
        <p:spPr>
          <a:xfrm flipV="1">
            <a:off x="12423076" y="7111746"/>
            <a:ext cx="0" cy="3652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af-seed-auto-0203-line-01" descr="{&quot;autofigure_element_id&quot;:&quot;seed-auto-0203&quot;}"/>
          <p:cNvCxnSpPr/>
          <p:nvPr/>
        </p:nvCxnSpPr>
        <p:spPr>
          <a:xfrm>
            <a:off x="12468726" y="7108702"/>
            <a:ext cx="0" cy="42614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af-seed-auto-0204-line-01" descr="{&quot;autofigure_element_id&quot;:&quot;seed-auto-0204&quot;}"/>
          <p:cNvCxnSpPr/>
          <p:nvPr/>
        </p:nvCxnSpPr>
        <p:spPr>
          <a:xfrm flipV="1">
            <a:off x="12514377" y="7111746"/>
            <a:ext cx="0" cy="3652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af-seed-auto-0205-line-01" descr="{&quot;autofigure_element_id&quot;:&quot;seed-auto-0205&quot;}"/>
          <p:cNvCxnSpPr/>
          <p:nvPr/>
        </p:nvCxnSpPr>
        <p:spPr>
          <a:xfrm>
            <a:off x="12560027" y="7108702"/>
            <a:ext cx="0" cy="42614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af-seed-auto-0206-line-01" descr="{&quot;autofigure_element_id&quot;:&quot;seed-auto-0206&quot;}"/>
          <p:cNvCxnSpPr/>
          <p:nvPr/>
        </p:nvCxnSpPr>
        <p:spPr>
          <a:xfrm flipV="1">
            <a:off x="12605677" y="7108702"/>
            <a:ext cx="0" cy="42614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af-seed-auto-0207-line-01" descr="{&quot;autofigure_element_id&quot;:&quot;seed-auto-0207&quot;}"/>
          <p:cNvCxnSpPr/>
          <p:nvPr/>
        </p:nvCxnSpPr>
        <p:spPr>
          <a:xfrm>
            <a:off x="12651327" y="7105658"/>
            <a:ext cx="0" cy="4870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af-seed-auto-0208-line-01" descr="{&quot;autofigure_element_id&quot;:&quot;seed-auto-0208&quot;}"/>
          <p:cNvCxnSpPr/>
          <p:nvPr/>
        </p:nvCxnSpPr>
        <p:spPr>
          <a:xfrm flipV="1">
            <a:off x="12696978" y="7111746"/>
            <a:ext cx="0" cy="3652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af-seed-auto-0209-ellipse-01" descr="{&quot;autofigure_element_id&quot;:&quot;seed-auto-0209&quot;}"/>
          <p:cNvSpPr/>
          <p:nvPr/>
        </p:nvSpPr>
        <p:spPr>
          <a:xfrm>
            <a:off x="11892893" y="7362304"/>
            <a:ext cx="176194" cy="176223"/>
          </a:xfrm>
          <a:prstGeom prst="ellipse">
            <a:avLst/>
          </a:prstGeom>
          <a:noFill/>
          <a:ln w="16192">
            <a:solidFill>
              <a:srgbClr val="D8452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af-seed-auto-0210-ellipse-01" descr="{&quot;autofigure_element_id&quot;:&quot;seed-auto-0210&quot;}"/>
          <p:cNvSpPr/>
          <p:nvPr/>
        </p:nvSpPr>
        <p:spPr>
          <a:xfrm>
            <a:off x="11956963" y="7426385"/>
            <a:ext cx="48053" cy="48061"/>
          </a:xfrm>
          <a:prstGeom prst="ellipse">
            <a:avLst/>
          </a:prstGeom>
          <a:noFill/>
          <a:ln w="16192">
            <a:solidFill>
              <a:srgbClr val="D8452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af-seed-auto-0211-line-01" descr="{&quot;autofigure_element_id&quot;:&quot;seed-auto-0211&quot;}"/>
          <p:cNvCxnSpPr/>
          <p:nvPr/>
        </p:nvCxnSpPr>
        <p:spPr>
          <a:xfrm>
            <a:off x="11980990" y="7298222"/>
            <a:ext cx="0" cy="56071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af-seed-auto-0212-line-01" descr="{&quot;autofigure_element_id&quot;:&quot;seed-auto-0212&quot;}"/>
          <p:cNvCxnSpPr/>
          <p:nvPr/>
        </p:nvCxnSpPr>
        <p:spPr>
          <a:xfrm flipH="1">
            <a:off x="12045060" y="7346283"/>
            <a:ext cx="40044" cy="40051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af-seed-auto-0213-line-01" descr="{&quot;autofigure_element_id&quot;:&quot;seed-auto-0213&quot;}"/>
          <p:cNvCxnSpPr/>
          <p:nvPr/>
        </p:nvCxnSpPr>
        <p:spPr>
          <a:xfrm flipH="1">
            <a:off x="12077095" y="7450415"/>
            <a:ext cx="56062" cy="0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af-seed-auto-0214-line-01" descr="{&quot;autofigure_element_id&quot;:&quot;seed-auto-0214&quot;}"/>
          <p:cNvCxnSpPr/>
          <p:nvPr/>
        </p:nvCxnSpPr>
        <p:spPr>
          <a:xfrm flipH="1" flipV="1">
            <a:off x="12045060" y="7514496"/>
            <a:ext cx="40044" cy="40051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af-seed-auto-0215-line-01" descr="{&quot;autofigure_element_id&quot;:&quot;seed-auto-0215&quot;}"/>
          <p:cNvCxnSpPr/>
          <p:nvPr/>
        </p:nvCxnSpPr>
        <p:spPr>
          <a:xfrm flipV="1">
            <a:off x="11980990" y="7546537"/>
            <a:ext cx="0" cy="56071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af-seed-auto-0216-line-01" descr="{&quot;autofigure_element_id&quot;:&quot;seed-auto-0216&quot;}"/>
          <p:cNvCxnSpPr/>
          <p:nvPr/>
        </p:nvCxnSpPr>
        <p:spPr>
          <a:xfrm flipV="1">
            <a:off x="11876875" y="7514496"/>
            <a:ext cx="40044" cy="40051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af-seed-auto-0217-line-01" descr="{&quot;autofigure_element_id&quot;:&quot;seed-auto-0217&quot;}"/>
          <p:cNvCxnSpPr/>
          <p:nvPr/>
        </p:nvCxnSpPr>
        <p:spPr>
          <a:xfrm>
            <a:off x="11828822" y="7450415"/>
            <a:ext cx="56062" cy="0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af-seed-auto-0218-line-01" descr="{&quot;autofigure_element_id&quot;:&quot;seed-auto-0218&quot;}"/>
          <p:cNvCxnSpPr/>
          <p:nvPr/>
        </p:nvCxnSpPr>
        <p:spPr>
          <a:xfrm>
            <a:off x="11876875" y="7346283"/>
            <a:ext cx="40044" cy="40051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af-seed-auto-0219-freeform-01" descr="{&quot;autofigure_element_id&quot;:&quot;seed-auto-0219&quot;}"/>
          <p:cNvSpPr/>
          <p:nvPr/>
        </p:nvSpPr>
        <p:spPr>
          <a:xfrm>
            <a:off x="12432153" y="7405024"/>
            <a:ext cx="213568" cy="213604"/>
          </a:xfrm>
          <a:custGeom>
            <a:avLst/>
            <a:gdLst/>
            <a:ahLst/>
            <a:cxnLst/>
            <a:rect l="0" t="0" r="0" b="0"/>
            <a:pathLst>
              <a:path w="213568" h="213604">
                <a:moveTo>
                  <a:pt x="5339" y="101462"/>
                </a:moveTo>
                <a:cubicBezTo>
                  <a:pt x="80088" y="5340"/>
                  <a:pt x="149498" y="0"/>
                  <a:pt x="213568" y="85442"/>
                </a:cubicBezTo>
                <a:cubicBezTo>
                  <a:pt x="181533" y="165543"/>
                  <a:pt x="141489" y="208264"/>
                  <a:pt x="93436" y="213604"/>
                </a:cubicBezTo>
                <a:cubicBezTo>
                  <a:pt x="29366" y="213604"/>
                  <a:pt x="0" y="176223"/>
                  <a:pt x="5339" y="101462"/>
                </a:cubicBezTo>
                <a:close/>
              </a:path>
            </a:pathLst>
          </a:custGeom>
          <a:solidFill>
            <a:srgbClr val="7DB43C"/>
          </a:solidFill>
          <a:ln w="14288">
            <a:solidFill>
              <a:srgbClr val="4A8121"/>
            </a:solidFill>
            <a:miter/>
          </a:ln>
        </p:spPr>
      </p:sp>
      <p:sp>
        <p:nvSpPr>
          <p:cNvPr id="220" name="af-seed-auto-0220-freeform-01" descr="{&quot;autofigure_element_id&quot;:&quot;seed-auto-0220&quot;}"/>
          <p:cNvSpPr/>
          <p:nvPr/>
        </p:nvSpPr>
        <p:spPr>
          <a:xfrm>
            <a:off x="12565633" y="7618628"/>
            <a:ext cx="216238" cy="160203"/>
          </a:xfrm>
          <a:custGeom>
            <a:avLst/>
            <a:gdLst/>
            <a:ahLst/>
            <a:cxnLst/>
            <a:rect l="0" t="0" r="0" b="0"/>
            <a:pathLst>
              <a:path w="216238" h="160203">
                <a:moveTo>
                  <a:pt x="0" y="0"/>
                </a:moveTo>
                <a:cubicBezTo>
                  <a:pt x="106784" y="32041"/>
                  <a:pt x="178864" y="85442"/>
                  <a:pt x="216238" y="160203"/>
                </a:cubicBezTo>
              </a:path>
            </a:pathLst>
          </a:custGeom>
          <a:noFill/>
          <a:ln w="19050">
            <a:solidFill>
              <a:srgbClr val="4A8121"/>
            </a:solidFill>
            <a:miter/>
          </a:ln>
        </p:spPr>
      </p:sp>
      <p:sp>
        <p:nvSpPr>
          <p:cNvPr id="221" name="af-seed-auto-0221-freeform-01" descr="{&quot;autofigure_element_id&quot;:&quot;seed-auto-0221&quot;}"/>
          <p:cNvSpPr/>
          <p:nvPr/>
        </p:nvSpPr>
        <p:spPr>
          <a:xfrm>
            <a:off x="12885986" y="7290212"/>
            <a:ext cx="232256" cy="240304"/>
          </a:xfrm>
          <a:custGeom>
            <a:avLst/>
            <a:gdLst/>
            <a:ahLst/>
            <a:cxnLst/>
            <a:rect l="0" t="0" r="0" b="0"/>
            <a:pathLst>
              <a:path w="232256" h="240304">
                <a:moveTo>
                  <a:pt x="56062" y="56071"/>
                </a:moveTo>
                <a:lnTo>
                  <a:pt x="160176" y="0"/>
                </a:lnTo>
                <a:lnTo>
                  <a:pt x="232256" y="88112"/>
                </a:lnTo>
                <a:lnTo>
                  <a:pt x="200220" y="208264"/>
                </a:lnTo>
                <a:lnTo>
                  <a:pt x="72079" y="240304"/>
                </a:lnTo>
                <a:lnTo>
                  <a:pt x="0" y="160203"/>
                </a:lnTo>
                <a:close/>
              </a:path>
            </a:pathLst>
          </a:custGeom>
          <a:noFill/>
          <a:ln w="19050">
            <a:solidFill>
              <a:srgbClr val="5B8FC9"/>
            </a:solidFill>
            <a:miter/>
          </a:ln>
        </p:spPr>
      </p:sp>
      <p:cxnSp>
        <p:nvCxnSpPr>
          <p:cNvPr id="222" name="af-seed-auto-0222-connector-01" descr="{&quot;arrow_spec_sha256&quot;:&quot;8d70c969885c44f58e5a7db29290631044283008ad85efaf6b375ee09c3bde0f&quot;,&quot;autofigure_element_id&quot;:&quot;seed-auto-0222&quot;}"/>
          <p:cNvCxnSpPr/>
          <p:nvPr/>
        </p:nvCxnSpPr>
        <p:spPr>
          <a:xfrm>
            <a:off x="13107107" y="7170060"/>
            <a:ext cx="1543162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af-seed-auto-0223-text-01" descr="{&quot;autofigure_element_id&quot;:&quot;seed-auto-0223&quot;}"/>
          <p:cNvSpPr txBox="1"/>
          <p:nvPr/>
        </p:nvSpPr>
        <p:spPr>
          <a:xfrm>
            <a:off x="13741952" y="5638157"/>
            <a:ext cx="137922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Autophagosome</a:t>
            </a:r>
          </a:p>
        </p:txBody>
      </p:sp>
      <p:sp>
        <p:nvSpPr>
          <p:cNvPr id="224" name="af-seed-auto-0224-ellipse-01" descr="{&quot;autofigure_element_id&quot;:&quot;seed-auto-0224&quot;}"/>
          <p:cNvSpPr/>
          <p:nvPr/>
        </p:nvSpPr>
        <p:spPr>
          <a:xfrm>
            <a:off x="14738170" y="5929464"/>
            <a:ext cx="2461245" cy="2461655"/>
          </a:xfrm>
          <a:prstGeom prst="ellipse">
            <a:avLst/>
          </a:prstGeom>
          <a:solidFill>
            <a:srgbClr val="F2F3F3"/>
          </a:solidFill>
          <a:ln w="19050">
            <a:solidFill>
              <a:srgbClr val="638EC6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af-seed-auto-0225-ellipse-01" descr="{&quot;autofigure_element_id&quot;:&quot;seed-auto-0225&quot;}"/>
          <p:cNvSpPr/>
          <p:nvPr/>
        </p:nvSpPr>
        <p:spPr>
          <a:xfrm>
            <a:off x="14933507" y="6124833"/>
            <a:ext cx="2070571" cy="2070916"/>
          </a:xfrm>
          <a:prstGeom prst="ellipse">
            <a:avLst/>
          </a:prstGeom>
          <a:noFill/>
          <a:ln w="66675" cap="rnd">
            <a:solidFill>
              <a:srgbClr val="5A2C9C"/>
            </a:solidFill>
            <a:prstDash val="dot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af-seed-auto-0226-freeform-01" descr="{&quot;autofigure_element_id&quot;:&quot;seed-auto-0226&quot;}"/>
          <p:cNvSpPr/>
          <p:nvPr/>
        </p:nvSpPr>
        <p:spPr>
          <a:xfrm>
            <a:off x="15266312" y="6662832"/>
            <a:ext cx="276890" cy="200010"/>
          </a:xfrm>
          <a:custGeom>
            <a:avLst/>
            <a:gdLst/>
            <a:ahLst/>
            <a:cxnLst/>
            <a:rect l="0" t="0" r="0" b="0"/>
            <a:pathLst>
              <a:path w="276890" h="200010">
                <a:moveTo>
                  <a:pt x="0" y="200010"/>
                </a:moveTo>
                <a:cubicBezTo>
                  <a:pt x="38457" y="100005"/>
                  <a:pt x="99988" y="61541"/>
                  <a:pt x="138445" y="0"/>
                </a:cubicBezTo>
                <a:cubicBezTo>
                  <a:pt x="176902" y="61541"/>
                  <a:pt x="238433" y="100005"/>
                  <a:pt x="276890" y="200010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227" name="af-seed-auto-0227-ellipse-01" descr="{&quot;autofigure_element_id&quot;:&quot;seed-auto-0227&quot;}"/>
          <p:cNvSpPr/>
          <p:nvPr/>
        </p:nvSpPr>
        <p:spPr>
          <a:xfrm>
            <a:off x="15306308" y="6656678"/>
            <a:ext cx="73837" cy="73850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af-seed-auto-0228-ellipse-01" descr="{&quot;autofigure_element_id&quot;:&quot;seed-auto-0228&quot;}"/>
          <p:cNvSpPr/>
          <p:nvPr/>
        </p:nvSpPr>
        <p:spPr>
          <a:xfrm>
            <a:off x="15429370" y="6656678"/>
            <a:ext cx="73837" cy="73850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af-seed-auto-0229-freeform-01" descr="{&quot;autofigure_element_id&quot;:&quot;seed-auto-0229&quot;}"/>
          <p:cNvSpPr/>
          <p:nvPr/>
        </p:nvSpPr>
        <p:spPr>
          <a:xfrm>
            <a:off x="15373992" y="6870534"/>
            <a:ext cx="30766" cy="161546"/>
          </a:xfrm>
          <a:custGeom>
            <a:avLst/>
            <a:gdLst/>
            <a:ahLst/>
            <a:cxnLst/>
            <a:rect l="0" t="0" r="0" b="0"/>
            <a:pathLst>
              <a:path w="30766" h="161546">
                <a:moveTo>
                  <a:pt x="30766" y="0"/>
                </a:moveTo>
                <a:cubicBezTo>
                  <a:pt x="0" y="53849"/>
                  <a:pt x="0" y="107697"/>
                  <a:pt x="30766" y="16154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230" name="af-seed-auto-0230-freeform-01" descr="{&quot;autofigure_element_id&quot;:&quot;seed-auto-0230&quot;}"/>
          <p:cNvSpPr/>
          <p:nvPr/>
        </p:nvSpPr>
        <p:spPr>
          <a:xfrm>
            <a:off x="16394383" y="6662832"/>
            <a:ext cx="276890" cy="200010"/>
          </a:xfrm>
          <a:custGeom>
            <a:avLst/>
            <a:gdLst/>
            <a:ahLst/>
            <a:cxnLst/>
            <a:rect l="0" t="0" r="0" b="0"/>
            <a:pathLst>
              <a:path w="276890" h="200010">
                <a:moveTo>
                  <a:pt x="0" y="200010"/>
                </a:moveTo>
                <a:cubicBezTo>
                  <a:pt x="38457" y="100005"/>
                  <a:pt x="99988" y="61541"/>
                  <a:pt x="138445" y="0"/>
                </a:cubicBezTo>
                <a:cubicBezTo>
                  <a:pt x="176902" y="61541"/>
                  <a:pt x="238433" y="100005"/>
                  <a:pt x="276890" y="200010"/>
                </a:cubicBezTo>
              </a:path>
            </a:pathLst>
          </a:custGeom>
          <a:solidFill>
            <a:srgbClr val="4E8FC2"/>
          </a:solidFill>
          <a:ln w="17145">
            <a:solidFill>
              <a:srgbClr val="245B93"/>
            </a:solidFill>
            <a:miter/>
          </a:ln>
        </p:spPr>
      </p:sp>
      <p:sp>
        <p:nvSpPr>
          <p:cNvPr id="231" name="af-seed-auto-0231-ellipse-01" descr="{&quot;autofigure_element_id&quot;:&quot;seed-auto-0231&quot;}"/>
          <p:cNvSpPr/>
          <p:nvPr/>
        </p:nvSpPr>
        <p:spPr>
          <a:xfrm>
            <a:off x="16434378" y="6656678"/>
            <a:ext cx="73837" cy="73850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af-seed-auto-0232-ellipse-01" descr="{&quot;autofigure_element_id&quot;:&quot;seed-auto-0232&quot;}"/>
          <p:cNvSpPr/>
          <p:nvPr/>
        </p:nvSpPr>
        <p:spPr>
          <a:xfrm>
            <a:off x="16557441" y="6656678"/>
            <a:ext cx="73837" cy="73850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af-seed-auto-0233-freeform-01" descr="{&quot;autofigure_element_id&quot;:&quot;seed-auto-0233&quot;}"/>
          <p:cNvSpPr/>
          <p:nvPr/>
        </p:nvSpPr>
        <p:spPr>
          <a:xfrm>
            <a:off x="16502062" y="6870534"/>
            <a:ext cx="30766" cy="161546"/>
          </a:xfrm>
          <a:custGeom>
            <a:avLst/>
            <a:gdLst/>
            <a:ahLst/>
            <a:cxnLst/>
            <a:rect l="0" t="0" r="0" b="0"/>
            <a:pathLst>
              <a:path w="30766" h="161546">
                <a:moveTo>
                  <a:pt x="30766" y="0"/>
                </a:moveTo>
                <a:cubicBezTo>
                  <a:pt x="0" y="53849"/>
                  <a:pt x="0" y="107697"/>
                  <a:pt x="30766" y="161546"/>
                </a:cubicBezTo>
              </a:path>
            </a:pathLst>
          </a:custGeom>
          <a:noFill/>
          <a:ln w="23812">
            <a:solidFill>
              <a:srgbClr val="2A63A3"/>
            </a:solidFill>
            <a:miter/>
          </a:ln>
        </p:spPr>
      </p:sp>
      <p:sp>
        <p:nvSpPr>
          <p:cNvPr id="234" name="af-seed-auto-0234-freeform-01" descr="{&quot;autofigure_element_id&quot;:&quot;seed-auto-0234&quot;}"/>
          <p:cNvSpPr/>
          <p:nvPr/>
        </p:nvSpPr>
        <p:spPr>
          <a:xfrm>
            <a:off x="15712413" y="7046645"/>
            <a:ext cx="526091" cy="124724"/>
          </a:xfrm>
          <a:custGeom>
            <a:avLst/>
            <a:gdLst/>
            <a:ahLst/>
            <a:cxnLst/>
            <a:rect l="0" t="0" r="0" b="0"/>
            <a:pathLst>
              <a:path w="526091" h="124724">
                <a:moveTo>
                  <a:pt x="0" y="62362"/>
                </a:moveTo>
                <a:cubicBezTo>
                  <a:pt x="58455" y="124724"/>
                  <a:pt x="116909" y="0"/>
                  <a:pt x="175364" y="62362"/>
                </a:cubicBezTo>
                <a:cubicBezTo>
                  <a:pt x="233818" y="124724"/>
                  <a:pt x="292273" y="124724"/>
                  <a:pt x="350727" y="62362"/>
                </a:cubicBezTo>
                <a:cubicBezTo>
                  <a:pt x="409182" y="0"/>
                  <a:pt x="467637" y="0"/>
                  <a:pt x="526091" y="62362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235" name="af-seed-auto-0235-freeform-01" descr="{&quot;autofigure_element_id&quot;:&quot;seed-auto-0235&quot;}"/>
          <p:cNvSpPr/>
          <p:nvPr/>
        </p:nvSpPr>
        <p:spPr>
          <a:xfrm>
            <a:off x="15712413" y="7046645"/>
            <a:ext cx="526091" cy="124724"/>
          </a:xfrm>
          <a:custGeom>
            <a:avLst/>
            <a:gdLst/>
            <a:ahLst/>
            <a:cxnLst/>
            <a:rect l="0" t="0" r="0" b="0"/>
            <a:pathLst>
              <a:path w="526091" h="124724">
                <a:moveTo>
                  <a:pt x="0" y="62362"/>
                </a:moveTo>
                <a:cubicBezTo>
                  <a:pt x="58455" y="0"/>
                  <a:pt x="116909" y="124724"/>
                  <a:pt x="175364" y="62362"/>
                </a:cubicBezTo>
                <a:cubicBezTo>
                  <a:pt x="233818" y="0"/>
                  <a:pt x="292273" y="0"/>
                  <a:pt x="350727" y="62362"/>
                </a:cubicBezTo>
                <a:cubicBezTo>
                  <a:pt x="409182" y="124724"/>
                  <a:pt x="467637" y="124724"/>
                  <a:pt x="526091" y="62362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236" name="af-seed-auto-0236-line-01" descr="{&quot;autofigure_element_id&quot;:&quot;seed-auto-0236&quot;}"/>
          <p:cNvCxnSpPr/>
          <p:nvPr/>
        </p:nvCxnSpPr>
        <p:spPr>
          <a:xfrm flipV="1">
            <a:off x="15751383" y="7081724"/>
            <a:ext cx="0" cy="5456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af-seed-auto-0237-line-01" descr="{&quot;autofigure_element_id&quot;:&quot;seed-auto-0237&quot;}"/>
          <p:cNvCxnSpPr/>
          <p:nvPr/>
        </p:nvCxnSpPr>
        <p:spPr>
          <a:xfrm>
            <a:off x="15809837" y="7077826"/>
            <a:ext cx="0" cy="6236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af-seed-auto-0238-line-01" descr="{&quot;autofigure_element_id&quot;:&quot;seed-auto-0238&quot;}"/>
          <p:cNvCxnSpPr/>
          <p:nvPr/>
        </p:nvCxnSpPr>
        <p:spPr>
          <a:xfrm flipV="1">
            <a:off x="15868292" y="7085621"/>
            <a:ext cx="0" cy="4677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af-seed-auto-0239-line-01" descr="{&quot;autofigure_element_id&quot;:&quot;seed-auto-0239&quot;}"/>
          <p:cNvCxnSpPr/>
          <p:nvPr/>
        </p:nvCxnSpPr>
        <p:spPr>
          <a:xfrm>
            <a:off x="15926746" y="7081724"/>
            <a:ext cx="0" cy="5456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af-seed-auto-0240-line-01" descr="{&quot;autofigure_element_id&quot;:&quot;seed-auto-0240&quot;}"/>
          <p:cNvCxnSpPr/>
          <p:nvPr/>
        </p:nvCxnSpPr>
        <p:spPr>
          <a:xfrm flipV="1">
            <a:off x="15985201" y="7085621"/>
            <a:ext cx="0" cy="4677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af-seed-auto-0241-line-01" descr="{&quot;autofigure_element_id&quot;:&quot;seed-auto-0241&quot;}"/>
          <p:cNvCxnSpPr/>
          <p:nvPr/>
        </p:nvCxnSpPr>
        <p:spPr>
          <a:xfrm>
            <a:off x="16043656" y="7081724"/>
            <a:ext cx="0" cy="5456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af-seed-auto-0242-line-01" descr="{&quot;autofigure_element_id&quot;:&quot;seed-auto-0242&quot;}"/>
          <p:cNvCxnSpPr/>
          <p:nvPr/>
        </p:nvCxnSpPr>
        <p:spPr>
          <a:xfrm flipV="1">
            <a:off x="16102110" y="7081724"/>
            <a:ext cx="0" cy="54566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af-seed-auto-0243-line-01" descr="{&quot;autofigure_element_id&quot;:&quot;seed-auto-0243&quot;}"/>
          <p:cNvCxnSpPr/>
          <p:nvPr/>
        </p:nvCxnSpPr>
        <p:spPr>
          <a:xfrm>
            <a:off x="16160565" y="7077826"/>
            <a:ext cx="0" cy="6236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af-seed-auto-0244-line-01" descr="{&quot;autofigure_element_id&quot;:&quot;seed-auto-0244&quot;}"/>
          <p:cNvCxnSpPr/>
          <p:nvPr/>
        </p:nvCxnSpPr>
        <p:spPr>
          <a:xfrm flipV="1">
            <a:off x="16219019" y="7085621"/>
            <a:ext cx="0" cy="4677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af-seed-auto-0245-ellipse-01" descr="{&quot;autofigure_element_id&quot;:&quot;seed-auto-0245&quot;}"/>
          <p:cNvSpPr/>
          <p:nvPr/>
        </p:nvSpPr>
        <p:spPr>
          <a:xfrm>
            <a:off x="15189398" y="7406457"/>
            <a:ext cx="225614" cy="225652"/>
          </a:xfrm>
          <a:prstGeom prst="ellipse">
            <a:avLst/>
          </a:prstGeom>
          <a:noFill/>
          <a:ln w="16192">
            <a:solidFill>
              <a:srgbClr val="D8452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af-seed-auto-0246-ellipse-01" descr="{&quot;autofigure_element_id&quot;:&quot;seed-auto-0246&quot;}"/>
          <p:cNvSpPr/>
          <p:nvPr/>
        </p:nvSpPr>
        <p:spPr>
          <a:xfrm>
            <a:off x="15271440" y="7488512"/>
            <a:ext cx="61531" cy="61541"/>
          </a:xfrm>
          <a:prstGeom prst="ellipse">
            <a:avLst/>
          </a:prstGeom>
          <a:noFill/>
          <a:ln w="16192">
            <a:solidFill>
              <a:srgbClr val="D8452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af-seed-auto-0247-line-01" descr="{&quot;autofigure_element_id&quot;:&quot;seed-auto-0247&quot;}"/>
          <p:cNvCxnSpPr/>
          <p:nvPr/>
        </p:nvCxnSpPr>
        <p:spPr>
          <a:xfrm>
            <a:off x="15302206" y="7324402"/>
            <a:ext cx="0" cy="71798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af-seed-auto-0248-line-01" descr="{&quot;autofigure_element_id&quot;:&quot;seed-auto-0248&quot;}"/>
          <p:cNvCxnSpPr/>
          <p:nvPr/>
        </p:nvCxnSpPr>
        <p:spPr>
          <a:xfrm flipH="1">
            <a:off x="15384247" y="7385943"/>
            <a:ext cx="51276" cy="51285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af-seed-auto-0249-line-01" descr="{&quot;autofigure_element_id&quot;:&quot;seed-auto-0249&quot;}"/>
          <p:cNvCxnSpPr/>
          <p:nvPr/>
        </p:nvCxnSpPr>
        <p:spPr>
          <a:xfrm flipH="1">
            <a:off x="15425268" y="7519283"/>
            <a:ext cx="71786" cy="0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af-seed-auto-0250-line-01" descr="{&quot;autofigure_element_id&quot;:&quot;seed-auto-0250&quot;}"/>
          <p:cNvCxnSpPr/>
          <p:nvPr/>
        </p:nvCxnSpPr>
        <p:spPr>
          <a:xfrm flipH="1" flipV="1">
            <a:off x="15384247" y="7601338"/>
            <a:ext cx="51276" cy="51285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af-seed-auto-0251-line-01" descr="{&quot;autofigure_element_id&quot;:&quot;seed-auto-0251&quot;}"/>
          <p:cNvCxnSpPr/>
          <p:nvPr/>
        </p:nvCxnSpPr>
        <p:spPr>
          <a:xfrm flipV="1">
            <a:off x="15302206" y="7642366"/>
            <a:ext cx="0" cy="71798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af-seed-auto-0252-line-01" descr="{&quot;autofigure_element_id&quot;:&quot;seed-auto-0252&quot;}"/>
          <p:cNvCxnSpPr/>
          <p:nvPr/>
        </p:nvCxnSpPr>
        <p:spPr>
          <a:xfrm flipV="1">
            <a:off x="15168888" y="7601338"/>
            <a:ext cx="51276" cy="51285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af-seed-auto-0253-line-01" descr="{&quot;autofigure_element_id&quot;:&quot;seed-auto-0253&quot;}"/>
          <p:cNvCxnSpPr/>
          <p:nvPr/>
        </p:nvCxnSpPr>
        <p:spPr>
          <a:xfrm>
            <a:off x="15107357" y="7519283"/>
            <a:ext cx="71786" cy="0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af-seed-auto-0254-line-01" descr="{&quot;autofigure_element_id&quot;:&quot;seed-auto-0254&quot;}"/>
          <p:cNvCxnSpPr/>
          <p:nvPr/>
        </p:nvCxnSpPr>
        <p:spPr>
          <a:xfrm>
            <a:off x="15168888" y="7385943"/>
            <a:ext cx="51276" cy="51285"/>
          </a:xfrm>
          <a:prstGeom prst="line">
            <a:avLst/>
          </a:prstGeom>
          <a:ln w="16192">
            <a:solidFill>
              <a:srgbClr val="D8452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af-seed-auto-0255-freeform-01" descr="{&quot;autofigure_element_id&quot;:&quot;seed-auto-0255&quot;}"/>
          <p:cNvSpPr/>
          <p:nvPr/>
        </p:nvSpPr>
        <p:spPr>
          <a:xfrm>
            <a:off x="15879914" y="7461160"/>
            <a:ext cx="273472" cy="273517"/>
          </a:xfrm>
          <a:custGeom>
            <a:avLst/>
            <a:gdLst/>
            <a:ahLst/>
            <a:cxnLst/>
            <a:rect l="0" t="0" r="0" b="0"/>
            <a:pathLst>
              <a:path w="273472" h="273517">
                <a:moveTo>
                  <a:pt x="6837" y="129921"/>
                </a:moveTo>
                <a:cubicBezTo>
                  <a:pt x="102552" y="6838"/>
                  <a:pt x="191430" y="0"/>
                  <a:pt x="273472" y="109407"/>
                </a:cubicBezTo>
                <a:cubicBezTo>
                  <a:pt x="232451" y="211976"/>
                  <a:pt x="181175" y="266679"/>
                  <a:pt x="119644" y="273517"/>
                </a:cubicBezTo>
                <a:cubicBezTo>
                  <a:pt x="37602" y="273517"/>
                  <a:pt x="0" y="225652"/>
                  <a:pt x="6837" y="129921"/>
                </a:cubicBezTo>
                <a:close/>
              </a:path>
            </a:pathLst>
          </a:custGeom>
          <a:solidFill>
            <a:srgbClr val="7DB43C"/>
          </a:solidFill>
          <a:ln w="14288">
            <a:solidFill>
              <a:srgbClr val="4A8121"/>
            </a:solidFill>
            <a:miter/>
          </a:ln>
        </p:spPr>
      </p:sp>
      <p:sp>
        <p:nvSpPr>
          <p:cNvPr id="256" name="af-seed-auto-0256-freeform-01" descr="{&quot;autofigure_element_id&quot;:&quot;seed-auto-0256&quot;}"/>
          <p:cNvSpPr/>
          <p:nvPr/>
        </p:nvSpPr>
        <p:spPr>
          <a:xfrm>
            <a:off x="16050834" y="7734678"/>
            <a:ext cx="276890" cy="205138"/>
          </a:xfrm>
          <a:custGeom>
            <a:avLst/>
            <a:gdLst/>
            <a:ahLst/>
            <a:cxnLst/>
            <a:rect l="0" t="0" r="0" b="0"/>
            <a:pathLst>
              <a:path w="276890" h="205138">
                <a:moveTo>
                  <a:pt x="0" y="0"/>
                </a:moveTo>
                <a:cubicBezTo>
                  <a:pt x="136736" y="41028"/>
                  <a:pt x="229033" y="109407"/>
                  <a:pt x="276890" y="205138"/>
                </a:cubicBezTo>
              </a:path>
            </a:pathLst>
          </a:custGeom>
          <a:noFill/>
          <a:ln w="19050">
            <a:solidFill>
              <a:srgbClr val="4A8121"/>
            </a:solidFill>
            <a:miter/>
          </a:ln>
        </p:spPr>
      </p:sp>
      <p:sp>
        <p:nvSpPr>
          <p:cNvPr id="257" name="af-seed-auto-0257-freeform-01" descr="{&quot;autofigure_element_id&quot;:&quot;seed-auto-0257&quot;}"/>
          <p:cNvSpPr/>
          <p:nvPr/>
        </p:nvSpPr>
        <p:spPr>
          <a:xfrm>
            <a:off x="16461042" y="7314145"/>
            <a:ext cx="297400" cy="307707"/>
          </a:xfrm>
          <a:custGeom>
            <a:avLst/>
            <a:gdLst/>
            <a:ahLst/>
            <a:cxnLst/>
            <a:rect l="0" t="0" r="0" b="0"/>
            <a:pathLst>
              <a:path w="297400" h="307707">
                <a:moveTo>
                  <a:pt x="71786" y="71798"/>
                </a:moveTo>
                <a:lnTo>
                  <a:pt x="205104" y="0"/>
                </a:lnTo>
                <a:lnTo>
                  <a:pt x="297400" y="112826"/>
                </a:lnTo>
                <a:lnTo>
                  <a:pt x="256380" y="266679"/>
                </a:lnTo>
                <a:lnTo>
                  <a:pt x="92297" y="307707"/>
                </a:lnTo>
                <a:lnTo>
                  <a:pt x="0" y="205138"/>
                </a:lnTo>
                <a:close/>
              </a:path>
            </a:pathLst>
          </a:custGeom>
          <a:noFill/>
          <a:ln w="19050">
            <a:solidFill>
              <a:srgbClr val="5B8FC9"/>
            </a:solidFill>
            <a:miter/>
          </a:ln>
        </p:spPr>
      </p:sp>
      <p:sp>
        <p:nvSpPr>
          <p:cNvPr id="258" name="af-seed-auto-0258-freeform-arrow-01" descr="{&quot;arrow_spec_sha256&quot;:&quot;d42116af50f5fdadbe38b8c46d3b9d77970e2da799cf1814c0d0bfc03c05957f&quot;,&quot;autofigure_element_id&quot;:&quot;seed-auto-0258&quot;}"/>
          <p:cNvSpPr/>
          <p:nvPr/>
        </p:nvSpPr>
        <p:spPr>
          <a:xfrm>
            <a:off x="17091980" y="5353124"/>
            <a:ext cx="1015752" cy="1045227"/>
          </a:xfrm>
          <a:custGeom>
            <a:avLst/>
            <a:gdLst/>
            <a:ahLst/>
            <a:cxnLst/>
            <a:rect l="0" t="0" r="0" b="0"/>
            <a:pathLst>
              <a:path w="1015752" h="1045227">
                <a:moveTo>
                  <a:pt x="0" y="1045227"/>
                </a:moveTo>
                <a:cubicBezTo>
                  <a:pt x="488342" y="801015"/>
                  <a:pt x="810648" y="459118"/>
                  <a:pt x="1015752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259" name="af-seed-auto-0259-freeform-arrow-01" descr="{&quot;arrow_spec_sha256&quot;:&quot;75d56ded94e8c247427f0ba6f59a0840048173f28d990d83de68afedff9c3283&quot;,&quot;autofigure_element_id&quot;:&quot;seed-auto-0259&quot;}"/>
          <p:cNvSpPr/>
          <p:nvPr/>
        </p:nvSpPr>
        <p:spPr>
          <a:xfrm>
            <a:off x="13575916" y="7785474"/>
            <a:ext cx="1484561" cy="1514113"/>
          </a:xfrm>
          <a:custGeom>
            <a:avLst/>
            <a:gdLst/>
            <a:ahLst/>
            <a:cxnLst/>
            <a:rect l="0" t="0" r="0" b="0"/>
            <a:pathLst>
              <a:path w="1484561" h="1514113">
                <a:moveTo>
                  <a:pt x="1484561" y="1514113"/>
                </a:moveTo>
                <a:cubicBezTo>
                  <a:pt x="1367358" y="1084301"/>
                  <a:pt x="1103654" y="674025"/>
                  <a:pt x="732513" y="390739"/>
                </a:cubicBezTo>
                <a:cubicBezTo>
                  <a:pt x="459042" y="185601"/>
                  <a:pt x="244171" y="68379"/>
                  <a:pt x="0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260" name="af-seed-auto-0260-text-01" descr="{&quot;autofigure_element_id&quot;:&quot;seed-auto-0260&quot;}"/>
          <p:cNvSpPr txBox="1"/>
          <p:nvPr/>
        </p:nvSpPr>
        <p:spPr>
          <a:xfrm>
            <a:off x="429741" y="10405172"/>
            <a:ext cx="50901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E8F"/>
                </a:solidFill>
                <a:latin typeface="Arial"/>
              </a:rPr>
              <a:t>ER</a:t>
            </a:r>
          </a:p>
        </p:txBody>
      </p:sp>
      <p:sp>
        <p:nvSpPr>
          <p:cNvPr id="261" name="af-seed-auto-0261-freeform-01" descr="{&quot;autofigure_element_id&quot;:&quot;seed-auto-0261&quot;}"/>
          <p:cNvSpPr/>
          <p:nvPr/>
        </p:nvSpPr>
        <p:spPr>
          <a:xfrm>
            <a:off x="986451" y="10843006"/>
            <a:ext cx="5459667" cy="722867"/>
          </a:xfrm>
          <a:custGeom>
            <a:avLst/>
            <a:gdLst/>
            <a:ahLst/>
            <a:cxnLst/>
            <a:rect l="0" t="0" r="0" b="0"/>
            <a:pathLst>
              <a:path w="5459667" h="722867">
                <a:moveTo>
                  <a:pt x="175803" y="195369"/>
                </a:moveTo>
                <a:cubicBezTo>
                  <a:pt x="810648" y="39074"/>
                  <a:pt x="1806866" y="156296"/>
                  <a:pt x="2441711" y="253980"/>
                </a:cubicBezTo>
                <a:cubicBezTo>
                  <a:pt x="3232826" y="371202"/>
                  <a:pt x="4072775" y="283286"/>
                  <a:pt x="4736920" y="87916"/>
                </a:cubicBezTo>
                <a:cubicBezTo>
                  <a:pt x="5039692" y="0"/>
                  <a:pt x="5283864" y="48842"/>
                  <a:pt x="5361998" y="195369"/>
                </a:cubicBezTo>
                <a:cubicBezTo>
                  <a:pt x="5459667" y="390739"/>
                  <a:pt x="5244796" y="527498"/>
                  <a:pt x="4932257" y="566571"/>
                </a:cubicBezTo>
                <a:cubicBezTo>
                  <a:pt x="3965339" y="693562"/>
                  <a:pt x="3154691" y="722867"/>
                  <a:pt x="2402644" y="644719"/>
                </a:cubicBezTo>
                <a:cubicBezTo>
                  <a:pt x="1640830" y="566571"/>
                  <a:pt x="1045052" y="586108"/>
                  <a:pt x="527410" y="634951"/>
                </a:cubicBezTo>
                <a:cubicBezTo>
                  <a:pt x="185570" y="664256"/>
                  <a:pt x="0" y="556803"/>
                  <a:pt x="19534" y="390739"/>
                </a:cubicBezTo>
                <a:cubicBezTo>
                  <a:pt x="39067" y="293054"/>
                  <a:pt x="87902" y="244212"/>
                  <a:pt x="175803" y="195369"/>
                </a:cubicBezTo>
                <a:close/>
              </a:path>
            </a:pathLst>
          </a:custGeom>
          <a:solidFill>
            <a:srgbClr val="FBE8D9"/>
          </a:solidFill>
          <a:ln w="20955">
            <a:solidFill>
              <a:srgbClr val="D79A5A"/>
            </a:solidFill>
            <a:miter/>
          </a:ln>
        </p:spPr>
      </p:sp>
      <p:sp>
        <p:nvSpPr>
          <p:cNvPr id="262" name="af-seed-auto-0262-freeform-01" descr="{&quot;autofigure_element_id&quot;:&quot;seed-auto-0262&quot;}"/>
          <p:cNvSpPr/>
          <p:nvPr/>
        </p:nvSpPr>
        <p:spPr>
          <a:xfrm>
            <a:off x="1474794" y="11526799"/>
            <a:ext cx="2090105" cy="507961"/>
          </a:xfrm>
          <a:custGeom>
            <a:avLst/>
            <a:gdLst/>
            <a:ahLst/>
            <a:cxnLst/>
            <a:rect l="0" t="0" r="0" b="0"/>
            <a:pathLst>
              <a:path w="2090105" h="507961">
                <a:moveTo>
                  <a:pt x="0" y="68379"/>
                </a:moveTo>
                <a:cubicBezTo>
                  <a:pt x="673912" y="0"/>
                  <a:pt x="1259923" y="48842"/>
                  <a:pt x="1816633" y="68379"/>
                </a:cubicBezTo>
                <a:cubicBezTo>
                  <a:pt x="2011970" y="78148"/>
                  <a:pt x="2090105" y="224675"/>
                  <a:pt x="2011970" y="351665"/>
                </a:cubicBezTo>
                <a:cubicBezTo>
                  <a:pt x="1943602" y="468887"/>
                  <a:pt x="1777566" y="498192"/>
                  <a:pt x="1543162" y="498192"/>
                </a:cubicBezTo>
                <a:lnTo>
                  <a:pt x="468809" y="507961"/>
                </a:lnTo>
                <a:cubicBezTo>
                  <a:pt x="166036" y="507961"/>
                  <a:pt x="29301" y="361434"/>
                  <a:pt x="0" y="68379"/>
                </a:cubicBezTo>
                <a:close/>
              </a:path>
            </a:pathLst>
          </a:custGeom>
          <a:solidFill>
            <a:srgbClr val="FBE8D9"/>
          </a:solidFill>
          <a:ln w="20955">
            <a:solidFill>
              <a:srgbClr val="D79A5A"/>
            </a:solidFill>
            <a:miter/>
          </a:ln>
        </p:spPr>
      </p:sp>
      <p:sp>
        <p:nvSpPr>
          <p:cNvPr id="263" name="af-seed-auto-0263-freeform-01" descr="{&quot;autofigure_element_id&quot;:&quot;seed-auto-0263&quot;}"/>
          <p:cNvSpPr/>
          <p:nvPr/>
        </p:nvSpPr>
        <p:spPr>
          <a:xfrm>
            <a:off x="4268112" y="11311893"/>
            <a:ext cx="3740702" cy="713099"/>
          </a:xfrm>
          <a:custGeom>
            <a:avLst/>
            <a:gdLst/>
            <a:ahLst/>
            <a:cxnLst/>
            <a:rect l="0" t="0" r="0" b="0"/>
            <a:pathLst>
              <a:path w="3740702" h="713099">
                <a:moveTo>
                  <a:pt x="166036" y="253980"/>
                </a:moveTo>
                <a:cubicBezTo>
                  <a:pt x="673912" y="234443"/>
                  <a:pt x="1084120" y="273517"/>
                  <a:pt x="1611530" y="234443"/>
                </a:cubicBezTo>
                <a:cubicBezTo>
                  <a:pt x="2207307" y="195369"/>
                  <a:pt x="2705416" y="117222"/>
                  <a:pt x="3144924" y="48842"/>
                </a:cubicBezTo>
                <a:cubicBezTo>
                  <a:pt x="3476997" y="0"/>
                  <a:pt x="3711401" y="87916"/>
                  <a:pt x="3730935" y="234443"/>
                </a:cubicBezTo>
                <a:cubicBezTo>
                  <a:pt x="3740702" y="400507"/>
                  <a:pt x="3574666" y="517729"/>
                  <a:pt x="3320728" y="576340"/>
                </a:cubicBezTo>
                <a:cubicBezTo>
                  <a:pt x="2744484" y="713099"/>
                  <a:pt x="2090105" y="703330"/>
                  <a:pt x="1445493" y="664256"/>
                </a:cubicBezTo>
                <a:cubicBezTo>
                  <a:pt x="1093887" y="644719"/>
                  <a:pt x="752047" y="634951"/>
                  <a:pt x="459042" y="654488"/>
                </a:cubicBezTo>
                <a:cubicBezTo>
                  <a:pt x="175803" y="664256"/>
                  <a:pt x="0" y="527498"/>
                  <a:pt x="39067" y="380970"/>
                </a:cubicBezTo>
                <a:cubicBezTo>
                  <a:pt x="68368" y="312591"/>
                  <a:pt x="107435" y="273517"/>
                  <a:pt x="166036" y="253980"/>
                </a:cubicBezTo>
                <a:close/>
              </a:path>
            </a:pathLst>
          </a:custGeom>
          <a:solidFill>
            <a:srgbClr val="FBE8D9"/>
          </a:solidFill>
          <a:ln w="20955">
            <a:solidFill>
              <a:srgbClr val="D79A5A"/>
            </a:solidFill>
            <a:miter/>
          </a:ln>
        </p:spPr>
      </p:sp>
      <p:sp>
        <p:nvSpPr>
          <p:cNvPr id="264" name="af-seed-auto-0264-freeform-01" descr="{&quot;autofigure_element_id&quot;:&quot;seed-auto-0264&quot;}"/>
          <p:cNvSpPr/>
          <p:nvPr/>
        </p:nvSpPr>
        <p:spPr>
          <a:xfrm>
            <a:off x="3235268" y="9951633"/>
            <a:ext cx="366257" cy="427371"/>
          </a:xfrm>
          <a:custGeom>
            <a:avLst/>
            <a:gdLst/>
            <a:ahLst/>
            <a:cxnLst/>
            <a:rect l="0" t="0" r="0" b="0"/>
            <a:pathLst>
              <a:path w="366257" h="427371">
                <a:moveTo>
                  <a:pt x="0" y="427371"/>
                </a:moveTo>
                <a:cubicBezTo>
                  <a:pt x="61043" y="268633"/>
                  <a:pt x="158711" y="183159"/>
                  <a:pt x="183128" y="0"/>
                </a:cubicBezTo>
                <a:cubicBezTo>
                  <a:pt x="207545" y="183159"/>
                  <a:pt x="305214" y="268633"/>
                  <a:pt x="366257" y="427371"/>
                </a:cubicBezTo>
              </a:path>
            </a:pathLst>
          </a:custGeom>
          <a:solidFill>
            <a:srgbClr val="3F81B9"/>
          </a:solidFill>
          <a:ln w="19050">
            <a:solidFill>
              <a:srgbClr val="245B93"/>
            </a:solidFill>
            <a:miter/>
          </a:ln>
        </p:spPr>
      </p:sp>
      <p:sp>
        <p:nvSpPr>
          <p:cNvPr id="265" name="af-seed-auto-0265-freeform-01" descr="{&quot;autofigure_element_id&quot;:&quot;seed-auto-0265&quot;}"/>
          <p:cNvSpPr/>
          <p:nvPr/>
        </p:nvSpPr>
        <p:spPr>
          <a:xfrm>
            <a:off x="3223059" y="10159213"/>
            <a:ext cx="390674" cy="219791"/>
          </a:xfrm>
          <a:custGeom>
            <a:avLst/>
            <a:gdLst/>
            <a:ahLst/>
            <a:cxnLst/>
            <a:rect l="0" t="0" r="0" b="0"/>
            <a:pathLst>
              <a:path w="390674" h="219791">
                <a:moveTo>
                  <a:pt x="0" y="219791"/>
                </a:moveTo>
                <a:cubicBezTo>
                  <a:pt x="97668" y="48842"/>
                  <a:pt x="146503" y="0"/>
                  <a:pt x="195337" y="0"/>
                </a:cubicBezTo>
                <a:cubicBezTo>
                  <a:pt x="244171" y="0"/>
                  <a:pt x="293005" y="48842"/>
                  <a:pt x="390674" y="219791"/>
                </a:cubicBezTo>
              </a:path>
            </a:pathLst>
          </a:custGeom>
          <a:solidFill>
            <a:srgbClr val="547FB5"/>
          </a:solidFill>
          <a:ln w="19050">
            <a:solidFill>
              <a:srgbClr val="245B93"/>
            </a:solidFill>
            <a:miter/>
          </a:ln>
        </p:spPr>
      </p:sp>
      <p:sp>
        <p:nvSpPr>
          <p:cNvPr id="266" name="af-seed-auto-0266-ellipse-01" descr="{&quot;autofigure_element_id&quot;:&quot;seed-auto-0266&quot;}"/>
          <p:cNvSpPr/>
          <p:nvPr/>
        </p:nvSpPr>
        <p:spPr>
          <a:xfrm>
            <a:off x="3259685" y="9939422"/>
            <a:ext cx="122086" cy="122106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af-seed-auto-0267-ellipse-01" descr="{&quot;autofigure_element_id&quot;:&quot;seed-auto-0267&quot;}"/>
          <p:cNvSpPr/>
          <p:nvPr/>
        </p:nvSpPr>
        <p:spPr>
          <a:xfrm>
            <a:off x="3455022" y="9939422"/>
            <a:ext cx="122086" cy="122106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af-seed-auto-0268-freeform-01" descr="{&quot;autofigure_element_id&quot;:&quot;seed-auto-0268&quot;}"/>
          <p:cNvSpPr/>
          <p:nvPr/>
        </p:nvSpPr>
        <p:spPr>
          <a:xfrm>
            <a:off x="3357353" y="10391214"/>
            <a:ext cx="122086" cy="598319"/>
          </a:xfrm>
          <a:custGeom>
            <a:avLst/>
            <a:gdLst/>
            <a:ahLst/>
            <a:cxnLst/>
            <a:rect l="0" t="0" r="0" b="0"/>
            <a:pathLst>
              <a:path w="122086" h="598319">
                <a:moveTo>
                  <a:pt x="61043" y="0"/>
                </a:moveTo>
                <a:cubicBezTo>
                  <a:pt x="0" y="109895"/>
                  <a:pt x="0" y="207580"/>
                  <a:pt x="61043" y="305265"/>
                </a:cubicBezTo>
                <a:cubicBezTo>
                  <a:pt x="122086" y="402950"/>
                  <a:pt x="122086" y="500634"/>
                  <a:pt x="61043" y="598319"/>
                </a:cubicBezTo>
              </a:path>
            </a:pathLst>
          </a:custGeom>
          <a:noFill/>
          <a:ln w="28575">
            <a:solidFill>
              <a:srgbClr val="2A63A3"/>
            </a:solidFill>
            <a:miter/>
          </a:ln>
        </p:spPr>
      </p:sp>
      <p:sp>
        <p:nvSpPr>
          <p:cNvPr id="269" name="af-seed-auto-0269-freeform-01" descr="{&quot;autofigure_element_id&quot;:&quot;seed-auto-0269&quot;}"/>
          <p:cNvSpPr/>
          <p:nvPr/>
        </p:nvSpPr>
        <p:spPr>
          <a:xfrm>
            <a:off x="4636322" y="9985920"/>
            <a:ext cx="357467" cy="417114"/>
          </a:xfrm>
          <a:custGeom>
            <a:avLst/>
            <a:gdLst/>
            <a:ahLst/>
            <a:cxnLst/>
            <a:rect l="0" t="0" r="0" b="0"/>
            <a:pathLst>
              <a:path w="357467" h="417114">
                <a:moveTo>
                  <a:pt x="0" y="417114"/>
                </a:moveTo>
                <a:cubicBezTo>
                  <a:pt x="59578" y="262186"/>
                  <a:pt x="154902" y="178763"/>
                  <a:pt x="178733" y="0"/>
                </a:cubicBezTo>
                <a:cubicBezTo>
                  <a:pt x="202564" y="178763"/>
                  <a:pt x="297889" y="262186"/>
                  <a:pt x="357467" y="417114"/>
                </a:cubicBezTo>
              </a:path>
            </a:pathLst>
          </a:custGeom>
          <a:solidFill>
            <a:srgbClr val="3F81B9"/>
          </a:solidFill>
          <a:ln w="19050">
            <a:solidFill>
              <a:srgbClr val="245B93"/>
            </a:solidFill>
            <a:miter/>
          </a:ln>
        </p:spPr>
      </p:sp>
      <p:sp>
        <p:nvSpPr>
          <p:cNvPr id="270" name="af-seed-auto-0270-freeform-01" descr="{&quot;autofigure_element_id&quot;:&quot;seed-auto-0270&quot;}"/>
          <p:cNvSpPr/>
          <p:nvPr/>
        </p:nvSpPr>
        <p:spPr>
          <a:xfrm>
            <a:off x="4624406" y="10188518"/>
            <a:ext cx="381298" cy="214516"/>
          </a:xfrm>
          <a:custGeom>
            <a:avLst/>
            <a:gdLst/>
            <a:ahLst/>
            <a:cxnLst/>
            <a:rect l="0" t="0" r="0" b="0"/>
            <a:pathLst>
              <a:path w="381298" h="214516">
                <a:moveTo>
                  <a:pt x="0" y="214516"/>
                </a:moveTo>
                <a:cubicBezTo>
                  <a:pt x="95324" y="47670"/>
                  <a:pt x="142987" y="0"/>
                  <a:pt x="190649" y="0"/>
                </a:cubicBezTo>
                <a:cubicBezTo>
                  <a:pt x="238311" y="0"/>
                  <a:pt x="285973" y="47670"/>
                  <a:pt x="381298" y="214516"/>
                </a:cubicBezTo>
              </a:path>
            </a:pathLst>
          </a:custGeom>
          <a:solidFill>
            <a:srgbClr val="547FB5"/>
          </a:solidFill>
          <a:ln w="19050">
            <a:solidFill>
              <a:srgbClr val="245B93"/>
            </a:solidFill>
            <a:miter/>
          </a:ln>
        </p:spPr>
      </p:sp>
      <p:sp>
        <p:nvSpPr>
          <p:cNvPr id="271" name="af-seed-auto-0271-ellipse-01" descr="{&quot;autofigure_element_id&quot;:&quot;seed-auto-0271&quot;}"/>
          <p:cNvSpPr/>
          <p:nvPr/>
        </p:nvSpPr>
        <p:spPr>
          <a:xfrm>
            <a:off x="4660153" y="9974003"/>
            <a:ext cx="119156" cy="119175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af-seed-auto-0272-ellipse-01" descr="{&quot;autofigure_element_id&quot;:&quot;seed-auto-0272&quot;}"/>
          <p:cNvSpPr/>
          <p:nvPr/>
        </p:nvSpPr>
        <p:spPr>
          <a:xfrm>
            <a:off x="4850802" y="9974003"/>
            <a:ext cx="119156" cy="119175"/>
          </a:xfrm>
          <a:prstGeom prst="ellipse">
            <a:avLst/>
          </a:prstGeom>
          <a:solidFill>
            <a:srgbClr val="7FB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af-seed-auto-0273-freeform-01" descr="{&quot;autofigure_element_id&quot;:&quot;seed-auto-0273&quot;}"/>
          <p:cNvSpPr/>
          <p:nvPr/>
        </p:nvSpPr>
        <p:spPr>
          <a:xfrm>
            <a:off x="4755477" y="10414952"/>
            <a:ext cx="119156" cy="583959"/>
          </a:xfrm>
          <a:custGeom>
            <a:avLst/>
            <a:gdLst/>
            <a:ahLst/>
            <a:cxnLst/>
            <a:rect l="0" t="0" r="0" b="0"/>
            <a:pathLst>
              <a:path w="119156" h="583959">
                <a:moveTo>
                  <a:pt x="59578" y="0"/>
                </a:moveTo>
                <a:cubicBezTo>
                  <a:pt x="0" y="107258"/>
                  <a:pt x="0" y="202598"/>
                  <a:pt x="59578" y="297938"/>
                </a:cubicBezTo>
                <a:cubicBezTo>
                  <a:pt x="119156" y="393279"/>
                  <a:pt x="119156" y="488619"/>
                  <a:pt x="59578" y="583959"/>
                </a:cubicBezTo>
              </a:path>
            </a:pathLst>
          </a:custGeom>
          <a:noFill/>
          <a:ln w="28575">
            <a:solidFill>
              <a:srgbClr val="2A63A3"/>
            </a:solidFill>
            <a:miter/>
          </a:ln>
        </p:spPr>
      </p:sp>
      <p:sp>
        <p:nvSpPr>
          <p:cNvPr id="274" name="af-seed-auto-0274-text-01" descr="{&quot;autofigure_element_id&quot;:&quot;seed-auto-0274&quot;}"/>
          <p:cNvSpPr txBox="1"/>
          <p:nvPr/>
        </p:nvSpPr>
        <p:spPr>
          <a:xfrm>
            <a:off x="5752672" y="10229339"/>
            <a:ext cx="75895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STING</a:t>
            </a:r>
          </a:p>
        </p:txBody>
      </p:sp>
      <p:sp>
        <p:nvSpPr>
          <p:cNvPr id="275" name="af-seed-auto-0275-rect-01" descr="{&quot;autofigure_element_id&quot;:&quot;seed-auto-0275&quot;}"/>
          <p:cNvSpPr/>
          <p:nvPr/>
        </p:nvSpPr>
        <p:spPr>
          <a:xfrm>
            <a:off x="2344043" y="9866159"/>
            <a:ext cx="517643" cy="830320"/>
          </a:xfrm>
          <a:prstGeom prst="roundRect">
            <a:avLst>
              <a:gd name="adj" fmla="val 18867"/>
            </a:avLst>
          </a:prstGeom>
          <a:solidFill>
            <a:srgbClr val="FBE6D7"/>
          </a:solidFill>
          <a:ln w="19050">
            <a:solidFill>
              <a:srgbClr val="D79A5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af-seed-auto-0276-text-01" descr="{&quot;autofigure_element_id&quot;:&quot;seed-auto-0276&quot;}"/>
          <p:cNvSpPr txBox="1"/>
          <p:nvPr/>
        </p:nvSpPr>
        <p:spPr>
          <a:xfrm>
            <a:off x="1660364" y="10287950"/>
            <a:ext cx="69646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SAR1</a:t>
            </a:r>
          </a:p>
        </p:txBody>
      </p:sp>
      <p:sp>
        <p:nvSpPr>
          <p:cNvPr id="277" name="af-seed-auto-0277-ellipse-01" descr="{&quot;autofigure_element_id&quot;:&quot;seed-auto-0277&quot;}"/>
          <p:cNvSpPr/>
          <p:nvPr/>
        </p:nvSpPr>
        <p:spPr>
          <a:xfrm>
            <a:off x="2637048" y="9416809"/>
            <a:ext cx="410208" cy="410276"/>
          </a:xfrm>
          <a:prstGeom prst="ellipse">
            <a:avLst/>
          </a:prstGeom>
          <a:solidFill>
            <a:srgbClr val="D8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af-seed-auto-0278-text-01" descr="{&quot;autofigure_element_id&quot;:&quot;seed-auto-0278&quot;}"/>
          <p:cNvSpPr txBox="1"/>
          <p:nvPr/>
        </p:nvSpPr>
        <p:spPr>
          <a:xfrm>
            <a:off x="3193759" y="9242724"/>
            <a:ext cx="88392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>
                <a:solidFill>
                  <a:srgbClr val="C82B2B"/>
                </a:solidFill>
                <a:latin typeface="Arial"/>
              </a:rPr>
              <a:t>SEC24C</a:t>
            </a:r>
          </a:p>
        </p:txBody>
      </p:sp>
      <p:sp>
        <p:nvSpPr>
          <p:cNvPr id="279" name="af-seed-auto-0279-freeform-arrow-01" descr="{&quot;arrow_spec_sha256&quot;:&quot;fe0fa155087a1c9ff005a16d2de3d532eefd63fd6e619caf8a7c50db32adb0ec&quot;,&quot;autofigure_element_id&quot;:&quot;seed-auto-0279&quot;}"/>
          <p:cNvSpPr/>
          <p:nvPr/>
        </p:nvSpPr>
        <p:spPr>
          <a:xfrm>
            <a:off x="2920287" y="9690326"/>
            <a:ext cx="205104" cy="195369"/>
          </a:xfrm>
          <a:custGeom>
            <a:avLst/>
            <a:gdLst/>
            <a:ahLst/>
            <a:cxnLst/>
            <a:rect l="0" t="0" r="0" b="0"/>
            <a:pathLst>
              <a:path w="205104" h="195369">
                <a:moveTo>
                  <a:pt x="0" y="195369"/>
                </a:moveTo>
                <a:cubicBezTo>
                  <a:pt x="87902" y="175833"/>
                  <a:pt x="166036" y="97685"/>
                  <a:pt x="205104" y="0"/>
                </a:cubicBezTo>
              </a:path>
            </a:pathLst>
          </a:custGeom>
          <a:noFill/>
          <a:ln w="33338" cap="rnd">
            <a:solidFill>
              <a:srgbClr val="111111"/>
            </a:solidFill>
            <a:round/>
            <a:tailEnd type="arrow" w="med" len="med"/>
          </a:ln>
        </p:spPr>
      </p:sp>
      <p:sp>
        <p:nvSpPr>
          <p:cNvPr id="280" name="af-seed-auto-0280-text-01" descr="{&quot;autofigure_element_id&quot;:&quot;seed-auto-0280&quot;}"/>
          <p:cNvSpPr txBox="1"/>
          <p:nvPr/>
        </p:nvSpPr>
        <p:spPr>
          <a:xfrm>
            <a:off x="7715808" y="9975359"/>
            <a:ext cx="81991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cGAMP</a:t>
            </a:r>
          </a:p>
        </p:txBody>
      </p:sp>
      <p:sp>
        <p:nvSpPr>
          <p:cNvPr id="281" name="af-seed-auto-0281-ellipse-01" descr="{&quot;autofigure_element_id&quot;:&quot;seed-auto-0281&quot;}"/>
          <p:cNvSpPr/>
          <p:nvPr/>
        </p:nvSpPr>
        <p:spPr>
          <a:xfrm>
            <a:off x="7715808" y="10374119"/>
            <a:ext cx="293005" cy="195369"/>
          </a:xfrm>
          <a:prstGeom prst="ellipse">
            <a:avLst/>
          </a:prstGeom>
          <a:solidFill>
            <a:srgbClr val="4F9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af-seed-auto-0282-ellipse-01" descr="{&quot;autofigure_element_id&quot;:&quot;seed-auto-0282&quot;}"/>
          <p:cNvSpPr/>
          <p:nvPr/>
        </p:nvSpPr>
        <p:spPr>
          <a:xfrm>
            <a:off x="7959979" y="10295972"/>
            <a:ext cx="293005" cy="195369"/>
          </a:xfrm>
          <a:prstGeom prst="ellipse">
            <a:avLst/>
          </a:prstGeom>
          <a:solidFill>
            <a:srgbClr val="7EB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af-seed-auto-0283-ellipse-01" descr="{&quot;autofigure_element_id&quot;:&quot;seed-auto-0283&quot;}"/>
          <p:cNvSpPr/>
          <p:nvPr/>
        </p:nvSpPr>
        <p:spPr>
          <a:xfrm>
            <a:off x="7950212" y="10510878"/>
            <a:ext cx="293005" cy="195369"/>
          </a:xfrm>
          <a:prstGeom prst="ellipse">
            <a:avLst/>
          </a:prstGeom>
          <a:solidFill>
            <a:srgbClr val="7EB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af-seed-auto-0284-ellipse-01" descr="{&quot;autofigure_element_id&quot;:&quot;seed-auto-0284&quot;}"/>
          <p:cNvSpPr/>
          <p:nvPr/>
        </p:nvSpPr>
        <p:spPr>
          <a:xfrm>
            <a:off x="7686508" y="10549952"/>
            <a:ext cx="293005" cy="195369"/>
          </a:xfrm>
          <a:prstGeom prst="ellipse">
            <a:avLst/>
          </a:prstGeom>
          <a:solidFill>
            <a:srgbClr val="4F9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af-seed-auto-0285-connector-01" descr="{&quot;arrow_spec_sha256&quot;:&quot;f6aa872ef917106870968899386de8ae7a76f10c659dcfe8eacc5ca7c07cc49d&quot;,&quot;autofigure_element_id&quot;:&quot;seed-auto-0285&quot;}"/>
          <p:cNvCxnSpPr/>
          <p:nvPr/>
        </p:nvCxnSpPr>
        <p:spPr>
          <a:xfrm flipH="1">
            <a:off x="7071196" y="10295972"/>
            <a:ext cx="586011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af-seed-auto-0286-rect-01" descr="{&quot;autofigure_element_id&quot;:&quot;seed-auto-0286&quot;}"/>
          <p:cNvSpPr/>
          <p:nvPr/>
        </p:nvSpPr>
        <p:spPr>
          <a:xfrm>
            <a:off x="9981716" y="9866159"/>
            <a:ext cx="1435726" cy="402070"/>
          </a:xfrm>
          <a:prstGeom prst="roundRect">
            <a:avLst>
              <a:gd name="adj" fmla="val 7142"/>
            </a:avLst>
          </a:prstGeom>
          <a:solidFill>
            <a:srgbClr val="F7B27F"/>
          </a:solidFill>
          <a:ln w="20955">
            <a:solidFill>
              <a:srgbClr val="D7672E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af-seed-auto-0287-rect-01" descr="{&quot;autofigure_element_id&quot;:&quot;seed-auto-0287&quot;}"/>
          <p:cNvSpPr/>
          <p:nvPr/>
        </p:nvSpPr>
        <p:spPr>
          <a:xfrm>
            <a:off x="9981716" y="10268229"/>
            <a:ext cx="1435726" cy="402070"/>
          </a:xfrm>
          <a:prstGeom prst="roundRect">
            <a:avLst>
              <a:gd name="adj" fmla="val 7142"/>
            </a:avLst>
          </a:prstGeom>
          <a:solidFill>
            <a:srgbClr val="F7B27F"/>
          </a:solidFill>
          <a:ln w="20955">
            <a:solidFill>
              <a:srgbClr val="D7672E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af-seed-auto-0288-text-01" descr="{&quot;autofigure_element_id&quot;:&quot;seed-auto-0288&quot;}"/>
          <p:cNvSpPr txBox="1"/>
          <p:nvPr/>
        </p:nvSpPr>
        <p:spPr>
          <a:xfrm>
            <a:off x="10354393" y="9931987"/>
            <a:ext cx="69037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>
                <a:solidFill>
                  <a:srgbClr val="111111"/>
                </a:solidFill>
                <a:latin typeface="Arial"/>
              </a:rPr>
              <a:t>cGAS</a:t>
            </a:r>
          </a:p>
        </p:txBody>
      </p:sp>
      <p:sp>
        <p:nvSpPr>
          <p:cNvPr id="289" name="af-seed-auto-0289-text-01" descr="{&quot;autofigure_element_id&quot;:&quot;seed-auto-0289&quot;}"/>
          <p:cNvSpPr txBox="1"/>
          <p:nvPr/>
        </p:nvSpPr>
        <p:spPr>
          <a:xfrm>
            <a:off x="10354393" y="10334057"/>
            <a:ext cx="690372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00">
                <a:solidFill>
                  <a:srgbClr val="111111"/>
                </a:solidFill>
                <a:latin typeface="Arial"/>
              </a:rPr>
              <a:t>cGAS</a:t>
            </a:r>
          </a:p>
        </p:txBody>
      </p:sp>
      <p:sp>
        <p:nvSpPr>
          <p:cNvPr id="290" name="af-seed-auto-0290-freeform-01" descr="{&quot;autofigure_element_id&quot;:&quot;seed-auto-0290&quot;}"/>
          <p:cNvSpPr/>
          <p:nvPr/>
        </p:nvSpPr>
        <p:spPr>
          <a:xfrm>
            <a:off x="10039145" y="9708011"/>
            <a:ext cx="1317997" cy="220564"/>
          </a:xfrm>
          <a:custGeom>
            <a:avLst/>
            <a:gdLst/>
            <a:ahLst/>
            <a:cxnLst/>
            <a:rect l="0" t="0" r="0" b="0"/>
            <a:pathLst>
              <a:path w="1317997" h="220564">
                <a:moveTo>
                  <a:pt x="0" y="110282"/>
                </a:moveTo>
                <a:cubicBezTo>
                  <a:pt x="146444" y="220564"/>
                  <a:pt x="292888" y="0"/>
                  <a:pt x="439332" y="110282"/>
                </a:cubicBezTo>
                <a:cubicBezTo>
                  <a:pt x="585776" y="220564"/>
                  <a:pt x="732220" y="220564"/>
                  <a:pt x="878665" y="110282"/>
                </a:cubicBezTo>
                <a:cubicBezTo>
                  <a:pt x="1025109" y="0"/>
                  <a:pt x="1171553" y="0"/>
                  <a:pt x="1317997" y="110282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291" name="af-seed-auto-0291-freeform-01" descr="{&quot;autofigure_element_id&quot;:&quot;seed-auto-0291&quot;}"/>
          <p:cNvSpPr/>
          <p:nvPr/>
        </p:nvSpPr>
        <p:spPr>
          <a:xfrm>
            <a:off x="10039145" y="9708011"/>
            <a:ext cx="1317997" cy="220564"/>
          </a:xfrm>
          <a:custGeom>
            <a:avLst/>
            <a:gdLst/>
            <a:ahLst/>
            <a:cxnLst/>
            <a:rect l="0" t="0" r="0" b="0"/>
            <a:pathLst>
              <a:path w="1317997" h="220564">
                <a:moveTo>
                  <a:pt x="0" y="110282"/>
                </a:moveTo>
                <a:cubicBezTo>
                  <a:pt x="146444" y="0"/>
                  <a:pt x="292888" y="220564"/>
                  <a:pt x="439332" y="110282"/>
                </a:cubicBezTo>
                <a:cubicBezTo>
                  <a:pt x="585776" y="0"/>
                  <a:pt x="732220" y="0"/>
                  <a:pt x="878665" y="110282"/>
                </a:cubicBezTo>
                <a:cubicBezTo>
                  <a:pt x="1025109" y="220564"/>
                  <a:pt x="1171553" y="220564"/>
                  <a:pt x="1317997" y="110282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292" name="af-seed-auto-0292-line-01" descr="{&quot;autofigure_element_id&quot;:&quot;seed-auto-0292&quot;}"/>
          <p:cNvCxnSpPr/>
          <p:nvPr/>
        </p:nvCxnSpPr>
        <p:spPr>
          <a:xfrm flipV="1">
            <a:off x="10136775" y="9770045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af-seed-auto-0293-line-01" descr="{&quot;autofigure_element_id&quot;:&quot;seed-auto-0293&quot;}"/>
          <p:cNvCxnSpPr/>
          <p:nvPr/>
        </p:nvCxnSpPr>
        <p:spPr>
          <a:xfrm>
            <a:off x="10283219" y="9763152"/>
            <a:ext cx="0" cy="11028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af-seed-auto-0294-line-01" descr="{&quot;autofigure_element_id&quot;:&quot;seed-auto-0294&quot;}"/>
          <p:cNvCxnSpPr/>
          <p:nvPr/>
        </p:nvCxnSpPr>
        <p:spPr>
          <a:xfrm flipV="1">
            <a:off x="10429663" y="9776937"/>
            <a:ext cx="0" cy="8271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af-seed-auto-0295-line-01" descr="{&quot;autofigure_element_id&quot;:&quot;seed-auto-0295&quot;}"/>
          <p:cNvCxnSpPr/>
          <p:nvPr/>
        </p:nvCxnSpPr>
        <p:spPr>
          <a:xfrm>
            <a:off x="10576107" y="9770045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af-seed-auto-0296-line-01" descr="{&quot;autofigure_element_id&quot;:&quot;seed-auto-0296&quot;}"/>
          <p:cNvCxnSpPr/>
          <p:nvPr/>
        </p:nvCxnSpPr>
        <p:spPr>
          <a:xfrm flipV="1">
            <a:off x="10722551" y="9776937"/>
            <a:ext cx="0" cy="8271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af-seed-auto-0297-line-01" descr="{&quot;autofigure_element_id&quot;:&quot;seed-auto-0297&quot;}"/>
          <p:cNvCxnSpPr/>
          <p:nvPr/>
        </p:nvCxnSpPr>
        <p:spPr>
          <a:xfrm>
            <a:off x="10868995" y="9770045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af-seed-auto-0298-line-01" descr="{&quot;autofigure_element_id&quot;:&quot;seed-auto-0298&quot;}"/>
          <p:cNvCxnSpPr/>
          <p:nvPr/>
        </p:nvCxnSpPr>
        <p:spPr>
          <a:xfrm flipV="1">
            <a:off x="11015439" y="9770045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af-seed-auto-0299-line-01" descr="{&quot;autofigure_element_id&quot;:&quot;seed-auto-0299&quot;}"/>
          <p:cNvCxnSpPr/>
          <p:nvPr/>
        </p:nvCxnSpPr>
        <p:spPr>
          <a:xfrm>
            <a:off x="11161883" y="9763152"/>
            <a:ext cx="0" cy="11028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af-seed-auto-0300-line-01" descr="{&quot;autofigure_element_id&quot;:&quot;seed-auto-0300&quot;}"/>
          <p:cNvCxnSpPr/>
          <p:nvPr/>
        </p:nvCxnSpPr>
        <p:spPr>
          <a:xfrm flipV="1">
            <a:off x="11308327" y="9776937"/>
            <a:ext cx="0" cy="8271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af-seed-auto-0301-freeform-01" descr="{&quot;autofigure_element_id&quot;:&quot;seed-auto-0301&quot;}"/>
          <p:cNvSpPr/>
          <p:nvPr/>
        </p:nvSpPr>
        <p:spPr>
          <a:xfrm>
            <a:off x="10039145" y="10617456"/>
            <a:ext cx="1317997" cy="220564"/>
          </a:xfrm>
          <a:custGeom>
            <a:avLst/>
            <a:gdLst/>
            <a:ahLst/>
            <a:cxnLst/>
            <a:rect l="0" t="0" r="0" b="0"/>
            <a:pathLst>
              <a:path w="1317997" h="220564">
                <a:moveTo>
                  <a:pt x="0" y="110282"/>
                </a:moveTo>
                <a:cubicBezTo>
                  <a:pt x="146444" y="220564"/>
                  <a:pt x="292888" y="0"/>
                  <a:pt x="439332" y="110282"/>
                </a:cubicBezTo>
                <a:cubicBezTo>
                  <a:pt x="585776" y="220564"/>
                  <a:pt x="732220" y="220564"/>
                  <a:pt x="878665" y="110282"/>
                </a:cubicBezTo>
                <a:cubicBezTo>
                  <a:pt x="1025109" y="0"/>
                  <a:pt x="1171553" y="0"/>
                  <a:pt x="1317997" y="110282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302" name="af-seed-auto-0302-freeform-01" descr="{&quot;autofigure_element_id&quot;:&quot;seed-auto-0302&quot;}"/>
          <p:cNvSpPr/>
          <p:nvPr/>
        </p:nvSpPr>
        <p:spPr>
          <a:xfrm>
            <a:off x="10039145" y="10617456"/>
            <a:ext cx="1317997" cy="220564"/>
          </a:xfrm>
          <a:custGeom>
            <a:avLst/>
            <a:gdLst/>
            <a:ahLst/>
            <a:cxnLst/>
            <a:rect l="0" t="0" r="0" b="0"/>
            <a:pathLst>
              <a:path w="1317997" h="220564">
                <a:moveTo>
                  <a:pt x="0" y="110282"/>
                </a:moveTo>
                <a:cubicBezTo>
                  <a:pt x="146444" y="0"/>
                  <a:pt x="292888" y="220564"/>
                  <a:pt x="439332" y="110282"/>
                </a:cubicBezTo>
                <a:cubicBezTo>
                  <a:pt x="585776" y="0"/>
                  <a:pt x="732220" y="0"/>
                  <a:pt x="878665" y="110282"/>
                </a:cubicBezTo>
                <a:cubicBezTo>
                  <a:pt x="1025109" y="220564"/>
                  <a:pt x="1171553" y="220564"/>
                  <a:pt x="1317997" y="110282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303" name="af-seed-auto-0303-line-01" descr="{&quot;autofigure_element_id&quot;:&quot;seed-auto-0303&quot;}"/>
          <p:cNvCxnSpPr/>
          <p:nvPr/>
        </p:nvCxnSpPr>
        <p:spPr>
          <a:xfrm flipV="1">
            <a:off x="10136775" y="10679490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af-seed-auto-0304-line-01" descr="{&quot;autofigure_element_id&quot;:&quot;seed-auto-0304&quot;}"/>
          <p:cNvCxnSpPr/>
          <p:nvPr/>
        </p:nvCxnSpPr>
        <p:spPr>
          <a:xfrm>
            <a:off x="10283219" y="10672597"/>
            <a:ext cx="0" cy="11028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af-seed-auto-0305-line-01" descr="{&quot;autofigure_element_id&quot;:&quot;seed-auto-0305&quot;}"/>
          <p:cNvCxnSpPr/>
          <p:nvPr/>
        </p:nvCxnSpPr>
        <p:spPr>
          <a:xfrm flipV="1">
            <a:off x="10429663" y="10686382"/>
            <a:ext cx="0" cy="8271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af-seed-auto-0306-line-01" descr="{&quot;autofigure_element_id&quot;:&quot;seed-auto-0306&quot;}"/>
          <p:cNvCxnSpPr/>
          <p:nvPr/>
        </p:nvCxnSpPr>
        <p:spPr>
          <a:xfrm>
            <a:off x="10576107" y="10679490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af-seed-auto-0307-line-01" descr="{&quot;autofigure_element_id&quot;:&quot;seed-auto-0307&quot;}"/>
          <p:cNvCxnSpPr/>
          <p:nvPr/>
        </p:nvCxnSpPr>
        <p:spPr>
          <a:xfrm flipV="1">
            <a:off x="10722551" y="10686382"/>
            <a:ext cx="0" cy="8271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af-seed-auto-0308-line-01" descr="{&quot;autofigure_element_id&quot;:&quot;seed-auto-0308&quot;}"/>
          <p:cNvCxnSpPr/>
          <p:nvPr/>
        </p:nvCxnSpPr>
        <p:spPr>
          <a:xfrm>
            <a:off x="10868995" y="10679490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af-seed-auto-0309-line-01" descr="{&quot;autofigure_element_id&quot;:&quot;seed-auto-0309&quot;}"/>
          <p:cNvCxnSpPr/>
          <p:nvPr/>
        </p:nvCxnSpPr>
        <p:spPr>
          <a:xfrm flipV="1">
            <a:off x="11015439" y="10679490"/>
            <a:ext cx="0" cy="96497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af-seed-auto-0310-line-01" descr="{&quot;autofigure_element_id&quot;:&quot;seed-auto-0310&quot;}"/>
          <p:cNvCxnSpPr/>
          <p:nvPr/>
        </p:nvCxnSpPr>
        <p:spPr>
          <a:xfrm>
            <a:off x="11161883" y="10672597"/>
            <a:ext cx="0" cy="11028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af-seed-auto-0311-line-01" descr="{&quot;autofigure_element_id&quot;:&quot;seed-auto-0311&quot;}"/>
          <p:cNvCxnSpPr/>
          <p:nvPr/>
        </p:nvCxnSpPr>
        <p:spPr>
          <a:xfrm flipV="1">
            <a:off x="11308327" y="10686382"/>
            <a:ext cx="0" cy="82712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af-seed-auto-0312-connector-01" descr="{&quot;arrow_spec_sha256&quot;:&quot;cb808b2b553d245976893f736b7315edb8bb413d6c85f58a3edebb08a0421ef0&quot;,&quot;autofigure_element_id&quot;:&quot;seed-auto-0312&quot;}"/>
          <p:cNvCxnSpPr/>
          <p:nvPr/>
        </p:nvCxnSpPr>
        <p:spPr>
          <a:xfrm flipH="1">
            <a:off x="8663192" y="10295972"/>
            <a:ext cx="1191555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af-seed-auto-0313-ellipse-01" descr="{&quot;autofigure_element_id&quot;:&quot;seed-auto-0313&quot;}"/>
          <p:cNvSpPr/>
          <p:nvPr/>
        </p:nvSpPr>
        <p:spPr>
          <a:xfrm>
            <a:off x="11329541" y="11399809"/>
            <a:ext cx="214871" cy="214906"/>
          </a:xfrm>
          <a:prstGeom prst="ellipse">
            <a:avLst/>
          </a:prstGeom>
          <a:solidFill>
            <a:srgbClr val="4F9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af-seed-auto-0314-ellipse-01" descr="{&quot;autofigure_element_id&quot;:&quot;seed-auto-0314&quot;}"/>
          <p:cNvSpPr/>
          <p:nvPr/>
        </p:nvSpPr>
        <p:spPr>
          <a:xfrm>
            <a:off x="11700681" y="11614716"/>
            <a:ext cx="214871" cy="214906"/>
          </a:xfrm>
          <a:prstGeom prst="ellipse">
            <a:avLst/>
          </a:prstGeom>
          <a:solidFill>
            <a:srgbClr val="7EB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af-seed-auto-0315-ellipse-01" descr="{&quot;autofigure_element_id&quot;:&quot;seed-auto-0315&quot;}"/>
          <p:cNvSpPr/>
          <p:nvPr/>
        </p:nvSpPr>
        <p:spPr>
          <a:xfrm>
            <a:off x="11710448" y="11155597"/>
            <a:ext cx="214871" cy="214906"/>
          </a:xfrm>
          <a:prstGeom prst="ellipse">
            <a:avLst/>
          </a:prstGeom>
          <a:solidFill>
            <a:srgbClr val="4F9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af-seed-auto-0316-ellipse-01" descr="{&quot;autofigure_element_id&quot;:&quot;seed-auto-0316&quot;}"/>
          <p:cNvSpPr/>
          <p:nvPr/>
        </p:nvSpPr>
        <p:spPr>
          <a:xfrm>
            <a:off x="12071821" y="11399809"/>
            <a:ext cx="214871" cy="214906"/>
          </a:xfrm>
          <a:prstGeom prst="ellipse">
            <a:avLst/>
          </a:prstGeom>
          <a:solidFill>
            <a:srgbClr val="7EB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af-seed-auto-0317-text-01" descr="{&quot;autofigure_element_id&quot;:&quot;seed-auto-0317&quot;}"/>
          <p:cNvSpPr txBox="1"/>
          <p:nvPr/>
        </p:nvSpPr>
        <p:spPr>
          <a:xfrm>
            <a:off x="10616561" y="11899749"/>
            <a:ext cx="124053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ATP and GTP</a:t>
            </a:r>
          </a:p>
        </p:txBody>
      </p:sp>
      <p:sp>
        <p:nvSpPr>
          <p:cNvPr id="318" name="af-seed-auto-0318-freeform-01" descr="{&quot;autofigure_element_id&quot;:&quot;seed-auto-0318&quot;}"/>
          <p:cNvSpPr/>
          <p:nvPr/>
        </p:nvSpPr>
        <p:spPr>
          <a:xfrm>
            <a:off x="12452728" y="9913047"/>
            <a:ext cx="1252598" cy="296962"/>
          </a:xfrm>
          <a:custGeom>
            <a:avLst/>
            <a:gdLst/>
            <a:ahLst/>
            <a:cxnLst/>
            <a:rect l="0" t="0" r="0" b="0"/>
            <a:pathLst>
              <a:path w="1252598" h="296962">
                <a:moveTo>
                  <a:pt x="0" y="148481"/>
                </a:moveTo>
                <a:cubicBezTo>
                  <a:pt x="139178" y="296962"/>
                  <a:pt x="278355" y="0"/>
                  <a:pt x="417533" y="148481"/>
                </a:cubicBezTo>
                <a:cubicBezTo>
                  <a:pt x="556710" y="296962"/>
                  <a:pt x="695888" y="296962"/>
                  <a:pt x="835065" y="148481"/>
                </a:cubicBezTo>
                <a:cubicBezTo>
                  <a:pt x="974243" y="0"/>
                  <a:pt x="1113420" y="0"/>
                  <a:pt x="1252598" y="148481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319" name="af-seed-auto-0319-freeform-01" descr="{&quot;autofigure_element_id&quot;:&quot;seed-auto-0319&quot;}"/>
          <p:cNvSpPr/>
          <p:nvPr/>
        </p:nvSpPr>
        <p:spPr>
          <a:xfrm>
            <a:off x="12452728" y="9913047"/>
            <a:ext cx="1252598" cy="296962"/>
          </a:xfrm>
          <a:custGeom>
            <a:avLst/>
            <a:gdLst/>
            <a:ahLst/>
            <a:cxnLst/>
            <a:rect l="0" t="0" r="0" b="0"/>
            <a:pathLst>
              <a:path w="1252598" h="296962">
                <a:moveTo>
                  <a:pt x="0" y="148481"/>
                </a:moveTo>
                <a:cubicBezTo>
                  <a:pt x="139178" y="0"/>
                  <a:pt x="278355" y="296962"/>
                  <a:pt x="417533" y="148481"/>
                </a:cubicBezTo>
                <a:cubicBezTo>
                  <a:pt x="556710" y="0"/>
                  <a:pt x="695888" y="0"/>
                  <a:pt x="835065" y="148481"/>
                </a:cubicBezTo>
                <a:cubicBezTo>
                  <a:pt x="974243" y="296962"/>
                  <a:pt x="1113420" y="296962"/>
                  <a:pt x="1252598" y="148481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320" name="af-seed-auto-0320-line-01" descr="{&quot;autofigure_element_id&quot;:&quot;seed-auto-0320&quot;}"/>
          <p:cNvCxnSpPr/>
          <p:nvPr/>
        </p:nvCxnSpPr>
        <p:spPr>
          <a:xfrm flipV="1">
            <a:off x="12545513" y="9996568"/>
            <a:ext cx="0" cy="12992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af-seed-auto-0321-line-01" descr="{&quot;autofigure_element_id&quot;:&quot;seed-auto-0321&quot;}"/>
          <p:cNvCxnSpPr/>
          <p:nvPr/>
        </p:nvCxnSpPr>
        <p:spPr>
          <a:xfrm>
            <a:off x="12684691" y="9987288"/>
            <a:ext cx="0" cy="14848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af-seed-auto-0322-line-01" descr="{&quot;autofigure_element_id&quot;:&quot;seed-auto-0322&quot;}"/>
          <p:cNvCxnSpPr/>
          <p:nvPr/>
        </p:nvCxnSpPr>
        <p:spPr>
          <a:xfrm flipV="1">
            <a:off x="12823868" y="10005848"/>
            <a:ext cx="0" cy="11136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af-seed-auto-0323-line-01" descr="{&quot;autofigure_element_id&quot;:&quot;seed-auto-0323&quot;}"/>
          <p:cNvCxnSpPr/>
          <p:nvPr/>
        </p:nvCxnSpPr>
        <p:spPr>
          <a:xfrm>
            <a:off x="12963046" y="9996568"/>
            <a:ext cx="0" cy="12992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af-seed-auto-0324-line-01" descr="{&quot;autofigure_element_id&quot;:&quot;seed-auto-0324&quot;}"/>
          <p:cNvCxnSpPr/>
          <p:nvPr/>
        </p:nvCxnSpPr>
        <p:spPr>
          <a:xfrm flipV="1">
            <a:off x="13102224" y="10005848"/>
            <a:ext cx="0" cy="11136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af-seed-auto-0325-line-01" descr="{&quot;autofigure_element_id&quot;:&quot;seed-auto-0325&quot;}"/>
          <p:cNvCxnSpPr/>
          <p:nvPr/>
        </p:nvCxnSpPr>
        <p:spPr>
          <a:xfrm>
            <a:off x="13241401" y="9996568"/>
            <a:ext cx="0" cy="12992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af-seed-auto-0326-line-01" descr="{&quot;autofigure_element_id&quot;:&quot;seed-auto-0326&quot;}"/>
          <p:cNvCxnSpPr/>
          <p:nvPr/>
        </p:nvCxnSpPr>
        <p:spPr>
          <a:xfrm flipV="1">
            <a:off x="13380579" y="9996568"/>
            <a:ext cx="0" cy="12992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af-seed-auto-0327-line-01" descr="{&quot;autofigure_element_id&quot;:&quot;seed-auto-0327&quot;}"/>
          <p:cNvCxnSpPr/>
          <p:nvPr/>
        </p:nvCxnSpPr>
        <p:spPr>
          <a:xfrm>
            <a:off x="13519756" y="9987288"/>
            <a:ext cx="0" cy="14848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af-seed-auto-0328-line-01" descr="{&quot;autofigure_element_id&quot;:&quot;seed-auto-0328&quot;}"/>
          <p:cNvCxnSpPr/>
          <p:nvPr/>
        </p:nvCxnSpPr>
        <p:spPr>
          <a:xfrm flipV="1">
            <a:off x="13658934" y="10005848"/>
            <a:ext cx="0" cy="111361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af-seed-auto-0329-freeform-01" descr="{&quot;autofigure_element_id&quot;:&quot;seed-auto-0329&quot;}"/>
          <p:cNvSpPr/>
          <p:nvPr/>
        </p:nvSpPr>
        <p:spPr>
          <a:xfrm>
            <a:off x="12452728" y="10401471"/>
            <a:ext cx="1252598" cy="296962"/>
          </a:xfrm>
          <a:custGeom>
            <a:avLst/>
            <a:gdLst/>
            <a:ahLst/>
            <a:cxnLst/>
            <a:rect l="0" t="0" r="0" b="0"/>
            <a:pathLst>
              <a:path w="1252598" h="296962">
                <a:moveTo>
                  <a:pt x="0" y="148481"/>
                </a:moveTo>
                <a:cubicBezTo>
                  <a:pt x="139178" y="296962"/>
                  <a:pt x="278355" y="0"/>
                  <a:pt x="417533" y="148481"/>
                </a:cubicBezTo>
                <a:cubicBezTo>
                  <a:pt x="556710" y="296962"/>
                  <a:pt x="695888" y="296962"/>
                  <a:pt x="835065" y="148481"/>
                </a:cubicBezTo>
                <a:cubicBezTo>
                  <a:pt x="974243" y="0"/>
                  <a:pt x="1113420" y="0"/>
                  <a:pt x="1252598" y="148481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330" name="af-seed-auto-0330-freeform-01" descr="{&quot;autofigure_element_id&quot;:&quot;seed-auto-0330&quot;}"/>
          <p:cNvSpPr/>
          <p:nvPr/>
        </p:nvSpPr>
        <p:spPr>
          <a:xfrm>
            <a:off x="12452728" y="10401471"/>
            <a:ext cx="1252598" cy="296962"/>
          </a:xfrm>
          <a:custGeom>
            <a:avLst/>
            <a:gdLst/>
            <a:ahLst/>
            <a:cxnLst/>
            <a:rect l="0" t="0" r="0" b="0"/>
            <a:pathLst>
              <a:path w="1252598" h="296962">
                <a:moveTo>
                  <a:pt x="0" y="148481"/>
                </a:moveTo>
                <a:cubicBezTo>
                  <a:pt x="139178" y="0"/>
                  <a:pt x="278355" y="296962"/>
                  <a:pt x="417533" y="148481"/>
                </a:cubicBezTo>
                <a:cubicBezTo>
                  <a:pt x="556710" y="0"/>
                  <a:pt x="695888" y="0"/>
                  <a:pt x="835065" y="148481"/>
                </a:cubicBezTo>
                <a:cubicBezTo>
                  <a:pt x="974243" y="296962"/>
                  <a:pt x="1113420" y="296962"/>
                  <a:pt x="1252598" y="148481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331" name="af-seed-auto-0331-line-01" descr="{&quot;autofigure_element_id&quot;:&quot;seed-auto-0331&quot;}"/>
          <p:cNvCxnSpPr/>
          <p:nvPr/>
        </p:nvCxnSpPr>
        <p:spPr>
          <a:xfrm flipV="1">
            <a:off x="12545513" y="10484992"/>
            <a:ext cx="0" cy="12992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af-seed-auto-0332-line-01" descr="{&quot;autofigure_element_id&quot;:&quot;seed-auto-0332&quot;}"/>
          <p:cNvCxnSpPr/>
          <p:nvPr/>
        </p:nvCxnSpPr>
        <p:spPr>
          <a:xfrm>
            <a:off x="12684691" y="10475712"/>
            <a:ext cx="0" cy="14848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af-seed-auto-0333-line-01" descr="{&quot;autofigure_element_id&quot;:&quot;seed-auto-0333&quot;}"/>
          <p:cNvCxnSpPr/>
          <p:nvPr/>
        </p:nvCxnSpPr>
        <p:spPr>
          <a:xfrm flipV="1">
            <a:off x="12823868" y="10494272"/>
            <a:ext cx="0" cy="11136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af-seed-auto-0334-line-01" descr="{&quot;autofigure_element_id&quot;:&quot;seed-auto-0334&quot;}"/>
          <p:cNvCxnSpPr/>
          <p:nvPr/>
        </p:nvCxnSpPr>
        <p:spPr>
          <a:xfrm>
            <a:off x="12963046" y="10484992"/>
            <a:ext cx="0" cy="12992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af-seed-auto-0335-line-01" descr="{&quot;autofigure_element_id&quot;:&quot;seed-auto-0335&quot;}"/>
          <p:cNvCxnSpPr/>
          <p:nvPr/>
        </p:nvCxnSpPr>
        <p:spPr>
          <a:xfrm flipV="1">
            <a:off x="13102224" y="10494272"/>
            <a:ext cx="0" cy="11136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af-seed-auto-0336-line-01" descr="{&quot;autofigure_element_id&quot;:&quot;seed-auto-0336&quot;}"/>
          <p:cNvCxnSpPr/>
          <p:nvPr/>
        </p:nvCxnSpPr>
        <p:spPr>
          <a:xfrm>
            <a:off x="13241401" y="10484992"/>
            <a:ext cx="0" cy="12992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af-seed-auto-0337-line-01" descr="{&quot;autofigure_element_id&quot;:&quot;seed-auto-0337&quot;}"/>
          <p:cNvCxnSpPr/>
          <p:nvPr/>
        </p:nvCxnSpPr>
        <p:spPr>
          <a:xfrm flipV="1">
            <a:off x="13380579" y="10484992"/>
            <a:ext cx="0" cy="12992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af-seed-auto-0338-line-01" descr="{&quot;autofigure_element_id&quot;:&quot;seed-auto-0338&quot;}"/>
          <p:cNvCxnSpPr/>
          <p:nvPr/>
        </p:nvCxnSpPr>
        <p:spPr>
          <a:xfrm>
            <a:off x="13519756" y="10475712"/>
            <a:ext cx="0" cy="14848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af-seed-auto-0339-line-01" descr="{&quot;autofigure_element_id&quot;:&quot;seed-auto-0339&quot;}"/>
          <p:cNvCxnSpPr/>
          <p:nvPr/>
        </p:nvCxnSpPr>
        <p:spPr>
          <a:xfrm flipV="1">
            <a:off x="13658934" y="10494272"/>
            <a:ext cx="0" cy="11136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af-seed-auto-0340-text-01" descr="{&quot;autofigure_element_id&quot;:&quot;seed-auto-0340&quot;}"/>
          <p:cNvSpPr txBox="1"/>
          <p:nvPr/>
        </p:nvSpPr>
        <p:spPr>
          <a:xfrm>
            <a:off x="13038739" y="9584620"/>
            <a:ext cx="61112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DNA</a:t>
            </a:r>
          </a:p>
        </p:txBody>
      </p:sp>
      <p:cxnSp>
        <p:nvCxnSpPr>
          <p:cNvPr id="341" name="af-seed-auto-0341-connector-01" descr="{&quot;arrow_spec_sha256&quot;:&quot;a7cb03d883c3f50d3009e3a0d04d3948c73a6c3d42443f0ffd8c7bafc40ef8f1&quot;,&quot;autofigure_element_id&quot;:&quot;seed-auto-0341&quot;}"/>
          <p:cNvCxnSpPr/>
          <p:nvPr/>
        </p:nvCxnSpPr>
        <p:spPr>
          <a:xfrm flipH="1">
            <a:off x="11622546" y="10295972"/>
            <a:ext cx="732514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af-seed-auto-0342-freeform-01" descr="{&quot;autofigure_element_id&quot;:&quot;seed-auto-0342&quot;}"/>
          <p:cNvSpPr/>
          <p:nvPr/>
        </p:nvSpPr>
        <p:spPr>
          <a:xfrm>
            <a:off x="15060476" y="9266374"/>
            <a:ext cx="1516303" cy="359480"/>
          </a:xfrm>
          <a:custGeom>
            <a:avLst/>
            <a:gdLst/>
            <a:ahLst/>
            <a:cxnLst/>
            <a:rect l="0" t="0" r="0" b="0"/>
            <a:pathLst>
              <a:path w="1516303" h="359480">
                <a:moveTo>
                  <a:pt x="0" y="179740"/>
                </a:moveTo>
                <a:cubicBezTo>
                  <a:pt x="168478" y="359480"/>
                  <a:pt x="336956" y="0"/>
                  <a:pt x="505434" y="179740"/>
                </a:cubicBezTo>
                <a:cubicBezTo>
                  <a:pt x="673912" y="359480"/>
                  <a:pt x="842390" y="359480"/>
                  <a:pt x="1010869" y="179740"/>
                </a:cubicBezTo>
                <a:cubicBezTo>
                  <a:pt x="1179347" y="0"/>
                  <a:pt x="1347825" y="0"/>
                  <a:pt x="1516303" y="179740"/>
                </a:cubicBezTo>
              </a:path>
            </a:pathLst>
          </a:custGeom>
          <a:noFill/>
          <a:ln w="47625">
            <a:solidFill>
              <a:srgbClr val="F28A24"/>
            </a:solidFill>
            <a:miter/>
          </a:ln>
        </p:spPr>
      </p:sp>
      <p:sp>
        <p:nvSpPr>
          <p:cNvPr id="343" name="af-seed-auto-0343-freeform-01" descr="{&quot;autofigure_element_id&quot;:&quot;seed-auto-0343&quot;}"/>
          <p:cNvSpPr/>
          <p:nvPr/>
        </p:nvSpPr>
        <p:spPr>
          <a:xfrm>
            <a:off x="15060476" y="9266374"/>
            <a:ext cx="1516303" cy="359480"/>
          </a:xfrm>
          <a:custGeom>
            <a:avLst/>
            <a:gdLst/>
            <a:ahLst/>
            <a:cxnLst/>
            <a:rect l="0" t="0" r="0" b="0"/>
            <a:pathLst>
              <a:path w="1516303" h="359480">
                <a:moveTo>
                  <a:pt x="0" y="179740"/>
                </a:moveTo>
                <a:cubicBezTo>
                  <a:pt x="168478" y="0"/>
                  <a:pt x="336956" y="359480"/>
                  <a:pt x="505434" y="179740"/>
                </a:cubicBezTo>
                <a:cubicBezTo>
                  <a:pt x="673912" y="0"/>
                  <a:pt x="842390" y="0"/>
                  <a:pt x="1010869" y="179740"/>
                </a:cubicBezTo>
                <a:cubicBezTo>
                  <a:pt x="1179347" y="359480"/>
                  <a:pt x="1347825" y="359480"/>
                  <a:pt x="1516303" y="179740"/>
                </a:cubicBezTo>
              </a:path>
            </a:pathLst>
          </a:custGeom>
          <a:noFill/>
          <a:ln w="47625">
            <a:solidFill>
              <a:srgbClr val="2A9ED8"/>
            </a:solidFill>
            <a:miter/>
          </a:ln>
        </p:spPr>
      </p:sp>
      <p:cxnSp>
        <p:nvCxnSpPr>
          <p:cNvPr id="344" name="af-seed-auto-0344-line-01" descr="{&quot;autofigure_element_id&quot;:&quot;seed-auto-0344&quot;}"/>
          <p:cNvCxnSpPr/>
          <p:nvPr/>
        </p:nvCxnSpPr>
        <p:spPr>
          <a:xfrm flipV="1">
            <a:off x="15172795" y="9367478"/>
            <a:ext cx="0" cy="157273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af-seed-auto-0345-line-01" descr="{&quot;autofigure_element_id&quot;:&quot;seed-auto-0345&quot;}"/>
          <p:cNvCxnSpPr/>
          <p:nvPr/>
        </p:nvCxnSpPr>
        <p:spPr>
          <a:xfrm>
            <a:off x="15341273" y="9356244"/>
            <a:ext cx="0" cy="17974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af-seed-auto-0346-line-01" descr="{&quot;autofigure_element_id&quot;:&quot;seed-auto-0346&quot;}"/>
          <p:cNvCxnSpPr/>
          <p:nvPr/>
        </p:nvCxnSpPr>
        <p:spPr>
          <a:xfrm flipV="1">
            <a:off x="15509751" y="9378712"/>
            <a:ext cx="0" cy="134805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af-seed-auto-0347-line-01" descr="{&quot;autofigure_element_id&quot;:&quot;seed-auto-0347&quot;}"/>
          <p:cNvCxnSpPr/>
          <p:nvPr/>
        </p:nvCxnSpPr>
        <p:spPr>
          <a:xfrm>
            <a:off x="15678229" y="9367478"/>
            <a:ext cx="0" cy="157273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af-seed-auto-0348-line-01" descr="{&quot;autofigure_element_id&quot;:&quot;seed-auto-0348&quot;}"/>
          <p:cNvCxnSpPr/>
          <p:nvPr/>
        </p:nvCxnSpPr>
        <p:spPr>
          <a:xfrm flipV="1">
            <a:off x="15846707" y="9378712"/>
            <a:ext cx="0" cy="134805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af-seed-auto-0349-line-01" descr="{&quot;autofigure_element_id&quot;:&quot;seed-auto-0349&quot;}"/>
          <p:cNvCxnSpPr/>
          <p:nvPr/>
        </p:nvCxnSpPr>
        <p:spPr>
          <a:xfrm>
            <a:off x="16015185" y="9367478"/>
            <a:ext cx="0" cy="157273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af-seed-auto-0350-line-01" descr="{&quot;autofigure_element_id&quot;:&quot;seed-auto-0350&quot;}"/>
          <p:cNvCxnSpPr/>
          <p:nvPr/>
        </p:nvCxnSpPr>
        <p:spPr>
          <a:xfrm flipV="1">
            <a:off x="16183663" y="9367478"/>
            <a:ext cx="0" cy="157273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af-seed-auto-0351-line-01" descr="{&quot;autofigure_element_id&quot;:&quot;seed-auto-0351&quot;}"/>
          <p:cNvCxnSpPr/>
          <p:nvPr/>
        </p:nvCxnSpPr>
        <p:spPr>
          <a:xfrm>
            <a:off x="16352141" y="9356244"/>
            <a:ext cx="0" cy="179740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af-seed-auto-0352-line-01" descr="{&quot;autofigure_element_id&quot;:&quot;seed-auto-0352&quot;}"/>
          <p:cNvCxnSpPr/>
          <p:nvPr/>
        </p:nvCxnSpPr>
        <p:spPr>
          <a:xfrm flipV="1">
            <a:off x="16520620" y="9378712"/>
            <a:ext cx="0" cy="134805"/>
          </a:xfrm>
          <a:prstGeom prst="line">
            <a:avLst/>
          </a:prstGeom>
          <a:ln w="19050">
            <a:solidFill>
              <a:srgbClr val="98CBE7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af-seed-auto-0353-text-01" descr="{&quot;autofigure_element_id&quot;:&quot;seed-auto-0353&quot;}"/>
          <p:cNvSpPr txBox="1"/>
          <p:nvPr/>
        </p:nvSpPr>
        <p:spPr>
          <a:xfrm>
            <a:off x="16730607" y="9408788"/>
            <a:ext cx="61112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DNA</a:t>
            </a:r>
          </a:p>
        </p:txBody>
      </p:sp>
      <p:cxnSp>
        <p:nvCxnSpPr>
          <p:cNvPr id="354" name="af-seed-auto-0354-connector-01" descr="{&quot;arrow_spec_sha256&quot;:&quot;63421166d5261bf04c275b29bb5fe344b7de1bcfd992719490506884c707b2f5&quot;,&quot;autofigure_element_id&quot;:&quot;seed-auto-0354&quot;}"/>
          <p:cNvCxnSpPr/>
          <p:nvPr/>
        </p:nvCxnSpPr>
        <p:spPr>
          <a:xfrm flipH="1">
            <a:off x="14337729" y="10295972"/>
            <a:ext cx="712980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af-seed-auto-0355-ellipse-01" descr="{&quot;autofigure_element_id&quot;:&quot;seed-auto-0355&quot;}"/>
          <p:cNvSpPr/>
          <p:nvPr/>
        </p:nvSpPr>
        <p:spPr>
          <a:xfrm>
            <a:off x="15548818" y="10051760"/>
            <a:ext cx="664146" cy="664256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af-seed-auto-0356-ellipse-01" descr="{&quot;autofigure_element_id&quot;:&quot;seed-auto-0356&quot;}"/>
          <p:cNvSpPr/>
          <p:nvPr/>
        </p:nvSpPr>
        <p:spPr>
          <a:xfrm>
            <a:off x="15744155" y="10247129"/>
            <a:ext cx="273472" cy="273517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af-seed-auto-0357-freeform-01" descr="{&quot;autofigure_element_id&quot;:&quot;seed-auto-0357&quot;}"/>
          <p:cNvSpPr/>
          <p:nvPr/>
        </p:nvSpPr>
        <p:spPr>
          <a:xfrm>
            <a:off x="15783223" y="10279691"/>
            <a:ext cx="253938" cy="117222"/>
          </a:xfrm>
          <a:custGeom>
            <a:avLst/>
            <a:gdLst/>
            <a:ahLst/>
            <a:cxnLst/>
            <a:rect l="0" t="0" r="0" b="0"/>
            <a:pathLst>
              <a:path w="253938" h="117222">
                <a:moveTo>
                  <a:pt x="0" y="65123"/>
                </a:moveTo>
                <a:cubicBezTo>
                  <a:pt x="45579" y="0"/>
                  <a:pt x="87902" y="0"/>
                  <a:pt x="126969" y="65123"/>
                </a:cubicBezTo>
                <a:cubicBezTo>
                  <a:pt x="179059" y="117222"/>
                  <a:pt x="221382" y="117222"/>
                  <a:pt x="253938" y="65123"/>
                </a:cubicBezTo>
              </a:path>
            </a:pathLst>
          </a:custGeom>
          <a:noFill/>
          <a:ln w="20955">
            <a:solidFill>
              <a:srgbClr val="D5412D"/>
            </a:solidFill>
            <a:miter/>
          </a:ln>
        </p:spPr>
      </p:sp>
      <p:cxnSp>
        <p:nvCxnSpPr>
          <p:cNvPr id="358" name="af-seed-auto-0358-line-01" descr="{&quot;autofigure_element_id&quot;:&quot;seed-auto-0358&quot;}"/>
          <p:cNvCxnSpPr/>
          <p:nvPr/>
        </p:nvCxnSpPr>
        <p:spPr>
          <a:xfrm>
            <a:off x="15880891" y="9875927"/>
            <a:ext cx="0" cy="166064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af-seed-auto-0359-ellipse-01" descr="{&quot;autofigure_element_id&quot;:&quot;seed-auto-0359&quot;}"/>
          <p:cNvSpPr/>
          <p:nvPr/>
        </p:nvSpPr>
        <p:spPr>
          <a:xfrm>
            <a:off x="15841824" y="9788011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af-seed-auto-0360-line-01" descr="{&quot;autofigure_element_id&quot;:&quot;seed-auto-0360&quot;}"/>
          <p:cNvCxnSpPr/>
          <p:nvPr/>
        </p:nvCxnSpPr>
        <p:spPr>
          <a:xfrm flipH="1">
            <a:off x="16125062" y="10022454"/>
            <a:ext cx="117202" cy="117222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af-seed-auto-0361-ellipse-01" descr="{&quot;autofigure_element_id&quot;:&quot;seed-auto-0361&quot;}"/>
          <p:cNvSpPr/>
          <p:nvPr/>
        </p:nvSpPr>
        <p:spPr>
          <a:xfrm>
            <a:off x="16252031" y="9934538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af-seed-auto-0362-line-01" descr="{&quot;autofigure_element_id&quot;:&quot;seed-auto-0362&quot;}"/>
          <p:cNvCxnSpPr/>
          <p:nvPr/>
        </p:nvCxnSpPr>
        <p:spPr>
          <a:xfrm flipH="1">
            <a:off x="16222731" y="10383888"/>
            <a:ext cx="166036" cy="0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af-seed-auto-0363-ellipse-01" descr="{&quot;autofigure_element_id&quot;:&quot;seed-auto-0363&quot;}"/>
          <p:cNvSpPr/>
          <p:nvPr/>
        </p:nvSpPr>
        <p:spPr>
          <a:xfrm>
            <a:off x="16398534" y="10344814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4" name="af-seed-auto-0364-line-01" descr="{&quot;autofigure_element_id&quot;:&quot;seed-auto-0364&quot;}"/>
          <p:cNvCxnSpPr/>
          <p:nvPr/>
        </p:nvCxnSpPr>
        <p:spPr>
          <a:xfrm flipH="1" flipV="1">
            <a:off x="16125062" y="10628100"/>
            <a:ext cx="117202" cy="117221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af-seed-auto-0365-ellipse-01" descr="{&quot;autofigure_element_id&quot;:&quot;seed-auto-0365&quot;}"/>
          <p:cNvSpPr/>
          <p:nvPr/>
        </p:nvSpPr>
        <p:spPr>
          <a:xfrm>
            <a:off x="16252031" y="10755090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6" name="af-seed-auto-0366-line-01" descr="{&quot;autofigure_element_id&quot;:&quot;seed-auto-0366&quot;}"/>
          <p:cNvCxnSpPr/>
          <p:nvPr/>
        </p:nvCxnSpPr>
        <p:spPr>
          <a:xfrm flipV="1">
            <a:off x="15880891" y="10725785"/>
            <a:ext cx="0" cy="166064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af-seed-auto-0367-ellipse-01" descr="{&quot;autofigure_element_id&quot;:&quot;seed-auto-0367&quot;}"/>
          <p:cNvSpPr/>
          <p:nvPr/>
        </p:nvSpPr>
        <p:spPr>
          <a:xfrm>
            <a:off x="15841824" y="10901617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af-seed-auto-0368-line-01" descr="{&quot;autofigure_element_id&quot;:&quot;seed-auto-0368&quot;}"/>
          <p:cNvCxnSpPr/>
          <p:nvPr/>
        </p:nvCxnSpPr>
        <p:spPr>
          <a:xfrm flipV="1">
            <a:off x="15519518" y="10628100"/>
            <a:ext cx="117202" cy="117221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af-seed-auto-0369-ellipse-01" descr="{&quot;autofigure_element_id&quot;:&quot;seed-auto-0369&quot;}"/>
          <p:cNvSpPr/>
          <p:nvPr/>
        </p:nvSpPr>
        <p:spPr>
          <a:xfrm>
            <a:off x="15431616" y="10755090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0" name="af-seed-auto-0370-line-01" descr="{&quot;autofigure_element_id&quot;:&quot;seed-auto-0370&quot;}"/>
          <p:cNvCxnSpPr/>
          <p:nvPr/>
        </p:nvCxnSpPr>
        <p:spPr>
          <a:xfrm>
            <a:off x="15373015" y="10383888"/>
            <a:ext cx="166037" cy="0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af-seed-auto-0371-ellipse-01" descr="{&quot;autofigure_element_id&quot;:&quot;seed-auto-0371&quot;}"/>
          <p:cNvSpPr/>
          <p:nvPr/>
        </p:nvSpPr>
        <p:spPr>
          <a:xfrm>
            <a:off x="15285114" y="10344814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2" name="af-seed-auto-0372-line-01" descr="{&quot;autofigure_element_id&quot;:&quot;seed-auto-0372&quot;}"/>
          <p:cNvCxnSpPr/>
          <p:nvPr/>
        </p:nvCxnSpPr>
        <p:spPr>
          <a:xfrm>
            <a:off x="15519518" y="10022454"/>
            <a:ext cx="117202" cy="117222"/>
          </a:xfrm>
          <a:prstGeom prst="line">
            <a:avLst/>
          </a:prstGeom>
          <a:ln w="20955">
            <a:solidFill>
              <a:srgbClr val="D5412D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af-seed-auto-0373-ellipse-01" descr="{&quot;autofigure_element_id&quot;:&quot;seed-auto-0373&quot;}"/>
          <p:cNvSpPr/>
          <p:nvPr/>
        </p:nvSpPr>
        <p:spPr>
          <a:xfrm>
            <a:off x="15431616" y="9934538"/>
            <a:ext cx="78135" cy="78148"/>
          </a:xfrm>
          <a:prstGeom prst="ellipse">
            <a:avLst/>
          </a:prstGeom>
          <a:noFill/>
          <a:ln w="20955">
            <a:solidFill>
              <a:srgbClr val="D5412D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af-seed-auto-0374-text-01" descr="{&quot;autofigure_element_id&quot;:&quot;seed-auto-0374&quot;}"/>
          <p:cNvSpPr txBox="1"/>
          <p:nvPr/>
        </p:nvSpPr>
        <p:spPr>
          <a:xfrm>
            <a:off x="16720840" y="10229339"/>
            <a:ext cx="100584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Retrovirus</a:t>
            </a:r>
          </a:p>
        </p:txBody>
      </p:sp>
      <p:sp>
        <p:nvSpPr>
          <p:cNvPr id="375" name="af-seed-auto-0375-freeform-01" descr="{&quot;autofigure_element_id&quot;:&quot;seed-auto-0375&quot;}"/>
          <p:cNvSpPr/>
          <p:nvPr/>
        </p:nvSpPr>
        <p:spPr>
          <a:xfrm>
            <a:off x="15900425" y="10930922"/>
            <a:ext cx="644612" cy="664256"/>
          </a:xfrm>
          <a:custGeom>
            <a:avLst/>
            <a:gdLst/>
            <a:ahLst/>
            <a:cxnLst/>
            <a:rect l="0" t="0" r="0" b="0"/>
            <a:pathLst>
              <a:path w="644612" h="664256">
                <a:moveTo>
                  <a:pt x="332073" y="0"/>
                </a:moveTo>
                <a:lnTo>
                  <a:pt x="644612" y="185601"/>
                </a:lnTo>
                <a:lnTo>
                  <a:pt x="595778" y="576340"/>
                </a:lnTo>
                <a:lnTo>
                  <a:pt x="253938" y="664256"/>
                </a:lnTo>
                <a:lnTo>
                  <a:pt x="0" y="380970"/>
                </a:lnTo>
                <a:lnTo>
                  <a:pt x="87902" y="78148"/>
                </a:lnTo>
                <a:close/>
              </a:path>
            </a:pathLst>
          </a:custGeom>
          <a:solidFill>
            <a:srgbClr val="F3F8FC"/>
          </a:solidFill>
          <a:ln w="20955">
            <a:solidFill>
              <a:srgbClr val="4D88C6"/>
            </a:solidFill>
            <a:miter/>
          </a:ln>
        </p:spPr>
      </p:sp>
      <p:sp>
        <p:nvSpPr>
          <p:cNvPr id="376" name="af-seed-auto-0376-freeform-01" descr="{&quot;autofigure_element_id&quot;:&quot;seed-auto-0376&quot;}"/>
          <p:cNvSpPr/>
          <p:nvPr/>
        </p:nvSpPr>
        <p:spPr>
          <a:xfrm>
            <a:off x="16173896" y="11087218"/>
            <a:ext cx="136736" cy="312591"/>
          </a:xfrm>
          <a:custGeom>
            <a:avLst/>
            <a:gdLst/>
            <a:ahLst/>
            <a:cxnLst/>
            <a:rect l="0" t="0" r="0" b="0"/>
            <a:pathLst>
              <a:path w="136736" h="312591">
                <a:moveTo>
                  <a:pt x="0" y="0"/>
                </a:moveTo>
                <a:cubicBezTo>
                  <a:pt x="84646" y="45586"/>
                  <a:pt x="110691" y="94429"/>
                  <a:pt x="78135" y="146527"/>
                </a:cubicBezTo>
                <a:cubicBezTo>
                  <a:pt x="39067" y="198626"/>
                  <a:pt x="58601" y="253980"/>
                  <a:pt x="136736" y="312591"/>
                </a:cubicBezTo>
              </a:path>
            </a:pathLst>
          </a:custGeom>
          <a:noFill/>
          <a:ln w="19050">
            <a:solidFill>
              <a:srgbClr val="2B6CAD"/>
            </a:solidFill>
            <a:miter/>
          </a:ln>
        </p:spPr>
      </p:sp>
      <p:sp>
        <p:nvSpPr>
          <p:cNvPr id="377" name="af-seed-auto-0377-freeform-01" descr="{&quot;autofigure_element_id&quot;:&quot;seed-auto-0377&quot;}"/>
          <p:cNvSpPr/>
          <p:nvPr/>
        </p:nvSpPr>
        <p:spPr>
          <a:xfrm>
            <a:off x="16154363" y="11067681"/>
            <a:ext cx="107435" cy="312591"/>
          </a:xfrm>
          <a:custGeom>
            <a:avLst/>
            <a:gdLst/>
            <a:ahLst/>
            <a:cxnLst/>
            <a:rect l="0" t="0" r="0" b="0"/>
            <a:pathLst>
              <a:path w="107435" h="312591">
                <a:moveTo>
                  <a:pt x="107435" y="0"/>
                </a:moveTo>
                <a:cubicBezTo>
                  <a:pt x="29301" y="39074"/>
                  <a:pt x="9767" y="87916"/>
                  <a:pt x="48834" y="146527"/>
                </a:cubicBezTo>
                <a:cubicBezTo>
                  <a:pt x="100924" y="211650"/>
                  <a:pt x="84646" y="267005"/>
                  <a:pt x="0" y="312591"/>
                </a:cubicBezTo>
              </a:path>
            </a:pathLst>
          </a:custGeom>
          <a:noFill/>
          <a:ln w="19050">
            <a:solidFill>
              <a:srgbClr val="2B6CAD"/>
            </a:solidFill>
            <a:miter/>
          </a:ln>
        </p:spPr>
      </p:sp>
      <p:sp>
        <p:nvSpPr>
          <p:cNvPr id="378" name="af-seed-auto-0378-text-01" descr="{&quot;autofigure_element_id&quot;:&quot;seed-auto-0378&quot;}"/>
          <p:cNvSpPr txBox="1"/>
          <p:nvPr/>
        </p:nvSpPr>
        <p:spPr>
          <a:xfrm>
            <a:off x="16720840" y="11098734"/>
            <a:ext cx="989076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DNA virus</a:t>
            </a:r>
          </a:p>
        </p:txBody>
      </p:sp>
      <p:sp>
        <p:nvSpPr>
          <p:cNvPr id="379" name="af-seed-auto-0379-freeform-01" descr="{&quot;autofigure_element_id&quot;:&quot;seed-auto-0379&quot;}"/>
          <p:cNvSpPr/>
          <p:nvPr/>
        </p:nvSpPr>
        <p:spPr>
          <a:xfrm>
            <a:off x="15420678" y="11619742"/>
            <a:ext cx="803224" cy="517445"/>
          </a:xfrm>
          <a:custGeom>
            <a:avLst/>
            <a:gdLst/>
            <a:ahLst/>
            <a:cxnLst/>
            <a:rect l="0" t="0" r="0" b="0"/>
            <a:pathLst>
              <a:path w="803224" h="517445">
                <a:moveTo>
                  <a:pt x="0" y="154354"/>
                </a:moveTo>
                <a:lnTo>
                  <a:pt x="726060" y="0"/>
                </a:lnTo>
                <a:lnTo>
                  <a:pt x="803224" y="363090"/>
                </a:lnTo>
                <a:lnTo>
                  <a:pt x="77164" y="517445"/>
                </a:lnTo>
                <a:close/>
              </a:path>
            </a:pathLst>
          </a:custGeom>
          <a:solidFill>
            <a:srgbClr val="7AB43D"/>
          </a:solidFill>
          <a:ln w="19050">
            <a:solidFill>
              <a:srgbClr val="3E7B29"/>
            </a:solidFill>
            <a:miter/>
          </a:ln>
        </p:spPr>
      </p:sp>
      <p:sp>
        <p:nvSpPr>
          <p:cNvPr id="380" name="af-seed-auto-0380-ellipse-01" descr="{&quot;autofigure_element_id&quot;:&quot;seed-auto-0380&quot;}"/>
          <p:cNvSpPr/>
          <p:nvPr/>
        </p:nvSpPr>
        <p:spPr>
          <a:xfrm>
            <a:off x="15593839" y="11837151"/>
            <a:ext cx="92672" cy="60192"/>
          </a:xfrm>
          <a:prstGeom prst="ellipse">
            <a:avLst/>
          </a:prstGeom>
          <a:solidFill>
            <a:srgbClr val="3E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af-seed-auto-0381-ellipse-01" descr="{&quot;autofigure_element_id&quot;:&quot;seed-auto-0381&quot;}"/>
          <p:cNvSpPr/>
          <p:nvPr/>
        </p:nvSpPr>
        <p:spPr>
          <a:xfrm>
            <a:off x="15807244" y="11901636"/>
            <a:ext cx="92672" cy="60192"/>
          </a:xfrm>
          <a:prstGeom prst="ellipse">
            <a:avLst/>
          </a:prstGeom>
          <a:solidFill>
            <a:srgbClr val="3E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af-seed-auto-0382-ellipse-01" descr="{&quot;autofigure_element_id&quot;:&quot;seed-auto-0382&quot;}"/>
          <p:cNvSpPr/>
          <p:nvPr/>
        </p:nvSpPr>
        <p:spPr>
          <a:xfrm>
            <a:off x="15935731" y="11754481"/>
            <a:ext cx="92672" cy="60192"/>
          </a:xfrm>
          <a:prstGeom prst="ellipse">
            <a:avLst/>
          </a:prstGeom>
          <a:solidFill>
            <a:srgbClr val="3E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af-seed-auto-0383-freeform-01" descr="{&quot;autofigure_element_id&quot;:&quot;seed-auto-0383&quot;}"/>
          <p:cNvSpPr/>
          <p:nvPr/>
        </p:nvSpPr>
        <p:spPr>
          <a:xfrm>
            <a:off x="16182458" y="11871266"/>
            <a:ext cx="912741" cy="439147"/>
          </a:xfrm>
          <a:custGeom>
            <a:avLst/>
            <a:gdLst/>
            <a:ahLst/>
            <a:cxnLst/>
            <a:rect l="0" t="0" r="0" b="0"/>
            <a:pathLst>
              <a:path w="912741" h="439147">
                <a:moveTo>
                  <a:pt x="0" y="10523"/>
                </a:moveTo>
                <a:cubicBezTo>
                  <a:pt x="237405" y="0"/>
                  <a:pt x="410566" y="63054"/>
                  <a:pt x="519483" y="199687"/>
                </a:cubicBezTo>
                <a:cubicBezTo>
                  <a:pt x="655630" y="370477"/>
                  <a:pt x="786716" y="439147"/>
                  <a:pt x="912741" y="405698"/>
                </a:cubicBezTo>
              </a:path>
            </a:pathLst>
          </a:custGeom>
          <a:noFill/>
          <a:ln w="19050">
            <a:solidFill>
              <a:srgbClr val="3E7B29"/>
            </a:solidFill>
            <a:miter/>
          </a:ln>
        </p:spPr>
      </p:sp>
      <p:cxnSp>
        <p:nvCxnSpPr>
          <p:cNvPr id="384" name="af-seed-auto-0384-line-01" descr="{&quot;autofigure_element_id&quot;:&quot;seed-auto-0384&quot;}"/>
          <p:cNvCxnSpPr/>
          <p:nvPr/>
        </p:nvCxnSpPr>
        <p:spPr>
          <a:xfrm flipH="1" flipV="1">
            <a:off x="15424971" y="11653343"/>
            <a:ext cx="93272" cy="109999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af-seed-auto-0385-line-01" descr="{&quot;autofigure_element_id&quot;:&quot;seed-auto-0385&quot;}"/>
          <p:cNvCxnSpPr/>
          <p:nvPr/>
        </p:nvCxnSpPr>
        <p:spPr>
          <a:xfrm flipH="1" flipV="1">
            <a:off x="15659745" y="11583459"/>
            <a:ext cx="47536" cy="129708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af-seed-auto-0386-line-01" descr="{&quot;autofigure_element_id&quot;:&quot;seed-auto-0386&quot;}"/>
          <p:cNvCxnSpPr/>
          <p:nvPr/>
        </p:nvCxnSpPr>
        <p:spPr>
          <a:xfrm flipV="1">
            <a:off x="15900379" y="11540208"/>
            <a:ext cx="9785" cy="141895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af-seed-auto-0387-line-01" descr="{&quot;autofigure_element_id&quot;:&quot;seed-auto-0387&quot;}"/>
          <p:cNvCxnSpPr/>
          <p:nvPr/>
        </p:nvCxnSpPr>
        <p:spPr>
          <a:xfrm flipV="1">
            <a:off x="16070910" y="11560381"/>
            <a:ext cx="73197" cy="125415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af-seed-auto-0388-line-01" descr="{&quot;autofigure_element_id&quot;:&quot;seed-auto-0388&quot;}"/>
          <p:cNvCxnSpPr/>
          <p:nvPr/>
        </p:nvCxnSpPr>
        <p:spPr>
          <a:xfrm flipH="1">
            <a:off x="15550870" y="12107322"/>
            <a:ext cx="40476" cy="138432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af-seed-auto-0389-line-01" descr="{&quot;autofigure_element_id&quot;:&quot;seed-auto-0389&quot;}"/>
          <p:cNvCxnSpPr/>
          <p:nvPr/>
        </p:nvCxnSpPr>
        <p:spPr>
          <a:xfrm>
            <a:off x="15784445" y="12076257"/>
            <a:ext cx="9322" cy="137833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af-seed-auto-0390-line-01" descr="{&quot;autofigure_element_id&quot;:&quot;seed-auto-0390&quot;}"/>
          <p:cNvCxnSpPr/>
          <p:nvPr/>
        </p:nvCxnSpPr>
        <p:spPr>
          <a:xfrm>
            <a:off x="15973483" y="12026083"/>
            <a:ext cx="66642" cy="125646"/>
          </a:xfrm>
          <a:prstGeom prst="line">
            <a:avLst/>
          </a:prstGeom>
          <a:ln w="17145">
            <a:solidFill>
              <a:srgbClr val="3E7B2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af-seed-auto-0391-text-01" descr="{&quot;autofigure_element_id&quot;:&quot;seed-auto-0391&quot;}"/>
          <p:cNvSpPr txBox="1"/>
          <p:nvPr/>
        </p:nvSpPr>
        <p:spPr>
          <a:xfrm>
            <a:off x="16720840" y="11919285"/>
            <a:ext cx="871728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>
                <a:solidFill>
                  <a:srgbClr val="111111"/>
                </a:solidFill>
                <a:latin typeface="Arial"/>
              </a:rPr>
              <a:t>Bacteria</a:t>
            </a:r>
          </a:p>
        </p:txBody>
      </p:sp>
      <p:cxnSp>
        <p:nvCxnSpPr>
          <p:cNvPr id="392" name="af-seed-auto-0392-connector-01" descr="{&quot;arrow_spec_sha256&quot;:&quot;66afc39a3c82c7be14252a347faedb972766f095372f7eead70ad8dadd500a5f&quot;,&quot;autofigure_element_id&quot;:&quot;seed-auto-0392&quot;}"/>
          <p:cNvCxnSpPr/>
          <p:nvPr/>
        </p:nvCxnSpPr>
        <p:spPr>
          <a:xfrm flipH="1">
            <a:off x="14337729" y="10452267"/>
            <a:ext cx="1181789" cy="0"/>
          </a:xfrm>
          <a:prstGeom prst="line">
            <a:avLst/>
          </a:prstGeom>
          <a:ln w="33338" cap="rnd">
            <a:solidFill>
              <a:srgbClr val="111111"/>
            </a:solidFill>
            <a:round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