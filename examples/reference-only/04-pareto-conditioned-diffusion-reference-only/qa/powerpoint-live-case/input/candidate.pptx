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591925" cy="58007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f-canvas-background-rect-01" descr="{&quot;autofigure_element_id&quot;:&quot;canvas-background&quot;}"/>
          <p:cNvSpPr/>
          <p:nvPr/>
        </p:nvSpPr>
        <p:spPr>
          <a:xfrm>
            <a:off x="0" y="0"/>
            <a:ext cx="11591925" cy="5800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f-panel-offline-rect-01" descr="{&quot;autofigure_element_id&quot;:&quot;panel-offline&quot;}"/>
          <p:cNvSpPr/>
          <p:nvPr/>
        </p:nvSpPr>
        <p:spPr>
          <a:xfrm>
            <a:off x="190500" y="504825"/>
            <a:ext cx="5229225" cy="5153025"/>
          </a:xfrm>
          <a:prstGeom prst="roundRect">
            <a:avLst>
              <a:gd name="adj" fmla="val 15341"/>
            </a:avLst>
          </a:prstGeom>
          <a:noFill/>
          <a:ln w="22860">
            <a:solidFill>
              <a:srgbClr val="4A86E8"/>
            </a:solidFill>
            <a:prstDash val="lgDash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f-panel-sampling-rect-01" descr="{&quot;autofigure_element_id&quot;:&quot;panel-sampling&quot;}"/>
          <p:cNvSpPr/>
          <p:nvPr/>
        </p:nvSpPr>
        <p:spPr>
          <a:xfrm>
            <a:off x="5524500" y="504825"/>
            <a:ext cx="5876925" cy="5153025"/>
          </a:xfrm>
          <a:prstGeom prst="roundRect">
            <a:avLst>
              <a:gd name="adj" fmla="val 15341"/>
            </a:avLst>
          </a:prstGeom>
          <a:noFill/>
          <a:ln w="22860">
            <a:solidFill>
              <a:srgbClr val="FF8C00"/>
            </a:solidFill>
            <a:prstDash val="lgDash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f-text-offline-title-text-01" descr="{&quot;autofigure_element_id&quot;:&quot;text-offline-title&quot;}"/>
          <p:cNvSpPr txBox="1"/>
          <p:nvPr/>
        </p:nvSpPr>
        <p:spPr>
          <a:xfrm>
            <a:off x="1332547" y="47625"/>
            <a:ext cx="2926080" cy="666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00" b="1" u="sng">
                <a:solidFill>
                  <a:srgbClr val="1C58C7"/>
                </a:solidFill>
                <a:latin typeface="Arial"/>
              </a:rPr>
              <a:t>Offline Training</a:t>
            </a:r>
          </a:p>
        </p:txBody>
      </p:sp>
      <p:sp>
        <p:nvSpPr>
          <p:cNvPr id="6" name="af-text-offline-subtitle-text-01" descr="{&quot;autofigure_element_id&quot;:&quot;text-offline-subtitle&quot;}"/>
          <p:cNvSpPr txBox="1"/>
          <p:nvPr/>
        </p:nvSpPr>
        <p:spPr>
          <a:xfrm>
            <a:off x="773197" y="629923"/>
            <a:ext cx="4054305" cy="53974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199">
                <a:solidFill>
                  <a:srgbClr val="0D3A68"/>
                </a:solidFill>
                <a:latin typeface="Arial"/>
              </a:rPr>
              <a:t>Static Multi-Objective Dataset</a:t>
            </a:r>
          </a:p>
        </p:txBody>
      </p:sp>
      <p:sp>
        <p:nvSpPr>
          <p:cNvPr id="7" name="af-text-sampling-title-text-01" descr="{&quot;autofigure_element_id&quot;:&quot;text-sampling-title&quot;}"/>
          <p:cNvSpPr txBox="1"/>
          <p:nvPr/>
        </p:nvSpPr>
        <p:spPr>
          <a:xfrm>
            <a:off x="7513320" y="47625"/>
            <a:ext cx="1889760" cy="666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00" b="1" u="sng">
                <a:solidFill>
                  <a:srgbClr val="B85B00"/>
                </a:solidFill>
                <a:latin typeface="Arial"/>
              </a:rPr>
              <a:t>Sampling</a:t>
            </a:r>
          </a:p>
        </p:txBody>
      </p:sp>
      <p:cxnSp>
        <p:nvCxnSpPr>
          <p:cNvPr id="8" name="af-molecule-offline-bond-01-connector-01" descr="{&quot;arrow_spec_sha256&quot;:&quot;b5891d392e8b4ebc3c431fe7129139eb1f30fe00e6742745c5657e4222172706&quot;,&quot;autofigure_element_id&quot;:&quot;molecule-offline-bond-01&quot;}"/>
          <p:cNvCxnSpPr>
            <a:stCxn id="15" idx="0"/>
            <a:endCxn id="16" idx="0"/>
          </p:cNvCxnSpPr>
          <p:nvPr/>
        </p:nvCxnSpPr>
        <p:spPr>
          <a:xfrm>
            <a:off x="1609725" y="1095375"/>
            <a:ext cx="152400" cy="38100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f-molecule-offline-bond-02-connector-01" descr="{&quot;arrow_spec_sha256&quot;:&quot;60492116c9c0b9b34db238aafc9cf8ef2d4f6d8dccac63794eddf0a681d32f2c&quot;,&quot;autofigure_element_id&quot;:&quot;molecule-offline-bond-02&quot;}"/>
          <p:cNvCxnSpPr>
            <a:stCxn id="16" idx="0"/>
            <a:endCxn id="17" idx="0"/>
          </p:cNvCxnSpPr>
          <p:nvPr/>
        </p:nvCxnSpPr>
        <p:spPr>
          <a:xfrm flipV="1">
            <a:off x="1762125" y="1028700"/>
            <a:ext cx="152400" cy="10477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f-molecule-offline-bond-03-connector-01" descr="{&quot;arrow_spec_sha256&quot;:&quot;7e50d9f007b6f33b5de064b1c5a14f2e22181d0e5caf094cf4e30f853e415181&quot;,&quot;autofigure_element_id&quot;:&quot;molecule-offline-bond-03&quot;}"/>
          <p:cNvCxnSpPr>
            <a:stCxn id="16" idx="0"/>
            <a:endCxn id="18" idx="0"/>
          </p:cNvCxnSpPr>
          <p:nvPr/>
        </p:nvCxnSpPr>
        <p:spPr>
          <a:xfrm flipH="1">
            <a:off x="1704975" y="1133475"/>
            <a:ext cx="57150" cy="16192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f-molecule-offline-bond-04-connector-01" descr="{&quot;arrow_spec_sha256&quot;:&quot;b72cb73d9241afff4c5c4bb12df5e18eb1602801fbccf5e7d6893bdaad53a1c8&quot;,&quot;autofigure_element_id&quot;:&quot;molecule-offline-bond-04&quot;}"/>
          <p:cNvCxnSpPr>
            <a:stCxn id="16" idx="0"/>
            <a:endCxn id="19" idx="0"/>
          </p:cNvCxnSpPr>
          <p:nvPr/>
        </p:nvCxnSpPr>
        <p:spPr>
          <a:xfrm>
            <a:off x="1762125" y="1133475"/>
            <a:ext cx="180975" cy="8572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f-molecule-offline-bond-05-connector-01" descr="{&quot;arrow_spec_sha256&quot;:&quot;bbfb6a30f64640dcfdf170ca5307ae27c6e97b9c5a084a82f4bb8264d3bac974&quot;,&quot;autofigure_element_id&quot;:&quot;molecule-offline-bond-05&quot;}"/>
          <p:cNvCxnSpPr>
            <a:stCxn id="19" idx="0"/>
            <a:endCxn id="20" idx="0"/>
          </p:cNvCxnSpPr>
          <p:nvPr/>
        </p:nvCxnSpPr>
        <p:spPr>
          <a:xfrm flipV="1">
            <a:off x="1943100" y="1104900"/>
            <a:ext cx="152400" cy="114300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f-molecule-offline-bond-06-connector-01" descr="{&quot;arrow_spec_sha256&quot;:&quot;587c5d467a0c7ebf27cc6fb7714576dab4a8af4d8ce25a5077d4584ead8c3c5e&quot;,&quot;autofigure_element_id&quot;:&quot;molecule-offline-bond-06&quot;}"/>
          <p:cNvCxnSpPr>
            <a:stCxn id="19" idx="0"/>
            <a:endCxn id="21" idx="0"/>
          </p:cNvCxnSpPr>
          <p:nvPr/>
        </p:nvCxnSpPr>
        <p:spPr>
          <a:xfrm>
            <a:off x="1943100" y="1219200"/>
            <a:ext cx="0" cy="14287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f-molecule-offline-bond-07-connector-01" descr="{&quot;arrow_spec_sha256&quot;:&quot;f0ebafc070bfcaabccd29f27f66e670f10b6e79e3b4d642acda3d5df47a9983f&quot;,&quot;autofigure_element_id&quot;:&quot;molecule-offline-bond-07&quot;}"/>
          <p:cNvCxnSpPr>
            <a:stCxn id="19" idx="0"/>
            <a:endCxn id="22" idx="0"/>
          </p:cNvCxnSpPr>
          <p:nvPr/>
        </p:nvCxnSpPr>
        <p:spPr>
          <a:xfrm>
            <a:off x="1943100" y="1219200"/>
            <a:ext cx="266700" cy="76200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f-molecule-offline-atom-01-ellipse-01" descr="{&quot;autofigure_element_id&quot;:&quot;molecule-offline-atom-01&quot;}"/>
          <p:cNvSpPr/>
          <p:nvPr/>
        </p:nvSpPr>
        <p:spPr>
          <a:xfrm>
            <a:off x="1562100" y="1047750"/>
            <a:ext cx="95250" cy="95250"/>
          </a:xfrm>
          <a:prstGeom prst="ellipse">
            <a:avLst/>
          </a:prstGeom>
          <a:solidFill>
            <a:srgbClr val="F5B642"/>
          </a:solidFill>
          <a:ln w="9525">
            <a:solidFill>
              <a:srgbClr val="D59825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-molecule-offline-atom-02-ellipse-01" descr="{&quot;autofigure_element_id&quot;:&quot;molecule-offline-atom-02&quot;}"/>
          <p:cNvSpPr/>
          <p:nvPr/>
        </p:nvSpPr>
        <p:spPr>
          <a:xfrm>
            <a:off x="1714500" y="1085850"/>
            <a:ext cx="95250" cy="95250"/>
          </a:xfrm>
          <a:prstGeom prst="ellipse">
            <a:avLst/>
          </a:prstGeom>
          <a:solidFill>
            <a:srgbClr val="E98A49"/>
          </a:solidFill>
          <a:ln w="9525">
            <a:solidFill>
              <a:srgbClr val="C96E3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f-molecule-offline-atom-03-ellipse-01" descr="{&quot;autofigure_element_id&quot;:&quot;molecule-offline-atom-03&quot;}"/>
          <p:cNvSpPr/>
          <p:nvPr/>
        </p:nvSpPr>
        <p:spPr>
          <a:xfrm>
            <a:off x="1866900" y="981075"/>
            <a:ext cx="95250" cy="95250"/>
          </a:xfrm>
          <a:prstGeom prst="ellipse">
            <a:avLst/>
          </a:prstGeom>
          <a:solidFill>
            <a:srgbClr val="79BC80"/>
          </a:solidFill>
          <a:ln w="9525">
            <a:solidFill>
              <a:srgbClr val="579B6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f-molecule-offline-atom-04-ellipse-01" descr="{&quot;autofigure_element_id&quot;:&quot;molecule-offline-atom-04&quot;}"/>
          <p:cNvSpPr/>
          <p:nvPr/>
        </p:nvSpPr>
        <p:spPr>
          <a:xfrm>
            <a:off x="1657350" y="1247775"/>
            <a:ext cx="95250" cy="95250"/>
          </a:xfrm>
          <a:prstGeom prst="ellipse">
            <a:avLst/>
          </a:prstGeom>
          <a:solidFill>
            <a:srgbClr val="77B97E"/>
          </a:solidFill>
          <a:ln w="9525">
            <a:solidFill>
              <a:srgbClr val="579B6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f-molecule-offline-atom-05-ellipse-01" descr="{&quot;autofigure_element_id&quot;:&quot;molecule-offline-atom-05&quot;}"/>
          <p:cNvSpPr/>
          <p:nvPr/>
        </p:nvSpPr>
        <p:spPr>
          <a:xfrm>
            <a:off x="1885950" y="1162050"/>
            <a:ext cx="114300" cy="114300"/>
          </a:xfrm>
          <a:prstGeom prst="ellipse">
            <a:avLst/>
          </a:prstGeom>
          <a:solidFill>
            <a:srgbClr val="E86E48"/>
          </a:solidFill>
          <a:ln w="9525">
            <a:solidFill>
              <a:srgbClr val="C44F3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f-molecule-offline-atom-06-ellipse-01" descr="{&quot;autofigure_element_id&quot;:&quot;molecule-offline-atom-06&quot;}"/>
          <p:cNvSpPr/>
          <p:nvPr/>
        </p:nvSpPr>
        <p:spPr>
          <a:xfrm>
            <a:off x="2047875" y="1057275"/>
            <a:ext cx="95250" cy="95250"/>
          </a:xfrm>
          <a:prstGeom prst="ellipse">
            <a:avLst/>
          </a:prstGeom>
          <a:solidFill>
            <a:srgbClr val="E85A53"/>
          </a:solidFill>
          <a:ln w="9525">
            <a:solidFill>
              <a:srgbClr val="C53C3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f-molecule-offline-atom-07-ellipse-01" descr="{&quot;autofigure_element_id&quot;:&quot;molecule-offline-atom-07&quot;}"/>
          <p:cNvSpPr/>
          <p:nvPr/>
        </p:nvSpPr>
        <p:spPr>
          <a:xfrm>
            <a:off x="1895475" y="1314450"/>
            <a:ext cx="95250" cy="95250"/>
          </a:xfrm>
          <a:prstGeom prst="ellipse">
            <a:avLst/>
          </a:prstGeom>
          <a:solidFill>
            <a:srgbClr val="F2A33A"/>
          </a:solidFill>
          <a:ln w="9525">
            <a:solidFill>
              <a:srgbClr val="D1812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f-molecule-offline-atom-08-ellipse-01" descr="{&quot;autofigure_element_id&quot;:&quot;molecule-offline-atom-08&quot;}"/>
          <p:cNvSpPr/>
          <p:nvPr/>
        </p:nvSpPr>
        <p:spPr>
          <a:xfrm>
            <a:off x="2162175" y="1247775"/>
            <a:ext cx="95250" cy="95250"/>
          </a:xfrm>
          <a:prstGeom prst="ellipse">
            <a:avLst/>
          </a:prstGeom>
          <a:solidFill>
            <a:srgbClr val="78B97D"/>
          </a:solidFill>
          <a:ln w="9525">
            <a:solidFill>
              <a:srgbClr val="579B6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f-dna-offline-left-strand-a-freeform-01" descr="{&quot;autofigure_element_id&quot;:&quot;dna-offline-left-strand-a&quot;}"/>
          <p:cNvSpPr/>
          <p:nvPr/>
        </p:nvSpPr>
        <p:spPr>
          <a:xfrm>
            <a:off x="1600200" y="1428750"/>
            <a:ext cx="381000" cy="571500"/>
          </a:xfrm>
          <a:custGeom>
            <a:avLst/>
            <a:gdLst/>
            <a:ahLst/>
            <a:cxnLst/>
            <a:rect l="0" t="0" r="0" b="0"/>
            <a:pathLst>
              <a:path w="381000" h="571500">
                <a:moveTo>
                  <a:pt x="85725" y="0"/>
                </a:moveTo>
                <a:cubicBezTo>
                  <a:pt x="285750" y="57150"/>
                  <a:pt x="314325" y="133350"/>
                  <a:pt x="123825" y="200025"/>
                </a:cubicBezTo>
                <a:cubicBezTo>
                  <a:pt x="0" y="257175"/>
                  <a:pt x="57150" y="323850"/>
                  <a:pt x="266700" y="371475"/>
                </a:cubicBezTo>
                <a:cubicBezTo>
                  <a:pt x="381000" y="409575"/>
                  <a:pt x="342900" y="495300"/>
                  <a:pt x="161925" y="571500"/>
                </a:cubicBezTo>
              </a:path>
            </a:pathLst>
          </a:custGeom>
          <a:noFill/>
          <a:ln w="28575" cap="rnd">
            <a:solidFill>
              <a:srgbClr val="3E74C5"/>
            </a:solidFill>
            <a:miter/>
          </a:ln>
        </p:spPr>
      </p:sp>
      <p:sp>
        <p:nvSpPr>
          <p:cNvPr id="24" name="af-dna-offline-left-strand-b-freeform-01" descr="{&quot;autofigure_element_id&quot;:&quot;dna-offline-left-strand-b&quot;}"/>
          <p:cNvSpPr/>
          <p:nvPr/>
        </p:nvSpPr>
        <p:spPr>
          <a:xfrm>
            <a:off x="1609725" y="1428750"/>
            <a:ext cx="390525" cy="571500"/>
          </a:xfrm>
          <a:custGeom>
            <a:avLst/>
            <a:gdLst/>
            <a:ahLst/>
            <a:cxnLst/>
            <a:rect l="0" t="0" r="0" b="0"/>
            <a:pathLst>
              <a:path w="390525" h="571500">
                <a:moveTo>
                  <a:pt x="295275" y="0"/>
                </a:moveTo>
                <a:cubicBezTo>
                  <a:pt x="104775" y="66675"/>
                  <a:pt x="76200" y="133350"/>
                  <a:pt x="257175" y="200025"/>
                </a:cubicBezTo>
                <a:cubicBezTo>
                  <a:pt x="390525" y="257175"/>
                  <a:pt x="323850" y="323850"/>
                  <a:pt x="123825" y="371475"/>
                </a:cubicBezTo>
                <a:cubicBezTo>
                  <a:pt x="0" y="419100"/>
                  <a:pt x="47625" y="495300"/>
                  <a:pt x="228600" y="571500"/>
                </a:cubicBezTo>
              </a:path>
            </a:pathLst>
          </a:custGeom>
          <a:noFill/>
          <a:ln w="28575" cap="rnd">
            <a:solidFill>
              <a:srgbClr val="315AA8"/>
            </a:solidFill>
            <a:miter/>
          </a:ln>
        </p:spPr>
      </p:sp>
      <p:cxnSp>
        <p:nvCxnSpPr>
          <p:cNvPr id="25" name="af-dna-offline-left-rung-01-line-01" descr="{&quot;autofigure_element_id&quot;:&quot;dna-offline-left-rung-01&quot;}"/>
          <p:cNvCxnSpPr/>
          <p:nvPr/>
        </p:nvCxnSpPr>
        <p:spPr>
          <a:xfrm>
            <a:off x="1724025" y="1466850"/>
            <a:ext cx="152400" cy="0"/>
          </a:xfrm>
          <a:prstGeom prst="line">
            <a:avLst/>
          </a:prstGeom>
          <a:ln w="20955">
            <a:solidFill>
              <a:srgbClr val="73A5D8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f-dna-offline-left-rung-02-line-01" descr="{&quot;autofigure_element_id&quot;:&quot;dna-offline-left-rung-02&quot;}"/>
          <p:cNvCxnSpPr/>
          <p:nvPr/>
        </p:nvCxnSpPr>
        <p:spPr>
          <a:xfrm>
            <a:off x="1752600" y="1543050"/>
            <a:ext cx="95250" cy="0"/>
          </a:xfrm>
          <a:prstGeom prst="line">
            <a:avLst/>
          </a:prstGeom>
          <a:ln w="20955">
            <a:solidFill>
              <a:srgbClr val="72B3B0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f-dna-offline-left-rung-03-line-01" descr="{&quot;autofigure_element_id&quot;:&quot;dna-offline-left-rung-03&quot;}"/>
          <p:cNvCxnSpPr/>
          <p:nvPr/>
        </p:nvCxnSpPr>
        <p:spPr>
          <a:xfrm>
            <a:off x="1714500" y="1619250"/>
            <a:ext cx="161925" cy="0"/>
          </a:xfrm>
          <a:prstGeom prst="line">
            <a:avLst/>
          </a:prstGeom>
          <a:ln w="20955">
            <a:solidFill>
              <a:srgbClr val="72A8D5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f-dna-offline-left-rung-04-line-01" descr="{&quot;autofigure_element_id&quot;:&quot;dna-offline-left-rung-04&quot;}"/>
          <p:cNvCxnSpPr/>
          <p:nvPr/>
        </p:nvCxnSpPr>
        <p:spPr>
          <a:xfrm>
            <a:off x="1676400" y="1695450"/>
            <a:ext cx="257175" cy="0"/>
          </a:xfrm>
          <a:prstGeom prst="line">
            <a:avLst/>
          </a:prstGeom>
          <a:ln w="20955">
            <a:solidFill>
              <a:srgbClr val="6FB3AA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f-dna-offline-left-rung-05-line-01" descr="{&quot;autofigure_element_id&quot;:&quot;dna-offline-left-rung-05&quot;}"/>
          <p:cNvCxnSpPr/>
          <p:nvPr/>
        </p:nvCxnSpPr>
        <p:spPr>
          <a:xfrm>
            <a:off x="1724025" y="1781175"/>
            <a:ext cx="161925" cy="0"/>
          </a:xfrm>
          <a:prstGeom prst="line">
            <a:avLst/>
          </a:prstGeom>
          <a:ln w="20955">
            <a:solidFill>
              <a:srgbClr val="76A7D4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f-dna-offline-left-rung-06-line-01" descr="{&quot;autofigure_element_id&quot;:&quot;dna-offline-left-rung-06&quot;}"/>
          <p:cNvCxnSpPr/>
          <p:nvPr/>
        </p:nvCxnSpPr>
        <p:spPr>
          <a:xfrm>
            <a:off x="1676400" y="1876425"/>
            <a:ext cx="238125" cy="0"/>
          </a:xfrm>
          <a:prstGeom prst="line">
            <a:avLst/>
          </a:prstGeom>
          <a:ln w="20955">
            <a:solidFill>
              <a:srgbClr val="6FAFA9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f-dna-offline-left-rung-07-line-01" descr="{&quot;autofigure_element_id&quot;:&quot;dna-offline-left-rung-07&quot;}"/>
          <p:cNvCxnSpPr/>
          <p:nvPr/>
        </p:nvCxnSpPr>
        <p:spPr>
          <a:xfrm>
            <a:off x="1733550" y="1952625"/>
            <a:ext cx="123825" cy="0"/>
          </a:xfrm>
          <a:prstGeom prst="line">
            <a:avLst/>
          </a:prstGeom>
          <a:ln w="20955">
            <a:solidFill>
              <a:srgbClr val="79A9D4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f-dna-offline-right-strand-a-freeform-01" descr="{&quot;autofigure_element_id&quot;:&quot;dna-offline-right-strand-a&quot;}"/>
          <p:cNvSpPr/>
          <p:nvPr/>
        </p:nvSpPr>
        <p:spPr>
          <a:xfrm>
            <a:off x="2057400" y="1447800"/>
            <a:ext cx="247650" cy="542925"/>
          </a:xfrm>
          <a:custGeom>
            <a:avLst/>
            <a:gdLst/>
            <a:ahLst/>
            <a:cxnLst/>
            <a:rect l="0" t="0" r="0" b="0"/>
            <a:pathLst>
              <a:path w="247650" h="542925">
                <a:moveTo>
                  <a:pt x="95250" y="0"/>
                </a:moveTo>
                <a:cubicBezTo>
                  <a:pt x="238125" y="47625"/>
                  <a:pt x="247650" y="114300"/>
                  <a:pt x="123825" y="180975"/>
                </a:cubicBezTo>
                <a:cubicBezTo>
                  <a:pt x="0" y="247650"/>
                  <a:pt x="28575" y="314325"/>
                  <a:pt x="161925" y="371475"/>
                </a:cubicBezTo>
                <a:cubicBezTo>
                  <a:pt x="247650" y="419100"/>
                  <a:pt x="228600" y="485775"/>
                  <a:pt x="114300" y="542925"/>
                </a:cubicBezTo>
              </a:path>
            </a:pathLst>
          </a:custGeom>
          <a:noFill/>
          <a:ln w="22860" cap="rnd">
            <a:solidFill>
              <a:srgbClr val="8A9D91"/>
            </a:solidFill>
            <a:miter/>
          </a:ln>
        </p:spPr>
      </p:sp>
      <p:sp>
        <p:nvSpPr>
          <p:cNvPr id="33" name="af-dna-offline-right-strand-b-freeform-01" descr="{&quot;autofigure_element_id&quot;:&quot;dna-offline-right-strand-b&quot;}"/>
          <p:cNvSpPr/>
          <p:nvPr/>
        </p:nvSpPr>
        <p:spPr>
          <a:xfrm>
            <a:off x="2085975" y="1457325"/>
            <a:ext cx="266700" cy="533400"/>
          </a:xfrm>
          <a:custGeom>
            <a:avLst/>
            <a:gdLst/>
            <a:ahLst/>
            <a:cxnLst/>
            <a:rect l="0" t="0" r="0" b="0"/>
            <a:pathLst>
              <a:path w="266700" h="533400">
                <a:moveTo>
                  <a:pt x="190500" y="0"/>
                </a:moveTo>
                <a:cubicBezTo>
                  <a:pt x="57150" y="47625"/>
                  <a:pt x="28575" y="114300"/>
                  <a:pt x="161925" y="171450"/>
                </a:cubicBezTo>
                <a:cubicBezTo>
                  <a:pt x="266700" y="238125"/>
                  <a:pt x="228600" y="304800"/>
                  <a:pt x="104775" y="361950"/>
                </a:cubicBezTo>
                <a:cubicBezTo>
                  <a:pt x="0" y="419100"/>
                  <a:pt x="28575" y="485775"/>
                  <a:pt x="171450" y="533400"/>
                </a:cubicBezTo>
              </a:path>
            </a:pathLst>
          </a:custGeom>
          <a:noFill/>
          <a:ln w="22860" cap="rnd">
            <a:solidFill>
              <a:srgbClr val="A98068"/>
            </a:solidFill>
            <a:miter/>
          </a:ln>
        </p:spPr>
      </p:sp>
      <p:cxnSp>
        <p:nvCxnSpPr>
          <p:cNvPr id="34" name="af-dna-offline-right-rung-01-line-01" descr="{&quot;autofigure_element_id&quot;:&quot;dna-offline-right-rung-01&quot;}"/>
          <p:cNvCxnSpPr/>
          <p:nvPr/>
        </p:nvCxnSpPr>
        <p:spPr>
          <a:xfrm>
            <a:off x="2171700" y="1485900"/>
            <a:ext cx="85725" cy="0"/>
          </a:xfrm>
          <a:prstGeom prst="line">
            <a:avLst/>
          </a:prstGeom>
          <a:ln w="16192">
            <a:solidFill>
              <a:srgbClr val="A6A68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af-dna-offline-right-rung-02-line-01" descr="{&quot;autofigure_element_id&quot;:&quot;dna-offline-right-rung-02&quot;}"/>
          <p:cNvCxnSpPr/>
          <p:nvPr/>
        </p:nvCxnSpPr>
        <p:spPr>
          <a:xfrm>
            <a:off x="2171700" y="1552575"/>
            <a:ext cx="76200" cy="0"/>
          </a:xfrm>
          <a:prstGeom prst="line">
            <a:avLst/>
          </a:prstGeom>
          <a:ln w="16192">
            <a:solidFill>
              <a:srgbClr val="B58B7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af-dna-offline-right-rung-03-line-01" descr="{&quot;autofigure_element_id&quot;:&quot;dna-offline-right-rung-03&quot;}"/>
          <p:cNvCxnSpPr/>
          <p:nvPr/>
        </p:nvCxnSpPr>
        <p:spPr>
          <a:xfrm>
            <a:off x="2143125" y="1628775"/>
            <a:ext cx="123825" cy="0"/>
          </a:xfrm>
          <a:prstGeom prst="line">
            <a:avLst/>
          </a:prstGeom>
          <a:ln w="16192">
            <a:solidFill>
              <a:srgbClr val="95A38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af-dna-offline-right-rung-04-line-01" descr="{&quot;autofigure_element_id&quot;:&quot;dna-offline-right-rung-04&quot;}"/>
          <p:cNvCxnSpPr/>
          <p:nvPr/>
        </p:nvCxnSpPr>
        <p:spPr>
          <a:xfrm>
            <a:off x="2095500" y="1695450"/>
            <a:ext cx="219075" cy="0"/>
          </a:xfrm>
          <a:prstGeom prst="line">
            <a:avLst/>
          </a:prstGeom>
          <a:ln w="16192">
            <a:solidFill>
              <a:srgbClr val="B58A72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f-dna-offline-right-rung-05-line-01" descr="{&quot;autofigure_element_id&quot;:&quot;dna-offline-right-rung-05&quot;}"/>
          <p:cNvCxnSpPr/>
          <p:nvPr/>
        </p:nvCxnSpPr>
        <p:spPr>
          <a:xfrm>
            <a:off x="2124075" y="1771650"/>
            <a:ext cx="161925" cy="0"/>
          </a:xfrm>
          <a:prstGeom prst="line">
            <a:avLst/>
          </a:prstGeom>
          <a:ln w="16192">
            <a:solidFill>
              <a:srgbClr val="91A29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f-dna-offline-right-rung-06-line-01" descr="{&quot;autofigure_element_id&quot;:&quot;dna-offline-right-rung-06&quot;}"/>
          <p:cNvCxnSpPr/>
          <p:nvPr/>
        </p:nvCxnSpPr>
        <p:spPr>
          <a:xfrm>
            <a:off x="2152650" y="1847850"/>
            <a:ext cx="114300" cy="0"/>
          </a:xfrm>
          <a:prstGeom prst="line">
            <a:avLst/>
          </a:prstGeom>
          <a:ln w="16192">
            <a:solidFill>
              <a:srgbClr val="B98C7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f-dna-offline-right-rung-07-line-01" descr="{&quot;autofigure_element_id&quot;:&quot;dna-offline-right-rung-07&quot;}"/>
          <p:cNvCxnSpPr/>
          <p:nvPr/>
        </p:nvCxnSpPr>
        <p:spPr>
          <a:xfrm>
            <a:off x="2143125" y="1924050"/>
            <a:ext cx="114300" cy="0"/>
          </a:xfrm>
          <a:prstGeom prst="line">
            <a:avLst/>
          </a:prstGeom>
          <a:ln w="16192">
            <a:solidFill>
              <a:srgbClr val="93A18E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f-dataset-raw-body-freeform-01" descr="{&quot;autofigure_element_id&quot;:&quot;dataset-raw-body&quot;}"/>
          <p:cNvSpPr/>
          <p:nvPr/>
        </p:nvSpPr>
        <p:spPr>
          <a:xfrm>
            <a:off x="2400300" y="1152525"/>
            <a:ext cx="800100" cy="704850"/>
          </a:xfrm>
          <a:custGeom>
            <a:avLst/>
            <a:gdLst/>
            <a:ahLst/>
            <a:cxnLst/>
            <a:rect l="0" t="0" r="0" b="0"/>
            <a:pathLst>
              <a:path w="800100" h="704850">
                <a:moveTo>
                  <a:pt x="0" y="0"/>
                </a:moveTo>
                <a:lnTo>
                  <a:pt x="0" y="561975"/>
                </a:lnTo>
                <a:cubicBezTo>
                  <a:pt x="0" y="657225"/>
                  <a:pt x="171450" y="704850"/>
                  <a:pt x="400050" y="704850"/>
                </a:cubicBezTo>
                <a:cubicBezTo>
                  <a:pt x="628650" y="704850"/>
                  <a:pt x="800100" y="657225"/>
                  <a:pt x="800100" y="561975"/>
                </a:cubicBezTo>
                <a:lnTo>
                  <a:pt x="800100" y="0"/>
                </a:lnTo>
                <a:close/>
              </a:path>
            </a:pathLst>
          </a:custGeom>
          <a:solidFill>
            <a:srgbClr val="FFF2CC"/>
          </a:solidFill>
          <a:ln w="14288">
            <a:solidFill>
              <a:srgbClr val="F2B418"/>
            </a:solidFill>
            <a:miter/>
          </a:ln>
        </p:spPr>
      </p:sp>
      <p:sp>
        <p:nvSpPr>
          <p:cNvPr id="42" name="af-dataset-raw-top-ellipse-01" descr="{&quot;autofigure_element_id&quot;:&quot;dataset-raw-top&quot;}"/>
          <p:cNvSpPr/>
          <p:nvPr/>
        </p:nvSpPr>
        <p:spPr>
          <a:xfrm>
            <a:off x="2400300" y="1009650"/>
            <a:ext cx="800100" cy="285750"/>
          </a:xfrm>
          <a:prstGeom prst="ellipse">
            <a:avLst/>
          </a:prstGeom>
          <a:solidFill>
            <a:srgbClr val="FFF2CC"/>
          </a:solidFill>
          <a:ln w="14288">
            <a:solidFill>
              <a:srgbClr val="F2B41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f-text-dataset-raw-symbol-text-01" descr="{&quot;autofigure_element_id&quot;:&quot;text-dataset-raw-symbol&quot;}"/>
          <p:cNvSpPr txBox="1"/>
          <p:nvPr/>
        </p:nvSpPr>
        <p:spPr>
          <a:xfrm>
            <a:off x="2520315" y="1266825"/>
            <a:ext cx="560070" cy="5143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00" i="1">
                <a:solidFill>
                  <a:srgbClr val="111111"/>
                </a:solidFill>
                <a:latin typeface="Cambria Math"/>
              </a:rPr>
              <a:t>D</a:t>
            </a:r>
          </a:p>
        </p:txBody>
      </p:sp>
      <p:cxnSp>
        <p:nvCxnSpPr>
          <p:cNvPr id="44" name="af-chart-offline-axis-y-connector-01" descr="{&quot;arrow_spec_sha256&quot;:&quot;62cde11af7d5b4067f57f793f98213db2b9d62b88a9dcce3e3bbeb5799e21be9&quot;,&quot;autofigure_element_id&quot;:&quot;chart-offline-axis-y&quot;}"/>
          <p:cNvCxnSpPr/>
          <p:nvPr/>
        </p:nvCxnSpPr>
        <p:spPr>
          <a:xfrm flipV="1">
            <a:off x="3381375" y="1152525"/>
            <a:ext cx="0" cy="533400"/>
          </a:xfrm>
          <a:prstGeom prst="line">
            <a:avLst/>
          </a:prstGeom>
          <a:ln w="17145">
            <a:solidFill>
              <a:srgbClr val="111111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af-chart-offline-axis-x-connector-01" descr="{&quot;arrow_spec_sha256&quot;:&quot;b223c65645222d30fb10aecd312d35493bad33b54548aa3b441c22d7d56af8c4&quot;,&quot;autofigure_element_id&quot;:&quot;chart-offline-axis-x&quot;}"/>
          <p:cNvCxnSpPr/>
          <p:nvPr/>
        </p:nvCxnSpPr>
        <p:spPr>
          <a:xfrm>
            <a:off x="3371850" y="1676400"/>
            <a:ext cx="695325" cy="0"/>
          </a:xfrm>
          <a:prstGeom prst="line">
            <a:avLst/>
          </a:prstGeom>
          <a:ln w="17145">
            <a:solidFill>
              <a:srgbClr val="111111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af-chart-offline-y-tick-01-line-01" descr="{&quot;autofigure_element_id&quot;:&quot;chart-offline-y-tick-01&quot;}"/>
          <p:cNvCxnSpPr/>
          <p:nvPr/>
        </p:nvCxnSpPr>
        <p:spPr>
          <a:xfrm>
            <a:off x="3352800" y="15716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af-chart-offline-y-tick-02-line-01" descr="{&quot;autofigure_element_id&quot;:&quot;chart-offline-y-tick-02&quot;}"/>
          <p:cNvCxnSpPr/>
          <p:nvPr/>
        </p:nvCxnSpPr>
        <p:spPr>
          <a:xfrm>
            <a:off x="3352800" y="14573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af-chart-offline-y-tick-03-line-01" descr="{&quot;autofigure_element_id&quot;:&quot;chart-offline-y-tick-03&quot;}"/>
          <p:cNvCxnSpPr/>
          <p:nvPr/>
        </p:nvCxnSpPr>
        <p:spPr>
          <a:xfrm>
            <a:off x="3352800" y="13430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af-chart-offline-y-tick-04-line-01" descr="{&quot;autofigure_element_id&quot;:&quot;chart-offline-y-tick-04&quot;}"/>
          <p:cNvCxnSpPr/>
          <p:nvPr/>
        </p:nvCxnSpPr>
        <p:spPr>
          <a:xfrm>
            <a:off x="3352800" y="12287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af-chart-offline-x-tick-01-line-01" descr="{&quot;autofigure_element_id&quot;:&quot;chart-offline-x-tick-01&quot;}"/>
          <p:cNvCxnSpPr/>
          <p:nvPr/>
        </p:nvCxnSpPr>
        <p:spPr>
          <a:xfrm>
            <a:off x="3514725" y="16478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af-chart-offline-x-tick-02-line-01" descr="{&quot;autofigure_element_id&quot;:&quot;chart-offline-x-tick-02&quot;}"/>
          <p:cNvCxnSpPr/>
          <p:nvPr/>
        </p:nvCxnSpPr>
        <p:spPr>
          <a:xfrm>
            <a:off x="3648075" y="16478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af-chart-offline-x-tick-03-line-01" descr="{&quot;autofigure_element_id&quot;:&quot;chart-offline-x-tick-03&quot;}"/>
          <p:cNvCxnSpPr/>
          <p:nvPr/>
        </p:nvCxnSpPr>
        <p:spPr>
          <a:xfrm>
            <a:off x="3781425" y="16478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af-chart-offline-x-tick-04-line-01" descr="{&quot;autofigure_element_id&quot;:&quot;chart-offline-x-tick-04&quot;}"/>
          <p:cNvCxnSpPr/>
          <p:nvPr/>
        </p:nvCxnSpPr>
        <p:spPr>
          <a:xfrm>
            <a:off x="3914775" y="16478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af-chart-offline-wick-01-line-01" descr="{&quot;autofigure_element_id&quot;:&quot;chart-offline-wick-01&quot;}"/>
          <p:cNvCxnSpPr/>
          <p:nvPr/>
        </p:nvCxnSpPr>
        <p:spPr>
          <a:xfrm>
            <a:off x="3486150" y="1219200"/>
            <a:ext cx="0" cy="314325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af-chart-offline-candle-01-rect-01" descr="{&quot;autofigure_element_id&quot;:&quot;chart-offline-candle-01&quot;}"/>
          <p:cNvSpPr/>
          <p:nvPr/>
        </p:nvSpPr>
        <p:spPr>
          <a:xfrm>
            <a:off x="3448050" y="1304925"/>
            <a:ext cx="76200" cy="14287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af-chart-offline-wick-02-line-01" descr="{&quot;autofigure_element_id&quot;:&quot;chart-offline-wick-02&quot;}"/>
          <p:cNvCxnSpPr/>
          <p:nvPr/>
        </p:nvCxnSpPr>
        <p:spPr>
          <a:xfrm>
            <a:off x="3600450" y="1343025"/>
            <a:ext cx="0" cy="285750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af-chart-offline-candle-02-rect-01" descr="{&quot;autofigure_element_id&quot;:&quot;chart-offline-candle-02&quot;}"/>
          <p:cNvSpPr/>
          <p:nvPr/>
        </p:nvSpPr>
        <p:spPr>
          <a:xfrm>
            <a:off x="3562350" y="1409700"/>
            <a:ext cx="76200" cy="142875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af-chart-offline-wick-03-line-01" descr="{&quot;autofigure_element_id&quot;:&quot;chart-offline-wick-03&quot;}"/>
          <p:cNvCxnSpPr/>
          <p:nvPr/>
        </p:nvCxnSpPr>
        <p:spPr>
          <a:xfrm>
            <a:off x="3714750" y="1266825"/>
            <a:ext cx="0" cy="333375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af-chart-offline-candle-03-rect-01" descr="{&quot;autofigure_element_id&quot;:&quot;chart-offline-candle-03&quot;}"/>
          <p:cNvSpPr/>
          <p:nvPr/>
        </p:nvSpPr>
        <p:spPr>
          <a:xfrm>
            <a:off x="3676650" y="1381125"/>
            <a:ext cx="76200" cy="1238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af-chart-offline-wick-04-line-01" descr="{&quot;autofigure_element_id&quot;:&quot;chart-offline-wick-04&quot;}"/>
          <p:cNvCxnSpPr/>
          <p:nvPr/>
        </p:nvCxnSpPr>
        <p:spPr>
          <a:xfrm>
            <a:off x="3829050" y="1209675"/>
            <a:ext cx="0" cy="304800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af-chart-offline-candle-04-rect-01" descr="{&quot;autofigure_element_id&quot;:&quot;chart-offline-candle-04&quot;}"/>
          <p:cNvSpPr/>
          <p:nvPr/>
        </p:nvSpPr>
        <p:spPr>
          <a:xfrm>
            <a:off x="3790950" y="1295400"/>
            <a:ext cx="76200" cy="142875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af-chart-offline-wick-05-line-01" descr="{&quot;autofigure_element_id&quot;:&quot;chart-offline-wick-05&quot;}"/>
          <p:cNvCxnSpPr/>
          <p:nvPr/>
        </p:nvCxnSpPr>
        <p:spPr>
          <a:xfrm>
            <a:off x="3943350" y="1152525"/>
            <a:ext cx="0" cy="323850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af-chart-offline-candle-05-rect-01" descr="{&quot;autofigure_element_id&quot;:&quot;chart-offline-candle-05&quot;}"/>
          <p:cNvSpPr/>
          <p:nvPr/>
        </p:nvSpPr>
        <p:spPr>
          <a:xfrm>
            <a:off x="3905250" y="1257300"/>
            <a:ext cx="76200" cy="1333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f-arrow-raw-to-reweighted-freeform-arrow-01" descr="{&quot;arrow_semantic_centerline&quot;:{&quot;coordinate_space&quot;:&quot;canvas&quot;,&quot;kind&quot;:&quot;straight&quot;,&quot;points&quot;:[{&quot;x&quot;:294.0,&quot;y&quot;:197.0},{&quot;x&quot;:294.0,&quot;y&quot;:254.0}]},&quot;arrow_spec_sha256&quot;:&quot;fe668c9dae3d0ebcb4fe2c891866687fbd6dad29958accce9ace23384a2cfbac&quot;,&quot;autofigure_element_id&quot;:&quot;arrow-raw-to-reweighted&quot;}"/>
          <p:cNvSpPr/>
          <p:nvPr/>
        </p:nvSpPr>
        <p:spPr>
          <a:xfrm>
            <a:off x="2552700" y="1876425"/>
            <a:ext cx="495300" cy="542925"/>
          </a:xfrm>
          <a:custGeom>
            <a:avLst/>
            <a:gdLst/>
            <a:ahLst/>
            <a:cxnLst/>
            <a:rect l="0" t="0" r="0" b="0"/>
            <a:pathLst>
              <a:path w="495300" h="542925">
                <a:moveTo>
                  <a:pt x="123825" y="0"/>
                </a:moveTo>
                <a:lnTo>
                  <a:pt x="371475" y="0"/>
                </a:lnTo>
                <a:lnTo>
                  <a:pt x="371475" y="295275"/>
                </a:lnTo>
                <a:lnTo>
                  <a:pt x="495300" y="295275"/>
                </a:lnTo>
                <a:lnTo>
                  <a:pt x="247650" y="542925"/>
                </a:lnTo>
                <a:lnTo>
                  <a:pt x="0" y="295275"/>
                </a:lnTo>
                <a:lnTo>
                  <a:pt x="123825" y="295275"/>
                </a:lnTo>
                <a:close/>
              </a:path>
            </a:pathLst>
          </a:custGeom>
          <a:solidFill>
            <a:srgbClr val="4A86E8"/>
          </a:solidFill>
          <a:ln w="11430">
            <a:solidFill>
              <a:srgbClr val="28589C"/>
            </a:solidFill>
            <a:miter/>
          </a:ln>
        </p:spPr>
      </p:sp>
      <p:sp>
        <p:nvSpPr>
          <p:cNvPr id="65" name="af-dataset-reweighted-body-freeform-01" descr="{&quot;autofigure_element_id&quot;:&quot;dataset-reweighted-body&quot;}"/>
          <p:cNvSpPr/>
          <p:nvPr/>
        </p:nvSpPr>
        <p:spPr>
          <a:xfrm>
            <a:off x="2400300" y="2628900"/>
            <a:ext cx="800100" cy="704850"/>
          </a:xfrm>
          <a:custGeom>
            <a:avLst/>
            <a:gdLst/>
            <a:ahLst/>
            <a:cxnLst/>
            <a:rect l="0" t="0" r="0" b="0"/>
            <a:pathLst>
              <a:path w="800100" h="704850">
                <a:moveTo>
                  <a:pt x="0" y="0"/>
                </a:moveTo>
                <a:lnTo>
                  <a:pt x="0" y="561975"/>
                </a:lnTo>
                <a:cubicBezTo>
                  <a:pt x="0" y="657225"/>
                  <a:pt x="171450" y="704850"/>
                  <a:pt x="400050" y="704850"/>
                </a:cubicBezTo>
                <a:cubicBezTo>
                  <a:pt x="628650" y="704850"/>
                  <a:pt x="800100" y="657225"/>
                  <a:pt x="800100" y="561975"/>
                </a:cubicBezTo>
                <a:lnTo>
                  <a:pt x="800100" y="0"/>
                </a:lnTo>
                <a:close/>
              </a:path>
            </a:pathLst>
          </a:custGeom>
          <a:solidFill>
            <a:srgbClr val="FFF2CC"/>
          </a:solidFill>
          <a:ln w="24765">
            <a:solidFill>
              <a:srgbClr val="C99B05"/>
            </a:solidFill>
            <a:miter/>
          </a:ln>
        </p:spPr>
      </p:sp>
      <p:sp>
        <p:nvSpPr>
          <p:cNvPr id="66" name="af-dataset-reweighted-top-ellipse-01" descr="{&quot;autofigure_element_id&quot;:&quot;dataset-reweighted-top&quot;}"/>
          <p:cNvSpPr/>
          <p:nvPr/>
        </p:nvSpPr>
        <p:spPr>
          <a:xfrm>
            <a:off x="2400300" y="2486025"/>
            <a:ext cx="800100" cy="285750"/>
          </a:xfrm>
          <a:prstGeom prst="ellipse">
            <a:avLst/>
          </a:prstGeom>
          <a:solidFill>
            <a:srgbClr val="FFF2CC"/>
          </a:solidFill>
          <a:ln w="24765">
            <a:solidFill>
              <a:srgbClr val="C99B05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-text-dataset-reweighted-symbol-text-01" descr="{&quot;autofigure_element_id&quot;:&quot;text-dataset-reweighted-symbol&quot;}"/>
          <p:cNvSpPr txBox="1"/>
          <p:nvPr/>
        </p:nvSpPr>
        <p:spPr>
          <a:xfrm>
            <a:off x="2520315" y="2743200"/>
            <a:ext cx="560070" cy="5143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00" i="1">
                <a:solidFill>
                  <a:srgbClr val="111111"/>
                </a:solidFill>
                <a:latin typeface="Cambria Math"/>
              </a:rPr>
              <a:t>D</a:t>
            </a:r>
          </a:p>
        </p:txBody>
      </p:sp>
      <p:sp>
        <p:nvSpPr>
          <p:cNvPr id="68" name="af-text-reweighted-text-01" descr="{&quot;autofigure_element_id&quot;:&quot;text-reweighted&quot;}"/>
          <p:cNvSpPr txBox="1"/>
          <p:nvPr/>
        </p:nvSpPr>
        <p:spPr>
          <a:xfrm>
            <a:off x="1000125" y="2771143"/>
            <a:ext cx="1559543" cy="49212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99">
                <a:solidFill>
                  <a:srgbClr val="0D3A68"/>
                </a:solidFill>
                <a:latin typeface="Arial"/>
              </a:rPr>
              <a:t>Reweighted</a:t>
            </a:r>
          </a:p>
        </p:txBody>
      </p:sp>
      <p:cxnSp>
        <p:nvCxnSpPr>
          <p:cNvPr id="69" name="af-scale-reweight-post-line-01" descr="{&quot;autofigure_element_id&quot;:&quot;scale-reweight-post&quot;}"/>
          <p:cNvCxnSpPr/>
          <p:nvPr/>
        </p:nvCxnSpPr>
        <p:spPr>
          <a:xfrm>
            <a:off x="1590675" y="3124200"/>
            <a:ext cx="0" cy="323850"/>
          </a:xfrm>
          <a:prstGeom prst="line">
            <a:avLst/>
          </a:prstGeom>
          <a:ln w="28575" cap="rnd">
            <a:solidFill>
              <a:srgbClr val="9E9E9E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af-scale-reweight-beam-line-01" descr="{&quot;autofigure_element_id&quot;:&quot;scale-reweight-beam&quot;}"/>
          <p:cNvCxnSpPr/>
          <p:nvPr/>
        </p:nvCxnSpPr>
        <p:spPr>
          <a:xfrm>
            <a:off x="1362075" y="3152775"/>
            <a:ext cx="457200" cy="0"/>
          </a:xfrm>
          <a:prstGeom prst="line">
            <a:avLst/>
          </a:prstGeom>
          <a:ln w="28575" cap="rnd">
            <a:solidFill>
              <a:srgbClr val="9E9E9E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af-scale-reweight-pivot-freeform-01" descr="{&quot;autofigure_element_id&quot;:&quot;scale-reweight-pivot&quot;}"/>
          <p:cNvSpPr/>
          <p:nvPr/>
        </p:nvSpPr>
        <p:spPr>
          <a:xfrm>
            <a:off x="1524000" y="3181350"/>
            <a:ext cx="133350" cy="85725"/>
          </a:xfrm>
          <a:custGeom>
            <a:avLst/>
            <a:gdLst/>
            <a:ahLst/>
            <a:cxnLst/>
            <a:rect l="0" t="0" r="0" b="0"/>
            <a:pathLst>
              <a:path w="133350" h="85725">
                <a:moveTo>
                  <a:pt x="0" y="0"/>
                </a:moveTo>
                <a:lnTo>
                  <a:pt x="133350" y="0"/>
                </a:lnTo>
                <a:lnTo>
                  <a:pt x="66675" y="85725"/>
                </a:lnTo>
                <a:close/>
              </a:path>
            </a:pathLst>
          </a:custGeom>
          <a:solidFill>
            <a:srgbClr val="A2A2A2"/>
          </a:solidFill>
          <a:ln w="9525">
            <a:solidFill>
              <a:srgbClr val="999999"/>
            </a:solidFill>
            <a:miter/>
          </a:ln>
        </p:spPr>
      </p:sp>
      <p:cxnSp>
        <p:nvCxnSpPr>
          <p:cNvPr id="72" name="af-scale-reweight-left-hanger-line-01" descr="{&quot;autofigure_element_id&quot;:&quot;scale-reweight-left-hanger&quot;}"/>
          <p:cNvCxnSpPr/>
          <p:nvPr/>
        </p:nvCxnSpPr>
        <p:spPr>
          <a:xfrm>
            <a:off x="1419225" y="3162300"/>
            <a:ext cx="0" cy="161925"/>
          </a:xfrm>
          <a:prstGeom prst="line">
            <a:avLst/>
          </a:prstGeom>
          <a:ln w="17145">
            <a:solidFill>
              <a:srgbClr val="A0A0A0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af-scale-reweight-right-hanger-line-01" descr="{&quot;autofigure_element_id&quot;:&quot;scale-reweight-right-hanger&quot;}"/>
          <p:cNvCxnSpPr/>
          <p:nvPr/>
        </p:nvCxnSpPr>
        <p:spPr>
          <a:xfrm>
            <a:off x="1771650" y="3162300"/>
            <a:ext cx="0" cy="161925"/>
          </a:xfrm>
          <a:prstGeom prst="line">
            <a:avLst/>
          </a:prstGeom>
          <a:ln w="17145">
            <a:solidFill>
              <a:srgbClr val="A0A0A0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af-scale-reweight-left-pan-freeform-01" descr="{&quot;autofigure_element_id&quot;:&quot;scale-reweight-left-pan&quot;}"/>
          <p:cNvSpPr/>
          <p:nvPr/>
        </p:nvSpPr>
        <p:spPr>
          <a:xfrm>
            <a:off x="1304925" y="3324225"/>
            <a:ext cx="219075" cy="101600"/>
          </a:xfrm>
          <a:custGeom>
            <a:avLst/>
            <a:gdLst/>
            <a:ahLst/>
            <a:cxnLst/>
            <a:rect l="0" t="0" r="0" b="0"/>
            <a:pathLst>
              <a:path w="219075" h="101600">
                <a:moveTo>
                  <a:pt x="0" y="0"/>
                </a:moveTo>
                <a:cubicBezTo>
                  <a:pt x="76200" y="101600"/>
                  <a:pt x="149225" y="101600"/>
                  <a:pt x="219075" y="0"/>
                </a:cubicBezTo>
                <a:close/>
              </a:path>
            </a:pathLst>
          </a:custGeom>
          <a:solidFill>
            <a:srgbClr val="AAAAAA"/>
          </a:solidFill>
          <a:ln w="9525">
            <a:solidFill>
              <a:srgbClr val="9A9A9A"/>
            </a:solidFill>
            <a:miter/>
          </a:ln>
        </p:spPr>
      </p:sp>
      <p:sp>
        <p:nvSpPr>
          <p:cNvPr id="75" name="af-scale-reweight-right-pan-freeform-01" descr="{&quot;autofigure_element_id&quot;:&quot;scale-reweight-right-pan&quot;}"/>
          <p:cNvSpPr/>
          <p:nvPr/>
        </p:nvSpPr>
        <p:spPr>
          <a:xfrm>
            <a:off x="1666875" y="3324225"/>
            <a:ext cx="219075" cy="101600"/>
          </a:xfrm>
          <a:custGeom>
            <a:avLst/>
            <a:gdLst/>
            <a:ahLst/>
            <a:cxnLst/>
            <a:rect l="0" t="0" r="0" b="0"/>
            <a:pathLst>
              <a:path w="219075" h="101600">
                <a:moveTo>
                  <a:pt x="0" y="0"/>
                </a:moveTo>
                <a:cubicBezTo>
                  <a:pt x="69850" y="101600"/>
                  <a:pt x="142875" y="101600"/>
                  <a:pt x="219075" y="0"/>
                </a:cubicBezTo>
                <a:close/>
              </a:path>
            </a:pathLst>
          </a:custGeom>
          <a:solidFill>
            <a:srgbClr val="AAAAAA"/>
          </a:solidFill>
          <a:ln w="9525">
            <a:solidFill>
              <a:srgbClr val="9A9A9A"/>
            </a:solidFill>
            <a:miter/>
          </a:ln>
        </p:spPr>
      </p:sp>
      <p:sp>
        <p:nvSpPr>
          <p:cNvPr id="76" name="af-scale-reweight-base-freeform-01" descr="{&quot;autofigure_element_id&quot;:&quot;scale-reweight-base&quot;}"/>
          <p:cNvSpPr/>
          <p:nvPr/>
        </p:nvSpPr>
        <p:spPr>
          <a:xfrm>
            <a:off x="1485900" y="3467100"/>
            <a:ext cx="219075" cy="47625"/>
          </a:xfrm>
          <a:custGeom>
            <a:avLst/>
            <a:gdLst/>
            <a:ahLst/>
            <a:cxnLst/>
            <a:rect l="0" t="0" r="0" b="0"/>
            <a:pathLst>
              <a:path w="219075" h="47625">
                <a:moveTo>
                  <a:pt x="0" y="47625"/>
                </a:moveTo>
                <a:lnTo>
                  <a:pt x="219075" y="47625"/>
                </a:lnTo>
                <a:lnTo>
                  <a:pt x="171450" y="0"/>
                </a:lnTo>
                <a:lnTo>
                  <a:pt x="57150" y="0"/>
                </a:lnTo>
                <a:close/>
              </a:path>
            </a:pathLst>
          </a:custGeom>
          <a:solidFill>
            <a:srgbClr val="9E9E9E"/>
          </a:solidFill>
          <a:ln w="9525">
            <a:solidFill>
              <a:srgbClr val="999999"/>
            </a:solidFill>
            <a:miter/>
          </a:ln>
        </p:spPr>
      </p:sp>
      <p:sp>
        <p:nvSpPr>
          <p:cNvPr id="77" name="af-arrow-reweighted-to-model-freeform-arrow-01" descr="{&quot;arrow_semantic_centerline&quot;:{&quot;coordinate_space&quot;:&quot;canvas&quot;,&quot;kind&quot;:&quot;straight&quot;,&quot;points&quot;:[{&quot;x&quot;:294.0,&quot;y&quot;:355.0},{&quot;x&quot;:294.0,&quot;y&quot;:442.0}]},&quot;arrow_spec_sha256&quot;:&quot;d1f695d04bf43d826a4d904a8fa12e1ba043811a8f89cd431e7a068fc031229f&quot;,&quot;autofigure_element_id&quot;:&quot;arrow-reweighted-to-model&quot;}"/>
          <p:cNvSpPr/>
          <p:nvPr/>
        </p:nvSpPr>
        <p:spPr>
          <a:xfrm>
            <a:off x="2552700" y="3381375"/>
            <a:ext cx="495300" cy="828675"/>
          </a:xfrm>
          <a:custGeom>
            <a:avLst/>
            <a:gdLst/>
            <a:ahLst/>
            <a:cxnLst/>
            <a:rect l="0" t="0" r="0" b="0"/>
            <a:pathLst>
              <a:path w="495300" h="828675">
                <a:moveTo>
                  <a:pt x="123825" y="0"/>
                </a:moveTo>
                <a:lnTo>
                  <a:pt x="371475" y="0"/>
                </a:lnTo>
                <a:lnTo>
                  <a:pt x="371475" y="581025"/>
                </a:lnTo>
                <a:lnTo>
                  <a:pt x="495300" y="581025"/>
                </a:lnTo>
                <a:lnTo>
                  <a:pt x="247650" y="828675"/>
                </a:lnTo>
                <a:lnTo>
                  <a:pt x="0" y="581025"/>
                </a:lnTo>
                <a:lnTo>
                  <a:pt x="123825" y="581025"/>
                </a:lnTo>
                <a:close/>
              </a:path>
            </a:pathLst>
          </a:custGeom>
          <a:solidFill>
            <a:srgbClr val="4A86E8"/>
          </a:solidFill>
          <a:ln w="11430">
            <a:solidFill>
              <a:srgbClr val="28589C"/>
            </a:solidFill>
            <a:miter/>
          </a:ln>
        </p:spPr>
      </p:sp>
      <p:sp>
        <p:nvSpPr>
          <p:cNvPr id="78" name="af-text-train-text-01" descr="{&quot;autofigure_element_id&quot;:&quot;text-train&quot;}"/>
          <p:cNvSpPr txBox="1"/>
          <p:nvPr/>
        </p:nvSpPr>
        <p:spPr>
          <a:xfrm>
            <a:off x="3171825" y="3587747"/>
            <a:ext cx="901707" cy="50800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00">
                <a:solidFill>
                  <a:srgbClr val="0D3A68"/>
                </a:solidFill>
                <a:latin typeface="Arial"/>
              </a:rPr>
              <a:t>Train</a:t>
            </a:r>
          </a:p>
        </p:txBody>
      </p:sp>
      <p:sp>
        <p:nvSpPr>
          <p:cNvPr id="79" name="af-model-left-box-rect-01" descr="{&quot;autofigure_element_id&quot;:&quot;model-left-box&quot;}"/>
          <p:cNvSpPr/>
          <p:nvPr/>
        </p:nvSpPr>
        <p:spPr>
          <a:xfrm>
            <a:off x="1447800" y="4257675"/>
            <a:ext cx="2705100" cy="1181100"/>
          </a:xfrm>
          <a:prstGeom prst="rect">
            <a:avLst/>
          </a:prstGeom>
          <a:solidFill>
            <a:srgbClr val="FFFFFF"/>
          </a:solidFill>
          <a:ln w="38100">
            <a:solidFill>
              <a:srgbClr val="6FA8D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af-model-left-edge-01-connector-01" descr="{&quot;arrow_spec_sha256&quot;:&quot;e9cc4165290420c6ac5df12df70be210b2023f81e94e3be275828a59dad6346e&quot;,&quot;autofigure_element_id&quot;:&quot;model-left-edge-01&quot;}"/>
          <p:cNvCxnSpPr>
            <a:stCxn id="91" idx="0"/>
            <a:endCxn id="92" idx="0"/>
          </p:cNvCxnSpPr>
          <p:nvPr/>
        </p:nvCxnSpPr>
        <p:spPr>
          <a:xfrm flipH="1">
            <a:off x="2495550" y="4371975"/>
            <a:ext cx="304800" cy="2000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af-model-left-edge-02-connector-01" descr="{&quot;arrow_spec_sha256&quot;:&quot;f0c7cd96258821d6be7f633f38032045f9ed3438bafa5b307445fe2c2cca7fe8&quot;,&quot;autofigure_element_id&quot;:&quot;model-left-edge-02&quot;}"/>
          <p:cNvCxnSpPr>
            <a:stCxn id="91" idx="0"/>
            <a:endCxn id="93" idx="0"/>
          </p:cNvCxnSpPr>
          <p:nvPr/>
        </p:nvCxnSpPr>
        <p:spPr>
          <a:xfrm>
            <a:off x="2800350" y="4371975"/>
            <a:ext cx="304800" cy="2000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af-model-left-edge-03-connector-01" descr="{&quot;arrow_spec_sha256&quot;:&quot;89ead4444551fc721c501ca2eab0db51fea4be562d5866a3e7021b1a1dc72c42&quot;,&quot;autofigure_element_id&quot;:&quot;model-left-edge-03&quot;}"/>
          <p:cNvCxnSpPr>
            <a:stCxn id="91" idx="0"/>
            <a:endCxn id="94" idx="0"/>
          </p:cNvCxnSpPr>
          <p:nvPr/>
        </p:nvCxnSpPr>
        <p:spPr>
          <a:xfrm>
            <a:off x="2800350" y="4371975"/>
            <a:ext cx="0" cy="43815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af-model-left-edge-04-connector-01" descr="{&quot;arrow_spec_sha256&quot;:&quot;f1c03703b2fe7443263378f66015807cf637fc25ce090e666402916281c25685&quot;,&quot;autofigure_element_id&quot;:&quot;model-left-edge-04&quot;}"/>
          <p:cNvCxnSpPr>
            <a:stCxn id="92" idx="0"/>
            <a:endCxn id="94" idx="0"/>
          </p:cNvCxnSpPr>
          <p:nvPr/>
        </p:nvCxnSpPr>
        <p:spPr>
          <a:xfrm>
            <a:off x="2495550" y="4572000"/>
            <a:ext cx="304800" cy="2381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af-model-left-edge-05-connector-01" descr="{&quot;arrow_spec_sha256&quot;:&quot;93ddc91c5f3fc99bfd0079ae0f91b5ee2e62913e0de24d9fb257a1a64fa59cc4&quot;,&quot;autofigure_element_id&quot;:&quot;model-left-edge-05&quot;}"/>
          <p:cNvCxnSpPr>
            <a:stCxn id="93" idx="0"/>
            <a:endCxn id="94" idx="0"/>
          </p:cNvCxnSpPr>
          <p:nvPr/>
        </p:nvCxnSpPr>
        <p:spPr>
          <a:xfrm flipH="1">
            <a:off x="2800350" y="4572000"/>
            <a:ext cx="304800" cy="2381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af-model-left-edge-06-connector-01" descr="{&quot;arrow_spec_sha256&quot;:&quot;20513ab4d73dc8d4616619739c9dfaa4436fd34e3bf73ab6649e48f3b838cf98&quot;,&quot;autofigure_element_id&quot;:&quot;model-left-edge-06&quot;}"/>
          <p:cNvCxnSpPr>
            <a:stCxn id="92" idx="0"/>
            <a:endCxn id="96" idx="0"/>
          </p:cNvCxnSpPr>
          <p:nvPr/>
        </p:nvCxnSpPr>
        <p:spPr>
          <a:xfrm>
            <a:off x="2495550" y="4572000"/>
            <a:ext cx="600075" cy="53340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af-model-left-edge-07-connector-01" descr="{&quot;arrow_spec_sha256&quot;:&quot;bbd9999de3260c5856199e65ceaa37780fed8f82d0b0a49b620fc58df09ac4c5&quot;,&quot;autofigure_element_id&quot;:&quot;model-left-edge-07&quot;}"/>
          <p:cNvCxnSpPr>
            <a:stCxn id="93" idx="0"/>
            <a:endCxn id="95" idx="0"/>
          </p:cNvCxnSpPr>
          <p:nvPr/>
        </p:nvCxnSpPr>
        <p:spPr>
          <a:xfrm flipH="1">
            <a:off x="2505075" y="4572000"/>
            <a:ext cx="600075" cy="53340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af-model-left-edge-08-connector-01" descr="{&quot;arrow_spec_sha256&quot;:&quot;1dd810473c187d9623470160482812f0c50f975a7b1492bf5bc94c7c07cd0e3d&quot;,&quot;autofigure_element_id&quot;:&quot;model-left-edge-08&quot;}"/>
          <p:cNvCxnSpPr>
            <a:stCxn id="94" idx="0"/>
            <a:endCxn id="95" idx="0"/>
          </p:cNvCxnSpPr>
          <p:nvPr/>
        </p:nvCxnSpPr>
        <p:spPr>
          <a:xfrm flipH="1">
            <a:off x="2505075" y="4810125"/>
            <a:ext cx="295275" cy="29527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af-model-left-edge-09-connector-01" descr="{&quot;arrow_spec_sha256&quot;:&quot;351b329787f9ef0cd16df1bea276df25653b28ece73abd82bfeeac8e25a1f36a&quot;,&quot;autofigure_element_id&quot;:&quot;model-left-edge-09&quot;}"/>
          <p:cNvCxnSpPr>
            <a:stCxn id="94" idx="0"/>
            <a:endCxn id="96" idx="0"/>
          </p:cNvCxnSpPr>
          <p:nvPr/>
        </p:nvCxnSpPr>
        <p:spPr>
          <a:xfrm>
            <a:off x="2800350" y="4810125"/>
            <a:ext cx="295275" cy="29527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af-model-left-edge-10-connector-01" descr="{&quot;arrow_spec_sha256&quot;:&quot;7459f6399a06b6523d0fb4e75b0ad34ed8da630c9e3e3738c77b5e26fa2fc0bf&quot;,&quot;autofigure_element_id&quot;:&quot;model-left-edge-10&quot;}"/>
          <p:cNvCxnSpPr>
            <a:stCxn id="95" idx="0"/>
            <a:endCxn id="97" idx="0"/>
          </p:cNvCxnSpPr>
          <p:nvPr/>
        </p:nvCxnSpPr>
        <p:spPr>
          <a:xfrm>
            <a:off x="2505075" y="5105400"/>
            <a:ext cx="295275" cy="20955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af-model-left-edge-11-connector-01" descr="{&quot;arrow_spec_sha256&quot;:&quot;0cbf42ea5e5232421fe6dedae316f708496a569baede59e8698a806f272de87a&quot;,&quot;autofigure_element_id&quot;:&quot;model-left-edge-11&quot;}"/>
          <p:cNvCxnSpPr>
            <a:stCxn id="96" idx="0"/>
            <a:endCxn id="97" idx="0"/>
          </p:cNvCxnSpPr>
          <p:nvPr/>
        </p:nvCxnSpPr>
        <p:spPr>
          <a:xfrm flipH="1">
            <a:off x="2800350" y="5105400"/>
            <a:ext cx="295275" cy="20955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af-model-left-node-01-ellipse-01" descr="{&quot;autofigure_element_id&quot;:&quot;model-left-node-01&quot;}"/>
          <p:cNvSpPr/>
          <p:nvPr/>
        </p:nvSpPr>
        <p:spPr>
          <a:xfrm>
            <a:off x="2733675" y="430530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af-model-left-node-02-ellipse-01" descr="{&quot;autofigure_element_id&quot;:&quot;model-left-node-02&quot;}"/>
          <p:cNvSpPr/>
          <p:nvPr/>
        </p:nvSpPr>
        <p:spPr>
          <a:xfrm>
            <a:off x="2428875" y="450532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af-model-left-node-03-ellipse-01" descr="{&quot;autofigure_element_id&quot;:&quot;model-left-node-03&quot;}"/>
          <p:cNvSpPr/>
          <p:nvPr/>
        </p:nvSpPr>
        <p:spPr>
          <a:xfrm>
            <a:off x="3038475" y="450532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af-model-left-node-04-ellipse-01" descr="{&quot;autofigure_element_id&quot;:&quot;model-left-node-04&quot;}"/>
          <p:cNvSpPr/>
          <p:nvPr/>
        </p:nvSpPr>
        <p:spPr>
          <a:xfrm>
            <a:off x="2733675" y="474345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af-model-left-node-05-ellipse-01" descr="{&quot;autofigure_element_id&quot;:&quot;model-left-node-05&quot;}"/>
          <p:cNvSpPr/>
          <p:nvPr/>
        </p:nvSpPr>
        <p:spPr>
          <a:xfrm>
            <a:off x="2438400" y="503872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af-model-left-node-06-ellipse-01" descr="{&quot;autofigure_element_id&quot;:&quot;model-left-node-06&quot;}"/>
          <p:cNvSpPr/>
          <p:nvPr/>
        </p:nvSpPr>
        <p:spPr>
          <a:xfrm>
            <a:off x="3028950" y="503872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f-model-left-node-07-ellipse-01" descr="{&quot;autofigure_element_id&quot;:&quot;model-left-node-07&quot;}"/>
          <p:cNvSpPr/>
          <p:nvPr/>
        </p:nvSpPr>
        <p:spPr>
          <a:xfrm>
            <a:off x="2733675" y="524827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f-text-model-left-text-01" descr="{&quot;autofigure_element_id&quot;:&quot;text-model-left&quot;}"/>
          <p:cNvSpPr txBox="1"/>
          <p:nvPr/>
        </p:nvSpPr>
        <p:spPr>
          <a:xfrm>
            <a:off x="1624851" y="4571368"/>
            <a:ext cx="2350997" cy="73405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99" b="1">
                <a:solidFill>
                  <a:srgbClr val="0D3A68"/>
                </a:solidFill>
                <a:latin typeface="Arial"/>
              </a:rPr>
              <a:t>Pareto-Conditioned</a:t>
            </a:r>
          </a:p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99">
                <a:solidFill>
                  <a:srgbClr val="0D3A68"/>
                </a:solidFill>
                <a:latin typeface="Arial"/>
              </a:rPr>
              <a:t>Diffusion Model</a:t>
            </a:r>
          </a:p>
        </p:txBody>
      </p:sp>
      <p:cxnSp>
        <p:nvCxnSpPr>
          <p:cNvPr id="99" name="af-gaussian-noise-baseline-line-01" descr="{&quot;autofigure_element_id&quot;:&quot;gaussian-noise-baseline&quot;}"/>
          <p:cNvCxnSpPr/>
          <p:nvPr/>
        </p:nvCxnSpPr>
        <p:spPr>
          <a:xfrm>
            <a:off x="8305800" y="1800225"/>
            <a:ext cx="2857500" cy="0"/>
          </a:xfrm>
          <a:prstGeom prst="line">
            <a:avLst/>
          </a:prstGeom>
          <a:ln w="17145">
            <a:solidFill>
              <a:srgbClr val="888888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af-gaussian-noise-curve-freeform-01" descr="{&quot;autofigure_element_id&quot;:&quot;gaussian-noise-curve&quot;}"/>
          <p:cNvSpPr/>
          <p:nvPr/>
        </p:nvSpPr>
        <p:spPr>
          <a:xfrm>
            <a:off x="8305800" y="790575"/>
            <a:ext cx="2857500" cy="1000125"/>
          </a:xfrm>
          <a:custGeom>
            <a:avLst/>
            <a:gdLst/>
            <a:ahLst/>
            <a:cxnLst/>
            <a:rect l="0" t="0" r="0" b="0"/>
            <a:pathLst>
              <a:path w="2857500" h="1000125">
                <a:moveTo>
                  <a:pt x="0" y="1000125"/>
                </a:moveTo>
                <a:cubicBezTo>
                  <a:pt x="552450" y="1000125"/>
                  <a:pt x="771525" y="990600"/>
                  <a:pt x="933450" y="723900"/>
                </a:cubicBezTo>
                <a:cubicBezTo>
                  <a:pt x="1104900" y="438150"/>
                  <a:pt x="1238250" y="0"/>
                  <a:pt x="1428750" y="0"/>
                </a:cubicBezTo>
                <a:cubicBezTo>
                  <a:pt x="1619250" y="0"/>
                  <a:pt x="1743075" y="447675"/>
                  <a:pt x="1914525" y="723900"/>
                </a:cubicBezTo>
                <a:cubicBezTo>
                  <a:pt x="2076450" y="990600"/>
                  <a:pt x="2305050" y="1000125"/>
                  <a:pt x="2857500" y="1000125"/>
                </a:cubicBezTo>
              </a:path>
            </a:pathLst>
          </a:custGeom>
          <a:noFill/>
          <a:ln w="17145">
            <a:solidFill>
              <a:srgbClr val="888888"/>
            </a:solidFill>
            <a:miter/>
          </a:ln>
        </p:spPr>
      </p:sp>
      <p:sp>
        <p:nvSpPr>
          <p:cNvPr id="101" name="af-arrow-noise-to-model-freeform-arrow-01" descr="{&quot;arrow_semantic_centerline&quot;:{&quot;coordinate_space&quot;:&quot;canvas&quot;,&quot;kind&quot;:&quot;straight&quot;,&quot;points&quot;:[{&quot;x&quot;:1022.0,&quot;y&quot;:195.0},{&quot;x&quot;:1022.0,&quot;y&quot;:249.0}]},&quot;arrow_spec_sha256&quot;:&quot;410b1837f754bd7889927005c2bba8ff15a31593e3d662f7eb3770de57b06e7d&quot;,&quot;autofigure_element_id&quot;:&quot;arrow-noise-to-model&quot;}"/>
          <p:cNvSpPr/>
          <p:nvPr/>
        </p:nvSpPr>
        <p:spPr>
          <a:xfrm>
            <a:off x="9486900" y="1857375"/>
            <a:ext cx="495300" cy="514350"/>
          </a:xfrm>
          <a:custGeom>
            <a:avLst/>
            <a:gdLst/>
            <a:ahLst/>
            <a:cxnLst/>
            <a:rect l="0" t="0" r="0" b="0"/>
            <a:pathLst>
              <a:path w="495300" h="514350">
                <a:moveTo>
                  <a:pt x="123825" y="0"/>
                </a:moveTo>
                <a:lnTo>
                  <a:pt x="371475" y="0"/>
                </a:lnTo>
                <a:lnTo>
                  <a:pt x="371475" y="257175"/>
                </a:lnTo>
                <a:lnTo>
                  <a:pt x="495300" y="257175"/>
                </a:lnTo>
                <a:lnTo>
                  <a:pt x="247650" y="514350"/>
                </a:lnTo>
                <a:lnTo>
                  <a:pt x="0" y="257175"/>
                </a:lnTo>
                <a:lnTo>
                  <a:pt x="123825" y="257175"/>
                </a:lnTo>
                <a:close/>
              </a:path>
            </a:pathLst>
          </a:custGeom>
          <a:solidFill>
            <a:srgbClr val="E69138"/>
          </a:solidFill>
          <a:ln w="11430">
            <a:solidFill>
              <a:srgbClr val="9A4C00"/>
            </a:solidFill>
            <a:miter/>
          </a:ln>
        </p:spPr>
      </p:sp>
      <p:sp>
        <p:nvSpPr>
          <p:cNvPr id="102" name="af-text-noise-text-01" descr="{&quot;autofigure_element_id&quot;:&quot;text-noise&quot;}"/>
          <p:cNvSpPr txBox="1"/>
          <p:nvPr/>
        </p:nvSpPr>
        <p:spPr>
          <a:xfrm>
            <a:off x="10096500" y="1913893"/>
            <a:ext cx="910455" cy="49212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99">
                <a:solidFill>
                  <a:srgbClr val="0D3A68"/>
                </a:solidFill>
                <a:latin typeface="Arial"/>
              </a:rPr>
              <a:t>Noise</a:t>
            </a:r>
          </a:p>
        </p:txBody>
      </p:sp>
      <p:sp>
        <p:nvSpPr>
          <p:cNvPr id="103" name="af-target-objectives-box-rect-01" descr="{&quot;autofigure_element_id&quot;:&quot;target-objectives-box&quot;}"/>
          <p:cNvSpPr/>
          <p:nvPr/>
        </p:nvSpPr>
        <p:spPr>
          <a:xfrm>
            <a:off x="5829300" y="2476500"/>
            <a:ext cx="1438275" cy="1047750"/>
          </a:xfrm>
          <a:prstGeom prst="rect">
            <a:avLst/>
          </a:prstGeom>
          <a:solidFill>
            <a:srgbClr val="C9DAF8"/>
          </a:solidFill>
          <a:ln w="14288">
            <a:solidFill>
              <a:srgbClr val="355A9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af-text-target-objectives-text-01" descr="{&quot;autofigure_element_id&quot;:&quot;text-target-objectives&quot;}"/>
          <p:cNvSpPr txBox="1"/>
          <p:nvPr/>
        </p:nvSpPr>
        <p:spPr>
          <a:xfrm>
            <a:off x="5943600" y="2713993"/>
            <a:ext cx="1209675" cy="69595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899">
                <a:solidFill>
                  <a:srgbClr val="0D3A68"/>
                </a:solidFill>
                <a:latin typeface="Arial"/>
              </a:rPr>
              <a:t>Target</a:t>
            </a:r>
          </a:p>
          <a:p>
            <a:pPr algn="ctr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899">
                <a:solidFill>
                  <a:srgbClr val="0D3A68"/>
                </a:solidFill>
                <a:latin typeface="Arial"/>
              </a:rPr>
              <a:t>Objectives</a:t>
            </a:r>
          </a:p>
        </p:txBody>
      </p:sp>
      <p:sp>
        <p:nvSpPr>
          <p:cNvPr id="105" name="af-text-condition-text-01" descr="{&quot;autofigure_element_id&quot;:&quot;text-condition&quot;}"/>
          <p:cNvSpPr txBox="1"/>
          <p:nvPr/>
        </p:nvSpPr>
        <p:spPr>
          <a:xfrm>
            <a:off x="7353300" y="2531113"/>
            <a:ext cx="1150099" cy="44449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99">
                <a:solidFill>
                  <a:srgbClr val="0D3A68"/>
                </a:solidFill>
                <a:latin typeface="Arial"/>
              </a:rPr>
              <a:t>Condition</a:t>
            </a:r>
          </a:p>
        </p:txBody>
      </p:sp>
      <p:cxnSp>
        <p:nvCxnSpPr>
          <p:cNvPr id="106" name="af-chart-target-axis-y-connector-01" descr="{&quot;arrow_spec_sha256&quot;:&quot;c0257b95c8c40c21f207772dd9e4091b51d1f9bfbb2bbe56128a9bf874b7fee0&quot;,&quot;autofigure_element_id&quot;:&quot;chart-target-axis-y&quot;}"/>
          <p:cNvCxnSpPr/>
          <p:nvPr/>
        </p:nvCxnSpPr>
        <p:spPr>
          <a:xfrm flipV="1">
            <a:off x="6219825" y="3629025"/>
            <a:ext cx="0" cy="533400"/>
          </a:xfrm>
          <a:prstGeom prst="line">
            <a:avLst/>
          </a:prstGeom>
          <a:ln w="17145">
            <a:solidFill>
              <a:srgbClr val="111111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af-chart-target-axis-x-connector-01" descr="{&quot;arrow_spec_sha256&quot;:&quot;2332d1a04b1752fc3e4f6bfd96c31e0ffaf613dcac5cc6cbf586a0482a9ae843&quot;,&quot;autofigure_element_id&quot;:&quot;chart-target-axis-x&quot;}"/>
          <p:cNvCxnSpPr/>
          <p:nvPr/>
        </p:nvCxnSpPr>
        <p:spPr>
          <a:xfrm>
            <a:off x="6210300" y="4152900"/>
            <a:ext cx="695325" cy="0"/>
          </a:xfrm>
          <a:prstGeom prst="line">
            <a:avLst/>
          </a:prstGeom>
          <a:ln w="17145">
            <a:solidFill>
              <a:srgbClr val="111111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af-chart-target-y-tick-01-line-01" descr="{&quot;autofigure_element_id&quot;:&quot;chart-target-y-tick-01&quot;}"/>
          <p:cNvCxnSpPr/>
          <p:nvPr/>
        </p:nvCxnSpPr>
        <p:spPr>
          <a:xfrm>
            <a:off x="6191250" y="40481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af-chart-target-y-tick-02-line-01" descr="{&quot;autofigure_element_id&quot;:&quot;chart-target-y-tick-02&quot;}"/>
          <p:cNvCxnSpPr/>
          <p:nvPr/>
        </p:nvCxnSpPr>
        <p:spPr>
          <a:xfrm>
            <a:off x="6191250" y="39338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af-chart-target-y-tick-03-line-01" descr="{&quot;autofigure_element_id&quot;:&quot;chart-target-y-tick-03&quot;}"/>
          <p:cNvCxnSpPr/>
          <p:nvPr/>
        </p:nvCxnSpPr>
        <p:spPr>
          <a:xfrm>
            <a:off x="6191250" y="38195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af-chart-target-y-tick-04-line-01" descr="{&quot;autofigure_element_id&quot;:&quot;chart-target-y-tick-04&quot;}"/>
          <p:cNvCxnSpPr/>
          <p:nvPr/>
        </p:nvCxnSpPr>
        <p:spPr>
          <a:xfrm>
            <a:off x="6191250" y="37052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af-chart-target-x-tick-01-line-01" descr="{&quot;autofigure_element_id&quot;:&quot;chart-target-x-tick-01&quot;}"/>
          <p:cNvCxnSpPr/>
          <p:nvPr/>
        </p:nvCxnSpPr>
        <p:spPr>
          <a:xfrm>
            <a:off x="6353175" y="41243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af-chart-target-x-tick-02-line-01" descr="{&quot;autofigure_element_id&quot;:&quot;chart-target-x-tick-02&quot;}"/>
          <p:cNvCxnSpPr/>
          <p:nvPr/>
        </p:nvCxnSpPr>
        <p:spPr>
          <a:xfrm>
            <a:off x="6486525" y="41243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af-chart-target-x-tick-03-line-01" descr="{&quot;autofigure_element_id&quot;:&quot;chart-target-x-tick-03&quot;}"/>
          <p:cNvCxnSpPr/>
          <p:nvPr/>
        </p:nvCxnSpPr>
        <p:spPr>
          <a:xfrm>
            <a:off x="6619875" y="41243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af-chart-target-x-tick-04-line-01" descr="{&quot;autofigure_element_id&quot;:&quot;chart-target-x-tick-04&quot;}"/>
          <p:cNvCxnSpPr/>
          <p:nvPr/>
        </p:nvCxnSpPr>
        <p:spPr>
          <a:xfrm>
            <a:off x="6753225" y="41243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af-chart-target-wick-01-line-01" descr="{&quot;autofigure_element_id&quot;:&quot;chart-target-wick-01&quot;}"/>
          <p:cNvCxnSpPr/>
          <p:nvPr/>
        </p:nvCxnSpPr>
        <p:spPr>
          <a:xfrm>
            <a:off x="6324600" y="3695700"/>
            <a:ext cx="0" cy="314325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af-chart-target-candle-01-rect-01" descr="{&quot;autofigure_element_id&quot;:&quot;chart-target-candle-01&quot;}"/>
          <p:cNvSpPr/>
          <p:nvPr/>
        </p:nvSpPr>
        <p:spPr>
          <a:xfrm>
            <a:off x="6286500" y="3781425"/>
            <a:ext cx="76200" cy="14287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af-chart-target-wick-02-line-01" descr="{&quot;autofigure_element_id&quot;:&quot;chart-target-wick-02&quot;}"/>
          <p:cNvCxnSpPr/>
          <p:nvPr/>
        </p:nvCxnSpPr>
        <p:spPr>
          <a:xfrm>
            <a:off x="6438900" y="3819525"/>
            <a:ext cx="0" cy="285750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af-chart-target-candle-02-rect-01" descr="{&quot;autofigure_element_id&quot;:&quot;chart-target-candle-02&quot;}"/>
          <p:cNvSpPr/>
          <p:nvPr/>
        </p:nvSpPr>
        <p:spPr>
          <a:xfrm>
            <a:off x="6400800" y="3886200"/>
            <a:ext cx="76200" cy="142875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af-chart-target-wick-03-line-01" descr="{&quot;autofigure_element_id&quot;:&quot;chart-target-wick-03&quot;}"/>
          <p:cNvCxnSpPr/>
          <p:nvPr/>
        </p:nvCxnSpPr>
        <p:spPr>
          <a:xfrm>
            <a:off x="6553200" y="3743325"/>
            <a:ext cx="0" cy="333375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af-chart-target-candle-03-rect-01" descr="{&quot;autofigure_element_id&quot;:&quot;chart-target-candle-03&quot;}"/>
          <p:cNvSpPr/>
          <p:nvPr/>
        </p:nvSpPr>
        <p:spPr>
          <a:xfrm>
            <a:off x="6515100" y="3857625"/>
            <a:ext cx="76200" cy="1238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af-chart-target-wick-04-line-01" descr="{&quot;autofigure_element_id&quot;:&quot;chart-target-wick-04&quot;}"/>
          <p:cNvCxnSpPr/>
          <p:nvPr/>
        </p:nvCxnSpPr>
        <p:spPr>
          <a:xfrm>
            <a:off x="6667500" y="3686175"/>
            <a:ext cx="0" cy="304800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af-chart-target-candle-04-rect-01" descr="{&quot;autofigure_element_id&quot;:&quot;chart-target-candle-04&quot;}"/>
          <p:cNvSpPr/>
          <p:nvPr/>
        </p:nvSpPr>
        <p:spPr>
          <a:xfrm>
            <a:off x="6629400" y="3771900"/>
            <a:ext cx="76200" cy="142875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af-chart-target-wick-05-line-01" descr="{&quot;autofigure_element_id&quot;:&quot;chart-target-wick-05&quot;}"/>
          <p:cNvCxnSpPr/>
          <p:nvPr/>
        </p:nvCxnSpPr>
        <p:spPr>
          <a:xfrm>
            <a:off x="6781800" y="3629025"/>
            <a:ext cx="0" cy="323850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af-chart-target-candle-05-rect-01" descr="{&quot;autofigure_element_id&quot;:&quot;chart-target-candle-05&quot;}"/>
          <p:cNvSpPr/>
          <p:nvPr/>
        </p:nvSpPr>
        <p:spPr>
          <a:xfrm>
            <a:off x="6743700" y="3733800"/>
            <a:ext cx="76200" cy="1333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af-arrow-target-to-model-freeform-arrow-01" descr="{&quot;arrow_semantic_centerline&quot;:{&quot;coordinate_space&quot;:&quot;canvas&quot;,&quot;kind&quot;:&quot;straight&quot;,&quot;points&quot;:[{&quot;x&quot;:769.0,&quot;y&quot;:315.0},{&quot;x&quot;:876.0,&quot;y&quot;:315.0}]},&quot;arrow_spec_sha256&quot;:&quot;fc1c7da8aa4663d68146b5f97766ca850839db84ac1aaed58c12d1fa211132e8&quot;,&quot;autofigure_element_id&quot;:&quot;arrow-target-to-model&quot;}"/>
          <p:cNvSpPr/>
          <p:nvPr/>
        </p:nvSpPr>
        <p:spPr>
          <a:xfrm>
            <a:off x="7324725" y="2790825"/>
            <a:ext cx="1019175" cy="419100"/>
          </a:xfrm>
          <a:custGeom>
            <a:avLst/>
            <a:gdLst/>
            <a:ahLst/>
            <a:cxnLst/>
            <a:rect l="0" t="0" r="0" b="0"/>
            <a:pathLst>
              <a:path w="1019175" h="419100">
                <a:moveTo>
                  <a:pt x="0" y="114300"/>
                </a:moveTo>
                <a:lnTo>
                  <a:pt x="800100" y="114300"/>
                </a:lnTo>
                <a:lnTo>
                  <a:pt x="800100" y="0"/>
                </a:lnTo>
                <a:lnTo>
                  <a:pt x="1019175" y="209550"/>
                </a:lnTo>
                <a:lnTo>
                  <a:pt x="800100" y="419100"/>
                </a:lnTo>
                <a:lnTo>
                  <a:pt x="800100" y="314325"/>
                </a:lnTo>
                <a:lnTo>
                  <a:pt x="0" y="314325"/>
                </a:lnTo>
                <a:close/>
              </a:path>
            </a:pathLst>
          </a:custGeom>
          <a:solidFill>
            <a:srgbClr val="E69138"/>
          </a:solidFill>
          <a:ln w="11430">
            <a:solidFill>
              <a:srgbClr val="9A4C00"/>
            </a:solidFill>
            <a:miter/>
          </a:ln>
        </p:spPr>
      </p:sp>
      <p:sp>
        <p:nvSpPr>
          <p:cNvPr id="127" name="af-model-right-box-rect-01" descr="{&quot;autofigure_element_id&quot;:&quot;model-right-box&quot;}"/>
          <p:cNvSpPr/>
          <p:nvPr/>
        </p:nvSpPr>
        <p:spPr>
          <a:xfrm>
            <a:off x="8391525" y="2400300"/>
            <a:ext cx="2705100" cy="1181100"/>
          </a:xfrm>
          <a:prstGeom prst="rect">
            <a:avLst/>
          </a:prstGeom>
          <a:solidFill>
            <a:srgbClr val="FFFFFF"/>
          </a:solidFill>
          <a:ln w="38100">
            <a:solidFill>
              <a:srgbClr val="6FA8D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af-model-right-edge-01-connector-01" descr="{&quot;arrow_spec_sha256&quot;:&quot;eafddf4d1e613a69110b7faf0632d1fee8f5f967598a593cdb926fde204acda8&quot;,&quot;autofigure_element_id&quot;:&quot;model-right-edge-01&quot;}"/>
          <p:cNvCxnSpPr>
            <a:stCxn id="139" idx="0"/>
            <a:endCxn id="140" idx="0"/>
          </p:cNvCxnSpPr>
          <p:nvPr/>
        </p:nvCxnSpPr>
        <p:spPr>
          <a:xfrm flipH="1">
            <a:off x="9429750" y="2514600"/>
            <a:ext cx="304800" cy="2000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af-model-right-edge-02-connector-01" descr="{&quot;arrow_spec_sha256&quot;:&quot;a15b22e404d51ac9f9adc2387b8f6900d8045aeefe56f588d0d5eb2a8222b692&quot;,&quot;autofigure_element_id&quot;:&quot;model-right-edge-02&quot;}"/>
          <p:cNvCxnSpPr>
            <a:stCxn id="139" idx="0"/>
            <a:endCxn id="141" idx="0"/>
          </p:cNvCxnSpPr>
          <p:nvPr/>
        </p:nvCxnSpPr>
        <p:spPr>
          <a:xfrm>
            <a:off x="9734550" y="2514600"/>
            <a:ext cx="304800" cy="2000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af-model-right-edge-03-connector-01" descr="{&quot;arrow_spec_sha256&quot;:&quot;354cfea2ca4e3430b867926e604b1b926eceed280f3e2bfd71b50fb697d16bea&quot;,&quot;autofigure_element_id&quot;:&quot;model-right-edge-03&quot;}"/>
          <p:cNvCxnSpPr>
            <a:stCxn id="139" idx="0"/>
            <a:endCxn id="142" idx="0"/>
          </p:cNvCxnSpPr>
          <p:nvPr/>
        </p:nvCxnSpPr>
        <p:spPr>
          <a:xfrm>
            <a:off x="9734550" y="2514600"/>
            <a:ext cx="0" cy="43815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af-model-right-edge-04-connector-01" descr="{&quot;arrow_spec_sha256&quot;:&quot;da749ff5bc92259253a195b0d8edc247a10afb7a23dd91eaed73e4c9e9c8b7b3&quot;,&quot;autofigure_element_id&quot;:&quot;model-right-edge-04&quot;}"/>
          <p:cNvCxnSpPr>
            <a:stCxn id="140" idx="0"/>
            <a:endCxn id="142" idx="0"/>
          </p:cNvCxnSpPr>
          <p:nvPr/>
        </p:nvCxnSpPr>
        <p:spPr>
          <a:xfrm>
            <a:off x="9429750" y="2714625"/>
            <a:ext cx="304800" cy="2381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af-model-right-edge-05-connector-01" descr="{&quot;arrow_spec_sha256&quot;:&quot;af3878a34d7fdfa4ad63dacf023a9c72fc2b20ba3a21fd03ea34d55310507c6e&quot;,&quot;autofigure_element_id&quot;:&quot;model-right-edge-05&quot;}"/>
          <p:cNvCxnSpPr>
            <a:stCxn id="141" idx="0"/>
            <a:endCxn id="142" idx="0"/>
          </p:cNvCxnSpPr>
          <p:nvPr/>
        </p:nvCxnSpPr>
        <p:spPr>
          <a:xfrm flipH="1">
            <a:off x="9734550" y="2714625"/>
            <a:ext cx="304800" cy="2381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af-model-right-edge-06-connector-01" descr="{&quot;arrow_spec_sha256&quot;:&quot;8fb88d935025769b6d1d802df9a2b71fe10887514c0c32186d3939837452d051&quot;,&quot;autofigure_element_id&quot;:&quot;model-right-edge-06&quot;}"/>
          <p:cNvCxnSpPr>
            <a:stCxn id="140" idx="0"/>
            <a:endCxn id="144" idx="0"/>
          </p:cNvCxnSpPr>
          <p:nvPr/>
        </p:nvCxnSpPr>
        <p:spPr>
          <a:xfrm>
            <a:off x="9429750" y="2714625"/>
            <a:ext cx="600075" cy="53340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af-model-right-edge-07-connector-01" descr="{&quot;arrow_spec_sha256&quot;:&quot;b6e87a1b4866444a95f2f070f1165c905e6c0f9cf567d10141a11ac17b33ebf1&quot;,&quot;autofigure_element_id&quot;:&quot;model-right-edge-07&quot;}"/>
          <p:cNvCxnSpPr>
            <a:stCxn id="141" idx="0"/>
            <a:endCxn id="143" idx="0"/>
          </p:cNvCxnSpPr>
          <p:nvPr/>
        </p:nvCxnSpPr>
        <p:spPr>
          <a:xfrm flipH="1">
            <a:off x="9439275" y="2714625"/>
            <a:ext cx="600075" cy="53340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af-model-right-edge-08-connector-01" descr="{&quot;arrow_spec_sha256&quot;:&quot;8566290d5fab6dc42402c52b2c7b73dff823c013736a74b0ebdb9a33ba717d87&quot;,&quot;autofigure_element_id&quot;:&quot;model-right-edge-08&quot;}"/>
          <p:cNvCxnSpPr>
            <a:stCxn id="142" idx="0"/>
            <a:endCxn id="143" idx="0"/>
          </p:cNvCxnSpPr>
          <p:nvPr/>
        </p:nvCxnSpPr>
        <p:spPr>
          <a:xfrm flipH="1">
            <a:off x="9439275" y="2952750"/>
            <a:ext cx="295275" cy="29527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af-model-right-edge-09-connector-01" descr="{&quot;arrow_spec_sha256&quot;:&quot;9873b654659f44839038331773f68a15e5beaa4446642199163c3feb1cb23a3f&quot;,&quot;autofigure_element_id&quot;:&quot;model-right-edge-09&quot;}"/>
          <p:cNvCxnSpPr>
            <a:stCxn id="142" idx="0"/>
            <a:endCxn id="144" idx="0"/>
          </p:cNvCxnSpPr>
          <p:nvPr/>
        </p:nvCxnSpPr>
        <p:spPr>
          <a:xfrm>
            <a:off x="9734550" y="2952750"/>
            <a:ext cx="295275" cy="29527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af-model-right-edge-10-connector-01" descr="{&quot;arrow_spec_sha256&quot;:&quot;4875c8cf597fe6748757eee755553e3f431aafc5a55ef9a6c09cf4d1481af725&quot;,&quot;autofigure_element_id&quot;:&quot;model-right-edge-10&quot;}"/>
          <p:cNvCxnSpPr>
            <a:stCxn id="143" idx="0"/>
            <a:endCxn id="145" idx="0"/>
          </p:cNvCxnSpPr>
          <p:nvPr/>
        </p:nvCxnSpPr>
        <p:spPr>
          <a:xfrm>
            <a:off x="9439275" y="3248025"/>
            <a:ext cx="295275" cy="20955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af-model-right-edge-11-connector-01" descr="{&quot;arrow_spec_sha256&quot;:&quot;5116cd957eb779cbefe5110b5b3374d689acf56940a9928f3758a0b4ed1d677e&quot;,&quot;autofigure_element_id&quot;:&quot;model-right-edge-11&quot;}"/>
          <p:cNvCxnSpPr>
            <a:stCxn id="144" idx="0"/>
            <a:endCxn id="145" idx="0"/>
          </p:cNvCxnSpPr>
          <p:nvPr/>
        </p:nvCxnSpPr>
        <p:spPr>
          <a:xfrm flipH="1">
            <a:off x="9734550" y="3248025"/>
            <a:ext cx="295275" cy="20955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af-model-right-node-01-ellipse-01" descr="{&quot;autofigure_element_id&quot;:&quot;model-right-node-01&quot;}"/>
          <p:cNvSpPr/>
          <p:nvPr/>
        </p:nvSpPr>
        <p:spPr>
          <a:xfrm>
            <a:off x="9667875" y="244792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af-model-right-node-02-ellipse-01" descr="{&quot;autofigure_element_id&quot;:&quot;model-right-node-02&quot;}"/>
          <p:cNvSpPr/>
          <p:nvPr/>
        </p:nvSpPr>
        <p:spPr>
          <a:xfrm>
            <a:off x="9363075" y="264795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af-model-right-node-03-ellipse-01" descr="{&quot;autofigure_element_id&quot;:&quot;model-right-node-03&quot;}"/>
          <p:cNvSpPr/>
          <p:nvPr/>
        </p:nvSpPr>
        <p:spPr>
          <a:xfrm>
            <a:off x="9972675" y="264795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af-model-right-node-04-ellipse-01" descr="{&quot;autofigure_element_id&quot;:&quot;model-right-node-04&quot;}"/>
          <p:cNvSpPr/>
          <p:nvPr/>
        </p:nvSpPr>
        <p:spPr>
          <a:xfrm>
            <a:off x="9667875" y="288607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af-model-right-node-05-ellipse-01" descr="{&quot;autofigure_element_id&quot;:&quot;model-right-node-05&quot;}"/>
          <p:cNvSpPr/>
          <p:nvPr/>
        </p:nvSpPr>
        <p:spPr>
          <a:xfrm>
            <a:off x="9372600" y="318135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af-model-right-node-06-ellipse-01" descr="{&quot;autofigure_element_id&quot;:&quot;model-right-node-06&quot;}"/>
          <p:cNvSpPr/>
          <p:nvPr/>
        </p:nvSpPr>
        <p:spPr>
          <a:xfrm>
            <a:off x="9963150" y="318135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af-model-right-node-07-ellipse-01" descr="{&quot;autofigure_element_id&quot;:&quot;model-right-node-07&quot;}"/>
          <p:cNvSpPr/>
          <p:nvPr/>
        </p:nvSpPr>
        <p:spPr>
          <a:xfrm>
            <a:off x="9667875" y="339090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af-text-model-right-text-01" descr="{&quot;autofigure_element_id&quot;:&quot;text-model-right&quot;}"/>
          <p:cNvSpPr txBox="1"/>
          <p:nvPr/>
        </p:nvSpPr>
        <p:spPr>
          <a:xfrm>
            <a:off x="8568576" y="2713993"/>
            <a:ext cx="2350997" cy="73405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99" b="1">
                <a:solidFill>
                  <a:srgbClr val="0D3A68"/>
                </a:solidFill>
                <a:latin typeface="Arial"/>
              </a:rPr>
              <a:t>Pareto-Conditioned</a:t>
            </a:r>
          </a:p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99">
                <a:solidFill>
                  <a:srgbClr val="0D3A68"/>
                </a:solidFill>
                <a:latin typeface="Arial"/>
              </a:rPr>
              <a:t>Diffusion Model</a:t>
            </a:r>
          </a:p>
        </p:txBody>
      </p:sp>
      <p:sp>
        <p:nvSpPr>
          <p:cNvPr id="147" name="af-arrow-model-to-designs-freeform-arrow-01" descr="{&quot;arrow_semantic_centerline&quot;:{&quot;coordinate_space&quot;:&quot;canvas&quot;,&quot;kind&quot;:&quot;straight&quot;,&quot;points&quot;:[{&quot;x&quot;:1022.0,&quot;y&quot;:382.0},{&quot;x&quot;:1022.0,&quot;y&quot;:457.0}]},&quot;arrow_spec_sha256&quot;:&quot;15586690aa180a84c1387f67d6295c58ab4dc221e82e1c3779e13b711cb553fb&quot;,&quot;autofigure_element_id&quot;:&quot;arrow-model-to-designs&quot;}"/>
          <p:cNvSpPr/>
          <p:nvPr/>
        </p:nvSpPr>
        <p:spPr>
          <a:xfrm>
            <a:off x="9486900" y="3638550"/>
            <a:ext cx="495300" cy="714375"/>
          </a:xfrm>
          <a:custGeom>
            <a:avLst/>
            <a:gdLst/>
            <a:ahLst/>
            <a:cxnLst/>
            <a:rect l="0" t="0" r="0" b="0"/>
            <a:pathLst>
              <a:path w="495300" h="714375">
                <a:moveTo>
                  <a:pt x="123825" y="0"/>
                </a:moveTo>
                <a:lnTo>
                  <a:pt x="371475" y="0"/>
                </a:lnTo>
                <a:lnTo>
                  <a:pt x="371475" y="466725"/>
                </a:lnTo>
                <a:lnTo>
                  <a:pt x="495300" y="466725"/>
                </a:lnTo>
                <a:lnTo>
                  <a:pt x="247650" y="714375"/>
                </a:lnTo>
                <a:lnTo>
                  <a:pt x="0" y="466725"/>
                </a:lnTo>
                <a:lnTo>
                  <a:pt x="123825" y="466725"/>
                </a:lnTo>
                <a:close/>
              </a:path>
            </a:pathLst>
          </a:custGeom>
          <a:solidFill>
            <a:srgbClr val="E69138"/>
          </a:solidFill>
          <a:ln w="11430">
            <a:solidFill>
              <a:srgbClr val="9A4C00"/>
            </a:solidFill>
            <a:miter/>
          </a:ln>
        </p:spPr>
      </p:sp>
      <p:sp>
        <p:nvSpPr>
          <p:cNvPr id="148" name="af-text-sample-text-01" descr="{&quot;autofigure_element_id&quot;:&quot;text-sample&quot;}"/>
          <p:cNvSpPr txBox="1"/>
          <p:nvPr/>
        </p:nvSpPr>
        <p:spPr>
          <a:xfrm>
            <a:off x="10048875" y="3799843"/>
            <a:ext cx="1115557" cy="49212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99">
                <a:solidFill>
                  <a:srgbClr val="0D3A68"/>
                </a:solidFill>
                <a:latin typeface="Arial"/>
              </a:rPr>
              <a:t>Sample</a:t>
            </a:r>
          </a:p>
        </p:txBody>
      </p:sp>
      <p:sp>
        <p:nvSpPr>
          <p:cNvPr id="149" name="af-designs-box-top-freeform-01" descr="{&quot;autofigure_element_id&quot;:&quot;designs-box-top&quot;}"/>
          <p:cNvSpPr/>
          <p:nvPr/>
        </p:nvSpPr>
        <p:spPr>
          <a:xfrm>
            <a:off x="8943975" y="4391025"/>
            <a:ext cx="1571625" cy="266700"/>
          </a:xfrm>
          <a:custGeom>
            <a:avLst/>
            <a:gdLst/>
            <a:ahLst/>
            <a:cxnLst/>
            <a:rect l="0" t="0" r="0" b="0"/>
            <a:pathLst>
              <a:path w="1571625" h="266700">
                <a:moveTo>
                  <a:pt x="0" y="266700"/>
                </a:moveTo>
                <a:lnTo>
                  <a:pt x="266700" y="0"/>
                </a:lnTo>
                <a:lnTo>
                  <a:pt x="1571625" y="0"/>
                </a:lnTo>
                <a:lnTo>
                  <a:pt x="1314450" y="266700"/>
                </a:lnTo>
                <a:close/>
              </a:path>
            </a:pathLst>
          </a:custGeom>
          <a:solidFill>
            <a:srgbClr val="D9E8F7"/>
          </a:solidFill>
          <a:ln w="14288">
            <a:solidFill>
              <a:srgbClr val="15538A"/>
            </a:solidFill>
            <a:miter/>
          </a:ln>
        </p:spPr>
      </p:sp>
      <p:sp>
        <p:nvSpPr>
          <p:cNvPr id="150" name="af-designs-box-side-freeform-01" descr="{&quot;autofigure_element_id&quot;:&quot;designs-box-side&quot;}"/>
          <p:cNvSpPr/>
          <p:nvPr/>
        </p:nvSpPr>
        <p:spPr>
          <a:xfrm>
            <a:off x="10258425" y="4391025"/>
            <a:ext cx="257175" cy="1047750"/>
          </a:xfrm>
          <a:custGeom>
            <a:avLst/>
            <a:gdLst/>
            <a:ahLst/>
            <a:cxnLst/>
            <a:rect l="0" t="0" r="0" b="0"/>
            <a:pathLst>
              <a:path w="257175" h="1047750">
                <a:moveTo>
                  <a:pt x="0" y="266700"/>
                </a:moveTo>
                <a:lnTo>
                  <a:pt x="257175" y="0"/>
                </a:lnTo>
                <a:lnTo>
                  <a:pt x="257175" y="790575"/>
                </a:lnTo>
                <a:lnTo>
                  <a:pt x="0" y="1047750"/>
                </a:lnTo>
                <a:close/>
              </a:path>
            </a:pathLst>
          </a:custGeom>
          <a:solidFill>
            <a:srgbClr val="A8B9CA"/>
          </a:solidFill>
          <a:ln w="14288">
            <a:solidFill>
              <a:srgbClr val="15538A"/>
            </a:solidFill>
            <a:miter/>
          </a:ln>
        </p:spPr>
      </p:sp>
      <p:sp>
        <p:nvSpPr>
          <p:cNvPr id="151" name="af-designs-box-front-rect-01" descr="{&quot;autofigure_element_id&quot;:&quot;designs-box-front&quot;}"/>
          <p:cNvSpPr/>
          <p:nvPr/>
        </p:nvSpPr>
        <p:spPr>
          <a:xfrm>
            <a:off x="8943975" y="4657725"/>
            <a:ext cx="1314450" cy="781050"/>
          </a:xfrm>
          <a:prstGeom prst="rect">
            <a:avLst/>
          </a:prstGeom>
          <a:solidFill>
            <a:srgbClr val="C9DDF1"/>
          </a:solidFill>
          <a:ln w="14288">
            <a:solidFill>
              <a:srgbClr val="15538A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af-text-designs-text-01" descr="{&quot;autofigure_element_id&quot;:&quot;text-designs&quot;}"/>
          <p:cNvSpPr txBox="1"/>
          <p:nvPr/>
        </p:nvSpPr>
        <p:spPr>
          <a:xfrm>
            <a:off x="9077325" y="4914268"/>
            <a:ext cx="1047750" cy="39115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899" b="1">
                <a:solidFill>
                  <a:srgbClr val="0D3A68"/>
                </a:solidFill>
                <a:latin typeface="Arial"/>
              </a:rPr>
              <a:t>Designs</a:t>
            </a:r>
          </a:p>
        </p:txBody>
      </p:sp>
      <p:cxnSp>
        <p:nvCxnSpPr>
          <p:cNvPr id="153" name="af-molecule-output-bond-01-connector-01" descr="{&quot;arrow_spec_sha256&quot;:&quot;b808afce0c03c1cdeb4fdac42349cc1847f7e05b75737ee92e317e12ed2cfd36&quot;,&quot;autofigure_element_id&quot;:&quot;molecule-output-bond-01&quot;}"/>
          <p:cNvCxnSpPr>
            <a:stCxn id="160" idx="0"/>
            <a:endCxn id="161" idx="0"/>
          </p:cNvCxnSpPr>
          <p:nvPr/>
        </p:nvCxnSpPr>
        <p:spPr>
          <a:xfrm>
            <a:off x="8143875" y="4933950"/>
            <a:ext cx="152400" cy="38100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af-molecule-output-bond-02-connector-01" descr="{&quot;arrow_spec_sha256&quot;:&quot;aec2122433eeeb8a776c751a12940e728cb3fe5a5cc8867afb8d4ad9a5075612&quot;,&quot;autofigure_element_id&quot;:&quot;molecule-output-bond-02&quot;}"/>
          <p:cNvCxnSpPr>
            <a:stCxn id="161" idx="0"/>
            <a:endCxn id="162" idx="0"/>
          </p:cNvCxnSpPr>
          <p:nvPr/>
        </p:nvCxnSpPr>
        <p:spPr>
          <a:xfrm flipV="1">
            <a:off x="8296275" y="4867275"/>
            <a:ext cx="152400" cy="10477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af-molecule-output-bond-03-connector-01" descr="{&quot;arrow_spec_sha256&quot;:&quot;5e3bf1195bf4beb9d64f708061e44231ba3c7dce55c79b156e56e42f3e5c9304&quot;,&quot;autofigure_element_id&quot;:&quot;molecule-output-bond-03&quot;}"/>
          <p:cNvCxnSpPr>
            <a:stCxn id="161" idx="0"/>
            <a:endCxn id="163" idx="0"/>
          </p:cNvCxnSpPr>
          <p:nvPr/>
        </p:nvCxnSpPr>
        <p:spPr>
          <a:xfrm flipH="1">
            <a:off x="8239125" y="4972050"/>
            <a:ext cx="57150" cy="16192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af-molecule-output-bond-04-connector-01" descr="{&quot;arrow_spec_sha256&quot;:&quot;318ac74e4a32252fe9ea3d456d3c61a0024271769e37851ab7ad4dd7d72ed0c5&quot;,&quot;autofigure_element_id&quot;:&quot;molecule-output-bond-04&quot;}"/>
          <p:cNvCxnSpPr>
            <a:stCxn id="161" idx="0"/>
            <a:endCxn id="164" idx="0"/>
          </p:cNvCxnSpPr>
          <p:nvPr/>
        </p:nvCxnSpPr>
        <p:spPr>
          <a:xfrm>
            <a:off x="8296275" y="4972050"/>
            <a:ext cx="180975" cy="8572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af-molecule-output-bond-05-connector-01" descr="{&quot;arrow_spec_sha256&quot;:&quot;65ee90298cb29ed869b4f0bbf4c8b675487162ebc650a97d2fec571ee3efc5bd&quot;,&quot;autofigure_element_id&quot;:&quot;molecule-output-bond-05&quot;}"/>
          <p:cNvCxnSpPr>
            <a:stCxn id="164" idx="0"/>
            <a:endCxn id="165" idx="0"/>
          </p:cNvCxnSpPr>
          <p:nvPr/>
        </p:nvCxnSpPr>
        <p:spPr>
          <a:xfrm flipV="1">
            <a:off x="8477250" y="4943475"/>
            <a:ext cx="152400" cy="114300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af-molecule-output-bond-06-connector-01" descr="{&quot;arrow_spec_sha256&quot;:&quot;828d61be99531365389a42045124d77d0468638e06b30db11c6d97a0bd0db628&quot;,&quot;autofigure_element_id&quot;:&quot;molecule-output-bond-06&quot;}"/>
          <p:cNvCxnSpPr>
            <a:stCxn id="164" idx="0"/>
            <a:endCxn id="166" idx="0"/>
          </p:cNvCxnSpPr>
          <p:nvPr/>
        </p:nvCxnSpPr>
        <p:spPr>
          <a:xfrm>
            <a:off x="8477250" y="5057775"/>
            <a:ext cx="0" cy="14287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af-molecule-output-bond-07-connector-01" descr="{&quot;arrow_spec_sha256&quot;:&quot;e828a0af5c46796688298bf42d631158e1a6ed1328be9875475f7a02a9c6684f&quot;,&quot;autofigure_element_id&quot;:&quot;molecule-output-bond-07&quot;}"/>
          <p:cNvCxnSpPr>
            <a:stCxn id="164" idx="0"/>
            <a:endCxn id="167" idx="0"/>
          </p:cNvCxnSpPr>
          <p:nvPr/>
        </p:nvCxnSpPr>
        <p:spPr>
          <a:xfrm>
            <a:off x="8477250" y="5057775"/>
            <a:ext cx="266700" cy="76200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af-molecule-output-atom-01-ellipse-01" descr="{&quot;autofigure_element_id&quot;:&quot;molecule-output-atom-01&quot;}"/>
          <p:cNvSpPr/>
          <p:nvPr/>
        </p:nvSpPr>
        <p:spPr>
          <a:xfrm>
            <a:off x="8096250" y="4886325"/>
            <a:ext cx="95250" cy="95250"/>
          </a:xfrm>
          <a:prstGeom prst="ellipse">
            <a:avLst/>
          </a:prstGeom>
          <a:solidFill>
            <a:srgbClr val="F5B642"/>
          </a:solidFill>
          <a:ln w="9525">
            <a:solidFill>
              <a:srgbClr val="D59825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af-molecule-output-atom-02-ellipse-01" descr="{&quot;autofigure_element_id&quot;:&quot;molecule-output-atom-02&quot;}"/>
          <p:cNvSpPr/>
          <p:nvPr/>
        </p:nvSpPr>
        <p:spPr>
          <a:xfrm>
            <a:off x="8248650" y="4924425"/>
            <a:ext cx="95250" cy="95250"/>
          </a:xfrm>
          <a:prstGeom prst="ellipse">
            <a:avLst/>
          </a:prstGeom>
          <a:solidFill>
            <a:srgbClr val="E98A49"/>
          </a:solidFill>
          <a:ln w="9525">
            <a:solidFill>
              <a:srgbClr val="C96E3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af-molecule-output-atom-03-ellipse-01" descr="{&quot;autofigure_element_id&quot;:&quot;molecule-output-atom-03&quot;}"/>
          <p:cNvSpPr/>
          <p:nvPr/>
        </p:nvSpPr>
        <p:spPr>
          <a:xfrm>
            <a:off x="8401050" y="4819650"/>
            <a:ext cx="95250" cy="95250"/>
          </a:xfrm>
          <a:prstGeom prst="ellipse">
            <a:avLst/>
          </a:prstGeom>
          <a:solidFill>
            <a:srgbClr val="79BC80"/>
          </a:solidFill>
          <a:ln w="9525">
            <a:solidFill>
              <a:srgbClr val="579B6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af-molecule-output-atom-04-ellipse-01" descr="{&quot;autofigure_element_id&quot;:&quot;molecule-output-atom-04&quot;}"/>
          <p:cNvSpPr/>
          <p:nvPr/>
        </p:nvSpPr>
        <p:spPr>
          <a:xfrm>
            <a:off x="8191500" y="5086350"/>
            <a:ext cx="95250" cy="95250"/>
          </a:xfrm>
          <a:prstGeom prst="ellipse">
            <a:avLst/>
          </a:prstGeom>
          <a:solidFill>
            <a:srgbClr val="77B97E"/>
          </a:solidFill>
          <a:ln w="9525">
            <a:solidFill>
              <a:srgbClr val="579B6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af-molecule-output-atom-05-ellipse-01" descr="{&quot;autofigure_element_id&quot;:&quot;molecule-output-atom-05&quot;}"/>
          <p:cNvSpPr/>
          <p:nvPr/>
        </p:nvSpPr>
        <p:spPr>
          <a:xfrm>
            <a:off x="8420100" y="5000625"/>
            <a:ext cx="114300" cy="114300"/>
          </a:xfrm>
          <a:prstGeom prst="ellipse">
            <a:avLst/>
          </a:prstGeom>
          <a:solidFill>
            <a:srgbClr val="E86E48"/>
          </a:solidFill>
          <a:ln w="9525">
            <a:solidFill>
              <a:srgbClr val="C44F3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af-molecule-output-atom-06-ellipse-01" descr="{&quot;autofigure_element_id&quot;:&quot;molecule-output-atom-06&quot;}"/>
          <p:cNvSpPr/>
          <p:nvPr/>
        </p:nvSpPr>
        <p:spPr>
          <a:xfrm>
            <a:off x="8582025" y="4895850"/>
            <a:ext cx="95250" cy="95250"/>
          </a:xfrm>
          <a:prstGeom prst="ellipse">
            <a:avLst/>
          </a:prstGeom>
          <a:solidFill>
            <a:srgbClr val="E85A53"/>
          </a:solidFill>
          <a:ln w="9525">
            <a:solidFill>
              <a:srgbClr val="C53C3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af-molecule-output-atom-07-ellipse-01" descr="{&quot;autofigure_element_id&quot;:&quot;molecule-output-atom-07&quot;}"/>
          <p:cNvSpPr/>
          <p:nvPr/>
        </p:nvSpPr>
        <p:spPr>
          <a:xfrm>
            <a:off x="8429625" y="5153025"/>
            <a:ext cx="95250" cy="95250"/>
          </a:xfrm>
          <a:prstGeom prst="ellipse">
            <a:avLst/>
          </a:prstGeom>
          <a:solidFill>
            <a:srgbClr val="F2A33A"/>
          </a:solidFill>
          <a:ln w="9525">
            <a:solidFill>
              <a:srgbClr val="D1812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af-molecule-output-atom-08-ellipse-01" descr="{&quot;autofigure_element_id&quot;:&quot;molecule-output-atom-08&quot;}"/>
          <p:cNvSpPr/>
          <p:nvPr/>
        </p:nvSpPr>
        <p:spPr>
          <a:xfrm>
            <a:off x="8696325" y="5086350"/>
            <a:ext cx="95250" cy="95250"/>
          </a:xfrm>
          <a:prstGeom prst="ellipse">
            <a:avLst/>
          </a:prstGeom>
          <a:solidFill>
            <a:srgbClr val="78B97D"/>
          </a:solidFill>
          <a:ln w="9525">
            <a:solidFill>
              <a:srgbClr val="579B6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af-dna-output-left-strand-a-freeform-01" descr="{&quot;autofigure_element_id&quot;:&quot;dna-output-left-strand-a&quot;}"/>
          <p:cNvSpPr/>
          <p:nvPr/>
        </p:nvSpPr>
        <p:spPr>
          <a:xfrm>
            <a:off x="10525125" y="4419600"/>
            <a:ext cx="381000" cy="571500"/>
          </a:xfrm>
          <a:custGeom>
            <a:avLst/>
            <a:gdLst/>
            <a:ahLst/>
            <a:cxnLst/>
            <a:rect l="0" t="0" r="0" b="0"/>
            <a:pathLst>
              <a:path w="381000" h="571500">
                <a:moveTo>
                  <a:pt x="85725" y="0"/>
                </a:moveTo>
                <a:cubicBezTo>
                  <a:pt x="285750" y="57150"/>
                  <a:pt x="314325" y="133350"/>
                  <a:pt x="123825" y="200025"/>
                </a:cubicBezTo>
                <a:cubicBezTo>
                  <a:pt x="0" y="257175"/>
                  <a:pt x="57150" y="323850"/>
                  <a:pt x="266700" y="371475"/>
                </a:cubicBezTo>
                <a:cubicBezTo>
                  <a:pt x="381000" y="409575"/>
                  <a:pt x="342900" y="495300"/>
                  <a:pt x="161925" y="571500"/>
                </a:cubicBezTo>
              </a:path>
            </a:pathLst>
          </a:custGeom>
          <a:noFill/>
          <a:ln w="28575" cap="rnd">
            <a:solidFill>
              <a:srgbClr val="3E74C5"/>
            </a:solidFill>
            <a:miter/>
          </a:ln>
        </p:spPr>
      </p:sp>
      <p:sp>
        <p:nvSpPr>
          <p:cNvPr id="169" name="af-dna-output-left-strand-b-freeform-01" descr="{&quot;autofigure_element_id&quot;:&quot;dna-output-left-strand-b&quot;}"/>
          <p:cNvSpPr/>
          <p:nvPr/>
        </p:nvSpPr>
        <p:spPr>
          <a:xfrm>
            <a:off x="10534650" y="4419600"/>
            <a:ext cx="390525" cy="571500"/>
          </a:xfrm>
          <a:custGeom>
            <a:avLst/>
            <a:gdLst/>
            <a:ahLst/>
            <a:cxnLst/>
            <a:rect l="0" t="0" r="0" b="0"/>
            <a:pathLst>
              <a:path w="390525" h="571500">
                <a:moveTo>
                  <a:pt x="295275" y="0"/>
                </a:moveTo>
                <a:cubicBezTo>
                  <a:pt x="104775" y="66675"/>
                  <a:pt x="76200" y="133350"/>
                  <a:pt x="257175" y="200025"/>
                </a:cubicBezTo>
                <a:cubicBezTo>
                  <a:pt x="390525" y="257175"/>
                  <a:pt x="323850" y="323850"/>
                  <a:pt x="123825" y="371475"/>
                </a:cubicBezTo>
                <a:cubicBezTo>
                  <a:pt x="0" y="419100"/>
                  <a:pt x="47625" y="495300"/>
                  <a:pt x="228600" y="571500"/>
                </a:cubicBezTo>
              </a:path>
            </a:pathLst>
          </a:custGeom>
          <a:noFill/>
          <a:ln w="28575" cap="rnd">
            <a:solidFill>
              <a:srgbClr val="315AA8"/>
            </a:solidFill>
            <a:miter/>
          </a:ln>
        </p:spPr>
      </p:sp>
      <p:cxnSp>
        <p:nvCxnSpPr>
          <p:cNvPr id="170" name="af-dna-output-left-rung-01-line-01" descr="{&quot;autofigure_element_id&quot;:&quot;dna-output-left-rung-01&quot;}"/>
          <p:cNvCxnSpPr/>
          <p:nvPr/>
        </p:nvCxnSpPr>
        <p:spPr>
          <a:xfrm>
            <a:off x="10648950" y="4457700"/>
            <a:ext cx="152400" cy="0"/>
          </a:xfrm>
          <a:prstGeom prst="line">
            <a:avLst/>
          </a:prstGeom>
          <a:ln w="20955">
            <a:solidFill>
              <a:srgbClr val="73A5D8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af-dna-output-left-rung-02-line-01" descr="{&quot;autofigure_element_id&quot;:&quot;dna-output-left-rung-02&quot;}"/>
          <p:cNvCxnSpPr/>
          <p:nvPr/>
        </p:nvCxnSpPr>
        <p:spPr>
          <a:xfrm>
            <a:off x="10677525" y="4533900"/>
            <a:ext cx="95250" cy="0"/>
          </a:xfrm>
          <a:prstGeom prst="line">
            <a:avLst/>
          </a:prstGeom>
          <a:ln w="20955">
            <a:solidFill>
              <a:srgbClr val="72B3B0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af-dna-output-left-rung-03-line-01" descr="{&quot;autofigure_element_id&quot;:&quot;dna-output-left-rung-03&quot;}"/>
          <p:cNvCxnSpPr/>
          <p:nvPr/>
        </p:nvCxnSpPr>
        <p:spPr>
          <a:xfrm>
            <a:off x="10639425" y="4610100"/>
            <a:ext cx="161925" cy="0"/>
          </a:xfrm>
          <a:prstGeom prst="line">
            <a:avLst/>
          </a:prstGeom>
          <a:ln w="20955">
            <a:solidFill>
              <a:srgbClr val="72A8D5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af-dna-output-left-rung-04-line-01" descr="{&quot;autofigure_element_id&quot;:&quot;dna-output-left-rung-04&quot;}"/>
          <p:cNvCxnSpPr/>
          <p:nvPr/>
        </p:nvCxnSpPr>
        <p:spPr>
          <a:xfrm>
            <a:off x="10601325" y="4686300"/>
            <a:ext cx="257175" cy="0"/>
          </a:xfrm>
          <a:prstGeom prst="line">
            <a:avLst/>
          </a:prstGeom>
          <a:ln w="20955">
            <a:solidFill>
              <a:srgbClr val="6FB3AA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af-dna-output-left-rung-05-line-01" descr="{&quot;autofigure_element_id&quot;:&quot;dna-output-left-rung-05&quot;}"/>
          <p:cNvCxnSpPr/>
          <p:nvPr/>
        </p:nvCxnSpPr>
        <p:spPr>
          <a:xfrm>
            <a:off x="10648950" y="4772025"/>
            <a:ext cx="161925" cy="0"/>
          </a:xfrm>
          <a:prstGeom prst="line">
            <a:avLst/>
          </a:prstGeom>
          <a:ln w="20955">
            <a:solidFill>
              <a:srgbClr val="76A7D4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af-dna-output-left-rung-06-line-01" descr="{&quot;autofigure_element_id&quot;:&quot;dna-output-left-rung-06&quot;}"/>
          <p:cNvCxnSpPr/>
          <p:nvPr/>
        </p:nvCxnSpPr>
        <p:spPr>
          <a:xfrm>
            <a:off x="10601325" y="4867275"/>
            <a:ext cx="238125" cy="0"/>
          </a:xfrm>
          <a:prstGeom prst="line">
            <a:avLst/>
          </a:prstGeom>
          <a:ln w="20955">
            <a:solidFill>
              <a:srgbClr val="6FAFA9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af-dna-output-left-rung-07-line-01" descr="{&quot;autofigure_element_id&quot;:&quot;dna-output-left-rung-07&quot;}"/>
          <p:cNvCxnSpPr/>
          <p:nvPr/>
        </p:nvCxnSpPr>
        <p:spPr>
          <a:xfrm>
            <a:off x="10658475" y="4943475"/>
            <a:ext cx="123825" cy="0"/>
          </a:xfrm>
          <a:prstGeom prst="line">
            <a:avLst/>
          </a:prstGeom>
          <a:ln w="20955">
            <a:solidFill>
              <a:srgbClr val="79A9D4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af-dna-output-right-strand-a-freeform-01" descr="{&quot;autofigure_element_id&quot;:&quot;dna-output-right-strand-a&quot;}"/>
          <p:cNvSpPr/>
          <p:nvPr/>
        </p:nvSpPr>
        <p:spPr>
          <a:xfrm>
            <a:off x="10982325" y="4438650"/>
            <a:ext cx="247650" cy="542925"/>
          </a:xfrm>
          <a:custGeom>
            <a:avLst/>
            <a:gdLst/>
            <a:ahLst/>
            <a:cxnLst/>
            <a:rect l="0" t="0" r="0" b="0"/>
            <a:pathLst>
              <a:path w="247650" h="542925">
                <a:moveTo>
                  <a:pt x="95250" y="0"/>
                </a:moveTo>
                <a:cubicBezTo>
                  <a:pt x="238125" y="47625"/>
                  <a:pt x="247650" y="114300"/>
                  <a:pt x="123825" y="180975"/>
                </a:cubicBezTo>
                <a:cubicBezTo>
                  <a:pt x="0" y="247650"/>
                  <a:pt x="28575" y="314325"/>
                  <a:pt x="161925" y="371475"/>
                </a:cubicBezTo>
                <a:cubicBezTo>
                  <a:pt x="247650" y="419100"/>
                  <a:pt x="228600" y="485775"/>
                  <a:pt x="114300" y="542925"/>
                </a:cubicBezTo>
              </a:path>
            </a:pathLst>
          </a:custGeom>
          <a:noFill/>
          <a:ln w="22860" cap="rnd">
            <a:solidFill>
              <a:srgbClr val="8A9D91"/>
            </a:solidFill>
            <a:miter/>
          </a:ln>
        </p:spPr>
      </p:sp>
      <p:sp>
        <p:nvSpPr>
          <p:cNvPr id="178" name="af-dna-output-right-strand-b-freeform-01" descr="{&quot;autofigure_element_id&quot;:&quot;dna-output-right-strand-b&quot;}"/>
          <p:cNvSpPr/>
          <p:nvPr/>
        </p:nvSpPr>
        <p:spPr>
          <a:xfrm>
            <a:off x="11010900" y="4448175"/>
            <a:ext cx="266700" cy="533400"/>
          </a:xfrm>
          <a:custGeom>
            <a:avLst/>
            <a:gdLst/>
            <a:ahLst/>
            <a:cxnLst/>
            <a:rect l="0" t="0" r="0" b="0"/>
            <a:pathLst>
              <a:path w="266700" h="533400">
                <a:moveTo>
                  <a:pt x="190500" y="0"/>
                </a:moveTo>
                <a:cubicBezTo>
                  <a:pt x="57150" y="47625"/>
                  <a:pt x="28575" y="114300"/>
                  <a:pt x="161925" y="171450"/>
                </a:cubicBezTo>
                <a:cubicBezTo>
                  <a:pt x="266700" y="238125"/>
                  <a:pt x="228600" y="304800"/>
                  <a:pt x="104775" y="361950"/>
                </a:cubicBezTo>
                <a:cubicBezTo>
                  <a:pt x="0" y="419100"/>
                  <a:pt x="28575" y="485775"/>
                  <a:pt x="171450" y="533400"/>
                </a:cubicBezTo>
              </a:path>
            </a:pathLst>
          </a:custGeom>
          <a:noFill/>
          <a:ln w="22860" cap="rnd">
            <a:solidFill>
              <a:srgbClr val="A98068"/>
            </a:solidFill>
            <a:miter/>
          </a:ln>
        </p:spPr>
      </p:sp>
      <p:cxnSp>
        <p:nvCxnSpPr>
          <p:cNvPr id="179" name="af-dna-output-right-rung-01-line-01" descr="{&quot;autofigure_element_id&quot;:&quot;dna-output-right-rung-01&quot;}"/>
          <p:cNvCxnSpPr/>
          <p:nvPr/>
        </p:nvCxnSpPr>
        <p:spPr>
          <a:xfrm>
            <a:off x="11096625" y="4476750"/>
            <a:ext cx="85725" cy="0"/>
          </a:xfrm>
          <a:prstGeom prst="line">
            <a:avLst/>
          </a:prstGeom>
          <a:ln w="16192">
            <a:solidFill>
              <a:srgbClr val="A6A68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af-dna-output-right-rung-02-line-01" descr="{&quot;autofigure_element_id&quot;:&quot;dna-output-right-rung-02&quot;}"/>
          <p:cNvCxnSpPr/>
          <p:nvPr/>
        </p:nvCxnSpPr>
        <p:spPr>
          <a:xfrm>
            <a:off x="11096625" y="4543425"/>
            <a:ext cx="76200" cy="0"/>
          </a:xfrm>
          <a:prstGeom prst="line">
            <a:avLst/>
          </a:prstGeom>
          <a:ln w="16192">
            <a:solidFill>
              <a:srgbClr val="B58B7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af-dna-output-right-rung-03-line-01" descr="{&quot;autofigure_element_id&quot;:&quot;dna-output-right-rung-03&quot;}"/>
          <p:cNvCxnSpPr/>
          <p:nvPr/>
        </p:nvCxnSpPr>
        <p:spPr>
          <a:xfrm>
            <a:off x="11068050" y="4619625"/>
            <a:ext cx="123825" cy="0"/>
          </a:xfrm>
          <a:prstGeom prst="line">
            <a:avLst/>
          </a:prstGeom>
          <a:ln w="16192">
            <a:solidFill>
              <a:srgbClr val="95A38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af-dna-output-right-rung-04-line-01" descr="{&quot;autofigure_element_id&quot;:&quot;dna-output-right-rung-04&quot;}"/>
          <p:cNvCxnSpPr/>
          <p:nvPr/>
        </p:nvCxnSpPr>
        <p:spPr>
          <a:xfrm>
            <a:off x="11020425" y="4686300"/>
            <a:ext cx="219075" cy="0"/>
          </a:xfrm>
          <a:prstGeom prst="line">
            <a:avLst/>
          </a:prstGeom>
          <a:ln w="16192">
            <a:solidFill>
              <a:srgbClr val="B58A72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af-dna-output-right-rung-05-line-01" descr="{&quot;autofigure_element_id&quot;:&quot;dna-output-right-rung-05&quot;}"/>
          <p:cNvCxnSpPr/>
          <p:nvPr/>
        </p:nvCxnSpPr>
        <p:spPr>
          <a:xfrm>
            <a:off x="11049000" y="4762500"/>
            <a:ext cx="161925" cy="0"/>
          </a:xfrm>
          <a:prstGeom prst="line">
            <a:avLst/>
          </a:prstGeom>
          <a:ln w="16192">
            <a:solidFill>
              <a:srgbClr val="91A29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af-dna-output-right-rung-06-line-01" descr="{&quot;autofigure_element_id&quot;:&quot;dna-output-right-rung-06&quot;}"/>
          <p:cNvCxnSpPr/>
          <p:nvPr/>
        </p:nvCxnSpPr>
        <p:spPr>
          <a:xfrm>
            <a:off x="11077575" y="4838700"/>
            <a:ext cx="114300" cy="0"/>
          </a:xfrm>
          <a:prstGeom prst="line">
            <a:avLst/>
          </a:prstGeom>
          <a:ln w="16192">
            <a:solidFill>
              <a:srgbClr val="B98C7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af-dna-output-right-rung-07-line-01" descr="{&quot;autofigure_element_id&quot;:&quot;dna-output-right-rung-07&quot;}"/>
          <p:cNvCxnSpPr/>
          <p:nvPr/>
        </p:nvCxnSpPr>
        <p:spPr>
          <a:xfrm>
            <a:off x="11068050" y="4914900"/>
            <a:ext cx="114300" cy="0"/>
          </a:xfrm>
          <a:prstGeom prst="line">
            <a:avLst/>
          </a:prstGeom>
          <a:ln w="16192">
            <a:solidFill>
              <a:srgbClr val="93A18E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