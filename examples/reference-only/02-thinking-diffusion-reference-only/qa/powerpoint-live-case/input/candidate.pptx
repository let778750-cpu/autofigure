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411325" cy="5276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f-canvas-background-rect-01" descr="{&quot;autofigure_element_id&quot;:&quot;canvas-background&quot;}"/>
          <p:cNvSpPr/>
          <p:nvPr/>
        </p:nvSpPr>
        <p:spPr>
          <a:xfrm>
            <a:off x="0" y="0"/>
            <a:ext cx="14411325" cy="5276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f-left-input-image-title-text-01" descr="{&quot;autofigure_element_id&quot;:&quot;left-input-image-title&quot;}"/>
          <p:cNvSpPr txBox="1"/>
          <p:nvPr/>
        </p:nvSpPr>
        <p:spPr>
          <a:xfrm>
            <a:off x="412623" y="140970"/>
            <a:ext cx="717804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Image</a:t>
            </a:r>
          </a:p>
        </p:txBody>
      </p:sp>
      <p:sp>
        <p:nvSpPr>
          <p:cNvPr id="4" name="af-left-input-image-bracket-freeform-01" descr="{&quot;autofigure_element_id&quot;:&quot;left-input-image-bracket&quot;,&quot;primitive_spec_sha256&quot;:&quot;c499498d76f5ee6db98a2fcaa5418c0d994d93014b2a0b3faf104130287bf83e&quot;}"/>
          <p:cNvSpPr/>
          <p:nvPr/>
        </p:nvSpPr>
        <p:spPr>
          <a:xfrm>
            <a:off x="276225" y="371475"/>
            <a:ext cx="1009650" cy="171450"/>
          </a:xfrm>
          <a:custGeom>
            <a:avLst/>
            <a:gdLst/>
            <a:ahLst/>
            <a:cxnLst/>
            <a:rect l="0" t="0" r="0" b="0"/>
            <a:pathLst>
              <a:path w="1009650" h="171450">
                <a:moveTo>
                  <a:pt x="0" y="171450"/>
                </a:moveTo>
                <a:lnTo>
                  <a:pt x="0" y="133350"/>
                </a:lnTo>
                <a:cubicBezTo>
                  <a:pt x="0" y="95250"/>
                  <a:pt x="19050" y="76200"/>
                  <a:pt x="57150" y="76200"/>
                </a:cubicBezTo>
                <a:lnTo>
                  <a:pt x="457200" y="76200"/>
                </a:lnTo>
                <a:cubicBezTo>
                  <a:pt x="488950" y="76200"/>
                  <a:pt x="504825" y="60325"/>
                  <a:pt x="504825" y="28575"/>
                </a:cubicBezTo>
                <a:lnTo>
                  <a:pt x="504825" y="0"/>
                </a:lnTo>
                <a:moveTo>
                  <a:pt x="504825" y="0"/>
                </a:moveTo>
                <a:lnTo>
                  <a:pt x="504825" y="28575"/>
                </a:lnTo>
                <a:cubicBezTo>
                  <a:pt x="504825" y="60325"/>
                  <a:pt x="520700" y="76200"/>
                  <a:pt x="552450" y="76200"/>
                </a:cubicBezTo>
                <a:lnTo>
                  <a:pt x="952500" y="76200"/>
                </a:lnTo>
                <a:cubicBezTo>
                  <a:pt x="990600" y="76200"/>
                  <a:pt x="1009650" y="95250"/>
                  <a:pt x="1009650" y="133350"/>
                </a:cubicBezTo>
                <a:lnTo>
                  <a:pt x="1009650" y="17145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5" name="af-left-input-image-token-1-rect-01" descr="{&quot;autofigure_element_id&quot;:&quot;left-input-image-token-1&quot;}"/>
          <p:cNvSpPr/>
          <p:nvPr/>
        </p:nvSpPr>
        <p:spPr>
          <a:xfrm>
            <a:off x="190500" y="581025"/>
            <a:ext cx="333375" cy="257175"/>
          </a:xfrm>
          <a:prstGeom prst="roundRect">
            <a:avLst>
              <a:gd name="adj" fmla="val 14814"/>
            </a:avLst>
          </a:prstGeom>
          <a:solidFill>
            <a:srgbClr val="FFF8E5"/>
          </a:solidFill>
          <a:ln w="7620">
            <a:solidFill>
              <a:srgbClr val="ECDCA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f-left-input-image-token-2-rect-01" descr="{&quot;autofigure_element_id&quot;:&quot;left-input-image-token-2&quot;}"/>
          <p:cNvSpPr/>
          <p:nvPr/>
        </p:nvSpPr>
        <p:spPr>
          <a:xfrm>
            <a:off x="609600" y="581025"/>
            <a:ext cx="333375" cy="257175"/>
          </a:xfrm>
          <a:prstGeom prst="roundRect">
            <a:avLst>
              <a:gd name="adj" fmla="val 14814"/>
            </a:avLst>
          </a:prstGeom>
          <a:solidFill>
            <a:srgbClr val="FFF8E5"/>
          </a:solidFill>
          <a:ln w="7620">
            <a:solidFill>
              <a:srgbClr val="ECDCA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f-left-input-image-token-3-rect-01" descr="{&quot;autofigure_element_id&quot;:&quot;left-input-image-token-3&quot;}"/>
          <p:cNvSpPr/>
          <p:nvPr/>
        </p:nvSpPr>
        <p:spPr>
          <a:xfrm>
            <a:off x="1028700" y="581025"/>
            <a:ext cx="333375" cy="257175"/>
          </a:xfrm>
          <a:prstGeom prst="roundRect">
            <a:avLst>
              <a:gd name="adj" fmla="val 14814"/>
            </a:avLst>
          </a:prstGeom>
          <a:solidFill>
            <a:srgbClr val="FFF8E5"/>
          </a:solidFill>
          <a:ln w="7620">
            <a:solidFill>
              <a:srgbClr val="ECDCA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f-left-input-prompt-title-text-01" descr="{&quot;autofigure_element_id&quot;:&quot;left-input-prompt-title&quot;}"/>
          <p:cNvSpPr txBox="1"/>
          <p:nvPr/>
        </p:nvSpPr>
        <p:spPr>
          <a:xfrm>
            <a:off x="1724025" y="140970"/>
            <a:ext cx="800100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Prompt</a:t>
            </a:r>
          </a:p>
        </p:txBody>
      </p:sp>
      <p:sp>
        <p:nvSpPr>
          <p:cNvPr id="9" name="af-left-input-prompt-bracket-freeform-01" descr="{&quot;autofigure_element_id&quot;:&quot;left-input-prompt-bracket&quot;,&quot;primitive_spec_sha256&quot;:&quot;2d06fa6f8ec9a25e3fc2561880374a64b285bbae8e4cf46549e7521e3da07e37&quot;}"/>
          <p:cNvSpPr/>
          <p:nvPr/>
        </p:nvSpPr>
        <p:spPr>
          <a:xfrm>
            <a:off x="1619250" y="371475"/>
            <a:ext cx="1009650" cy="171450"/>
          </a:xfrm>
          <a:custGeom>
            <a:avLst/>
            <a:gdLst/>
            <a:ahLst/>
            <a:cxnLst/>
            <a:rect l="0" t="0" r="0" b="0"/>
            <a:pathLst>
              <a:path w="1009650" h="171450">
                <a:moveTo>
                  <a:pt x="0" y="171450"/>
                </a:moveTo>
                <a:lnTo>
                  <a:pt x="0" y="133350"/>
                </a:lnTo>
                <a:cubicBezTo>
                  <a:pt x="0" y="95250"/>
                  <a:pt x="19050" y="76200"/>
                  <a:pt x="57150" y="76200"/>
                </a:cubicBezTo>
                <a:lnTo>
                  <a:pt x="457200" y="76200"/>
                </a:lnTo>
                <a:cubicBezTo>
                  <a:pt x="488950" y="76200"/>
                  <a:pt x="504825" y="60325"/>
                  <a:pt x="504825" y="28575"/>
                </a:cubicBezTo>
                <a:lnTo>
                  <a:pt x="504825" y="0"/>
                </a:lnTo>
                <a:moveTo>
                  <a:pt x="504825" y="0"/>
                </a:moveTo>
                <a:lnTo>
                  <a:pt x="504825" y="28575"/>
                </a:lnTo>
                <a:cubicBezTo>
                  <a:pt x="504825" y="60325"/>
                  <a:pt x="520700" y="76200"/>
                  <a:pt x="552450" y="76200"/>
                </a:cubicBezTo>
                <a:lnTo>
                  <a:pt x="952500" y="76200"/>
                </a:lnTo>
                <a:cubicBezTo>
                  <a:pt x="990600" y="76200"/>
                  <a:pt x="1009650" y="95250"/>
                  <a:pt x="1009650" y="133350"/>
                </a:cubicBezTo>
                <a:lnTo>
                  <a:pt x="1009650" y="17145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10" name="af-left-input-prompt-token-1-rect-01" descr="{&quot;autofigure_element_id&quot;:&quot;left-input-prompt-token-1&quot;}"/>
          <p:cNvSpPr/>
          <p:nvPr/>
        </p:nvSpPr>
        <p:spPr>
          <a:xfrm>
            <a:off x="153352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5E7D4"/>
          </a:solidFill>
          <a:ln w="7620">
            <a:solidFill>
              <a:srgbClr val="8FBB7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f-left-input-prompt-token-2-rect-01" descr="{&quot;autofigure_element_id&quot;:&quot;left-input-prompt-token-2&quot;}"/>
          <p:cNvSpPr/>
          <p:nvPr/>
        </p:nvSpPr>
        <p:spPr>
          <a:xfrm>
            <a:off x="195262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5E7D4"/>
          </a:solidFill>
          <a:ln w="7620">
            <a:solidFill>
              <a:srgbClr val="8FBB7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f-left-input-prompt-token-3-rect-01" descr="{&quot;autofigure_element_id&quot;:&quot;left-input-prompt-token-3&quot;}"/>
          <p:cNvSpPr/>
          <p:nvPr/>
        </p:nvSpPr>
        <p:spPr>
          <a:xfrm>
            <a:off x="237172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5E7D4"/>
          </a:solidFill>
          <a:ln w="7620">
            <a:solidFill>
              <a:srgbClr val="8FBB7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f-left-input-response-title-text-01" descr="{&quot;autofigure_element_id&quot;:&quot;left-input-response-title&quot;}"/>
          <p:cNvSpPr txBox="1"/>
          <p:nvPr/>
        </p:nvSpPr>
        <p:spPr>
          <a:xfrm>
            <a:off x="4157853" y="140970"/>
            <a:ext cx="961644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Response</a:t>
            </a:r>
          </a:p>
        </p:txBody>
      </p:sp>
      <p:sp>
        <p:nvSpPr>
          <p:cNvPr id="14" name="af-left-input-response-bracket-freeform-01" descr="{&quot;autofigure_element_id&quot;:&quot;left-input-response-bracket&quot;,&quot;primitive_spec_sha256&quot;:&quot;eb4d1a3591b40ebe6b2f1c8dc6a224ceddcb5e4a1ee7673cf0969342dcd4ab46&quot;}"/>
          <p:cNvSpPr/>
          <p:nvPr/>
        </p:nvSpPr>
        <p:spPr>
          <a:xfrm>
            <a:off x="2952750" y="371475"/>
            <a:ext cx="3362325" cy="171450"/>
          </a:xfrm>
          <a:custGeom>
            <a:avLst/>
            <a:gdLst/>
            <a:ahLst/>
            <a:cxnLst/>
            <a:rect l="0" t="0" r="0" b="0"/>
            <a:pathLst>
              <a:path w="3362325" h="171450">
                <a:moveTo>
                  <a:pt x="0" y="171450"/>
                </a:moveTo>
                <a:lnTo>
                  <a:pt x="0" y="133350"/>
                </a:lnTo>
                <a:cubicBezTo>
                  <a:pt x="0" y="95250"/>
                  <a:pt x="19050" y="76200"/>
                  <a:pt x="57150" y="76200"/>
                </a:cubicBezTo>
                <a:lnTo>
                  <a:pt x="1624012" y="76200"/>
                </a:lnTo>
                <a:cubicBezTo>
                  <a:pt x="1662112" y="76200"/>
                  <a:pt x="1681162" y="60325"/>
                  <a:pt x="1681162" y="28575"/>
                </a:cubicBezTo>
                <a:lnTo>
                  <a:pt x="1681162" y="0"/>
                </a:lnTo>
                <a:moveTo>
                  <a:pt x="1681162" y="0"/>
                </a:moveTo>
                <a:lnTo>
                  <a:pt x="1681162" y="28575"/>
                </a:lnTo>
                <a:cubicBezTo>
                  <a:pt x="1681162" y="60325"/>
                  <a:pt x="1700212" y="76200"/>
                  <a:pt x="1738312" y="76200"/>
                </a:cubicBezTo>
                <a:lnTo>
                  <a:pt x="3305175" y="76200"/>
                </a:lnTo>
                <a:cubicBezTo>
                  <a:pt x="3343275" y="76200"/>
                  <a:pt x="3362325" y="95250"/>
                  <a:pt x="3362325" y="133350"/>
                </a:cubicBezTo>
                <a:lnTo>
                  <a:pt x="3362325" y="17145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15" name="af-left-input-response-token-1-rect-01" descr="{&quot;autofigure_element_id&quot;:&quot;left-input-response-token-1&quot;}"/>
          <p:cNvSpPr/>
          <p:nvPr/>
        </p:nvSpPr>
        <p:spPr>
          <a:xfrm>
            <a:off x="2857500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-left-input-response-token-2-rect-01" descr="{&quot;autofigure_element_id&quot;:&quot;left-input-response-token-2&quot;}"/>
          <p:cNvSpPr/>
          <p:nvPr/>
        </p:nvSpPr>
        <p:spPr>
          <a:xfrm>
            <a:off x="328612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f-left-input-response-token-3-rect-01" descr="{&quot;autofigure_element_id&quot;:&quot;left-input-response-token-3&quot;}"/>
          <p:cNvSpPr/>
          <p:nvPr/>
        </p:nvSpPr>
        <p:spPr>
          <a:xfrm>
            <a:off x="370522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f-left-input-response-token-4-rect-01" descr="{&quot;autofigure_element_id&quot;:&quot;left-input-response-token-4&quot;}"/>
          <p:cNvSpPr/>
          <p:nvPr/>
        </p:nvSpPr>
        <p:spPr>
          <a:xfrm>
            <a:off x="4133850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f-left-input-response-ellipsis-text-01" descr="{&quot;autofigure_element_id&quot;:&quot;left-input-response-ellipsis&quot;}"/>
          <p:cNvSpPr txBox="1"/>
          <p:nvPr/>
        </p:nvSpPr>
        <p:spPr>
          <a:xfrm>
            <a:off x="4410075" y="581025"/>
            <a:ext cx="45720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Times New Roman"/>
              </a:rPr>
              <a:t>…</a:t>
            </a:r>
          </a:p>
        </p:txBody>
      </p:sp>
      <p:sp>
        <p:nvSpPr>
          <p:cNvPr id="20" name="af-left-input-response-token-5-rect-01" descr="{&quot;autofigure_element_id&quot;:&quot;left-input-response-token-5&quot;}"/>
          <p:cNvSpPr/>
          <p:nvPr/>
        </p:nvSpPr>
        <p:spPr>
          <a:xfrm>
            <a:off x="482917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f-left-input-response-token-6-rect-01" descr="{&quot;autofigure_element_id&quot;:&quot;left-input-response-token-6&quot;}"/>
          <p:cNvSpPr/>
          <p:nvPr/>
        </p:nvSpPr>
        <p:spPr>
          <a:xfrm>
            <a:off x="524827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f-left-input-response-token-7-rect-01" descr="{&quot;autofigure_element_id&quot;:&quot;left-input-response-token-7&quot;}"/>
          <p:cNvSpPr/>
          <p:nvPr/>
        </p:nvSpPr>
        <p:spPr>
          <a:xfrm>
            <a:off x="566737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f-left-input-response-token-8-rect-01" descr="{&quot;autofigure_element_id&quot;:&quot;left-input-response-token-8&quot;}"/>
          <p:cNvSpPr/>
          <p:nvPr/>
        </p:nvSpPr>
        <p:spPr>
          <a:xfrm>
            <a:off x="6086475" y="58102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af-left-input-to-model-arrow-connector-01" descr="{&quot;arrow_spec_sha256&quot;:&quot;9b04d9bcfbdd2ecd67d38ba19b42427f1e69cedb7e6a8b95ecdd5cc254f5316e&quot;,&quot;autofigure_element_id&quot;:&quot;left-input-to-model-arrow&quot;}"/>
          <p:cNvCxnSpPr/>
          <p:nvPr/>
        </p:nvCxnSpPr>
        <p:spPr>
          <a:xfrm>
            <a:off x="4638675" y="895350"/>
            <a:ext cx="0" cy="190500"/>
          </a:xfrm>
          <a:prstGeom prst="line">
            <a:avLst/>
          </a:prstGeom>
          <a:ln w="9525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f-left-model-box-rect-01" descr="{&quot;autofigure_element_id&quot;:&quot;left-model-box&quot;}"/>
          <p:cNvSpPr/>
          <p:nvPr/>
        </p:nvSpPr>
        <p:spPr>
          <a:xfrm>
            <a:off x="180975" y="1133475"/>
            <a:ext cx="6248400" cy="600075"/>
          </a:xfrm>
          <a:prstGeom prst="roundRect">
            <a:avLst>
              <a:gd name="adj" fmla="val 15873"/>
            </a:avLst>
          </a:prstGeom>
          <a:solidFill>
            <a:srgbClr val="F7CDCC"/>
          </a:solidFill>
          <a:ln w="9525">
            <a:solidFill>
              <a:srgbClr val="CE817E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f-left-model-label-text-01" descr="{&quot;autofigure_element_id&quot;:&quot;left-model-label&quot;}"/>
          <p:cNvSpPr txBox="1"/>
          <p:nvPr/>
        </p:nvSpPr>
        <p:spPr>
          <a:xfrm>
            <a:off x="1476566" y="1314926"/>
            <a:ext cx="3657219" cy="30432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00000"/>
                </a:solidFill>
                <a:latin typeface="Times New Roman"/>
              </a:rPr>
              <a:t>Diffusion Multimodal Language Model</a:t>
            </a:r>
          </a:p>
        </p:txBody>
      </p:sp>
      <p:sp>
        <p:nvSpPr>
          <p:cNvPr id="27" name="af-left-legend-box-rect-01" descr="{&quot;autofigure_element_id&quot;:&quot;left-legend-box&quot;}"/>
          <p:cNvSpPr/>
          <p:nvPr/>
        </p:nvSpPr>
        <p:spPr>
          <a:xfrm>
            <a:off x="261938" y="2305050"/>
            <a:ext cx="2386012" cy="1509712"/>
          </a:xfrm>
          <a:prstGeom prst="roundRect">
            <a:avLst>
              <a:gd name="adj" fmla="val 15141"/>
            </a:avLst>
          </a:prstGeom>
          <a:solidFill>
            <a:srgbClr val="FFFFFF"/>
          </a:solidFill>
          <a:ln w="10478">
            <a:solidFill>
              <a:srgbClr val="00000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f-left-legend-token-mask-rect-01" descr="{&quot;autofigure_element_id&quot;:&quot;left-legend-token-mask&quot;}"/>
          <p:cNvSpPr/>
          <p:nvPr/>
        </p:nvSpPr>
        <p:spPr>
          <a:xfrm>
            <a:off x="390525" y="2476500"/>
            <a:ext cx="333375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f-left-legend-label-mask-text-01" descr="{&quot;autofigure_element_id&quot;:&quot;left-legend-label-mask&quot;}"/>
          <p:cNvSpPr txBox="1"/>
          <p:nvPr/>
        </p:nvSpPr>
        <p:spPr>
          <a:xfrm>
            <a:off x="819150" y="2518124"/>
            <a:ext cx="1102766" cy="37385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5" b="1">
                <a:solidFill>
                  <a:srgbClr val="000000"/>
                </a:solidFill>
                <a:latin typeface="Times New Roman"/>
              </a:rPr>
              <a:t>Mask Token</a:t>
            </a:r>
          </a:p>
        </p:txBody>
      </p:sp>
      <p:sp>
        <p:nvSpPr>
          <p:cNvPr id="30" name="af-left-legend-token-less-grounded-rect-01" descr="{&quot;autofigure_element_id&quot;:&quot;left-legend-token-less-grounded&quot;}"/>
          <p:cNvSpPr/>
          <p:nvPr/>
        </p:nvSpPr>
        <p:spPr>
          <a:xfrm>
            <a:off x="390525" y="2933700"/>
            <a:ext cx="333375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f-left-legend-label-less-grounded-line-1-text-01" descr="{&quot;autofigure_element_id&quot;:&quot;left-legend-label-less-grounded-line-1&quot;}"/>
          <p:cNvSpPr txBox="1"/>
          <p:nvPr/>
        </p:nvSpPr>
        <p:spPr>
          <a:xfrm>
            <a:off x="819150" y="2869192"/>
            <a:ext cx="1733550" cy="37564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66" b="1">
                <a:solidFill>
                  <a:srgbClr val="000000"/>
                </a:solidFill>
                <a:latin typeface="Times New Roman"/>
              </a:rPr>
              <a:t>Less Visual-grounded</a:t>
            </a:r>
          </a:p>
        </p:txBody>
      </p:sp>
      <p:sp>
        <p:nvSpPr>
          <p:cNvPr id="32" name="af-left-legend-label-less-grounded-line-2-text-01" descr="{&quot;autofigure_element_id&quot;:&quot;left-legend-label-less-grounded-line-2&quot;}"/>
          <p:cNvSpPr txBox="1"/>
          <p:nvPr/>
        </p:nvSpPr>
        <p:spPr>
          <a:xfrm>
            <a:off x="819150" y="3049262"/>
            <a:ext cx="1187272" cy="37683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73" b="1">
                <a:solidFill>
                  <a:srgbClr val="000000"/>
                </a:solidFill>
                <a:latin typeface="Times New Roman"/>
              </a:rPr>
              <a:t>Output Token</a:t>
            </a:r>
          </a:p>
        </p:txBody>
      </p:sp>
      <p:sp>
        <p:nvSpPr>
          <p:cNvPr id="33" name="af-left-legend-token-more-grounded-rect-01" descr="{&quot;autofigure_element_id&quot;:&quot;left-legend-token-more-grounded&quot;}"/>
          <p:cNvSpPr/>
          <p:nvPr/>
        </p:nvSpPr>
        <p:spPr>
          <a:xfrm>
            <a:off x="390525" y="3390900"/>
            <a:ext cx="333375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f-left-legend-label-more-grounded-line-1-text-01" descr="{&quot;autofigure_element_id&quot;:&quot;left-legend-label-more-grounded-line-1&quot;}"/>
          <p:cNvSpPr txBox="1"/>
          <p:nvPr/>
        </p:nvSpPr>
        <p:spPr>
          <a:xfrm>
            <a:off x="819150" y="3335284"/>
            <a:ext cx="1733550" cy="37647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71" b="1">
                <a:solidFill>
                  <a:srgbClr val="000000"/>
                </a:solidFill>
                <a:latin typeface="Times New Roman"/>
              </a:rPr>
              <a:t>More Visual-grounded</a:t>
            </a:r>
          </a:p>
        </p:txBody>
      </p:sp>
      <p:sp>
        <p:nvSpPr>
          <p:cNvPr id="35" name="af-left-legend-label-more-grounded-line-2-text-01" descr="{&quot;autofigure_element_id&quot;:&quot;left-legend-label-more-grounded-line-2&quot;}"/>
          <p:cNvSpPr txBox="1"/>
          <p:nvPr/>
        </p:nvSpPr>
        <p:spPr>
          <a:xfrm>
            <a:off x="819150" y="3537299"/>
            <a:ext cx="1173175" cy="18221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5" b="1">
                <a:solidFill>
                  <a:srgbClr val="000000"/>
                </a:solidFill>
                <a:latin typeface="Times New Roman"/>
              </a:rPr>
              <a:t>Output Token</a:t>
            </a:r>
          </a:p>
        </p:txBody>
      </p:sp>
      <p:cxnSp>
        <p:nvCxnSpPr>
          <p:cNvPr id="36" name="af-left-model-to-early-arrow-connector-01" descr="{&quot;arrow_spec_sha256&quot;:&quot;45cce0aa133864370112a268424b669b8933b6bb671f43705b4073def0afe4bf&quot;,&quot;autofigure_element_id&quot;:&quot;left-model-to-early-arrow&quot;}"/>
          <p:cNvCxnSpPr/>
          <p:nvPr/>
        </p:nvCxnSpPr>
        <p:spPr>
          <a:xfrm>
            <a:off x="4638675" y="1790700"/>
            <a:ext cx="0" cy="476250"/>
          </a:xfrm>
          <a:prstGeom prst="line">
            <a:avLst/>
          </a:prstGeom>
          <a:ln w="9525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af-left-early-stage-title-text-01" descr="{&quot;autofigure_element_id&quot;:&quot;left-early-stage-title&quot;}"/>
          <p:cNvSpPr txBox="1"/>
          <p:nvPr/>
        </p:nvSpPr>
        <p:spPr>
          <a:xfrm>
            <a:off x="4895850" y="1865471"/>
            <a:ext cx="665893" cy="39290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275" b="1">
                <a:solidFill>
                  <a:srgbClr val="000000"/>
                </a:solidFill>
                <a:latin typeface="Times New Roman"/>
              </a:rPr>
              <a:t>Base</a:t>
            </a:r>
          </a:p>
        </p:txBody>
      </p:sp>
      <p:sp>
        <p:nvSpPr>
          <p:cNvPr id="38" name="af-left-early-token-1-rect-01" descr="{&quot;autofigure_element_id&quot;:&quot;left-early-token-1&quot;}"/>
          <p:cNvSpPr/>
          <p:nvPr/>
        </p:nvSpPr>
        <p:spPr>
          <a:xfrm>
            <a:off x="2857500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f-left-early-token-2-rect-01" descr="{&quot;autofigure_element_id&quot;:&quot;left-early-token-2&quot;}"/>
          <p:cNvSpPr/>
          <p:nvPr/>
        </p:nvSpPr>
        <p:spPr>
          <a:xfrm>
            <a:off x="3286125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f-left-early-token-3-rect-01" descr="{&quot;autofigure_element_id&quot;:&quot;left-early-token-3&quot;}"/>
          <p:cNvSpPr/>
          <p:nvPr/>
        </p:nvSpPr>
        <p:spPr>
          <a:xfrm>
            <a:off x="3705225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f-left-early-token-4-rect-01" descr="{&quot;autofigure_element_id&quot;:&quot;left-early-token-4&quot;}"/>
          <p:cNvSpPr/>
          <p:nvPr/>
        </p:nvSpPr>
        <p:spPr>
          <a:xfrm>
            <a:off x="4133850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f-left-early-token-ellipsis-dot-1-ellipse-01" descr="{&quot;autofigure_element_id&quot;:&quot;left-early-token-ellipsis-dot-1&quot;}"/>
          <p:cNvSpPr/>
          <p:nvPr/>
        </p:nvSpPr>
        <p:spPr>
          <a:xfrm>
            <a:off x="4567238" y="2319338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f-left-early-token-ellipsis-dot-2-ellipse-01" descr="{&quot;autofigure_element_id&quot;:&quot;left-early-token-ellipsis-dot-2&quot;}"/>
          <p:cNvSpPr/>
          <p:nvPr/>
        </p:nvSpPr>
        <p:spPr>
          <a:xfrm>
            <a:off x="4624388" y="2319338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f-left-early-token-ellipsis-dot-3-ellipse-01" descr="{&quot;autofigure_element_id&quot;:&quot;left-early-token-ellipsis-dot-3&quot;}"/>
          <p:cNvSpPr/>
          <p:nvPr/>
        </p:nvSpPr>
        <p:spPr>
          <a:xfrm>
            <a:off x="4681538" y="2319338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f-left-early-token-5-rect-01" descr="{&quot;autofigure_element_id&quot;:&quot;left-early-token-5&quot;}"/>
          <p:cNvSpPr/>
          <p:nvPr/>
        </p:nvSpPr>
        <p:spPr>
          <a:xfrm>
            <a:off x="4829175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f-left-early-token-6-rect-01" descr="{&quot;autofigure_element_id&quot;:&quot;left-early-token-6&quot;}"/>
          <p:cNvSpPr/>
          <p:nvPr/>
        </p:nvSpPr>
        <p:spPr>
          <a:xfrm>
            <a:off x="5248275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f-left-early-token-7-rect-01" descr="{&quot;autofigure_element_id&quot;:&quot;left-early-token-7&quot;}"/>
          <p:cNvSpPr/>
          <p:nvPr/>
        </p:nvSpPr>
        <p:spPr>
          <a:xfrm>
            <a:off x="5667375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f-left-early-token-8-rect-01" descr="{&quot;autofigure_element_id&quot;:&quot;left-early-token-8&quot;}"/>
          <p:cNvSpPr/>
          <p:nvPr/>
        </p:nvSpPr>
        <p:spPr>
          <a:xfrm>
            <a:off x="6086475" y="219075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f-left-early-word-answer-text-01" descr="{&quot;autofigure_element_id&quot;:&quot;left-early-word-answer&quot;}"/>
          <p:cNvSpPr txBox="1"/>
          <p:nvPr/>
        </p:nvSpPr>
        <p:spPr>
          <a:xfrm>
            <a:off x="5051298" y="2511742"/>
            <a:ext cx="73685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answer</a:t>
            </a:r>
          </a:p>
        </p:txBody>
      </p:sp>
      <p:sp>
        <p:nvSpPr>
          <p:cNvPr id="50" name="af-left-early-word-is-text-01" descr="{&quot;autofigure_element_id&quot;:&quot;left-early-word-is&quot;}"/>
          <p:cNvSpPr txBox="1"/>
          <p:nvPr/>
        </p:nvSpPr>
        <p:spPr>
          <a:xfrm>
            <a:off x="5633085" y="2511742"/>
            <a:ext cx="411480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is</a:t>
            </a:r>
          </a:p>
        </p:txBody>
      </p:sp>
      <p:sp>
        <p:nvSpPr>
          <p:cNvPr id="51" name="af-left-early-word-b-text-01" descr="{&quot;autofigure_element_id&quot;:&quot;left-early-word-b&quot;}"/>
          <p:cNvSpPr txBox="1"/>
          <p:nvPr/>
        </p:nvSpPr>
        <p:spPr>
          <a:xfrm>
            <a:off x="6060853" y="2511742"/>
            <a:ext cx="39414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0000"/>
                </a:solidFill>
                <a:latin typeface="Times New Roman"/>
              </a:rPr>
              <a:t>B</a:t>
            </a:r>
          </a:p>
        </p:txBody>
      </p:sp>
      <p:sp>
        <p:nvSpPr>
          <p:cNvPr id="52" name="af-left-early-answer-underbrace-freeform-01" descr="{&quot;autofigure_element_id&quot;:&quot;left-early-answer-underbrace&quot;,&quot;primitive_spec_sha256&quot;:&quot;7c2cab4e47ded074c02f0f2e2ee73ca78bd4097839c099207a457e7293e49e00&quot;}"/>
          <p:cNvSpPr/>
          <p:nvPr/>
        </p:nvSpPr>
        <p:spPr>
          <a:xfrm>
            <a:off x="5324475" y="2762250"/>
            <a:ext cx="1019175" cy="152400"/>
          </a:xfrm>
          <a:custGeom>
            <a:avLst/>
            <a:gdLst/>
            <a:ahLst/>
            <a:cxnLst/>
            <a:rect l="0" t="0" r="0" b="0"/>
            <a:pathLst>
              <a:path w="1019175" h="152400">
                <a:moveTo>
                  <a:pt x="0" y="0"/>
                </a:moveTo>
                <a:lnTo>
                  <a:pt x="0" y="38100"/>
                </a:lnTo>
                <a:cubicBezTo>
                  <a:pt x="0" y="69850"/>
                  <a:pt x="19050" y="85725"/>
                  <a:pt x="57150" y="85725"/>
                </a:cubicBezTo>
                <a:lnTo>
                  <a:pt x="461962" y="85725"/>
                </a:lnTo>
                <a:cubicBezTo>
                  <a:pt x="493712" y="85725"/>
                  <a:pt x="509588" y="98425"/>
                  <a:pt x="509588" y="123825"/>
                </a:cubicBezTo>
                <a:lnTo>
                  <a:pt x="509588" y="152400"/>
                </a:lnTo>
                <a:moveTo>
                  <a:pt x="509588" y="152400"/>
                </a:moveTo>
                <a:lnTo>
                  <a:pt x="509588" y="123825"/>
                </a:lnTo>
                <a:cubicBezTo>
                  <a:pt x="509588" y="98425"/>
                  <a:pt x="525463" y="85725"/>
                  <a:pt x="557212" y="85725"/>
                </a:cubicBezTo>
                <a:lnTo>
                  <a:pt x="962025" y="85725"/>
                </a:lnTo>
                <a:cubicBezTo>
                  <a:pt x="1000125" y="85725"/>
                  <a:pt x="1019175" y="69850"/>
                  <a:pt x="1019175" y="38100"/>
                </a:cubicBezTo>
                <a:lnTo>
                  <a:pt x="1019175" y="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53" name="af-left-early-annotation-line-1-text-01" descr="{&quot;autofigure_element_id&quot;:&quot;left-early-annotation-line-1&quot;}"/>
          <p:cNvSpPr txBox="1"/>
          <p:nvPr/>
        </p:nvSpPr>
        <p:spPr>
          <a:xfrm>
            <a:off x="4964430" y="2895600"/>
            <a:ext cx="172974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0000"/>
                </a:solidFill>
                <a:latin typeface="Times New Roman"/>
              </a:rPr>
              <a:t>Generate answer</a:t>
            </a:r>
          </a:p>
        </p:txBody>
      </p:sp>
      <p:sp>
        <p:nvSpPr>
          <p:cNvPr id="54" name="af-left-early-annotation-line-2-text-01" descr="{&quot;autofigure_element_id&quot;:&quot;left-early-annotation-line-2&quot;}"/>
          <p:cNvSpPr txBox="1"/>
          <p:nvPr/>
        </p:nvSpPr>
        <p:spPr>
          <a:xfrm>
            <a:off x="4978718" y="3105150"/>
            <a:ext cx="170116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0000"/>
                </a:solidFill>
                <a:latin typeface="Times New Roman"/>
              </a:rPr>
              <a:t>before reasoning</a:t>
            </a:r>
          </a:p>
        </p:txBody>
      </p:sp>
      <p:sp>
        <p:nvSpPr>
          <p:cNvPr id="55" name="af-left-early-stage-side-brace-freeform-01" descr="{&quot;autofigure_element_id&quot;:&quot;left-early-stage-side-brace&quot;,&quot;primitive_spec_sha256&quot;:&quot;eda617f74b3d320bb7dd877682b918ddba3a484112a5b5c8a98682213c313059&quot;}"/>
          <p:cNvSpPr/>
          <p:nvPr/>
        </p:nvSpPr>
        <p:spPr>
          <a:xfrm>
            <a:off x="6496050" y="1952625"/>
            <a:ext cx="152400" cy="733425"/>
          </a:xfrm>
          <a:custGeom>
            <a:avLst/>
            <a:gdLst/>
            <a:ahLst/>
            <a:cxnLst/>
            <a:rect l="0" t="0" r="0" b="0"/>
            <a:pathLst>
              <a:path w="152400" h="733425">
                <a:moveTo>
                  <a:pt x="0" y="0"/>
                </a:moveTo>
                <a:lnTo>
                  <a:pt x="38100" y="0"/>
                </a:lnTo>
                <a:cubicBezTo>
                  <a:pt x="69850" y="0"/>
                  <a:pt x="85725" y="19050"/>
                  <a:pt x="85725" y="57150"/>
                </a:cubicBezTo>
                <a:lnTo>
                  <a:pt x="85725" y="319088"/>
                </a:lnTo>
                <a:cubicBezTo>
                  <a:pt x="85725" y="350837"/>
                  <a:pt x="98425" y="366712"/>
                  <a:pt x="123825" y="366712"/>
                </a:cubicBezTo>
                <a:lnTo>
                  <a:pt x="152400" y="366712"/>
                </a:lnTo>
                <a:moveTo>
                  <a:pt x="152400" y="366712"/>
                </a:moveTo>
                <a:lnTo>
                  <a:pt x="123825" y="366712"/>
                </a:lnTo>
                <a:cubicBezTo>
                  <a:pt x="98425" y="366712"/>
                  <a:pt x="85725" y="382588"/>
                  <a:pt x="85725" y="414338"/>
                </a:cubicBezTo>
                <a:lnTo>
                  <a:pt x="85725" y="676275"/>
                </a:lnTo>
                <a:cubicBezTo>
                  <a:pt x="85725" y="714375"/>
                  <a:pt x="69850" y="733425"/>
                  <a:pt x="38100" y="733425"/>
                </a:cubicBezTo>
                <a:lnTo>
                  <a:pt x="0" y="733425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56" name="af-left-early-stage-side-label-text-01" descr="{&quot;autofigure_element_id&quot;:&quot;left-early-stage-side-label&quot;}"/>
          <p:cNvSpPr txBox="1"/>
          <p:nvPr/>
        </p:nvSpPr>
        <p:spPr>
          <a:xfrm rot="16200000">
            <a:off x="6311646" y="1933575"/>
            <a:ext cx="1016508" cy="76200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Early Step</a:t>
            </a:r>
          </a:p>
        </p:txBody>
      </p:sp>
      <p:sp>
        <p:nvSpPr>
          <p:cNvPr id="57" name="af-left-stage-transition-ellipsis-text-01" descr="{&quot;autofigure_element_id&quot;:&quot;left-stage-transition-ellipsis&quot;}"/>
          <p:cNvSpPr txBox="1"/>
          <p:nvPr/>
        </p:nvSpPr>
        <p:spPr>
          <a:xfrm>
            <a:off x="4436745" y="3105150"/>
            <a:ext cx="40386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Times New Roman"/>
              </a:rPr>
              <a:t>⋮</a:t>
            </a:r>
          </a:p>
        </p:txBody>
      </p:sp>
      <p:cxnSp>
        <p:nvCxnSpPr>
          <p:cNvPr id="58" name="af-left-transition-to-late-arrow-connector-01" descr="{&quot;arrow_spec_sha256&quot;:&quot;ed33b8bc0b55581bf0fd0bc2579c13abaef7e35e43fb0c6304904228abed927d&quot;,&quot;autofigure_element_id&quot;:&quot;left-transition-to-late-arrow&quot;}"/>
          <p:cNvCxnSpPr/>
          <p:nvPr/>
        </p:nvCxnSpPr>
        <p:spPr>
          <a:xfrm>
            <a:off x="4638675" y="3400425"/>
            <a:ext cx="0" cy="238125"/>
          </a:xfrm>
          <a:prstGeom prst="line">
            <a:avLst/>
          </a:prstGeom>
          <a:ln w="9525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af-left-late-token-1-rect-01" descr="{&quot;autofigure_element_id&quot;:&quot;left-late-token-1&quot;}"/>
          <p:cNvSpPr/>
          <p:nvPr/>
        </p:nvSpPr>
        <p:spPr>
          <a:xfrm>
            <a:off x="2857500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af-left-late-token-2-rect-01" descr="{&quot;autofigure_element_id&quot;:&quot;left-late-token-2&quot;}"/>
          <p:cNvSpPr/>
          <p:nvPr/>
        </p:nvSpPr>
        <p:spPr>
          <a:xfrm>
            <a:off x="3286125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af-left-late-token-3-rect-01" descr="{&quot;autofigure_element_id&quot;:&quot;left-late-token-3&quot;}"/>
          <p:cNvSpPr/>
          <p:nvPr/>
        </p:nvSpPr>
        <p:spPr>
          <a:xfrm>
            <a:off x="3705225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f-left-late-token-4-rect-01" descr="{&quot;autofigure_element_id&quot;:&quot;left-late-token-4&quot;}"/>
          <p:cNvSpPr/>
          <p:nvPr/>
        </p:nvSpPr>
        <p:spPr>
          <a:xfrm>
            <a:off x="4133850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f-left-late-token-ellipsis-dot-1-ellipse-01" descr="{&quot;autofigure_element_id&quot;:&quot;left-late-token-ellipsis-dot-1&quot;}"/>
          <p:cNvSpPr/>
          <p:nvPr/>
        </p:nvSpPr>
        <p:spPr>
          <a:xfrm>
            <a:off x="4567238" y="3810000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f-left-late-token-ellipsis-dot-2-ellipse-01" descr="{&quot;autofigure_element_id&quot;:&quot;left-late-token-ellipsis-dot-2&quot;}"/>
          <p:cNvSpPr/>
          <p:nvPr/>
        </p:nvSpPr>
        <p:spPr>
          <a:xfrm>
            <a:off x="4624388" y="3810000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af-left-late-token-ellipsis-dot-3-ellipse-01" descr="{&quot;autofigure_element_id&quot;:&quot;left-late-token-ellipsis-dot-3&quot;}"/>
          <p:cNvSpPr/>
          <p:nvPr/>
        </p:nvSpPr>
        <p:spPr>
          <a:xfrm>
            <a:off x="4681538" y="3810000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af-left-late-token-5-rect-01" descr="{&quot;autofigure_element_id&quot;:&quot;left-late-token-5&quot;}"/>
          <p:cNvSpPr/>
          <p:nvPr/>
        </p:nvSpPr>
        <p:spPr>
          <a:xfrm>
            <a:off x="4829175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-left-late-token-6-rect-01" descr="{&quot;autofigure_element_id&quot;:&quot;left-late-token-6&quot;}"/>
          <p:cNvSpPr/>
          <p:nvPr/>
        </p:nvSpPr>
        <p:spPr>
          <a:xfrm>
            <a:off x="5248275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-left-late-token-7-rect-01" descr="{&quot;autofigure_element_id&quot;:&quot;left-late-token-7&quot;}"/>
          <p:cNvSpPr/>
          <p:nvPr/>
        </p:nvSpPr>
        <p:spPr>
          <a:xfrm>
            <a:off x="5667375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-left-late-token-8-rect-01" descr="{&quot;autofigure_element_id&quot;:&quot;left-late-token-8&quot;}"/>
          <p:cNvSpPr/>
          <p:nvPr/>
        </p:nvSpPr>
        <p:spPr>
          <a:xfrm>
            <a:off x="6086475" y="36957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9E7FB"/>
          </a:solidFill>
          <a:ln w="7620">
            <a:solidFill>
              <a:srgbClr val="98B1D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f-left-late-word-the-text-01" descr="{&quot;autofigure_element_id&quot;:&quot;left-late-word-the&quot;}"/>
          <p:cNvSpPr txBox="1"/>
          <p:nvPr/>
        </p:nvSpPr>
        <p:spPr>
          <a:xfrm>
            <a:off x="2761845" y="4002167"/>
            <a:ext cx="524685" cy="35123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12" b="1">
                <a:solidFill>
                  <a:srgbClr val="000000"/>
                </a:solidFill>
                <a:latin typeface="Times New Roman"/>
              </a:rPr>
              <a:t>The</a:t>
            </a:r>
          </a:p>
        </p:txBody>
      </p:sp>
      <p:sp>
        <p:nvSpPr>
          <p:cNvPr id="71" name="af-left-late-word-stove-text-01" descr="{&quot;autofigure_element_id&quot;:&quot;left-late-word-stove&quot;}"/>
          <p:cNvSpPr txBox="1"/>
          <p:nvPr/>
        </p:nvSpPr>
        <p:spPr>
          <a:xfrm>
            <a:off x="3134963" y="3988118"/>
            <a:ext cx="62617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stove</a:t>
            </a:r>
          </a:p>
        </p:txBody>
      </p:sp>
      <p:sp>
        <p:nvSpPr>
          <p:cNvPr id="72" name="af-left-late-word-broken-text-01" descr="{&quot;autofigure_element_id&quot;:&quot;left-late-word-broken&quot;}"/>
          <p:cNvSpPr txBox="1"/>
          <p:nvPr/>
        </p:nvSpPr>
        <p:spPr>
          <a:xfrm>
            <a:off x="3945655" y="4003524"/>
            <a:ext cx="681190" cy="34944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01" b="1">
                <a:solidFill>
                  <a:srgbClr val="000000"/>
                </a:solidFill>
                <a:latin typeface="Times New Roman"/>
              </a:rPr>
              <a:t>broken</a:t>
            </a:r>
          </a:p>
        </p:txBody>
      </p:sp>
      <p:sp>
        <p:nvSpPr>
          <p:cNvPr id="73" name="af-left-late-word-answer-text-01" descr="{&quot;autofigure_element_id&quot;:&quot;left-late-word-answer&quot;}"/>
          <p:cNvSpPr txBox="1"/>
          <p:nvPr/>
        </p:nvSpPr>
        <p:spPr>
          <a:xfrm>
            <a:off x="5032248" y="3988118"/>
            <a:ext cx="73685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answer</a:t>
            </a:r>
          </a:p>
        </p:txBody>
      </p:sp>
      <p:sp>
        <p:nvSpPr>
          <p:cNvPr id="74" name="af-left-late-word-is-text-01" descr="{&quot;autofigure_element_id&quot;:&quot;left-late-word-is&quot;}"/>
          <p:cNvSpPr txBox="1"/>
          <p:nvPr/>
        </p:nvSpPr>
        <p:spPr>
          <a:xfrm>
            <a:off x="5633085" y="3988118"/>
            <a:ext cx="411480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is</a:t>
            </a:r>
          </a:p>
        </p:txBody>
      </p:sp>
      <p:sp>
        <p:nvSpPr>
          <p:cNvPr id="75" name="af-left-late-word-b-text-01" descr="{&quot;autofigure_element_id&quot;:&quot;left-late-word-b&quot;}"/>
          <p:cNvSpPr txBox="1"/>
          <p:nvPr/>
        </p:nvSpPr>
        <p:spPr>
          <a:xfrm>
            <a:off x="6070378" y="3988118"/>
            <a:ext cx="39414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0000"/>
                </a:solidFill>
                <a:latin typeface="Times New Roman"/>
              </a:rPr>
              <a:t>B</a:t>
            </a:r>
          </a:p>
        </p:txBody>
      </p:sp>
      <p:sp>
        <p:nvSpPr>
          <p:cNvPr id="76" name="af-left-late-rationale-underbrace-freeform-01" descr="{&quot;autofigure_element_id&quot;:&quot;left-late-rationale-underbrace&quot;,&quot;primitive_spec_sha256&quot;:&quot;f4ae8790b79c932964d696bc0c454fdf621595c18c5d1c1d8fa7c09d9fd62ed6&quot;}"/>
          <p:cNvSpPr/>
          <p:nvPr/>
        </p:nvSpPr>
        <p:spPr>
          <a:xfrm>
            <a:off x="3228975" y="4248150"/>
            <a:ext cx="1019175" cy="152400"/>
          </a:xfrm>
          <a:custGeom>
            <a:avLst/>
            <a:gdLst/>
            <a:ahLst/>
            <a:cxnLst/>
            <a:rect l="0" t="0" r="0" b="0"/>
            <a:pathLst>
              <a:path w="1019175" h="152400">
                <a:moveTo>
                  <a:pt x="0" y="0"/>
                </a:moveTo>
                <a:lnTo>
                  <a:pt x="0" y="38100"/>
                </a:lnTo>
                <a:cubicBezTo>
                  <a:pt x="0" y="69850"/>
                  <a:pt x="19050" y="85725"/>
                  <a:pt x="57150" y="85725"/>
                </a:cubicBezTo>
                <a:lnTo>
                  <a:pt x="461962" y="85725"/>
                </a:lnTo>
                <a:cubicBezTo>
                  <a:pt x="493712" y="85725"/>
                  <a:pt x="509588" y="98425"/>
                  <a:pt x="509588" y="123825"/>
                </a:cubicBezTo>
                <a:lnTo>
                  <a:pt x="509588" y="152400"/>
                </a:lnTo>
                <a:moveTo>
                  <a:pt x="509588" y="152400"/>
                </a:moveTo>
                <a:lnTo>
                  <a:pt x="509588" y="123825"/>
                </a:lnTo>
                <a:cubicBezTo>
                  <a:pt x="509588" y="98425"/>
                  <a:pt x="525463" y="85725"/>
                  <a:pt x="557212" y="85725"/>
                </a:cubicBezTo>
                <a:lnTo>
                  <a:pt x="962025" y="85725"/>
                </a:lnTo>
                <a:cubicBezTo>
                  <a:pt x="1000125" y="85725"/>
                  <a:pt x="1019175" y="69850"/>
                  <a:pt x="1019175" y="38100"/>
                </a:cubicBezTo>
                <a:lnTo>
                  <a:pt x="1019175" y="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77" name="af-left-late-annotation-line-1-text-01" descr="{&quot;autofigure_element_id&quot;:&quot;left-late-annotation-line-1&quot;}"/>
          <p:cNvSpPr txBox="1"/>
          <p:nvPr/>
        </p:nvSpPr>
        <p:spPr>
          <a:xfrm>
            <a:off x="2833945" y="4320254"/>
            <a:ext cx="1799711" cy="42148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55" b="1">
                <a:solidFill>
                  <a:srgbClr val="FF0000"/>
                </a:solidFill>
                <a:latin typeface="Times New Roman"/>
              </a:rPr>
              <a:t>Generate rationale</a:t>
            </a:r>
          </a:p>
        </p:txBody>
      </p:sp>
      <p:sp>
        <p:nvSpPr>
          <p:cNvPr id="78" name="af-left-late-annotation-line-2-text-01" descr="{&quot;autofigure_element_id&quot;:&quot;left-late-annotation-line-2&quot;}"/>
          <p:cNvSpPr txBox="1"/>
          <p:nvPr/>
        </p:nvSpPr>
        <p:spPr>
          <a:xfrm>
            <a:off x="2948654" y="4548854"/>
            <a:ext cx="1579816" cy="42148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55" b="1">
                <a:solidFill>
                  <a:srgbClr val="FF0000"/>
                </a:solidFill>
                <a:latin typeface="Times New Roman"/>
              </a:rPr>
              <a:t>after answering</a:t>
            </a:r>
          </a:p>
        </p:txBody>
      </p:sp>
      <p:sp>
        <p:nvSpPr>
          <p:cNvPr id="79" name="af-left-late-stage-side-brace-freeform-01" descr="{&quot;autofigure_element_id&quot;:&quot;left-late-stage-side-brace&quot;,&quot;primitive_spec_sha256&quot;:&quot;e9c2ada7bad5c2f03155b78642947c43bc994a794b1a20573ecc8481e407983d&quot;}"/>
          <p:cNvSpPr/>
          <p:nvPr/>
        </p:nvSpPr>
        <p:spPr>
          <a:xfrm>
            <a:off x="6496050" y="3457575"/>
            <a:ext cx="152400" cy="733425"/>
          </a:xfrm>
          <a:custGeom>
            <a:avLst/>
            <a:gdLst/>
            <a:ahLst/>
            <a:cxnLst/>
            <a:rect l="0" t="0" r="0" b="0"/>
            <a:pathLst>
              <a:path w="152400" h="733425">
                <a:moveTo>
                  <a:pt x="0" y="0"/>
                </a:moveTo>
                <a:lnTo>
                  <a:pt x="38100" y="0"/>
                </a:lnTo>
                <a:cubicBezTo>
                  <a:pt x="69850" y="0"/>
                  <a:pt x="85725" y="19050"/>
                  <a:pt x="85725" y="57150"/>
                </a:cubicBezTo>
                <a:lnTo>
                  <a:pt x="85725" y="319088"/>
                </a:lnTo>
                <a:cubicBezTo>
                  <a:pt x="85725" y="350837"/>
                  <a:pt x="98425" y="366712"/>
                  <a:pt x="123825" y="366712"/>
                </a:cubicBezTo>
                <a:lnTo>
                  <a:pt x="152400" y="366712"/>
                </a:lnTo>
                <a:moveTo>
                  <a:pt x="152400" y="366712"/>
                </a:moveTo>
                <a:lnTo>
                  <a:pt x="123825" y="366712"/>
                </a:lnTo>
                <a:cubicBezTo>
                  <a:pt x="98425" y="366712"/>
                  <a:pt x="85725" y="382588"/>
                  <a:pt x="85725" y="414338"/>
                </a:cubicBezTo>
                <a:lnTo>
                  <a:pt x="85725" y="676275"/>
                </a:lnTo>
                <a:cubicBezTo>
                  <a:pt x="85725" y="714375"/>
                  <a:pt x="69850" y="733425"/>
                  <a:pt x="38100" y="733425"/>
                </a:cubicBezTo>
                <a:lnTo>
                  <a:pt x="0" y="733425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80" name="af-left-late-stage-side-label-text-01" descr="{&quot;autofigure_element_id&quot;:&quot;left-late-stage-side-label&quot;}"/>
          <p:cNvSpPr txBox="1"/>
          <p:nvPr/>
        </p:nvSpPr>
        <p:spPr>
          <a:xfrm rot="16200000">
            <a:off x="6307836" y="3448050"/>
            <a:ext cx="1024128" cy="76200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Later Step</a:t>
            </a:r>
          </a:p>
        </p:txBody>
      </p:sp>
      <p:sp>
        <p:nvSpPr>
          <p:cNvPr id="81" name="af-left-panel-caption-text-01" descr="{&quot;autofigure_element_id&quot;:&quot;left-panel-caption&quot;}"/>
          <p:cNvSpPr txBox="1"/>
          <p:nvPr/>
        </p:nvSpPr>
        <p:spPr>
          <a:xfrm>
            <a:off x="1819094" y="4870537"/>
            <a:ext cx="3457937" cy="40631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88">
                <a:solidFill>
                  <a:srgbClr val="000000"/>
                </a:solidFill>
                <a:latin typeface="Times New Roman"/>
              </a:rPr>
              <a:t>(a) Baseline dMLLM Inference.</a:t>
            </a:r>
          </a:p>
        </p:txBody>
      </p:sp>
      <p:sp>
        <p:nvSpPr>
          <p:cNvPr id="82" name="af-right-input-image-title-text-01" descr="{&quot;autofigure_element_id&quot;:&quot;right-input-image-title&quot;}"/>
          <p:cNvSpPr txBox="1"/>
          <p:nvPr/>
        </p:nvSpPr>
        <p:spPr>
          <a:xfrm>
            <a:off x="7775448" y="93345"/>
            <a:ext cx="717804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Image</a:t>
            </a:r>
          </a:p>
        </p:txBody>
      </p:sp>
      <p:sp>
        <p:nvSpPr>
          <p:cNvPr id="83" name="af-right-input-image-bracket-freeform-01" descr="{&quot;autofigure_element_id&quot;:&quot;right-input-image-bracket&quot;,&quot;primitive_spec_sha256&quot;:&quot;b14e662d9ea777443627f5afa7566f697b8a437acfb6e72d9772316e021c84d8&quot;}"/>
          <p:cNvSpPr/>
          <p:nvPr/>
        </p:nvSpPr>
        <p:spPr>
          <a:xfrm>
            <a:off x="7629525" y="323850"/>
            <a:ext cx="1019175" cy="171450"/>
          </a:xfrm>
          <a:custGeom>
            <a:avLst/>
            <a:gdLst/>
            <a:ahLst/>
            <a:cxnLst/>
            <a:rect l="0" t="0" r="0" b="0"/>
            <a:pathLst>
              <a:path w="1019175" h="171450">
                <a:moveTo>
                  <a:pt x="0" y="171450"/>
                </a:moveTo>
                <a:lnTo>
                  <a:pt x="0" y="133350"/>
                </a:lnTo>
                <a:cubicBezTo>
                  <a:pt x="0" y="95250"/>
                  <a:pt x="19050" y="76200"/>
                  <a:pt x="57150" y="76200"/>
                </a:cubicBezTo>
                <a:lnTo>
                  <a:pt x="461962" y="76200"/>
                </a:lnTo>
                <a:cubicBezTo>
                  <a:pt x="493712" y="76200"/>
                  <a:pt x="509588" y="60325"/>
                  <a:pt x="509588" y="28575"/>
                </a:cubicBezTo>
                <a:lnTo>
                  <a:pt x="509588" y="0"/>
                </a:lnTo>
                <a:moveTo>
                  <a:pt x="509588" y="0"/>
                </a:moveTo>
                <a:lnTo>
                  <a:pt x="509588" y="28575"/>
                </a:lnTo>
                <a:cubicBezTo>
                  <a:pt x="509588" y="60325"/>
                  <a:pt x="525463" y="76200"/>
                  <a:pt x="557212" y="76200"/>
                </a:cubicBezTo>
                <a:lnTo>
                  <a:pt x="962025" y="76200"/>
                </a:lnTo>
                <a:cubicBezTo>
                  <a:pt x="1000125" y="76200"/>
                  <a:pt x="1019175" y="95250"/>
                  <a:pt x="1019175" y="133350"/>
                </a:cubicBezTo>
                <a:lnTo>
                  <a:pt x="1019175" y="17145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84" name="af-right-input-image-token-1-rect-01" descr="{&quot;autofigure_element_id&quot;:&quot;right-input-image-token-1&quot;}"/>
          <p:cNvSpPr/>
          <p:nvPr/>
        </p:nvSpPr>
        <p:spPr>
          <a:xfrm>
            <a:off x="754380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FF8E5"/>
          </a:solidFill>
          <a:ln w="7620">
            <a:solidFill>
              <a:srgbClr val="ECDCA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f-right-input-image-token-2-rect-01" descr="{&quot;autofigure_element_id&quot;:&quot;right-input-image-token-2&quot;}"/>
          <p:cNvSpPr/>
          <p:nvPr/>
        </p:nvSpPr>
        <p:spPr>
          <a:xfrm>
            <a:off x="796290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FF8E5"/>
          </a:solidFill>
          <a:ln w="7620">
            <a:solidFill>
              <a:srgbClr val="ECDCA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f-right-input-image-token-3-rect-01" descr="{&quot;autofigure_element_id&quot;:&quot;right-input-image-token-3&quot;}"/>
          <p:cNvSpPr/>
          <p:nvPr/>
        </p:nvSpPr>
        <p:spPr>
          <a:xfrm>
            <a:off x="838200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FF8E5"/>
          </a:solidFill>
          <a:ln w="7620">
            <a:solidFill>
              <a:srgbClr val="ECDCAF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af-right-input-prompt-title-text-01" descr="{&quot;autofigure_element_id&quot;:&quot;right-input-prompt-title&quot;}"/>
          <p:cNvSpPr txBox="1"/>
          <p:nvPr/>
        </p:nvSpPr>
        <p:spPr>
          <a:xfrm>
            <a:off x="9077325" y="93345"/>
            <a:ext cx="800100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Prompt</a:t>
            </a:r>
          </a:p>
        </p:txBody>
      </p:sp>
      <p:sp>
        <p:nvSpPr>
          <p:cNvPr id="88" name="af-right-input-prompt-bracket-freeform-01" descr="{&quot;autofigure_element_id&quot;:&quot;right-input-prompt-bracket&quot;,&quot;primitive_spec_sha256&quot;:&quot;b457231bbcd57fbed6cb717f0c0a48e12289f39c2805ab8dd52b3835214c4122&quot;}"/>
          <p:cNvSpPr/>
          <p:nvPr/>
        </p:nvSpPr>
        <p:spPr>
          <a:xfrm>
            <a:off x="8982075" y="323850"/>
            <a:ext cx="1009650" cy="171450"/>
          </a:xfrm>
          <a:custGeom>
            <a:avLst/>
            <a:gdLst/>
            <a:ahLst/>
            <a:cxnLst/>
            <a:rect l="0" t="0" r="0" b="0"/>
            <a:pathLst>
              <a:path w="1009650" h="171450">
                <a:moveTo>
                  <a:pt x="0" y="171450"/>
                </a:moveTo>
                <a:lnTo>
                  <a:pt x="0" y="133350"/>
                </a:lnTo>
                <a:cubicBezTo>
                  <a:pt x="0" y="95250"/>
                  <a:pt x="19050" y="76200"/>
                  <a:pt x="57150" y="76200"/>
                </a:cubicBezTo>
                <a:lnTo>
                  <a:pt x="457200" y="76200"/>
                </a:lnTo>
                <a:cubicBezTo>
                  <a:pt x="488950" y="76200"/>
                  <a:pt x="504825" y="60325"/>
                  <a:pt x="504825" y="28575"/>
                </a:cubicBezTo>
                <a:lnTo>
                  <a:pt x="504825" y="0"/>
                </a:lnTo>
                <a:moveTo>
                  <a:pt x="504825" y="0"/>
                </a:moveTo>
                <a:lnTo>
                  <a:pt x="504825" y="28575"/>
                </a:lnTo>
                <a:cubicBezTo>
                  <a:pt x="504825" y="60325"/>
                  <a:pt x="520700" y="76200"/>
                  <a:pt x="552450" y="76200"/>
                </a:cubicBezTo>
                <a:lnTo>
                  <a:pt x="952500" y="76200"/>
                </a:lnTo>
                <a:cubicBezTo>
                  <a:pt x="990600" y="76200"/>
                  <a:pt x="1009650" y="95250"/>
                  <a:pt x="1009650" y="133350"/>
                </a:cubicBezTo>
                <a:lnTo>
                  <a:pt x="1009650" y="17145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89" name="af-right-input-prompt-token-1-rect-01" descr="{&quot;autofigure_element_id&quot;:&quot;right-input-prompt-token-1&quot;}"/>
          <p:cNvSpPr/>
          <p:nvPr/>
        </p:nvSpPr>
        <p:spPr>
          <a:xfrm>
            <a:off x="888682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5E7D4"/>
          </a:solidFill>
          <a:ln w="7620">
            <a:solidFill>
              <a:srgbClr val="8FBB7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af-right-input-prompt-token-2-rect-01" descr="{&quot;autofigure_element_id&quot;:&quot;right-input-prompt-token-2&quot;}"/>
          <p:cNvSpPr/>
          <p:nvPr/>
        </p:nvSpPr>
        <p:spPr>
          <a:xfrm>
            <a:off x="930592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5E7D4"/>
          </a:solidFill>
          <a:ln w="7620">
            <a:solidFill>
              <a:srgbClr val="8FBB7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af-right-input-prompt-token-3-rect-01" descr="{&quot;autofigure_element_id&quot;:&quot;right-input-prompt-token-3&quot;}"/>
          <p:cNvSpPr/>
          <p:nvPr/>
        </p:nvSpPr>
        <p:spPr>
          <a:xfrm>
            <a:off x="972502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D5E7D4"/>
          </a:solidFill>
          <a:ln w="7620">
            <a:solidFill>
              <a:srgbClr val="8FBB7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af-right-input-response-title-text-01" descr="{&quot;autofigure_element_id&quot;:&quot;right-input-response-title&quot;}"/>
          <p:cNvSpPr txBox="1"/>
          <p:nvPr/>
        </p:nvSpPr>
        <p:spPr>
          <a:xfrm>
            <a:off x="11511153" y="93345"/>
            <a:ext cx="961644" cy="38100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Response</a:t>
            </a:r>
          </a:p>
        </p:txBody>
      </p:sp>
      <p:sp>
        <p:nvSpPr>
          <p:cNvPr id="93" name="af-right-input-response-bracket-freeform-01" descr="{&quot;autofigure_element_id&quot;:&quot;right-input-response-bracket&quot;,&quot;primitive_spec_sha256&quot;:&quot;ac78a9c6e50889eb275f2beac4a560aac01c78753b148579938e60226abbd7b6&quot;}"/>
          <p:cNvSpPr/>
          <p:nvPr/>
        </p:nvSpPr>
        <p:spPr>
          <a:xfrm>
            <a:off x="10306050" y="323850"/>
            <a:ext cx="3362325" cy="171450"/>
          </a:xfrm>
          <a:custGeom>
            <a:avLst/>
            <a:gdLst/>
            <a:ahLst/>
            <a:cxnLst/>
            <a:rect l="0" t="0" r="0" b="0"/>
            <a:pathLst>
              <a:path w="3362325" h="171450">
                <a:moveTo>
                  <a:pt x="0" y="171450"/>
                </a:moveTo>
                <a:lnTo>
                  <a:pt x="0" y="133350"/>
                </a:lnTo>
                <a:cubicBezTo>
                  <a:pt x="0" y="95250"/>
                  <a:pt x="19050" y="76200"/>
                  <a:pt x="57150" y="76200"/>
                </a:cubicBezTo>
                <a:lnTo>
                  <a:pt x="1624012" y="76200"/>
                </a:lnTo>
                <a:cubicBezTo>
                  <a:pt x="1662112" y="76200"/>
                  <a:pt x="1681162" y="60325"/>
                  <a:pt x="1681162" y="28575"/>
                </a:cubicBezTo>
                <a:lnTo>
                  <a:pt x="1681162" y="0"/>
                </a:lnTo>
                <a:moveTo>
                  <a:pt x="1681162" y="0"/>
                </a:moveTo>
                <a:lnTo>
                  <a:pt x="1681162" y="28575"/>
                </a:lnTo>
                <a:cubicBezTo>
                  <a:pt x="1681162" y="60325"/>
                  <a:pt x="1700212" y="76200"/>
                  <a:pt x="1738312" y="76200"/>
                </a:cubicBezTo>
                <a:lnTo>
                  <a:pt x="3305175" y="76200"/>
                </a:lnTo>
                <a:cubicBezTo>
                  <a:pt x="3343275" y="76200"/>
                  <a:pt x="3362325" y="95250"/>
                  <a:pt x="3362325" y="133350"/>
                </a:cubicBezTo>
                <a:lnTo>
                  <a:pt x="3362325" y="17145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94" name="af-right-input-response-token-1-rect-01" descr="{&quot;autofigure_element_id&quot;:&quot;right-input-response-token-1&quot;}"/>
          <p:cNvSpPr/>
          <p:nvPr/>
        </p:nvSpPr>
        <p:spPr>
          <a:xfrm>
            <a:off x="1021080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af-right-input-response-token-2-rect-01" descr="{&quot;autofigure_element_id&quot;:&quot;right-input-response-token-2&quot;}"/>
          <p:cNvSpPr/>
          <p:nvPr/>
        </p:nvSpPr>
        <p:spPr>
          <a:xfrm>
            <a:off x="1063942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af-right-input-response-token-3-rect-01" descr="{&quot;autofigure_element_id&quot;:&quot;right-input-response-token-3&quot;}"/>
          <p:cNvSpPr/>
          <p:nvPr/>
        </p:nvSpPr>
        <p:spPr>
          <a:xfrm>
            <a:off x="1105852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f-right-input-response-token-4-rect-01" descr="{&quot;autofigure_element_id&quot;:&quot;right-input-response-token-4&quot;}"/>
          <p:cNvSpPr/>
          <p:nvPr/>
        </p:nvSpPr>
        <p:spPr>
          <a:xfrm>
            <a:off x="1148715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f-right-input-response-ellipsis-text-01" descr="{&quot;autofigure_element_id&quot;:&quot;right-input-response-ellipsis&quot;}"/>
          <p:cNvSpPr txBox="1"/>
          <p:nvPr/>
        </p:nvSpPr>
        <p:spPr>
          <a:xfrm>
            <a:off x="11763375" y="533400"/>
            <a:ext cx="45720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Times New Roman"/>
              </a:rPr>
              <a:t>…</a:t>
            </a:r>
          </a:p>
        </p:txBody>
      </p:sp>
      <p:sp>
        <p:nvSpPr>
          <p:cNvPr id="99" name="af-right-input-response-token-5-rect-01" descr="{&quot;autofigure_element_id&quot;:&quot;right-input-response-token-5&quot;}"/>
          <p:cNvSpPr/>
          <p:nvPr/>
        </p:nvSpPr>
        <p:spPr>
          <a:xfrm>
            <a:off x="1217295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af-right-input-response-token-6-rect-01" descr="{&quot;autofigure_element_id&quot;:&quot;right-input-response-token-6&quot;}"/>
          <p:cNvSpPr/>
          <p:nvPr/>
        </p:nvSpPr>
        <p:spPr>
          <a:xfrm>
            <a:off x="1260157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f-right-input-response-token-7-rect-01" descr="{&quot;autofigure_element_id&quot;:&quot;right-input-response-token-7&quot;}"/>
          <p:cNvSpPr/>
          <p:nvPr/>
        </p:nvSpPr>
        <p:spPr>
          <a:xfrm>
            <a:off x="13020675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f-right-input-response-token-8-rect-01" descr="{&quot;autofigure_element_id&quot;:&quot;right-input-response-token-8&quot;}"/>
          <p:cNvSpPr/>
          <p:nvPr/>
        </p:nvSpPr>
        <p:spPr>
          <a:xfrm>
            <a:off x="13449300" y="533400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af-right-input-to-model-arrow-connector-01" descr="{&quot;arrow_spec_sha256&quot;:&quot;9c7daeddba7b07632cd139278f406e0b44f190adab31fc6a455d6072ec4c7f1c&quot;,&quot;autofigure_element_id&quot;:&quot;right-input-to-model-arrow&quot;}"/>
          <p:cNvCxnSpPr/>
          <p:nvPr/>
        </p:nvCxnSpPr>
        <p:spPr>
          <a:xfrm>
            <a:off x="11991975" y="847725"/>
            <a:ext cx="0" cy="190500"/>
          </a:xfrm>
          <a:prstGeom prst="line">
            <a:avLst/>
          </a:prstGeom>
          <a:ln w="9525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af-right-model-box-rect-01" descr="{&quot;autofigure_element_id&quot;:&quot;right-model-box&quot;}"/>
          <p:cNvSpPr/>
          <p:nvPr/>
        </p:nvSpPr>
        <p:spPr>
          <a:xfrm>
            <a:off x="7534275" y="1085850"/>
            <a:ext cx="6248400" cy="600075"/>
          </a:xfrm>
          <a:prstGeom prst="roundRect">
            <a:avLst>
              <a:gd name="adj" fmla="val 15873"/>
            </a:avLst>
          </a:prstGeom>
          <a:solidFill>
            <a:srgbClr val="F7CDCC"/>
          </a:solidFill>
          <a:ln w="9525">
            <a:solidFill>
              <a:srgbClr val="CE817E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af-right-model-label-text-01" descr="{&quot;autofigure_element_id&quot;:&quot;right-model-label&quot;}"/>
          <p:cNvSpPr txBox="1"/>
          <p:nvPr/>
        </p:nvSpPr>
        <p:spPr>
          <a:xfrm>
            <a:off x="8813902" y="1265492"/>
            <a:ext cx="3689147" cy="30613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89" b="1">
                <a:solidFill>
                  <a:srgbClr val="000000"/>
                </a:solidFill>
                <a:latin typeface="Times New Roman"/>
              </a:rPr>
              <a:t>Diffusion Multimodal Language Model</a:t>
            </a:r>
          </a:p>
        </p:txBody>
      </p:sp>
      <p:cxnSp>
        <p:nvCxnSpPr>
          <p:cNvPr id="106" name="af-right-model-to-early-arrow-connector-01" descr="{&quot;arrow_spec_sha256&quot;:&quot;b9ae052b2f403658003f5e72db7b6a4e46e111694b0b52c232cb8d151aefc43e&quot;,&quot;autofigure_element_id&quot;:&quot;right-model-to-early-arrow&quot;}"/>
          <p:cNvCxnSpPr/>
          <p:nvPr/>
        </p:nvCxnSpPr>
        <p:spPr>
          <a:xfrm>
            <a:off x="11991975" y="1752600"/>
            <a:ext cx="0" cy="476250"/>
          </a:xfrm>
          <a:prstGeom prst="line">
            <a:avLst/>
          </a:prstGeom>
          <a:ln w="9525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af-right-early-stage-title-text-01" descr="{&quot;autofigure_element_id&quot;:&quot;right-early-stage-title&quot;}"/>
          <p:cNvSpPr txBox="1"/>
          <p:nvPr/>
        </p:nvSpPr>
        <p:spPr>
          <a:xfrm>
            <a:off x="12211050" y="1812893"/>
            <a:ext cx="1752238" cy="41195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395" b="1">
                <a:solidFill>
                  <a:srgbClr val="000000"/>
                </a:solidFill>
                <a:latin typeface="Times New Roman"/>
              </a:rPr>
              <a:t>Ours (PSP &amp; VRG)</a:t>
            </a:r>
          </a:p>
        </p:txBody>
      </p:sp>
      <p:sp>
        <p:nvSpPr>
          <p:cNvPr id="108" name="af-right-early-token-1-rect-01" descr="{&quot;autofigure_element_id&quot;:&quot;right-early-token-1&quot;}"/>
          <p:cNvSpPr/>
          <p:nvPr/>
        </p:nvSpPr>
        <p:spPr>
          <a:xfrm>
            <a:off x="10210800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af-right-early-token-2-rect-01" descr="{&quot;autofigure_element_id&quot;:&quot;right-early-token-2&quot;}"/>
          <p:cNvSpPr/>
          <p:nvPr/>
        </p:nvSpPr>
        <p:spPr>
          <a:xfrm>
            <a:off x="10639425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af-right-early-token-3-rect-01" descr="{&quot;autofigure_element_id&quot;:&quot;right-early-token-3&quot;}"/>
          <p:cNvSpPr/>
          <p:nvPr/>
        </p:nvSpPr>
        <p:spPr>
          <a:xfrm>
            <a:off x="11058525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af-right-early-token-4-rect-01" descr="{&quot;autofigure_element_id&quot;:&quot;right-early-token-4&quot;}"/>
          <p:cNvSpPr/>
          <p:nvPr/>
        </p:nvSpPr>
        <p:spPr>
          <a:xfrm>
            <a:off x="11487150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af-right-early-token-ellipsis-dot-1-ellipse-01" descr="{&quot;autofigure_element_id&quot;:&quot;right-early-token-ellipsis-dot-1&quot;}"/>
          <p:cNvSpPr/>
          <p:nvPr/>
        </p:nvSpPr>
        <p:spPr>
          <a:xfrm>
            <a:off x="11920538" y="2281238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af-right-early-token-ellipsis-dot-2-ellipse-01" descr="{&quot;autofigure_element_id&quot;:&quot;right-early-token-ellipsis-dot-2&quot;}"/>
          <p:cNvSpPr/>
          <p:nvPr/>
        </p:nvSpPr>
        <p:spPr>
          <a:xfrm>
            <a:off x="11977688" y="2281238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af-right-early-token-ellipsis-dot-3-ellipse-01" descr="{&quot;autofigure_element_id&quot;:&quot;right-early-token-ellipsis-dot-3&quot;}"/>
          <p:cNvSpPr/>
          <p:nvPr/>
        </p:nvSpPr>
        <p:spPr>
          <a:xfrm>
            <a:off x="12034838" y="2281238"/>
            <a:ext cx="28575" cy="2857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af-right-early-token-5-rect-01" descr="{&quot;autofigure_element_id&quot;:&quot;right-early-token-5&quot;}"/>
          <p:cNvSpPr/>
          <p:nvPr/>
        </p:nvSpPr>
        <p:spPr>
          <a:xfrm>
            <a:off x="12172950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af-right-early-token-6-rect-01" descr="{&quot;autofigure_element_id&quot;:&quot;right-early-token-6&quot;}"/>
          <p:cNvSpPr/>
          <p:nvPr/>
        </p:nvSpPr>
        <p:spPr>
          <a:xfrm>
            <a:off x="12601575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af-right-early-token-7-rect-01" descr="{&quot;autofigure_element_id&quot;:&quot;right-early-token-7&quot;}"/>
          <p:cNvSpPr/>
          <p:nvPr/>
        </p:nvSpPr>
        <p:spPr>
          <a:xfrm>
            <a:off x="13020675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af-right-early-token-8-rect-01" descr="{&quot;autofigure_element_id&quot;:&quot;right-early-token-8&quot;}"/>
          <p:cNvSpPr/>
          <p:nvPr/>
        </p:nvSpPr>
        <p:spPr>
          <a:xfrm>
            <a:off x="13449300" y="21621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af-right-early-word-stove-text-01" descr="{&quot;autofigure_element_id&quot;:&quot;right-early-word-stove&quot;}"/>
          <p:cNvSpPr txBox="1"/>
          <p:nvPr/>
        </p:nvSpPr>
        <p:spPr>
          <a:xfrm>
            <a:off x="10495493" y="2452783"/>
            <a:ext cx="630765" cy="3595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64" b="1">
                <a:solidFill>
                  <a:srgbClr val="000000"/>
                </a:solidFill>
                <a:latin typeface="Times New Roman"/>
              </a:rPr>
              <a:t>stove</a:t>
            </a:r>
          </a:p>
        </p:txBody>
      </p:sp>
      <p:sp>
        <p:nvSpPr>
          <p:cNvPr id="120" name="af-right-early-word-old-text-01" descr="{&quot;autofigure_element_id&quot;:&quot;right-early-word-old&quot;}"/>
          <p:cNvSpPr txBox="1"/>
          <p:nvPr/>
        </p:nvSpPr>
        <p:spPr>
          <a:xfrm>
            <a:off x="11416932" y="2452783"/>
            <a:ext cx="483337" cy="35956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64" b="1">
                <a:solidFill>
                  <a:srgbClr val="000000"/>
                </a:solidFill>
                <a:latin typeface="Times New Roman"/>
              </a:rPr>
              <a:t>old</a:t>
            </a:r>
          </a:p>
        </p:txBody>
      </p:sp>
      <p:sp>
        <p:nvSpPr>
          <p:cNvPr id="121" name="af-right-early-rationale-underbrace-freeform-01" descr="{&quot;autofigure_element_id&quot;:&quot;right-early-rationale-underbrace&quot;,&quot;primitive_spec_sha256&quot;:&quot;996e4680c0b8938be9d570fefcdc3b988821a8d319ab26476216da5cd4c319b8&quot;}"/>
          <p:cNvSpPr/>
          <p:nvPr/>
        </p:nvSpPr>
        <p:spPr>
          <a:xfrm>
            <a:off x="10715625" y="2733675"/>
            <a:ext cx="1019175" cy="152400"/>
          </a:xfrm>
          <a:custGeom>
            <a:avLst/>
            <a:gdLst/>
            <a:ahLst/>
            <a:cxnLst/>
            <a:rect l="0" t="0" r="0" b="0"/>
            <a:pathLst>
              <a:path w="1019175" h="152400">
                <a:moveTo>
                  <a:pt x="0" y="0"/>
                </a:moveTo>
                <a:lnTo>
                  <a:pt x="0" y="38100"/>
                </a:lnTo>
                <a:cubicBezTo>
                  <a:pt x="0" y="69850"/>
                  <a:pt x="19050" y="85725"/>
                  <a:pt x="57150" y="85725"/>
                </a:cubicBezTo>
                <a:lnTo>
                  <a:pt x="461962" y="85725"/>
                </a:lnTo>
                <a:cubicBezTo>
                  <a:pt x="493712" y="85725"/>
                  <a:pt x="509588" y="98425"/>
                  <a:pt x="509588" y="123825"/>
                </a:cubicBezTo>
                <a:lnTo>
                  <a:pt x="509588" y="152400"/>
                </a:lnTo>
                <a:moveTo>
                  <a:pt x="509588" y="152400"/>
                </a:moveTo>
                <a:lnTo>
                  <a:pt x="509588" y="123825"/>
                </a:lnTo>
                <a:cubicBezTo>
                  <a:pt x="509588" y="98425"/>
                  <a:pt x="525463" y="85725"/>
                  <a:pt x="557212" y="85725"/>
                </a:cubicBezTo>
                <a:lnTo>
                  <a:pt x="962025" y="85725"/>
                </a:lnTo>
                <a:cubicBezTo>
                  <a:pt x="1000125" y="85725"/>
                  <a:pt x="1019175" y="69850"/>
                  <a:pt x="1019175" y="38100"/>
                </a:cubicBezTo>
                <a:lnTo>
                  <a:pt x="1019175" y="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122" name="af-right-early-annotation-line-1-text-01" descr="{&quot;autofigure_element_id&quot;:&quot;right-early-annotation-line-1&quot;}"/>
          <p:cNvSpPr txBox="1"/>
          <p:nvPr/>
        </p:nvSpPr>
        <p:spPr>
          <a:xfrm>
            <a:off x="10330120" y="2805779"/>
            <a:ext cx="1799711" cy="42148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55" b="1">
                <a:solidFill>
                  <a:srgbClr val="13B84A"/>
                </a:solidFill>
                <a:latin typeface="Times New Roman"/>
              </a:rPr>
              <a:t>Generate rationale</a:t>
            </a:r>
          </a:p>
        </p:txBody>
      </p:sp>
      <p:sp>
        <p:nvSpPr>
          <p:cNvPr id="123" name="af-right-early-annotation-line-2-text-01" descr="{&quot;autofigure_element_id&quot;:&quot;right-early-annotation-line-2&quot;}"/>
          <p:cNvSpPr txBox="1"/>
          <p:nvPr/>
        </p:nvSpPr>
        <p:spPr>
          <a:xfrm>
            <a:off x="10373330" y="3035284"/>
            <a:ext cx="1703765" cy="42029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47" b="1">
                <a:solidFill>
                  <a:srgbClr val="13B84A"/>
                </a:solidFill>
                <a:latin typeface="Times New Roman"/>
              </a:rPr>
              <a:t>before answering</a:t>
            </a:r>
          </a:p>
        </p:txBody>
      </p:sp>
      <p:sp>
        <p:nvSpPr>
          <p:cNvPr id="124" name="af-right-early-stage-side-brace-freeform-01" descr="{&quot;autofigure_element_id&quot;:&quot;right-early-stage-side-brace&quot;,&quot;primitive_spec_sha256&quot;:&quot;30a7ffc6fceeecb13f95477a179f08a4122630f769fb92b683c5c871d3d7b18d&quot;}"/>
          <p:cNvSpPr/>
          <p:nvPr/>
        </p:nvSpPr>
        <p:spPr>
          <a:xfrm>
            <a:off x="13849350" y="1933575"/>
            <a:ext cx="152400" cy="723900"/>
          </a:xfrm>
          <a:custGeom>
            <a:avLst/>
            <a:gdLst/>
            <a:ahLst/>
            <a:cxnLst/>
            <a:rect l="0" t="0" r="0" b="0"/>
            <a:pathLst>
              <a:path w="152400" h="723900">
                <a:moveTo>
                  <a:pt x="0" y="0"/>
                </a:moveTo>
                <a:lnTo>
                  <a:pt x="38100" y="0"/>
                </a:lnTo>
                <a:cubicBezTo>
                  <a:pt x="69850" y="0"/>
                  <a:pt x="85725" y="19050"/>
                  <a:pt x="85725" y="57150"/>
                </a:cubicBezTo>
                <a:lnTo>
                  <a:pt x="85725" y="314325"/>
                </a:lnTo>
                <a:cubicBezTo>
                  <a:pt x="85725" y="346075"/>
                  <a:pt x="98425" y="361950"/>
                  <a:pt x="123825" y="361950"/>
                </a:cubicBezTo>
                <a:lnTo>
                  <a:pt x="152400" y="361950"/>
                </a:lnTo>
                <a:moveTo>
                  <a:pt x="152400" y="361950"/>
                </a:moveTo>
                <a:lnTo>
                  <a:pt x="123825" y="361950"/>
                </a:lnTo>
                <a:cubicBezTo>
                  <a:pt x="98425" y="361950"/>
                  <a:pt x="85725" y="377825"/>
                  <a:pt x="85725" y="409575"/>
                </a:cubicBezTo>
                <a:lnTo>
                  <a:pt x="85725" y="666750"/>
                </a:lnTo>
                <a:cubicBezTo>
                  <a:pt x="85725" y="704850"/>
                  <a:pt x="69850" y="723900"/>
                  <a:pt x="38100" y="723900"/>
                </a:cubicBezTo>
                <a:lnTo>
                  <a:pt x="0" y="72390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125" name="af-right-early-stage-side-label-text-01" descr="{&quot;autofigure_element_id&quot;:&quot;right-early-stage-side-label&quot;}"/>
          <p:cNvSpPr txBox="1"/>
          <p:nvPr/>
        </p:nvSpPr>
        <p:spPr>
          <a:xfrm rot="16200000">
            <a:off x="13935075" y="1914525"/>
            <a:ext cx="476250" cy="76200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</a:rPr>
              <a:t>Early Step</a:t>
            </a:r>
          </a:p>
        </p:txBody>
      </p:sp>
      <p:sp>
        <p:nvSpPr>
          <p:cNvPr id="126" name="af-right-stage-transition-ellipsis-text-01" descr="{&quot;autofigure_element_id&quot;:&quot;right-stage-transition-ellipsis&quot;}"/>
          <p:cNvSpPr txBox="1"/>
          <p:nvPr/>
        </p:nvSpPr>
        <p:spPr>
          <a:xfrm>
            <a:off x="11790045" y="3076575"/>
            <a:ext cx="40386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Times New Roman"/>
              </a:rPr>
              <a:t>⋮</a:t>
            </a:r>
          </a:p>
        </p:txBody>
      </p:sp>
      <p:cxnSp>
        <p:nvCxnSpPr>
          <p:cNvPr id="127" name="af-right-transition-to-late-arrow-connector-01" descr="{&quot;arrow_spec_sha256&quot;:&quot;24691f56f175e158fca8a433c6d74947763e97f669cbdff4ad97f5fc2609f3b1&quot;,&quot;autofigure_element_id&quot;:&quot;right-transition-to-late-arrow&quot;}"/>
          <p:cNvCxnSpPr/>
          <p:nvPr/>
        </p:nvCxnSpPr>
        <p:spPr>
          <a:xfrm>
            <a:off x="11991975" y="3371850"/>
            <a:ext cx="0" cy="238125"/>
          </a:xfrm>
          <a:prstGeom prst="line">
            <a:avLst/>
          </a:prstGeom>
          <a:ln w="9525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af-right-late-token-1-rect-01" descr="{&quot;autofigure_element_id&quot;:&quot;right-late-token-1&quot;}"/>
          <p:cNvSpPr/>
          <p:nvPr/>
        </p:nvSpPr>
        <p:spPr>
          <a:xfrm>
            <a:off x="10210800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af-right-late-token-2-rect-01" descr="{&quot;autofigure_element_id&quot;:&quot;right-late-token-2&quot;}"/>
          <p:cNvSpPr/>
          <p:nvPr/>
        </p:nvSpPr>
        <p:spPr>
          <a:xfrm>
            <a:off x="10639425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af-right-late-token-3-rect-01" descr="{&quot;autofigure_element_id&quot;:&quot;right-late-token-3&quot;}"/>
          <p:cNvSpPr/>
          <p:nvPr/>
        </p:nvSpPr>
        <p:spPr>
          <a:xfrm>
            <a:off x="11058525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af-right-late-token-4-rect-01" descr="{&quot;autofigure_element_id&quot;:&quot;right-late-token-4&quot;}"/>
          <p:cNvSpPr/>
          <p:nvPr/>
        </p:nvSpPr>
        <p:spPr>
          <a:xfrm>
            <a:off x="11487150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af-right-late-token-ellipsis-text-01" descr="{&quot;autofigure_element_id&quot;:&quot;right-late-token-ellipsis&quot;}"/>
          <p:cNvSpPr txBox="1"/>
          <p:nvPr/>
        </p:nvSpPr>
        <p:spPr>
          <a:xfrm>
            <a:off x="11763375" y="3648075"/>
            <a:ext cx="45720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Times New Roman"/>
              </a:rPr>
              <a:t>…</a:t>
            </a:r>
          </a:p>
        </p:txBody>
      </p:sp>
      <p:sp>
        <p:nvSpPr>
          <p:cNvPr id="133" name="af-right-late-token-5-rect-01" descr="{&quot;autofigure_element_id&quot;:&quot;right-late-token-5&quot;}"/>
          <p:cNvSpPr/>
          <p:nvPr/>
        </p:nvSpPr>
        <p:spPr>
          <a:xfrm>
            <a:off x="12172950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af-right-late-token-6-rect-01" descr="{&quot;autofigure_element_id&quot;:&quot;right-late-token-6&quot;}"/>
          <p:cNvSpPr/>
          <p:nvPr/>
        </p:nvSpPr>
        <p:spPr>
          <a:xfrm>
            <a:off x="12601575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af-right-late-token-7-rect-01" descr="{&quot;autofigure_element_id&quot;:&quot;right-late-token-7&quot;}"/>
          <p:cNvSpPr/>
          <p:nvPr/>
        </p:nvSpPr>
        <p:spPr>
          <a:xfrm>
            <a:off x="13020675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F5F5F5"/>
          </a:solidFill>
          <a:ln w="7620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af-right-late-token-8-rect-01" descr="{&quot;autofigure_element_id&quot;:&quot;right-late-token-8&quot;}"/>
          <p:cNvSpPr/>
          <p:nvPr/>
        </p:nvSpPr>
        <p:spPr>
          <a:xfrm>
            <a:off x="13449300" y="3648075"/>
            <a:ext cx="342900" cy="257175"/>
          </a:xfrm>
          <a:prstGeom prst="roundRect">
            <a:avLst>
              <a:gd name="adj" fmla="val 14814"/>
            </a:avLst>
          </a:prstGeom>
          <a:solidFill>
            <a:srgbClr val="1BA1E2"/>
          </a:solidFill>
          <a:ln w="7620">
            <a:solidFill>
              <a:srgbClr val="117AB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af-right-late-word-the-text-01" descr="{&quot;autofigure_element_id&quot;:&quot;right-late-word-the&quot;}"/>
          <p:cNvSpPr txBox="1"/>
          <p:nvPr/>
        </p:nvSpPr>
        <p:spPr>
          <a:xfrm>
            <a:off x="10115836" y="3959542"/>
            <a:ext cx="532828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The</a:t>
            </a:r>
          </a:p>
        </p:txBody>
      </p:sp>
      <p:sp>
        <p:nvSpPr>
          <p:cNvPr id="138" name="af-right-late-word-stove-text-01" descr="{&quot;autofigure_element_id&quot;:&quot;right-late-word-stove&quot;}"/>
          <p:cNvSpPr txBox="1"/>
          <p:nvPr/>
        </p:nvSpPr>
        <p:spPr>
          <a:xfrm>
            <a:off x="10497788" y="3959542"/>
            <a:ext cx="62617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stove</a:t>
            </a:r>
          </a:p>
        </p:txBody>
      </p:sp>
      <p:sp>
        <p:nvSpPr>
          <p:cNvPr id="139" name="af-right-late-word-is-text-01" descr="{&quot;autofigure_element_id&quot;:&quot;right-late-word-is&quot;}"/>
          <p:cNvSpPr txBox="1"/>
          <p:nvPr/>
        </p:nvSpPr>
        <p:spPr>
          <a:xfrm>
            <a:off x="11024235" y="3959542"/>
            <a:ext cx="411480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is</a:t>
            </a:r>
          </a:p>
        </p:txBody>
      </p:sp>
      <p:sp>
        <p:nvSpPr>
          <p:cNvPr id="140" name="af-right-late-word-old-text-01" descr="{&quot;autofigure_element_id&quot;:&quot;right-late-word-old&quot;}"/>
          <p:cNvSpPr txBox="1"/>
          <p:nvPr/>
        </p:nvSpPr>
        <p:spPr>
          <a:xfrm>
            <a:off x="11418189" y="3959542"/>
            <a:ext cx="480822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old</a:t>
            </a:r>
          </a:p>
        </p:txBody>
      </p:sp>
      <p:sp>
        <p:nvSpPr>
          <p:cNvPr id="141" name="af-right-late-word-answer-text-01" descr="{&quot;autofigure_element_id&quot;:&quot;right-late-word-answer&quot;}"/>
          <p:cNvSpPr txBox="1"/>
          <p:nvPr/>
        </p:nvSpPr>
        <p:spPr>
          <a:xfrm>
            <a:off x="12404598" y="3959542"/>
            <a:ext cx="73685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</a:rPr>
              <a:t>answer</a:t>
            </a:r>
          </a:p>
        </p:txBody>
      </p:sp>
      <p:sp>
        <p:nvSpPr>
          <p:cNvPr id="142" name="af-right-late-word-c-text-01" descr="{&quot;autofigure_element_id&quot;:&quot;right-late-word-c&quot;}"/>
          <p:cNvSpPr txBox="1"/>
          <p:nvPr/>
        </p:nvSpPr>
        <p:spPr>
          <a:xfrm>
            <a:off x="13423678" y="3959542"/>
            <a:ext cx="394144" cy="35718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13B84A"/>
                </a:solidFill>
                <a:latin typeface="Times New Roman"/>
              </a:rPr>
              <a:t>C</a:t>
            </a:r>
          </a:p>
        </p:txBody>
      </p:sp>
      <p:sp>
        <p:nvSpPr>
          <p:cNvPr id="143" name="af-right-late-answer-underbrace-freeform-01" descr="{&quot;autofigure_element_id&quot;:&quot;right-late-answer-underbrace&quot;,&quot;primitive_spec_sha256&quot;:&quot;bec7aab81b1703a74f38c63095d73f2a01d22066ebc965b8df30ac543579a3f0&quot;}"/>
          <p:cNvSpPr/>
          <p:nvPr/>
        </p:nvSpPr>
        <p:spPr>
          <a:xfrm>
            <a:off x="12658725" y="4200525"/>
            <a:ext cx="1009650" cy="152400"/>
          </a:xfrm>
          <a:custGeom>
            <a:avLst/>
            <a:gdLst/>
            <a:ahLst/>
            <a:cxnLst/>
            <a:rect l="0" t="0" r="0" b="0"/>
            <a:pathLst>
              <a:path w="1009650" h="152400">
                <a:moveTo>
                  <a:pt x="0" y="0"/>
                </a:moveTo>
                <a:lnTo>
                  <a:pt x="0" y="38100"/>
                </a:lnTo>
                <a:cubicBezTo>
                  <a:pt x="0" y="69850"/>
                  <a:pt x="19050" y="85725"/>
                  <a:pt x="57150" y="85725"/>
                </a:cubicBezTo>
                <a:lnTo>
                  <a:pt x="457200" y="85725"/>
                </a:lnTo>
                <a:cubicBezTo>
                  <a:pt x="488950" y="85725"/>
                  <a:pt x="504825" y="98425"/>
                  <a:pt x="504825" y="123825"/>
                </a:cubicBezTo>
                <a:lnTo>
                  <a:pt x="504825" y="152400"/>
                </a:lnTo>
                <a:moveTo>
                  <a:pt x="504825" y="152400"/>
                </a:moveTo>
                <a:lnTo>
                  <a:pt x="504825" y="123825"/>
                </a:lnTo>
                <a:cubicBezTo>
                  <a:pt x="504825" y="98425"/>
                  <a:pt x="520700" y="85725"/>
                  <a:pt x="552450" y="85725"/>
                </a:cubicBezTo>
                <a:lnTo>
                  <a:pt x="952500" y="85725"/>
                </a:lnTo>
                <a:cubicBezTo>
                  <a:pt x="990600" y="85725"/>
                  <a:pt x="1009650" y="69850"/>
                  <a:pt x="1009650" y="38100"/>
                </a:cubicBezTo>
                <a:lnTo>
                  <a:pt x="1009650" y="0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144" name="af-right-late-annotation-line-1-text-01" descr="{&quot;autofigure_element_id&quot;:&quot;right-late-annotation-line-1&quot;}"/>
          <p:cNvSpPr txBox="1"/>
          <p:nvPr/>
        </p:nvSpPr>
        <p:spPr>
          <a:xfrm>
            <a:off x="12309367" y="4336590"/>
            <a:ext cx="1708366" cy="425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77" b="1">
                <a:solidFill>
                  <a:srgbClr val="13B84A"/>
                </a:solidFill>
                <a:latin typeface="Times New Roman"/>
              </a:rPr>
              <a:t>Generate answer</a:t>
            </a:r>
          </a:p>
        </p:txBody>
      </p:sp>
      <p:sp>
        <p:nvSpPr>
          <p:cNvPr id="145" name="af-right-late-annotation-line-2-text-01" descr="{&quot;autofigure_element_id&quot;:&quot;right-late-annotation-line-2&quot;}"/>
          <p:cNvSpPr txBox="1"/>
          <p:nvPr/>
        </p:nvSpPr>
        <p:spPr>
          <a:xfrm>
            <a:off x="12390053" y="4565190"/>
            <a:ext cx="1546993" cy="42505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77" b="1">
                <a:solidFill>
                  <a:srgbClr val="13B84A"/>
                </a:solidFill>
                <a:latin typeface="Times New Roman"/>
              </a:rPr>
              <a:t>after reasoning</a:t>
            </a:r>
          </a:p>
        </p:txBody>
      </p:sp>
      <p:sp>
        <p:nvSpPr>
          <p:cNvPr id="146" name="af-right-late-stage-side-brace-freeform-01" descr="{&quot;autofigure_element_id&quot;:&quot;right-late-stage-side-brace&quot;,&quot;primitive_spec_sha256&quot;:&quot;b827bf16007882bb7f9e4d6301162185b3b48b8c9528d8a9ede360cd2ac7e02b&quot;}"/>
          <p:cNvSpPr/>
          <p:nvPr/>
        </p:nvSpPr>
        <p:spPr>
          <a:xfrm>
            <a:off x="13849350" y="3409950"/>
            <a:ext cx="152400" cy="733425"/>
          </a:xfrm>
          <a:custGeom>
            <a:avLst/>
            <a:gdLst/>
            <a:ahLst/>
            <a:cxnLst/>
            <a:rect l="0" t="0" r="0" b="0"/>
            <a:pathLst>
              <a:path w="152400" h="733425">
                <a:moveTo>
                  <a:pt x="0" y="0"/>
                </a:moveTo>
                <a:lnTo>
                  <a:pt x="38100" y="0"/>
                </a:lnTo>
                <a:cubicBezTo>
                  <a:pt x="69850" y="0"/>
                  <a:pt x="85725" y="19050"/>
                  <a:pt x="85725" y="57150"/>
                </a:cubicBezTo>
                <a:lnTo>
                  <a:pt x="85725" y="319088"/>
                </a:lnTo>
                <a:cubicBezTo>
                  <a:pt x="85725" y="350837"/>
                  <a:pt x="98425" y="366712"/>
                  <a:pt x="123825" y="366712"/>
                </a:cubicBezTo>
                <a:lnTo>
                  <a:pt x="152400" y="366712"/>
                </a:lnTo>
                <a:moveTo>
                  <a:pt x="152400" y="366712"/>
                </a:moveTo>
                <a:lnTo>
                  <a:pt x="123825" y="366712"/>
                </a:lnTo>
                <a:cubicBezTo>
                  <a:pt x="98425" y="366712"/>
                  <a:pt x="85725" y="382588"/>
                  <a:pt x="85725" y="414338"/>
                </a:cubicBezTo>
                <a:lnTo>
                  <a:pt x="85725" y="676275"/>
                </a:lnTo>
                <a:cubicBezTo>
                  <a:pt x="85725" y="714375"/>
                  <a:pt x="69850" y="733425"/>
                  <a:pt x="38100" y="733425"/>
                </a:cubicBezTo>
                <a:lnTo>
                  <a:pt x="0" y="733425"/>
                </a:lnTo>
              </a:path>
            </a:pathLst>
          </a:custGeom>
          <a:noFill/>
          <a:ln w="9525" cap="rnd">
            <a:solidFill>
              <a:srgbClr val="000000"/>
            </a:solidFill>
            <a:miter/>
          </a:ln>
        </p:spPr>
      </p:sp>
      <p:sp>
        <p:nvSpPr>
          <p:cNvPr id="147" name="af-right-late-stage-side-label-text-01" descr="{&quot;autofigure_element_id&quot;:&quot;right-late-stage-side-label&quot;}"/>
          <p:cNvSpPr txBox="1"/>
          <p:nvPr/>
        </p:nvSpPr>
        <p:spPr>
          <a:xfrm rot="16200000">
            <a:off x="13896975" y="3400425"/>
            <a:ext cx="514350" cy="762000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25" b="1">
                <a:solidFill>
                  <a:srgbClr val="000000"/>
                </a:solidFill>
                <a:latin typeface="Times New Roman"/>
              </a:rPr>
              <a:t>Later Step</a:t>
            </a:r>
          </a:p>
        </p:txBody>
      </p:sp>
      <p:sp>
        <p:nvSpPr>
          <p:cNvPr id="148" name="af-right-panel-caption-text-01" descr="{&quot;autofigure_element_id&quot;:&quot;right-panel-caption&quot;}"/>
          <p:cNvSpPr txBox="1"/>
          <p:nvPr/>
        </p:nvSpPr>
        <p:spPr>
          <a:xfrm>
            <a:off x="8942732" y="4870537"/>
            <a:ext cx="3907736" cy="406313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788">
                <a:solidFill>
                  <a:srgbClr val="000000"/>
                </a:solidFill>
                <a:latin typeface="Times New Roman"/>
              </a:rPr>
              <a:t>(b) Our proposed dMLLM inference.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