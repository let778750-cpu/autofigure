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3611225" cy="5972175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00" y="4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-background-rect-01" descr="{&quot;autofigure_element_id&quot;:&quot;background&quot;}"/>
          <p:cNvSpPr/>
          <p:nvPr/>
        </p:nvSpPr>
        <p:spPr>
          <a:xfrm>
            <a:off x="0" y="0"/>
            <a:ext cx="13611225" cy="5972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f-joint-panel-rect-01" descr="{&quot;autofigure_element_id&quot;:&quot;joint-panel&quot;}"/>
          <p:cNvSpPr/>
          <p:nvPr/>
        </p:nvSpPr>
        <p:spPr>
          <a:xfrm>
            <a:off x="171450" y="1019175"/>
            <a:ext cx="9020175" cy="391477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f-behavior-panel-rect-01" descr="{&quot;autofigure_element_id&quot;:&quot;behavior-panel&quot;}"/>
          <p:cNvSpPr/>
          <p:nvPr/>
        </p:nvSpPr>
        <p:spPr>
          <a:xfrm>
            <a:off x="9315450" y="1019175"/>
            <a:ext cx="4124325" cy="391477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f-task-input-box-rect-01" descr="{&quot;autofigure_element_id&quot;:&quot;task-input-box&quot;}"/>
          <p:cNvSpPr/>
          <p:nvPr/>
        </p:nvSpPr>
        <p:spPr>
          <a:xfrm>
            <a:off x="276225" y="152400"/>
            <a:ext cx="3429000" cy="733425"/>
          </a:xfrm>
          <a:prstGeom prst="roundRect">
            <a:avLst>
              <a:gd name="adj" fmla="val 16883"/>
            </a:avLst>
          </a:prstGeom>
          <a:solidFill>
            <a:srgbClr val="F3F3F3"/>
          </a:solidFill>
          <a:ln w="22860">
            <a:solidFill>
              <a:srgbClr val="18345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f-user-icon-ring-ellipse-01" descr="{&quot;autofigure_element_id&quot;:&quot;user-icon-ring&quot;}"/>
          <p:cNvSpPr/>
          <p:nvPr/>
        </p:nvSpPr>
        <p:spPr>
          <a:xfrm>
            <a:off x="419100" y="28575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f-user-icon-head-ellipse-01" descr="{&quot;autofigure_element_id&quot;:&quot;user-icon-head&quot;}"/>
          <p:cNvSpPr/>
          <p:nvPr/>
        </p:nvSpPr>
        <p:spPr>
          <a:xfrm>
            <a:off x="581025" y="333375"/>
            <a:ext cx="133350" cy="1333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f-user-icon-body-freeform-01" descr="{&quot;autofigure_element_id&quot;:&quot;user-icon-body&quot;}"/>
          <p:cNvSpPr/>
          <p:nvPr/>
        </p:nvSpPr>
        <p:spPr>
          <a:xfrm>
            <a:off x="485775" y="466725"/>
            <a:ext cx="323850" cy="190500"/>
          </a:xfrm>
          <a:custGeom>
            <a:avLst/>
            <a:gdLst/>
            <a:ahLst/>
            <a:cxnLst/>
            <a:rect l="0" t="0" r="0" b="0"/>
            <a:pathLst>
              <a:path w="323850" h="190500">
                <a:moveTo>
                  <a:pt x="0" y="190500"/>
                </a:moveTo>
                <a:cubicBezTo>
                  <a:pt x="0" y="57150"/>
                  <a:pt x="57150" y="0"/>
                  <a:pt x="161925" y="0"/>
                </a:cubicBezTo>
                <a:cubicBezTo>
                  <a:pt x="266700" y="0"/>
                  <a:pt x="323850" y="57150"/>
                  <a:pt x="323850" y="1905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af-task-line-1-text-01" descr="{&quot;autofigure_element_id&quot;:&quot;task-line-1&quot;}"/>
          <p:cNvSpPr txBox="1"/>
          <p:nvPr/>
        </p:nvSpPr>
        <p:spPr>
          <a:xfrm>
            <a:off x="1076325" y="285750"/>
            <a:ext cx="2118360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Arial"/>
              </a:rPr>
              <a:t>Task 1: Turn on lamp</a:t>
            </a:r>
          </a:p>
        </p:txBody>
      </p:sp>
      <p:sp>
        <p:nvSpPr>
          <p:cNvPr id="10" name="af-task-line-2-text-01" descr="{&quot;autofigure_element_id&quot;:&quot;task-line-2&quot;}"/>
          <p:cNvSpPr txBox="1"/>
          <p:nvPr/>
        </p:nvSpPr>
        <p:spPr>
          <a:xfrm>
            <a:off x="1076325" y="561975"/>
            <a:ext cx="2571750" cy="2667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Arial"/>
              </a:rPr>
              <a:t>Task 2: Close top drawer ...</a:t>
            </a:r>
          </a:p>
        </p:txBody>
      </p:sp>
      <p:sp>
        <p:nvSpPr>
          <p:cNvPr id="11" name="af-task-encoder-rect-01" descr="{&quot;autofigure_element_id&quot;:&quot;task-encoder&quot;}"/>
          <p:cNvSpPr/>
          <p:nvPr/>
        </p:nvSpPr>
        <p:spPr>
          <a:xfrm>
            <a:off x="4143375" y="161925"/>
            <a:ext cx="1181100" cy="742950"/>
          </a:xfrm>
          <a:prstGeom prst="roundRect">
            <a:avLst>
              <a:gd name="adj" fmla="val 17948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f-task-encoder-line1-text-01" descr="{&quot;autofigure_element_id&quot;:&quot;task-encoder-line1&quot;}"/>
          <p:cNvSpPr txBox="1"/>
          <p:nvPr/>
        </p:nvSpPr>
        <p:spPr>
          <a:xfrm>
            <a:off x="4401502" y="304800"/>
            <a:ext cx="664845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task</a:t>
            </a:r>
          </a:p>
        </p:txBody>
      </p:sp>
      <p:sp>
        <p:nvSpPr>
          <p:cNvPr id="13" name="af-task-encoder-line2-text-01" descr="{&quot;autofigure_element_id&quot;:&quot;task-encoder-line2&quot;}"/>
          <p:cNvSpPr txBox="1"/>
          <p:nvPr/>
        </p:nvSpPr>
        <p:spPr>
          <a:xfrm>
            <a:off x="4235768" y="571500"/>
            <a:ext cx="996315" cy="2667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sp>
        <p:nvSpPr>
          <p:cNvPr id="14" name="af-tau-box-rect-01" descr="{&quot;autofigure_element_id&quot;:&quot;tau-box&quot;}"/>
          <p:cNvSpPr/>
          <p:nvPr/>
        </p:nvSpPr>
        <p:spPr>
          <a:xfrm>
            <a:off x="5686425" y="342900"/>
            <a:ext cx="1219200" cy="409575"/>
          </a:xfrm>
          <a:prstGeom prst="rect">
            <a:avLst/>
          </a:prstGeom>
          <a:solidFill>
            <a:srgbClr val="FFFFFF"/>
          </a:solidFill>
          <a:ln w="28575">
            <a:solidFill>
              <a:srgbClr val="18345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th:001" descr="AI_AUTOFIGURE_NATIVE_MATH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81712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50" dirty="0">
                          <a:solidFill>
                            <a:srgbClr val="000000"/>
                          </a:solidFill>
                          <a:latin typeface="Cambria Math"/>
                        </a:rPr>
                        <m:t>𝜏</m:t>
                      </m:r>
                    </m:oMath>
                  </m:oMathPara>
                </a14:m>
                <a:endParaRPr lang="en-US" sz="165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5" name="math:001" descr="AI_AUTOFIGURE_MATH_FALLBACK_ONLY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81712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650">
                    <a:solidFill>
                      <a:srgbClr val="000000"/>
                    </a:solidFill>
                  </a:rPr>
                  <a:t>\(\tau\)</a:t>
                </a:r>
                <a:endParaRPr lang="en-US" dirty="0" sz="16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16" name="af-tau-node-1-ellipse-01" descr="{&quot;autofigure_element_id&quot;:&quot;tau-node-1&quot;}"/>
          <p:cNvSpPr/>
          <p:nvPr/>
        </p:nvSpPr>
        <p:spPr>
          <a:xfrm>
            <a:off x="5781675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f-tau-node-2-ellipse-01" descr="{&quot;autofigure_element_id&quot;:&quot;tau-node-2&quot;}"/>
          <p:cNvSpPr/>
          <p:nvPr/>
        </p:nvSpPr>
        <p:spPr>
          <a:xfrm>
            <a:off x="6134100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f-tau-node-3-ellipse-01" descr="{&quot;autofigure_element_id&quot;:&quot;tau-node-3&quot;}"/>
          <p:cNvSpPr/>
          <p:nvPr/>
        </p:nvSpPr>
        <p:spPr>
          <a:xfrm>
            <a:off x="6486525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f-mapping-box-rect-01" descr="{&quot;autofigure_element_id&quot;:&quot;mapping-box&quot;}"/>
          <p:cNvSpPr/>
          <p:nvPr/>
        </p:nvSpPr>
        <p:spPr>
          <a:xfrm>
            <a:off x="7286625" y="323850"/>
            <a:ext cx="1771650" cy="447675"/>
          </a:xfrm>
          <a:prstGeom prst="roundRect">
            <a:avLst>
              <a:gd name="adj" fmla="val 14893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f-mapping-label-text-01" descr="{&quot;autofigure_element_id&quot;:&quot;mapping-label&quot;}"/>
          <p:cNvSpPr txBox="1"/>
          <p:nvPr/>
        </p:nvSpPr>
        <p:spPr>
          <a:xfrm>
            <a:off x="7515225" y="457200"/>
            <a:ext cx="1015365" cy="2476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math:002" descr="AI_AUTOFIGURE_NATIVE_MATH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477250" y="455771"/>
                <a:ext cx="514350" cy="24907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𝑚𝑎𝑝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1" name="math:002" descr="AI_AUTOFIGURE_MATH_FALLBACK_ONLY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477250" y="455771"/>
                <a:ext cx="514350" cy="24907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en-US" dirty="0" sz="1275">
                    <a:solidFill>
                      <a:srgbClr val="000000"/>
                    </a:solidFill>
                  </a:rPr>
                  <a:t>\(f_{map}\)</a:t>
                </a:r>
                <a:endParaRPr lang="en-US" dirty="0" sz="1275">
                  <a:solidFill>
                    <a:srgbClr val="000000"/>
                  </a:solidFill>
                </a:endParaRPr>
              </a:p>
            </p:txBody>
          </p:sp>
        </mc:Fallback>
      </mc:AlternateContent>
      <p:cxnSp>
        <p:nvCxnSpPr>
          <p:cNvPr id="22" name="af-task-input-to-encoder-connector-01" descr="{&quot;arrow_spec_sha256&quot;:&quot;7d5ed98d70de50a89dd6a62b357199f31c630caa2dd759ba7ae7a496a0e1eecf&quot;,&quot;autofigure_element_id&quot;:&quot;task-input-to-encoder&quot;}"/>
          <p:cNvCxnSpPr>
            <a:stCxn id="5" idx="0"/>
            <a:endCxn id="11" idx="0"/>
          </p:cNvCxnSpPr>
          <p:nvPr/>
        </p:nvCxnSpPr>
        <p:spPr>
          <a:xfrm>
            <a:off x="3800475" y="533400"/>
            <a:ext cx="247650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f-task-encoder-to-tau-connector-01" descr="{&quot;arrow_spec_sha256&quot;:&quot;05f855fe9d4755df68c702b5553583fc088577e9b45784efd59df6e8c718dd59&quot;,&quot;autofigure_element_id&quot;:&quot;task-encoder-to-tau&quot;}"/>
          <p:cNvCxnSpPr>
            <a:stCxn id="11" idx="0"/>
            <a:endCxn id="14" idx="0"/>
          </p:cNvCxnSpPr>
          <p:nvPr/>
        </p:nvCxnSpPr>
        <p:spPr>
          <a:xfrm>
            <a:off x="5391150" y="533400"/>
            <a:ext cx="228600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f-tau-to-mapping-connector-01" descr="{&quot;arrow_spec_sha256&quot;:&quot;33f6262b8e70635ec86353616d887f9de74d8a4b1bbaa2086a181b9ce9bf3ca8&quot;,&quot;autofigure_element_id&quot;:&quot;tau-to-mapping&quot;}"/>
          <p:cNvCxnSpPr>
            <a:stCxn id="14" idx="0"/>
            <a:endCxn id="19" idx="0"/>
          </p:cNvCxnSpPr>
          <p:nvPr/>
        </p:nvCxnSpPr>
        <p:spPr>
          <a:xfrm>
            <a:off x="6981825" y="533400"/>
            <a:ext cx="238125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f-legend-sem-rect-01" descr="{&quot;autofigure_element_id&quot;:&quot;legend-sem&quot;}"/>
          <p:cNvSpPr/>
          <p:nvPr/>
        </p:nvSpPr>
        <p:spPr>
          <a:xfrm>
            <a:off x="11001375" y="171450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FD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f-legend-sem-short-text-01" descr="{&quot;autofigure_element_id&quot;:&quot;legend-sem-short&quot;}"/>
          <p:cNvSpPr txBox="1"/>
          <p:nvPr/>
        </p:nvSpPr>
        <p:spPr>
          <a:xfrm>
            <a:off x="11039475" y="237649"/>
            <a:ext cx="666750" cy="2481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27" name="af-legend-sem-long-text-01" descr="{&quot;autofigure_element_id&quot;:&quot;legend-sem-long&quot;}"/>
          <p:cNvSpPr txBox="1"/>
          <p:nvPr/>
        </p:nvSpPr>
        <p:spPr>
          <a:xfrm>
            <a:off x="11820525" y="247174"/>
            <a:ext cx="1591532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>
                <a:solidFill>
                  <a:srgbClr val="000000"/>
                </a:solidFill>
                <a:latin typeface="Arial"/>
              </a:rPr>
              <a:t>semantic expert</a:t>
            </a:r>
          </a:p>
        </p:txBody>
      </p:sp>
      <p:sp>
        <p:nvSpPr>
          <p:cNvPr id="28" name="af-legend-dyn-rect-01" descr="{&quot;autofigure_element_id&quot;:&quot;legend-dyn&quot;}"/>
          <p:cNvSpPr/>
          <p:nvPr/>
        </p:nvSpPr>
        <p:spPr>
          <a:xfrm>
            <a:off x="11001375" y="561975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f-legend-dyn-short-text-01" descr="{&quot;autofigure_element_id&quot;:&quot;legend-dyn-short&quot;}"/>
          <p:cNvSpPr txBox="1"/>
          <p:nvPr/>
        </p:nvSpPr>
        <p:spPr>
          <a:xfrm>
            <a:off x="11065716" y="637699"/>
            <a:ext cx="614267" cy="238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30" name="af-legend-dyn-long-text-01" descr="{&quot;autofigure_element_id&quot;:&quot;legend-dyn-long&quot;}"/>
          <p:cNvSpPr txBox="1"/>
          <p:nvPr/>
        </p:nvSpPr>
        <p:spPr>
          <a:xfrm>
            <a:off x="11820525" y="637699"/>
            <a:ext cx="1625918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>
                <a:solidFill>
                  <a:srgbClr val="000000"/>
                </a:solidFill>
                <a:latin typeface="Arial"/>
              </a:rPr>
              <a:t>dynamics expert</a:t>
            </a:r>
          </a:p>
        </p:txBody>
      </p:sp>
      <p:sp>
        <p:nvSpPr>
          <p:cNvPr id="31" name="af-joint-title-text-01" descr="{&quot;autofigure_element_id&quot;:&quot;joint-title&quot;}"/>
          <p:cNvSpPr txBox="1"/>
          <p:nvPr/>
        </p:nvSpPr>
        <p:spPr>
          <a:xfrm>
            <a:off x="390525" y="1307782"/>
            <a:ext cx="3254311" cy="500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Arial"/>
              </a:rPr>
              <a:t>Task-Aware Modular Joint</a:t>
            </a:r>
          </a:p>
        </p:txBody>
      </p:sp>
      <p:sp>
        <p:nvSpPr>
          <p:cNvPr id="32" name="af-allocator-box-rect-01" descr="{&quot;autofigure_element_id&quot;:&quot;allocator-box&quot;}"/>
          <p:cNvSpPr/>
          <p:nvPr/>
        </p:nvSpPr>
        <p:spPr>
          <a:xfrm>
            <a:off x="4619625" y="1257300"/>
            <a:ext cx="3352800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4776C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f-allocator-label-text-01" descr="{&quot;autofigure_element_id&quot;:&quot;allocator-label&quot;}"/>
          <p:cNvSpPr txBox="1"/>
          <p:nvPr/>
        </p:nvSpPr>
        <p:spPr>
          <a:xfrm>
            <a:off x="4833461" y="1372076"/>
            <a:ext cx="2925127" cy="266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Task-Guided Expert Allocator</a:t>
            </a:r>
          </a:p>
        </p:txBody>
      </p:sp>
      <p:sp>
        <p:nvSpPr>
          <p:cNvPr id="34" name="af-allocator-funnel-freeform-01" descr="{&quot;autofigure_element_id&quot;:&quot;allocator-funnel&quot;}"/>
          <p:cNvSpPr/>
          <p:nvPr/>
        </p:nvSpPr>
        <p:spPr>
          <a:xfrm>
            <a:off x="4619625" y="1695450"/>
            <a:ext cx="3352800" cy="285750"/>
          </a:xfrm>
          <a:custGeom>
            <a:avLst/>
            <a:gdLst/>
            <a:ahLst/>
            <a:cxnLst/>
            <a:rect l="0" t="0" r="0" b="0"/>
            <a:pathLst>
              <a:path w="3352800" h="285750">
                <a:moveTo>
                  <a:pt x="0" y="0"/>
                </a:moveTo>
                <a:lnTo>
                  <a:pt x="3352800" y="0"/>
                </a:lnTo>
                <a:lnTo>
                  <a:pt x="2143125" y="285750"/>
                </a:lnTo>
                <a:lnTo>
                  <a:pt x="1209675" y="285750"/>
                </a:lnTo>
                <a:close/>
              </a:path>
            </a:pathLst>
          </a:custGeom>
          <a:gradFill>
            <a:gsLst>
              <a:gs pos="0">
                <a:srgbClr val="4B78CF">
                  <a:alpha val="85000"/>
                </a:srgbClr>
              </a:gs>
              <a:gs pos="100000">
                <a:srgbClr val="D9E4FA">
                  <a:alpha val="15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5" name="af-tau-to-allocator-connector-01" descr="{&quot;arrow_spec_sha256&quot;:&quot;d8c4063c82e8d9a3ade452a78b6f955ac9341a0939856ec54367e9fa98b620ea&quot;,&quot;autofigure_element_id&quot;:&quot;tau-to-allocator&quot;}"/>
          <p:cNvCxnSpPr>
            <a:stCxn id="14" idx="0"/>
            <a:endCxn id="32" idx="0"/>
          </p:cNvCxnSpPr>
          <p:nvPr/>
        </p:nvCxnSpPr>
        <p:spPr>
          <a:xfrm>
            <a:off x="6286500" y="762000"/>
            <a:ext cx="0" cy="447675"/>
          </a:xfrm>
          <a:prstGeom prst="line">
            <a:avLst/>
          </a:prstGeom>
          <a:ln w="28575">
            <a:solidFill>
              <a:srgbClr val="4776C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f-mllm-encoder-rect-01" descr="{&quot;autofigure_element_id&quot;:&quot;mllm-encoder&quot;}"/>
          <p:cNvSpPr/>
          <p:nvPr/>
        </p:nvSpPr>
        <p:spPr>
          <a:xfrm>
            <a:off x="1781175" y="2305050"/>
            <a:ext cx="1181100" cy="742950"/>
          </a:xfrm>
          <a:prstGeom prst="roundRect">
            <a:avLst>
              <a:gd name="adj" fmla="val 16666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f-mllm-line1-text-01" descr="{&quot;autofigure_element_id&quot;:&quot;mllm-line1&quot;}"/>
          <p:cNvSpPr txBox="1"/>
          <p:nvPr/>
        </p:nvSpPr>
        <p:spPr>
          <a:xfrm>
            <a:off x="1924812" y="2438876"/>
            <a:ext cx="912876" cy="4405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MLLM</a:t>
            </a:r>
          </a:p>
        </p:txBody>
      </p:sp>
      <p:sp>
        <p:nvSpPr>
          <p:cNvPr id="38" name="af-mllm-line2-text-01" descr="{&quot;autofigure_element_id&quot;:&quot;mllm-line2&quot;}"/>
          <p:cNvSpPr txBox="1"/>
          <p:nvPr/>
        </p:nvSpPr>
        <p:spPr>
          <a:xfrm>
            <a:off x="1866900" y="2705576"/>
            <a:ext cx="1028700" cy="275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sp>
        <p:nvSpPr>
          <p:cNvPr id="39" name="af-wm-encoder-rect-01" descr="{&quot;autofigure_element_id&quot;:&quot;wm-encoder&quot;}"/>
          <p:cNvSpPr/>
          <p:nvPr/>
        </p:nvSpPr>
        <p:spPr>
          <a:xfrm>
            <a:off x="1790700" y="3819525"/>
            <a:ext cx="1190625" cy="742950"/>
          </a:xfrm>
          <a:prstGeom prst="roundRect">
            <a:avLst>
              <a:gd name="adj" fmla="val 16666"/>
            </a:avLst>
          </a:prstGeom>
          <a:solidFill>
            <a:srgbClr val="E5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f-wm-line1-text-01" descr="{&quot;autofigure_element_id&quot;:&quot;wm-line1&quot;}"/>
          <p:cNvSpPr txBox="1"/>
          <p:nvPr/>
        </p:nvSpPr>
        <p:spPr>
          <a:xfrm>
            <a:off x="2053828" y="3962876"/>
            <a:ext cx="654844" cy="4405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WM</a:t>
            </a:r>
          </a:p>
        </p:txBody>
      </p:sp>
      <p:sp>
        <p:nvSpPr>
          <p:cNvPr id="41" name="af-wm-line2-text-01" descr="{&quot;autofigure_element_id&quot;:&quot;wm-line2&quot;}"/>
          <p:cNvSpPr txBox="1"/>
          <p:nvPr/>
        </p:nvSpPr>
        <p:spPr>
          <a:xfrm>
            <a:off x="1865805" y="4229576"/>
            <a:ext cx="1030891" cy="266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pic>
        <p:nvPicPr>
          <p:cNvPr id="42" name="af-atomic-observation-atomic-raster-01" descr="{&quot;autofigure_element_id&quot;:&quot;atomic:observation&quot;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0050" y="2762250"/>
            <a:ext cx="1009650" cy="819150"/>
          </a:xfrm>
          <a:prstGeom prst="rect">
            <a:avLst/>
          </a:prstGeom>
        </p:spPr>
      </p:pic>
      <p:sp>
        <p:nvSpPr>
          <p:cNvPr id="43" name="af-observation-ellipsis-text-01" descr="{&quot;autofigure_element_id&quot;:&quot;observation-ellipsis&quot;}"/>
          <p:cNvSpPr txBox="1"/>
          <p:nvPr/>
        </p:nvSpPr>
        <p:spPr>
          <a:xfrm>
            <a:off x="295275" y="3392805"/>
            <a:ext cx="510540" cy="4762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p:sp>
        <p:nvSpPr>
          <p:cNvPr id="44" name="af-observation-label-text-01" descr="{&quot;autofigure_element_id&quot;:&quot;observation-label&quot;}"/>
          <p:cNvSpPr txBox="1"/>
          <p:nvPr/>
        </p:nvSpPr>
        <p:spPr>
          <a:xfrm>
            <a:off x="276225" y="3658552"/>
            <a:ext cx="1379791" cy="4524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Arial"/>
              </a:rPr>
              <a:t>observation</a:t>
            </a:r>
          </a:p>
        </p:txBody>
      </p:sp>
      <p:cxnSp>
        <p:nvCxnSpPr>
          <p:cNvPr id="45" name="af-observation-to-mllm-connector-01" descr="{&quot;arrow_spec_sha256&quot;:&quot;3cab0196d88eae7a9574892caff0477e76eab7638867f5c01b82892d8e2985fb&quot;,&quot;autofigure_element_id&quot;:&quot;observation-to-mllm&quot;}"/>
          <p:cNvCxnSpPr>
            <a:stCxn id="42" idx="0"/>
            <a:endCxn id="36" idx="0"/>
          </p:cNvCxnSpPr>
          <p:nvPr/>
        </p:nvCxnSpPr>
        <p:spPr>
          <a:xfrm flipV="1">
            <a:off x="1438275" y="2790825"/>
            <a:ext cx="257175" cy="276225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f-observation-to-wm-connector-01" descr="{&quot;arrow_spec_sha256&quot;:&quot;1d0f12eeb40e0a9811ab7ed54c4f80700c2b2a1969d6ebdd788ab71ed95eed10&quot;,&quot;autofigure_element_id&quot;:&quot;observation-to-wm&quot;}"/>
          <p:cNvCxnSpPr>
            <a:stCxn id="42" idx="0"/>
            <a:endCxn id="39" idx="0"/>
          </p:cNvCxnSpPr>
          <p:nvPr/>
        </p:nvCxnSpPr>
        <p:spPr>
          <a:xfrm>
            <a:off x="1428750" y="3581400"/>
            <a:ext cx="285750" cy="22860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af-mllm-to-ev-connector-01" descr="{&quot;arrow_spec_sha256&quot;:&quot;c5231c3d364c2a3a757f4df602ea7f81e74ded078934016208a5db594f840fb8&quot;,&quot;autofigure_element_id&quot;:&quot;mllm-to-ev&quot;}"/>
          <p:cNvCxnSpPr>
            <a:stCxn id="36" idx="0"/>
            <a:endCxn id="49" idx="0"/>
          </p:cNvCxnSpPr>
          <p:nvPr/>
        </p:nvCxnSpPr>
        <p:spPr>
          <a:xfrm>
            <a:off x="3000375" y="2609850"/>
            <a:ext cx="238125" cy="0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wm-to-st-connector-01" descr="{&quot;arrow_spec_sha256&quot;:&quot;6ee36a15d74b8141f18e430f2effd81d2e629dffe0badd2fb924d38745dd2e47&quot;,&quot;autofigure_element_id&quot;:&quot;wm-to-st&quot;}"/>
          <p:cNvCxnSpPr>
            <a:stCxn id="39" idx="0"/>
            <a:endCxn id="54" idx="0"/>
          </p:cNvCxnSpPr>
          <p:nvPr/>
        </p:nvCxnSpPr>
        <p:spPr>
          <a:xfrm>
            <a:off x="3000375" y="4143375"/>
            <a:ext cx="238125" cy="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ev-box-rect-01" descr="{&quot;autofigure_element_id&quot;:&quot;ev-box&quot;}"/>
          <p:cNvSpPr/>
          <p:nvPr/>
        </p:nvSpPr>
        <p:spPr>
          <a:xfrm>
            <a:off x="3295650" y="2028825"/>
            <a:ext cx="400050" cy="1209675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math:003" descr="AI_AUTOFIGURE_NATIVE_MATH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54121" y="1751648"/>
                <a:ext cx="48310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0" name="math:003" descr="AI_AUTOFIGURE_MATH_FALLBACK_ONLY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54121" y="1751648"/>
                <a:ext cx="48310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\(e_{v}\)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51" name="af-ev-node-1-ellipse-01" descr="{&quot;autofigure_element_id&quot;:&quot;ev-node-1&quot;}"/>
          <p:cNvSpPr/>
          <p:nvPr/>
        </p:nvSpPr>
        <p:spPr>
          <a:xfrm>
            <a:off x="3333750" y="211455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f-ev-node-2-ellipse-01" descr="{&quot;autofigure_element_id&quot;:&quot;ev-node-2&quot;}"/>
          <p:cNvSpPr/>
          <p:nvPr/>
        </p:nvSpPr>
        <p:spPr>
          <a:xfrm>
            <a:off x="3333750" y="247650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af-ev-node-3-ellipse-01" descr="{&quot;autofigure_element_id&quot;:&quot;ev-node-3&quot;}"/>
          <p:cNvSpPr/>
          <p:nvPr/>
        </p:nvSpPr>
        <p:spPr>
          <a:xfrm>
            <a:off x="3333750" y="283845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af-st-box-rect-01" descr="{&quot;autofigure_element_id&quot;:&quot;st-box&quot;}"/>
          <p:cNvSpPr/>
          <p:nvPr/>
        </p:nvSpPr>
        <p:spPr>
          <a:xfrm>
            <a:off x="3305175" y="3562350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math:004" descr="AI_AUTOFIGURE_NATIVE_MATH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30422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5" name="math:004" descr="AI_AUTOFIGURE_MATH_FALLBACK_ONLY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30422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\(s_{t}\)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56" name="af-st-node-1-ellipse-01" descr="{&quot;autofigure_element_id&quot;:&quot;st-node-1&quot;}"/>
          <p:cNvSpPr/>
          <p:nvPr/>
        </p:nvSpPr>
        <p:spPr>
          <a:xfrm>
            <a:off x="3343275" y="362902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af-st-node-2-ellipse-01" descr="{&quot;autofigure_element_id&quot;:&quot;st-node-2&quot;}"/>
          <p:cNvSpPr/>
          <p:nvPr/>
        </p:nvSpPr>
        <p:spPr>
          <a:xfrm>
            <a:off x="3343275" y="399097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af-st-node-3-ellipse-01" descr="{&quot;autofigure_element_id&quot;:&quot;st-node-3&quot;}"/>
          <p:cNvSpPr/>
          <p:nvPr/>
        </p:nvSpPr>
        <p:spPr>
          <a:xfrm>
            <a:off x="3343275" y="435292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af-ev-to-joint-connector-01" descr="{&quot;arrow_spec_sha256&quot;:&quot;2743c5155df451b92bded2a93e94e1343ea81788ad369fd3f1fd6364872ea2d3&quot;,&quot;autofigure_element_id&quot;:&quot;ev-to-joint&quot;}"/>
          <p:cNvCxnSpPr>
            <a:stCxn id="49" idx="0"/>
            <a:endCxn id="61" idx="0"/>
          </p:cNvCxnSpPr>
          <p:nvPr/>
        </p:nvCxnSpPr>
        <p:spPr>
          <a:xfrm>
            <a:off x="3733800" y="2609850"/>
            <a:ext cx="276225" cy="0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af-st-to-joint-connector-01" descr="{&quot;arrow_spec_sha256&quot;:&quot;4f9a34eeaa8a625ad80fbbaae38c5b411ea19815ad1981009e623f09ee549901&quot;,&quot;autofigure_element_id&quot;:&quot;st-to-joint&quot;}"/>
          <p:cNvCxnSpPr>
            <a:stCxn id="54" idx="0"/>
            <a:endCxn id="61" idx="0"/>
          </p:cNvCxnSpPr>
          <p:nvPr/>
        </p:nvCxnSpPr>
        <p:spPr>
          <a:xfrm>
            <a:off x="3743325" y="4152900"/>
            <a:ext cx="266700" cy="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joint-core-rect-01" descr="{&quot;autofigure_element_id&quot;:&quot;joint-core&quot;}"/>
          <p:cNvSpPr/>
          <p:nvPr/>
        </p:nvSpPr>
        <p:spPr>
          <a:xfrm>
            <a:off x="4076700" y="1990725"/>
            <a:ext cx="4238625" cy="2809875"/>
          </a:xfrm>
          <a:prstGeom prst="roundRect">
            <a:avLst>
              <a:gd name="adj" fmla="val 5762"/>
            </a:avLst>
          </a:prstGeom>
          <a:solidFill>
            <a:srgbClr val="FFFFFF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af-task-1-box-rect-01" descr="{&quot;autofigure_element_id&quot;:&quot;task-1-box&quot;}"/>
          <p:cNvSpPr/>
          <p:nvPr/>
        </p:nvSpPr>
        <p:spPr>
          <a:xfrm>
            <a:off x="4219575" y="2524125"/>
            <a:ext cx="904875" cy="466725"/>
          </a:xfrm>
          <a:prstGeom prst="rect">
            <a:avLst/>
          </a:prstGeom>
          <a:solidFill>
            <a:srgbClr val="35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af-task-1-label-text-01" descr="{&quot;autofigure_element_id&quot;:&quot;task-1-label&quot;}"/>
          <p:cNvSpPr txBox="1"/>
          <p:nvPr/>
        </p:nvSpPr>
        <p:spPr>
          <a:xfrm>
            <a:off x="4267200" y="2648902"/>
            <a:ext cx="800100" cy="2943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64" name="af-task-2-box-rect-01" descr="{&quot;autofigure_element_id&quot;:&quot;task-2-box&quot;}"/>
          <p:cNvSpPr/>
          <p:nvPr/>
        </p:nvSpPr>
        <p:spPr>
          <a:xfrm>
            <a:off x="4219575" y="3686175"/>
            <a:ext cx="904875" cy="457200"/>
          </a:xfrm>
          <a:prstGeom prst="rect">
            <a:avLst/>
          </a:prstGeom>
          <a:solidFill>
            <a:srgbClr val="C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af-task-2-label-text-01" descr="{&quot;autofigure_element_id&quot;:&quot;task-2-label&quot;}"/>
          <p:cNvSpPr txBox="1"/>
          <p:nvPr/>
        </p:nvSpPr>
        <p:spPr>
          <a:xfrm>
            <a:off x="4267200" y="3801428"/>
            <a:ext cx="800100" cy="2943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66" name="af-expert-1-box-rect-01" descr="{&quot;autofigure_element_id&quot;:&quot;expert-1-box&quot;}"/>
          <p:cNvSpPr/>
          <p:nvPr/>
        </p:nvSpPr>
        <p:spPr>
          <a:xfrm>
            <a:off x="525780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af-expert-1-sem-rect-01" descr="{&quot;autofigure_element_id&quot;:&quot;expert-1-sem&quot;}"/>
          <p:cNvSpPr/>
          <p:nvPr/>
        </p:nvSpPr>
        <p:spPr>
          <a:xfrm>
            <a:off x="532447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af-expert-1-dyn-rect-01" descr="{&quot;autofigure_element_id&quot;:&quot;expert-1-dyn&quot;}"/>
          <p:cNvSpPr/>
          <p:nvPr/>
        </p:nvSpPr>
        <p:spPr>
          <a:xfrm>
            <a:off x="53244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af-expert-1-sem-label-text-01" descr="{&quot;autofigure_element_id&quot;:&quot;expert-1-sem-label&quot;}"/>
          <p:cNvSpPr txBox="1"/>
          <p:nvPr/>
        </p:nvSpPr>
        <p:spPr>
          <a:xfrm rot="5400000">
            <a:off x="51101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70" name="af-expert-1-dyn-label-text-01" descr="{&quot;autofigure_element_id&quot;:&quot;expert-1-dyn-label&quot;}"/>
          <p:cNvSpPr txBox="1"/>
          <p:nvPr/>
        </p:nvSpPr>
        <p:spPr>
          <a:xfrm rot="5400000">
            <a:off x="51101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71" name="af-expert-2-box-rect-01" descr="{&quot;autofigure_element_id&quot;:&quot;expert-2-box&quot;}"/>
          <p:cNvSpPr/>
          <p:nvPr/>
        </p:nvSpPr>
        <p:spPr>
          <a:xfrm>
            <a:off x="598170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af-expert-2-sem-rect-01" descr="{&quot;autofigure_element_id&quot;:&quot;expert-2-sem&quot;}"/>
          <p:cNvSpPr/>
          <p:nvPr/>
        </p:nvSpPr>
        <p:spPr>
          <a:xfrm>
            <a:off x="604837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af-expert-2-dyn-rect-01" descr="{&quot;autofigure_element_id&quot;:&quot;expert-2-dyn&quot;}"/>
          <p:cNvSpPr/>
          <p:nvPr/>
        </p:nvSpPr>
        <p:spPr>
          <a:xfrm>
            <a:off x="60483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af-expert-2-sem-label-text-01" descr="{&quot;autofigure_element_id&quot;:&quot;expert-2-sem-label&quot;}"/>
          <p:cNvSpPr txBox="1"/>
          <p:nvPr/>
        </p:nvSpPr>
        <p:spPr>
          <a:xfrm rot="5400000">
            <a:off x="58340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75" name="af-expert-2-dyn-label-text-01" descr="{&quot;autofigure_element_id&quot;:&quot;expert-2-dyn-label&quot;}"/>
          <p:cNvSpPr txBox="1"/>
          <p:nvPr/>
        </p:nvSpPr>
        <p:spPr>
          <a:xfrm rot="5400000">
            <a:off x="58340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76" name="af-expert-3-box-rect-01" descr="{&quot;autofigure_element_id&quot;:&quot;expert-3-box&quot;}"/>
          <p:cNvSpPr/>
          <p:nvPr/>
        </p:nvSpPr>
        <p:spPr>
          <a:xfrm>
            <a:off x="672465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af-expert-3-sem-rect-01" descr="{&quot;autofigure_element_id&quot;:&quot;expert-3-sem&quot;}"/>
          <p:cNvSpPr/>
          <p:nvPr/>
        </p:nvSpPr>
        <p:spPr>
          <a:xfrm>
            <a:off x="679132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af-expert-3-dyn-rect-01" descr="{&quot;autofigure_element_id&quot;:&quot;expert-3-dyn&quot;}"/>
          <p:cNvSpPr/>
          <p:nvPr/>
        </p:nvSpPr>
        <p:spPr>
          <a:xfrm>
            <a:off x="679132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af-expert-3-sem-label-text-01" descr="{&quot;autofigure_element_id&quot;:&quot;expert-3-sem-label&quot;}"/>
          <p:cNvSpPr txBox="1"/>
          <p:nvPr/>
        </p:nvSpPr>
        <p:spPr>
          <a:xfrm rot="5400000">
            <a:off x="657701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80" name="af-expert-3-dyn-label-text-01" descr="{&quot;autofigure_element_id&quot;:&quot;expert-3-dyn-label&quot;}"/>
          <p:cNvSpPr txBox="1"/>
          <p:nvPr/>
        </p:nvSpPr>
        <p:spPr>
          <a:xfrm rot="5400000">
            <a:off x="657701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81" name="af-expert-4-box-rect-01" descr="{&quot;autofigure_element_id&quot;:&quot;expert-4-box&quot;}"/>
          <p:cNvSpPr/>
          <p:nvPr/>
        </p:nvSpPr>
        <p:spPr>
          <a:xfrm>
            <a:off x="7629525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af-expert-4-sem-rect-01" descr="{&quot;autofigure_element_id&quot;:&quot;expert-4-sem&quot;}"/>
          <p:cNvSpPr/>
          <p:nvPr/>
        </p:nvSpPr>
        <p:spPr>
          <a:xfrm>
            <a:off x="7696200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af-expert-4-dyn-rect-01" descr="{&quot;autofigure_element_id&quot;:&quot;expert-4-dyn&quot;}"/>
          <p:cNvSpPr/>
          <p:nvPr/>
        </p:nvSpPr>
        <p:spPr>
          <a:xfrm>
            <a:off x="7696200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af-expert-4-sem-label-text-01" descr="{&quot;autofigure_element_id&quot;:&quot;expert-4-sem-label&quot;}"/>
          <p:cNvSpPr txBox="1"/>
          <p:nvPr/>
        </p:nvSpPr>
        <p:spPr>
          <a:xfrm rot="5400000">
            <a:off x="7481888" y="2595562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85" name="af-expert-4-dyn-label-text-01" descr="{&quot;autofigure_element_id&quot;:&quot;expert-4-dyn-label&quot;}"/>
          <p:cNvSpPr txBox="1"/>
          <p:nvPr/>
        </p:nvSpPr>
        <p:spPr>
          <a:xfrm rot="5400000">
            <a:off x="7481888" y="3667125"/>
            <a:ext cx="781050" cy="39052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86" name="af-expert-index-1-text-01" descr="{&quot;autofigure_element_id&quot;:&quot;expert-index-1&quot;}"/>
          <p:cNvSpPr txBox="1"/>
          <p:nvPr/>
        </p:nvSpPr>
        <p:spPr>
          <a:xfrm>
            <a:off x="5299710" y="4457700"/>
            <a:ext cx="411480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87" name="af-expert-index-2-text-01" descr="{&quot;autofigure_element_id&quot;:&quot;expert-index-2&quot;}"/>
          <p:cNvSpPr txBox="1"/>
          <p:nvPr/>
        </p:nvSpPr>
        <p:spPr>
          <a:xfrm>
            <a:off x="6023610" y="4457700"/>
            <a:ext cx="411480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88" name="af-expert-index-3-text-01" descr="{&quot;autofigure_element_id&quot;:&quot;expert-index-3&quot;}"/>
          <p:cNvSpPr txBox="1"/>
          <p:nvPr/>
        </p:nvSpPr>
        <p:spPr>
          <a:xfrm>
            <a:off x="6776085" y="4457700"/>
            <a:ext cx="411480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89" name="af-expert-index-dots-text-01" descr="{&quot;autofigure_element_id&quot;:&quot;expert-index-dots&quot;}"/>
          <p:cNvSpPr txBox="1"/>
          <p:nvPr/>
        </p:nvSpPr>
        <p:spPr>
          <a:xfrm>
            <a:off x="7205186" y="4171474"/>
            <a:ext cx="467677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p:sp>
        <p:nvSpPr>
          <p:cNvPr id="90" name="af-expert-index-l-text-01" descr="{&quot;autofigure_element_id&quot;:&quot;expert-index-l&quot;}"/>
          <p:cNvSpPr txBox="1"/>
          <p:nvPr/>
        </p:nvSpPr>
        <p:spPr>
          <a:xfrm>
            <a:off x="7679055" y="4457700"/>
            <a:ext cx="358140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l</a:t>
            </a:r>
          </a:p>
        </p:txBody>
      </p:sp>
      <p:cxnSp>
        <p:nvCxnSpPr>
          <p:cNvPr id="91" name="af-allocator-task1-route-1-connector-01" descr="{&quot;arrow_spec_sha256&quot;:&quot;b5bea0e182ef3ce4043d70053b8e87d0453d194fe89d9a2cb29e28180f568f8a&quot;,&quot;autofigure_element_id&quot;:&quot;allocator-task1-route-1&quot;}"/>
          <p:cNvCxnSpPr>
            <a:stCxn id="66" idx="3"/>
            <a:endCxn id="71" idx="1"/>
          </p:cNvCxnSpPr>
          <p:nvPr/>
        </p:nvCxnSpPr>
        <p:spPr>
          <a:xfrm>
            <a:off x="5753100" y="3305175"/>
            <a:ext cx="22860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af-allocator-task1-route-2-connector-01" descr="{&quot;arrow_spec_sha256&quot;:&quot;b7bde9d1bb63d8af3c4718594c86fb71006c13399cd8ff148661ac67d2cdb7e7&quot;,&quot;autofigure_element_id&quot;:&quot;allocator-task1-route-2&quot;}"/>
          <p:cNvCxnSpPr>
            <a:stCxn id="71" idx="3"/>
            <a:endCxn id="76" idx="1"/>
          </p:cNvCxnSpPr>
          <p:nvPr/>
        </p:nvCxnSpPr>
        <p:spPr>
          <a:xfrm>
            <a:off x="6477000" y="3305175"/>
            <a:ext cx="24765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af-allocator-task1-skip-edge-connector-01" descr="{&quot;arrow_spec_sha256&quot;:&quot;292d1612085c6f6c9d9ad25840e06098a6769ba8f23e73901111891a12021bfc&quot;,&quot;autofigure_element_id&quot;:&quot;allocator-task1-skip-edge&quot;}"/>
          <p:cNvCxnSpPr>
            <a:stCxn id="76" idx="3"/>
            <a:endCxn id="81" idx="1"/>
          </p:cNvCxnSpPr>
          <p:nvPr/>
        </p:nvCxnSpPr>
        <p:spPr>
          <a:xfrm>
            <a:off x="7219950" y="3305175"/>
            <a:ext cx="409575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af-allocator-task1-propagation-freeform-01" descr="{&quot;autofigure_element_id&quot;:&quot;allocator-task1-propagation&quot;}"/>
          <p:cNvSpPr/>
          <p:nvPr/>
        </p:nvSpPr>
        <p:spPr>
          <a:xfrm>
            <a:off x="5133975" y="2476500"/>
            <a:ext cx="3448050" cy="1085850"/>
          </a:xfrm>
          <a:custGeom>
            <a:avLst/>
            <a:gdLst/>
            <a:ahLst/>
            <a:cxnLst/>
            <a:rect l="0" t="0" r="0" b="0"/>
            <a:pathLst>
              <a:path w="3448050" h="1085850">
                <a:moveTo>
                  <a:pt x="0" y="276225"/>
                </a:moveTo>
                <a:cubicBezTo>
                  <a:pt x="219075" y="0"/>
                  <a:pt x="381000" y="142875"/>
                  <a:pt x="485775" y="485775"/>
                </a:cubicBezTo>
                <a:cubicBezTo>
                  <a:pt x="609600" y="857250"/>
                  <a:pt x="819150" y="800100"/>
                  <a:pt x="952500" y="581025"/>
                </a:cubicBezTo>
                <a:cubicBezTo>
                  <a:pt x="1104900" y="323850"/>
                  <a:pt x="1247775" y="371475"/>
                  <a:pt x="1400175" y="733425"/>
                </a:cubicBezTo>
                <a:cubicBezTo>
                  <a:pt x="1543050" y="1066800"/>
                  <a:pt x="1733550" y="1085850"/>
                  <a:pt x="1866900" y="704850"/>
                </a:cubicBezTo>
                <a:cubicBezTo>
                  <a:pt x="2019300" y="257175"/>
                  <a:pt x="2276475" y="180975"/>
                  <a:pt x="2476500" y="276225"/>
                </a:cubicBezTo>
                <a:cubicBezTo>
                  <a:pt x="2714625" y="381000"/>
                  <a:pt x="2962275" y="47625"/>
                  <a:pt x="3448050" y="257175"/>
                </a:cubicBezTo>
              </a:path>
            </a:pathLst>
          </a:custGeom>
          <a:noFill/>
          <a:ln w="26670" cap="rnd">
            <a:solidFill>
              <a:srgbClr val="2D5EA8"/>
            </a:solidFill>
            <a:prstDash val="dot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af-allocator-task2-propagation-freeform-01" descr="{&quot;autofigure_element_id&quot;:&quot;allocator-task2-propagation&quot;}"/>
          <p:cNvSpPr/>
          <p:nvPr/>
        </p:nvSpPr>
        <p:spPr>
          <a:xfrm>
            <a:off x="5133975" y="2838450"/>
            <a:ext cx="3448050" cy="1285875"/>
          </a:xfrm>
          <a:custGeom>
            <a:avLst/>
            <a:gdLst/>
            <a:ahLst/>
            <a:cxnLst/>
            <a:rect l="0" t="0" r="0" b="0"/>
            <a:pathLst>
              <a:path w="3448050" h="1285875">
                <a:moveTo>
                  <a:pt x="0" y="1066800"/>
                </a:moveTo>
                <a:cubicBezTo>
                  <a:pt x="247650" y="1000125"/>
                  <a:pt x="485775" y="1200150"/>
                  <a:pt x="752475" y="1143000"/>
                </a:cubicBezTo>
                <a:cubicBezTo>
                  <a:pt x="1019175" y="1066800"/>
                  <a:pt x="1181100" y="685800"/>
                  <a:pt x="1381125" y="342900"/>
                </a:cubicBezTo>
                <a:cubicBezTo>
                  <a:pt x="1533525" y="95250"/>
                  <a:pt x="1657350" y="0"/>
                  <a:pt x="1800225" y="114300"/>
                </a:cubicBezTo>
                <a:cubicBezTo>
                  <a:pt x="1962150" y="276225"/>
                  <a:pt x="2085975" y="838200"/>
                  <a:pt x="2362200" y="1066800"/>
                </a:cubicBezTo>
                <a:cubicBezTo>
                  <a:pt x="2628900" y="1285875"/>
                  <a:pt x="2905125" y="1162050"/>
                  <a:pt x="3448050" y="1095375"/>
                </a:cubicBezTo>
              </a:path>
            </a:pathLst>
          </a:custGeom>
          <a:noFill/>
          <a:ln w="26670" cap="rnd">
            <a:solidFill>
              <a:srgbClr val="D20C0C"/>
            </a:solidFill>
            <a:prstDash val="dot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af-zt-top-box-rect-01" descr="{&quot;autofigure_element_id&quot;:&quot;zt-top-box&quot;}"/>
          <p:cNvSpPr/>
          <p:nvPr/>
        </p:nvSpPr>
        <p:spPr>
          <a:xfrm>
            <a:off x="8601075" y="1981200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math:005" descr="AI_AUTOFIGURE_NATIVE_MATH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75834" y="172307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35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7" name="math:005" descr="AI_AUTOFIGURE_MATH_FALLBACK_ONLY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75834" y="172307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\(z_{t}\)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98" name="af-zt-top-1-ellipse-01" descr="{&quot;autofigure_element_id&quot;:&quot;zt-top-1&quot;}"/>
          <p:cNvSpPr/>
          <p:nvPr/>
        </p:nvSpPr>
        <p:spPr>
          <a:xfrm>
            <a:off x="8648700" y="20574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af-zt-top-2-ellipse-01" descr="{&quot;autofigure_element_id&quot;:&quot;zt-top-2&quot;}"/>
          <p:cNvSpPr/>
          <p:nvPr/>
        </p:nvSpPr>
        <p:spPr>
          <a:xfrm>
            <a:off x="8648700" y="241935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af-zt-top-3-ellipse-01" descr="{&quot;autofigure_element_id&quot;:&quot;zt-top-3&quot;}"/>
          <p:cNvSpPr/>
          <p:nvPr/>
        </p:nvSpPr>
        <p:spPr>
          <a:xfrm>
            <a:off x="8648700" y="27813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af-zt-bottom-box-rect-01" descr="{&quot;autofigure_element_id&quot;:&quot;zt-bottom-box&quot;}"/>
          <p:cNvSpPr/>
          <p:nvPr/>
        </p:nvSpPr>
        <p:spPr>
          <a:xfrm>
            <a:off x="8601075" y="3362325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af-zt-bottom-1-ellipse-01" descr="{&quot;autofigure_element_id&quot;:&quot;zt-bottom-1&quot;}"/>
          <p:cNvSpPr/>
          <p:nvPr/>
        </p:nvSpPr>
        <p:spPr>
          <a:xfrm>
            <a:off x="8648700" y="34671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af-zt-bottom-2-ellipse-01" descr="{&quot;autofigure_element_id&quot;:&quot;zt-bottom-2&quot;}"/>
          <p:cNvSpPr/>
          <p:nvPr/>
        </p:nvSpPr>
        <p:spPr>
          <a:xfrm>
            <a:off x="8648700" y="3819525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af-zt-bottom-3-ellipse-01" descr="{&quot;autofigure_element_id&quot;:&quot;zt-bottom-3&quot;}"/>
          <p:cNvSpPr/>
          <p:nvPr/>
        </p:nvSpPr>
        <p:spPr>
          <a:xfrm>
            <a:off x="8648700" y="417195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f-task-conditioned-imagination-rect-01" descr="{&quot;autofigure_element_id&quot;:&quot;task-conditioned-imagination&quot;}"/>
          <p:cNvSpPr/>
          <p:nvPr/>
        </p:nvSpPr>
        <p:spPr>
          <a:xfrm>
            <a:off x="9458325" y="1152525"/>
            <a:ext cx="3810000" cy="866775"/>
          </a:xfrm>
          <a:prstGeom prst="roundRect">
            <a:avLst>
              <a:gd name="adj" fmla="val 18681"/>
            </a:avLst>
          </a:prstGeom>
          <a:solidFill>
            <a:srgbClr val="F3F3F3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af-imagination-z0-to-r0-connector-01" descr="{&quot;arrow_spec_sha256&quot;:&quot;b710a3e44ce73e2e535d86b3e048149b0efe91fa911338748891c50a84f7d670&quot;,&quot;autofigure_element_id&quot;:&quot;imagination-z0-to-r0&quot;}"/>
          <p:cNvCxnSpPr>
            <a:stCxn id="110" idx="2"/>
            <a:endCxn id="134" idx="0"/>
          </p:cNvCxnSpPr>
          <p:nvPr/>
        </p:nvCxnSpPr>
        <p:spPr>
          <a:xfrm>
            <a:off x="98393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af-imagination-z1-to-r1-connector-01" descr="{&quot;arrow_spec_sha256&quot;:&quot;ad49b582533b015dc77663531ef5656428eb09c41ce001350fd93bfaf61d79e6&quot;,&quot;autofigure_element_id&quot;:&quot;imagination-z1-to-r1&quot;}"/>
          <p:cNvCxnSpPr>
            <a:stCxn id="111" idx="2"/>
            <a:endCxn id="135" idx="0"/>
          </p:cNvCxnSpPr>
          <p:nvPr/>
        </p:nvCxnSpPr>
        <p:spPr>
          <a:xfrm>
            <a:off x="107537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af-imagination-z2-to-r2-connector-01" descr="{&quot;arrow_spec_sha256&quot;:&quot;38fc40e9194a569ecf61954c16b0ca03224f7e03b69a84bddd9cec40a8c51ae8&quot;,&quot;autofigure_element_id&quot;:&quot;imagination-z2-to-r2&quot;}"/>
          <p:cNvCxnSpPr>
            <a:stCxn id="112" idx="2"/>
            <a:endCxn id="136" idx="0"/>
          </p:cNvCxnSpPr>
          <p:nvPr/>
        </p:nvCxnSpPr>
        <p:spPr>
          <a:xfrm>
            <a:off x="117062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f-imagination-title-text-01" descr="{&quot;autofigure_element_id&quot;:&quot;imagination-title&quot;}"/>
          <p:cNvSpPr txBox="1"/>
          <p:nvPr/>
        </p:nvSpPr>
        <p:spPr>
          <a:xfrm>
            <a:off x="9938766" y="1267301"/>
            <a:ext cx="2849118" cy="4405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task-conditioned imagination</a:t>
            </a:r>
          </a:p>
        </p:txBody>
      </p:sp>
      <p:sp>
        <p:nvSpPr>
          <p:cNvPr id="110" name="af-imag-z0-rect-01" descr="{&quot;autofigure_element_id&quot;:&quot;imag-z0&quot;}"/>
          <p:cNvSpPr/>
          <p:nvPr/>
        </p:nvSpPr>
        <p:spPr>
          <a:xfrm>
            <a:off x="9610725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af-imag-z1-rect-01" descr="{&quot;autofigure_element_id&quot;:&quot;imag-z1&quot;}"/>
          <p:cNvSpPr/>
          <p:nvPr/>
        </p:nvSpPr>
        <p:spPr>
          <a:xfrm>
            <a:off x="10534650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af-imag-z2-rect-01" descr="{&quot;autofigure_element_id&quot;:&quot;imag-z2&quot;}"/>
          <p:cNvSpPr/>
          <p:nvPr/>
        </p:nvSpPr>
        <p:spPr>
          <a:xfrm>
            <a:off x="11477625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af-imag-zh-rect-01" descr="{&quot;autofigure_element_id&quot;:&quot;imag-zh&quot;}"/>
          <p:cNvSpPr/>
          <p:nvPr/>
        </p:nvSpPr>
        <p:spPr>
          <a:xfrm>
            <a:off x="12715875" y="1581150"/>
            <a:ext cx="447675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math:006" descr="AI_AUTOFIGURE_NATIVE_MATH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6393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4" name="math:006" descr="AI_AUTOFIGURE_MATH_FALLBACK_ONLY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6393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math:007" descr="AI_AUTOFIGURE_NATIVE_MATH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63225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  <m:sup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5" name="math:007" descr="AI_AUTOFIGURE_MATH_FALLBACK_ONLY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63225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math:008" descr="AI_AUTOFIGURE_NATIVE_MATH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5062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  <m:sup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6" name="math:008" descr="AI_AUTOFIGURE_MATH_FALLBACK_ONLY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5062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7" name="af-imag-dots-text-01" descr="{&quot;autofigure_element_id&quot;:&quot;imag-dots&quot;}"/>
          <p:cNvSpPr txBox="1"/>
          <p:nvPr/>
        </p:nvSpPr>
        <p:spPr>
          <a:xfrm>
            <a:off x="12068175" y="1636871"/>
            <a:ext cx="450532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math:009" descr="AI_AUTOFIGURE_NATIVE_MATH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4445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ℎ</m:t>
                          </m:r>
                        </m:sub>
                        <m:sup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8" name="math:009" descr="AI_AUTOFIGURE_MATH_FALLBACK_ONLY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4445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9" name="af-rollout-panel-rect-01" descr="{&quot;autofigure_element_id&quot;:&quot;rollout-panel&quot;}"/>
          <p:cNvSpPr/>
          <p:nvPr/>
        </p:nvSpPr>
        <p:spPr>
          <a:xfrm>
            <a:off x="9458325" y="2676525"/>
            <a:ext cx="3810000" cy="1647825"/>
          </a:xfrm>
          <a:prstGeom prst="roundRect">
            <a:avLst>
              <a:gd name="adj" fmla="val 11560"/>
            </a:avLst>
          </a:prstGeom>
          <a:solidFill>
            <a:srgbClr val="F3F3F3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0" name="af-rollout-z0-to-r0-connector-01" descr="{&quot;arrow_spec_sha256&quot;:&quot;94e973578aadc00531dbed3007f1ad265f363d9c390b7d9d992475ebe57ccaf1&quot;,&quot;autofigure_element_id&quot;:&quot;rollout-z0-to-r0&quot;}"/>
          <p:cNvCxnSpPr>
            <a:stCxn id="125" idx="0"/>
            <a:endCxn id="134" idx="2"/>
          </p:cNvCxnSpPr>
          <p:nvPr/>
        </p:nvCxnSpPr>
        <p:spPr>
          <a:xfrm flipV="1">
            <a:off x="9839325" y="2562225"/>
            <a:ext cx="0" cy="2571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af-rollout-z1-to-r1-connector-01" descr="{&quot;arrow_spec_sha256&quot;:&quot;0a8c03b2edd5440e6980b8cd35a97c1694bce46df95ab111ffec56d67ed577e4&quot;,&quot;autofigure_element_id&quot;:&quot;rollout-z1-to-r1&quot;}"/>
          <p:cNvCxnSpPr>
            <a:stCxn id="126" idx="0"/>
            <a:endCxn id="135" idx="2"/>
          </p:cNvCxnSpPr>
          <p:nvPr/>
        </p:nvCxnSpPr>
        <p:spPr>
          <a:xfrm flipV="1">
            <a:off x="10753725" y="2552700"/>
            <a:ext cx="0" cy="2667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af-rollout-z2-to-r2-connector-01" descr="{&quot;arrow_spec_sha256&quot;:&quot;65d2b5223168c18ecc6f49d53117072503fa0b4f64cf3167db67ec12fdc58930&quot;,&quot;autofigure_element_id&quot;:&quot;rollout-z2-to-r2&quot;}"/>
          <p:cNvCxnSpPr>
            <a:stCxn id="127" idx="0"/>
            <a:endCxn id="136" idx="2"/>
          </p:cNvCxnSpPr>
          <p:nvPr/>
        </p:nvCxnSpPr>
        <p:spPr>
          <a:xfrm flipV="1">
            <a:off x="11706225" y="2552700"/>
            <a:ext cx="0" cy="2667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af-zt-top-to-imagination-connector-01" descr="{&quot;arrow_spec_sha256&quot;:&quot;92baa490b7e35be95ec0e5b41bcbaacac44577452dfb5fcd7c63dcfef2485503&quot;,&quot;autofigure_element_id&quot;:&quot;zt-top-to-imagination&quot;}"/>
          <p:cNvCxnSpPr>
            <a:stCxn id="96" idx="3"/>
            <a:endCxn id="125" idx="1"/>
          </p:cNvCxnSpPr>
          <p:nvPr/>
        </p:nvCxnSpPr>
        <p:spPr>
          <a:xfrm>
            <a:off x="9010650" y="2590800"/>
            <a:ext cx="561975" cy="3810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f-zt-bottom-to-rollout-connector-01" descr="{&quot;arrow_spec_sha256&quot;:&quot;34e29b869a4e4167c361e387c10a862d8aa755a68c5dd317cee798142207a7e8&quot;,&quot;autofigure_element_id&quot;:&quot;zt-bottom-to-rollout&quot;}"/>
          <p:cNvCxnSpPr>
            <a:stCxn id="101" idx="3"/>
            <a:endCxn id="125" idx="1"/>
          </p:cNvCxnSpPr>
          <p:nvPr/>
        </p:nvCxnSpPr>
        <p:spPr>
          <a:xfrm flipV="1">
            <a:off x="9010650" y="3105150"/>
            <a:ext cx="561975" cy="8572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af-rollout-z0-rect-01" descr="{&quot;autofigure_element_id&quot;:&quot;rollout-z0&quot;}"/>
          <p:cNvSpPr/>
          <p:nvPr/>
        </p:nvSpPr>
        <p:spPr>
          <a:xfrm>
            <a:off x="96297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af-rollout-z1-rect-01" descr="{&quot;autofigure_element_id&quot;:&quot;rollout-z1&quot;}"/>
          <p:cNvSpPr/>
          <p:nvPr/>
        </p:nvSpPr>
        <p:spPr>
          <a:xfrm>
            <a:off x="105441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af-rollout-z2-rect-01" descr="{&quot;autofigure_element_id&quot;:&quot;rollout-z2&quot;}"/>
          <p:cNvSpPr/>
          <p:nvPr/>
        </p:nvSpPr>
        <p:spPr>
          <a:xfrm>
            <a:off x="114966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af-rollout-zh-rect-01" descr="{&quot;autofigure_element_id&quot;:&quot;rollout-zh&quot;}"/>
          <p:cNvSpPr/>
          <p:nvPr/>
        </p:nvSpPr>
        <p:spPr>
          <a:xfrm>
            <a:off x="12715875" y="2819400"/>
            <a:ext cx="44767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math:010" descr="AI_AUTOFIGURE_NATIVE_MATH_V1:eyJjb250ZW50X3J1bnMiOlt7ImNhbm9uaWNhbF9sYXRleCI6Inpfe3R9IiwiZm9ybXVsYV9pZCI6IkVRMDEw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A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wIiwic2NoZW1hX3ZlcnNpb24iOiIxLjAifQ=="/>
              <p:cNvSpPr txBox="1"/>
              <p:nvPr/>
            </p:nvSpPr>
            <p:spPr>
              <a:xfrm>
                <a:off x="96583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29" name="math:010" descr="AI_AUTOFIGURE_MATH_FALLBACK_ONLY_V1:eyJjb250ZW50X3J1bnMiOlt7ImNhbm9uaWNhbF9sYXRleCI6Inpfe3R9IiwiZm9ybXVsYV9pZCI6IkVRMDEw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A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wIiwic2NoZW1hX3ZlcnNpb24iOiIxLjAifQ=="/>
              <p:cNvSpPr txBox="1"/>
              <p:nvPr/>
            </p:nvSpPr>
            <p:spPr>
              <a:xfrm>
                <a:off x="96583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math:011" descr="AI_AUTOFIGURE_NATIVE_MATH_V1:eyJjb250ZW50X3J1bnMiOlt7ImNhbm9uaWNhbF9sYXRleCI6Inpfe3QrMX0iLCJmb3JtdWxhX2lkIjoiRVEwMTE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x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MSIsInNjaGVtYV92ZXJzaW9uIjoiMS4wIn0="/>
              <p:cNvSpPr txBox="1"/>
              <p:nvPr/>
            </p:nvSpPr>
            <p:spPr>
              <a:xfrm>
                <a:off x="105727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0" name="math:011" descr="AI_AUTOFIGURE_MATH_FALLBACK_ONLY_V1:eyJjb250ZW50X3J1bnMiOlt7ImNhbm9uaWNhbF9sYXRleCI6Inpfe3QrMX0iLCJmb3JtdWxhX2lkIjoiRVEwMTE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x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MSIsInNjaGVtYV92ZXJzaW9uIjoiMS4wIn0="/>
              <p:cNvSpPr txBox="1"/>
              <p:nvPr/>
            </p:nvSpPr>
            <p:spPr>
              <a:xfrm>
                <a:off x="105727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math:012" descr="AI_AUTOFIGURE_NATIVE_MATH_V1:eyJjb250ZW50X3J1bnMiOlt7ImNhbm9uaWNhbF9sYXRleCI6Inpfe3QrMn0iLCJmb3JtdWxhX2lkIjoiRVEwMTI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y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MiIsInNjaGVtYV92ZXJzaW9uIjoiMS4wIn0="/>
              <p:cNvSpPr txBox="1"/>
              <p:nvPr/>
            </p:nvSpPr>
            <p:spPr>
              <a:xfrm>
                <a:off x="115252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1" name="math:012" descr="AI_AUTOFIGURE_MATH_FALLBACK_ONLY_V1:eyJjb250ZW50X3J1bnMiOlt7ImNhbm9uaWNhbF9sYXRleCI6Inpfe3QrMn0iLCJmb3JtdWxhX2lkIjoiRVEwMTI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y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MiIsInNjaGVtYV92ZXJzaW9uIjoiMS4wIn0="/>
              <p:cNvSpPr txBox="1"/>
              <p:nvPr/>
            </p:nvSpPr>
            <p:spPr>
              <a:xfrm>
                <a:off x="115252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math:013" descr="AI_AUTOFIGURE_NATIVE_MATH_V1:eyJjb250ZW50X3J1bnMiOlt7ImNhbm9uaWNhbF9sYXRleCI6Inpfe3QraH0iLCJmb3JtdWxhX2lkIjoiRVEwMTM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z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MyIsInNjaGVtYV92ZXJzaW9uIjoiMS4wIn0="/>
              <p:cNvSpPr txBox="1"/>
              <p:nvPr/>
            </p:nvSpPr>
            <p:spPr>
              <a:xfrm>
                <a:off x="12744450" y="28941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ℎ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2" name="math:013" descr="AI_AUTOFIGURE_MATH_FALLBACK_ONLY_V1:eyJjb250ZW50X3J1bnMiOlt7ImNhbm9uaWNhbF9sYXRleCI6Inpfe3QraH0iLCJmb3JtdWxhX2lkIjoiRVEwMTM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z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MyIsInNjaGVtYV92ZXJzaW9uIjoiMS4wIn0="/>
              <p:cNvSpPr txBox="1"/>
              <p:nvPr/>
            </p:nvSpPr>
            <p:spPr>
              <a:xfrm>
                <a:off x="12744450" y="28941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3" name="af-rollout-label-text-01" descr="{&quot;autofigure_element_id&quot;:&quot;rollout-label&quot;}"/>
          <p:cNvSpPr txBox="1"/>
          <p:nvPr/>
        </p:nvSpPr>
        <p:spPr>
          <a:xfrm>
            <a:off x="12449175" y="3991451"/>
            <a:ext cx="752475" cy="266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>
                <a:solidFill>
                  <a:srgbClr val="000000"/>
                </a:solidFill>
                <a:latin typeface="Arial"/>
              </a:rPr>
              <a:t>rollout</a:t>
            </a:r>
          </a:p>
        </p:txBody>
      </p:sp>
      <p:sp>
        <p:nvSpPr>
          <p:cNvPr id="134" name="af-reward-r0-ellipse-01" descr="{&quot;autofigure_element_id&quot;:&quot;reward-r0&quot;}"/>
          <p:cNvSpPr/>
          <p:nvPr/>
        </p:nvSpPr>
        <p:spPr>
          <a:xfrm>
            <a:off x="96393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af-reward-r1-ellipse-01" descr="{&quot;autofigure_element_id&quot;:&quot;reward-r1&quot;}"/>
          <p:cNvSpPr/>
          <p:nvPr/>
        </p:nvSpPr>
        <p:spPr>
          <a:xfrm>
            <a:off x="105537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af-reward-r2-ellipse-01" descr="{&quot;autofigure_element_id&quot;:&quot;reward-r2&quot;}"/>
          <p:cNvSpPr/>
          <p:nvPr/>
        </p:nvSpPr>
        <p:spPr>
          <a:xfrm>
            <a:off x="115062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math:014" descr="AI_AUTOFIGURE_NATIVE_MATH_V1:eyJjb250ZW50X3J1bnMiOlt7ImNhbm9uaWNhbF9sYXRleCI6InLigLJfe3R9IiwiZm9ybXVsYV9pZCI6IkVRMDE0Iiwia2luZCI6Im1hdGg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mb3JtdWxhcyI6W3siY2Fub25pY2FsX2xhdGV4IjoicuKAsl97dH0iLCJmb3JtdWxhX2lkIjoiRVEwMTQ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raW5kIjoibmF0aXZlX29mZmljZV9tYXRoIiwicGxhY2Vob2xkZXJfbmFtZSI6Im1hdGg6MDE0Iiwic2NoZW1hX3ZlcnNpb24iOiIxLjAifQ=="/>
              <p:cNvSpPr txBox="1"/>
              <p:nvPr/>
            </p:nvSpPr>
            <p:spPr>
              <a:xfrm>
                <a:off x="9588960" y="2255996"/>
                <a:ext cx="500729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75" dirty="0">
                          <a:solidFill>
                            <a:srgbClr val="FFFFFF"/>
                          </a:solidFill>
                          <a:latin typeface="Cambria Math"/>
                        </a:rPr>
                        <m:t>𝑟</m:t>
                      </m:r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7" name="math:014" descr="AI_AUTOFIGURE_MATH_FALLBACK_ONLY_V1:eyJjb250ZW50X3J1bnMiOlt7ImNhbm9uaWNhbF9sYXRleCI6InLigLJfe3R9IiwiZm9ybXVsYV9pZCI6IkVRMDE0Iiwia2luZCI6Im1hdGg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mb3JtdWxhcyI6W3siY2Fub25pY2FsX2xhdGV4IjoicuKAsl97dH0iLCJmb3JtdWxhX2lkIjoiRVEwMTQ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raW5kIjoibmF0aXZlX29mZmljZV9tYXRoIiwicGxhY2Vob2xkZXJfbmFtZSI6Im1hdGg6MDE0Iiwic2NoZW1hX3ZlcnNpb24iOiIxLjAifQ=="/>
              <p:cNvSpPr txBox="1"/>
              <p:nvPr/>
            </p:nvSpPr>
            <p:spPr>
              <a:xfrm>
                <a:off x="9588960" y="2255996"/>
                <a:ext cx="500729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math:015" descr="AI_AUTOFIGURE_NATIVE_MATH_V1:eyJjb250ZW50X3J1bnMiOlt7ImNhbm9uaWNhbF9sYXRleCI6InLigLJfe3QrMX0iLCJmb3JtdWxhX2lkIjoiRVEwMTUiLCJraW5kIjoibWF0aCIsImxhdGV4X3NoYTI1NiI6ImY3NTUxODY4NGIyOGY1YjZkYzI3MmYzOGNjZDZkMjk0MjllOTNhZmFkMWFhZGJmY2JiYzA0MTg5ODIzY2VhYTEiLCJtb2RlIjoiaW5saW5lIiwib21tbF9zaGEyNTYiOiIxMjYzY2JkZjUzY2VjYWQ5OTcwMTIyMzNmMzU0YmU3ZWQwNTMzNTVlNzc3YmVjYjU3NzMxMjhlY2Q4OTliNWYyIiwic2VtYW50aWNfb21tbF9wcm9maWxlIjoib2ZmaWNlLW1hdGgtc2VtYW50aWMtdjIiLCJzZW1hbnRpY19vbW1sX3NoYTI1NiI6ImNiNzhjMGM2ZDlmNjhmNjE5NTU2OTg2NTk0YjE3MzhhMWVlOTBiZWQ3NzdmY2E1MzE1MTkxNTMzNjBhN2Y0OTQifV0sImZvcm11bGFzIjpbeyJjYW5vbmljYWxfbGF0ZXgiOiJy4oCyX3t0KzF9IiwiZm9ybXVsYV9pZCI6IkVRMDE1IiwibGF0ZXhfc2hhMjU2IjoiZjc1NTE4Njg0YjI4ZjViNmRjMjcyZjM4Y2NkNmQyOTQyOWU5M2FmYWQxYWFkYmZjYmJjMDQxODk4MjNjZWFhMSIsIm1vZGUiOiJpbmxpbmUiLCJvbW1sX3NoYTI1NiI6IjEyNjNjYmRmNTNjZWNhZDk5NzAxMjIzM2YzNTRiZTdlZDA1MzM1NWU3NzdiZWNiNTc3MzEyOGVjZDg5OWI1ZjIiLCJzZW1hbnRpY19vbW1sX3Byb2ZpbGUiOiJvZmZpY2UtbWF0aC1zZW1hbnRpYy12MiIsInNlbWFudGljX29tbWxfc2hhMjU2IjoiY2I3OGMwYzZkOWY2OGY2MTk1NTY5ODY1OTRiMTczOGExZWU5MGJlZDc3N2ZjYTUzMTUxOTE1MzM2MGE3ZjQ5NCJ9XSwia2luZCI6Im5hdGl2ZV9vZmZpY2VfbWF0aCIsInBsYWNlaG9sZGVyX25hbWUiOiJtYXRoOjAxNSIsInNjaGVtYV92ZXJzaW9uIjoiMS4wIn0="/>
              <p:cNvSpPr txBox="1"/>
              <p:nvPr/>
            </p:nvSpPr>
            <p:spPr>
              <a:xfrm>
                <a:off x="104159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75" dirty="0">
                          <a:solidFill>
                            <a:srgbClr val="FFFFFF"/>
                          </a:solidFill>
                          <a:latin typeface="Cambria Math"/>
                        </a:rPr>
                        <m:t>𝑟</m:t>
                      </m:r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8" name="math:015" descr="AI_AUTOFIGURE_MATH_FALLBACK_ONLY_V1:eyJjb250ZW50X3J1bnMiOlt7ImNhbm9uaWNhbF9sYXRleCI6InLigLJfe3QrMX0iLCJmb3JtdWxhX2lkIjoiRVEwMTUiLCJraW5kIjoibWF0aCIsImxhdGV4X3NoYTI1NiI6ImY3NTUxODY4NGIyOGY1YjZkYzI3MmYzOGNjZDZkMjk0MjllOTNhZmFkMWFhZGJmY2JiYzA0MTg5ODIzY2VhYTEiLCJtb2RlIjoiaW5saW5lIiwib21tbF9zaGEyNTYiOiIxMjYzY2JkZjUzY2VjYWQ5OTcwMTIyMzNmMzU0YmU3ZWQwNTMzNTVlNzc3YmVjYjU3NzMxMjhlY2Q4OTliNWYyIiwic2VtYW50aWNfb21tbF9wcm9maWxlIjoib2ZmaWNlLW1hdGgtc2VtYW50aWMtdjIiLCJzZW1hbnRpY19vbW1sX3NoYTI1NiI6ImNiNzhjMGM2ZDlmNjhmNjE5NTU2OTg2NTk0YjE3MzhhMWVlOTBiZWQ3NzdmY2E1MzE1MTkxNTMzNjBhN2Y0OTQifV0sImZvcm11bGFzIjpbeyJjYW5vbmljYWxfbGF0ZXgiOiJy4oCyX3t0KzF9IiwiZm9ybXVsYV9pZCI6IkVRMDE1IiwibGF0ZXhfc2hhMjU2IjoiZjc1NTE4Njg0YjI4ZjViNmRjMjcyZjM4Y2NkNmQyOTQyOWU5M2FmYWQxYWFkYmZjYmJjMDQxODk4MjNjZWFhMSIsIm1vZGUiOiJpbmxpbmUiLCJvbW1sX3NoYTI1NiI6IjEyNjNjYmRmNTNjZWNhZDk5NzAxMjIzM2YzNTRiZTdlZDA1MzM1NWU3NzdiZWNiNTc3MzEyOGVjZDg5OWI1ZjIiLCJzZW1hbnRpY19vbW1sX3Byb2ZpbGUiOiJvZmZpY2UtbWF0aC1zZW1hbnRpYy12MiIsInNlbWFudGljX29tbWxfc2hhMjU2IjoiY2I3OGMwYzZkOWY2OGY2MTk1NTY5ODY1OTRiMTczOGExZWU5MGJlZDc3N2ZjYTUzMTUxOTE1MzM2MGE3ZjQ5NCJ9XSwia2luZCI6Im5hdGl2ZV9vZmZpY2VfbWF0aCIsInBsYWNlaG9sZGVyX25hbWUiOiJtYXRoOjAxNSIsInNjaGVtYV92ZXJzaW9uIjoiMS4wIn0="/>
              <p:cNvSpPr txBox="1"/>
              <p:nvPr/>
            </p:nvSpPr>
            <p:spPr>
              <a:xfrm>
                <a:off x="104159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math:016" descr="AI_AUTOFIGURE_NATIVE_MATH_V1:eyJjb250ZW50X3J1bnMiOlt7ImNhbm9uaWNhbF9sYXRleCI6InLigLJfe3QrMn0iLCJmb3JtdWxhX2lkIjoiRVEwMTYiLCJraW5kIjoibWF0aCIsImxhdGV4X3NoYTI1NiI6Ijk1MDQxNmMyNjQ2YjVjMjA5MmQ3YTU4MTdkZmJiYjhiZTkzMDNhNzU5NjAwNmM1MWNlMWNlZDIxYmI3OTIxOGQiLCJtb2RlIjoiaW5saW5lIiwib21tbF9zaGEyNTYiOiJlYTg4ZTRmNjdiODhlNTZiNmVkNTQ5MDcwN2RkZTMyMWU5OTU4MjEyYWYzNDljNGQ1NmZlNDA4NmNiMzQxYzQ5Iiwic2VtYW50aWNfb21tbF9wcm9maWxlIjoib2ZmaWNlLW1hdGgtc2VtYW50aWMtdjIiLCJzZW1hbnRpY19vbW1sX3NoYTI1NiI6Ijk2NDEwZGI1MzdlNmZiNzhmMzliZGEyNDY3ZGNhZmE4MzE5ZDM2ZTA1ODkwNzI1YjA5MTIwNWVhOWRjNDU5NDgifV0sImZvcm11bGFzIjpbeyJjYW5vbmljYWxfbGF0ZXgiOiJy4oCyX3t0KzJ9IiwiZm9ybXVsYV9pZCI6IkVRMDE2IiwibGF0ZXhfc2hhMjU2IjoiOTUwNDE2YzI2NDZiNWMyMDkyZDdhNTgxN2RmYmJiOGJlOTMwM2E3NTk2MDA2YzUxY2UxY2VkMjFiYjc5MjE4ZCIsIm1vZGUiOiJpbmxpbmUiLCJvbW1sX3NoYTI1NiI6ImVhODhlNGY2N2I4OGU1NmI2ZWQ1NDkwNzA3ZGRlMzIxZTk5NTgyMTJhZjM0OWM0ZDU2ZmU0MDg2Y2IzNDFjNDkiLCJzZW1hbnRpY19vbW1sX3Byb2ZpbGUiOiJvZmZpY2UtbWF0aC1zZW1hbnRpYy12MiIsInNlbWFudGljX29tbWxfc2hhMjU2IjoiOTY0MTBkYjUzN2U2ZmI3OGYzOWJkYTI0NjdkY2FmYTgzMTlkMzZlMDU4OTA3MjViMDkxMjA1ZWE5ZGM0NTk0OCJ9XSwia2luZCI6Im5hdGl2ZV9vZmZpY2VfbWF0aCIsInBsYWNlaG9sZGVyX25hbWUiOiJtYXRoOjAxNiIsInNjaGVtYV92ZXJzaW9uIjoiMS4wIn0="/>
              <p:cNvSpPr txBox="1"/>
              <p:nvPr/>
            </p:nvSpPr>
            <p:spPr>
              <a:xfrm>
                <a:off x="113684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75" dirty="0">
                          <a:solidFill>
                            <a:srgbClr val="FFFFFF"/>
                          </a:solidFill>
                          <a:latin typeface="Cambria Math"/>
                        </a:rPr>
                        <m:t>𝑟</m:t>
                      </m:r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39" name="math:016" descr="AI_AUTOFIGURE_MATH_FALLBACK_ONLY_V1:eyJjb250ZW50X3J1bnMiOlt7ImNhbm9uaWNhbF9sYXRleCI6InLigLJfe3QrMn0iLCJmb3JtdWxhX2lkIjoiRVEwMTYiLCJraW5kIjoibWF0aCIsImxhdGV4X3NoYTI1NiI6Ijk1MDQxNmMyNjQ2YjVjMjA5MmQ3YTU4MTdkZmJiYjhiZTkzMDNhNzU5NjAwNmM1MWNlMWNlZDIxYmI3OTIxOGQiLCJtb2RlIjoiaW5saW5lIiwib21tbF9zaGEyNTYiOiJlYTg4ZTRmNjdiODhlNTZiNmVkNTQ5MDcwN2RkZTMyMWU5OTU4MjEyYWYzNDljNGQ1NmZlNDA4NmNiMzQxYzQ5Iiwic2VtYW50aWNfb21tbF9wcm9maWxlIjoib2ZmaWNlLW1hdGgtc2VtYW50aWMtdjIiLCJzZW1hbnRpY19vbW1sX3NoYTI1NiI6Ijk2NDEwZGI1MzdlNmZiNzhmMzliZGEyNDY3ZGNhZmE4MzE5ZDM2ZTA1ODkwNzI1YjA5MTIwNWVhOWRjNDU5NDgifV0sImZvcm11bGFzIjpbeyJjYW5vbmljYWxfbGF0ZXgiOiJy4oCyX3t0KzJ9IiwiZm9ybXVsYV9pZCI6IkVRMDE2IiwibGF0ZXhfc2hhMjU2IjoiOTUwNDE2YzI2NDZiNWMyMDkyZDdhNTgxN2RmYmJiOGJlOTMwM2E3NTk2MDA2YzUxY2UxY2VkMjFiYjc5MjE4ZCIsIm1vZGUiOiJpbmxpbmUiLCJvbW1sX3NoYTI1NiI6ImVhODhlNGY2N2I4OGU1NmI2ZWQ1NDkwNzA3ZGRlMzIxZTk5NTgyMTJhZjM0OWM0ZDU2ZmU0MDg2Y2IzNDFjNDkiLCJzZW1hbnRpY19vbW1sX3Byb2ZpbGUiOiJvZmZpY2UtbWF0aC1zZW1hbnRpYy12MiIsInNlbWFudGljX29tbWxfc2hhMjU2IjoiOTY0MTBkYjUzN2U2ZmI3OGYzOWJkYTI0NjdkY2FmYTgzMTlkMzZlMDU4OTA3MjViMDkxMjA1ZWE5ZGM0NTk0OCJ9XSwia2luZCI6Im5hdGl2ZV9vZmZpY2VfbWF0aCIsInBsYWNlaG9sZGVyX25hbWUiOiJtYXRoOjAxNiIsInNjaGVtYV92ZXJzaW9uIjoiMS4wIn0="/>
              <p:cNvSpPr txBox="1"/>
              <p:nvPr/>
            </p:nvSpPr>
            <p:spPr>
              <a:xfrm>
                <a:off x="113684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0" name="af-policy-pi0-ellipse-01" descr="{&quot;autofigure_element_id&quot;:&quot;policy-pi0&quot;}"/>
          <p:cNvSpPr/>
          <p:nvPr/>
        </p:nvSpPr>
        <p:spPr>
          <a:xfrm>
            <a:off x="9667875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af-policy-pi1-ellipse-01" descr="{&quot;autofigure_element_id&quot;:&quot;policy-pi1&quot;}"/>
          <p:cNvSpPr/>
          <p:nvPr/>
        </p:nvSpPr>
        <p:spPr>
          <a:xfrm>
            <a:off x="10591800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af-policy-pi2-ellipse-01" descr="{&quot;autofigure_element_id&quot;:&quot;policy-pi2&quot;}"/>
          <p:cNvSpPr/>
          <p:nvPr/>
        </p:nvSpPr>
        <p:spPr>
          <a:xfrm>
            <a:off x="11544300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math:017" descr="AI_AUTOFIGURE_NATIVE_MATH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35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3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43" name="math:017" descr="AI_AUTOFIGURE_MATH_FALLBACK_ONLY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math:018" descr="AI_AUTOFIGURE_NATIVE_MATH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637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35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3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44" name="math:018" descr="AI_AUTOFIGURE_MATH_FALLBACK_ONLY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637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math:019" descr="AI_AUTOFIGURE_NATIVE_MATH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35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3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45" name="math:019" descr="AI_AUTOFIGURE_MATH_FALLBACK_ONLY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6" name="af-action-a0-ellipse-01" descr="{&quot;autofigure_element_id&quot;:&quot;action-a0&quot;}"/>
          <p:cNvSpPr/>
          <p:nvPr/>
        </p:nvSpPr>
        <p:spPr>
          <a:xfrm>
            <a:off x="10144125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af-action-a1-ellipse-01" descr="{&quot;autofigure_element_id&quot;:&quot;action-a1&quot;}"/>
          <p:cNvSpPr/>
          <p:nvPr/>
        </p:nvSpPr>
        <p:spPr>
          <a:xfrm>
            <a:off x="11068050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af-action-a2-ellipse-01" descr="{&quot;autofigure_element_id&quot;:&quot;action-a2&quot;}"/>
          <p:cNvSpPr/>
          <p:nvPr/>
        </p:nvSpPr>
        <p:spPr>
          <a:xfrm>
            <a:off x="12020550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math:020" descr="AI_AUTOFIGURE_NATIVE_MATH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4357" y="34751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49" name="math:020" descr="AI_AUTOFIGURE_MATH_FALLBACK_ONLY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4357" y="34751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math:021" descr="AI_AUTOFIGURE_NATIVE_MATH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308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50" name="math:021" descr="AI_AUTOFIGURE_MATH_FALLBACK_ONLY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308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math:022" descr="AI_AUTOFIGURE_NATIVE_MATH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3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275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275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51" name="math:022" descr="AI_AUTOFIGURE_MATH_FALLBACK_ONLY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3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52" name="af-imagination-z0-to-z1-connector-01" descr="{&quot;arrow_spec_sha256&quot;:&quot;162c70926207ff1c2d0241b318e7855c96602fe2f53126846b7e286712304bbc&quot;,&quot;autofigure_element_id&quot;:&quot;imagination-z0-to-z1&quot;}"/>
          <p:cNvCxnSpPr>
            <a:stCxn id="110" idx="3"/>
            <a:endCxn id="111" idx="1"/>
          </p:cNvCxnSpPr>
          <p:nvPr/>
        </p:nvCxnSpPr>
        <p:spPr>
          <a:xfrm>
            <a:off x="10058400" y="1733550"/>
            <a:ext cx="4286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af-imagination-z1-to-z2-connector-01" descr="{&quot;arrow_spec_sha256&quot;:&quot;88fbbf5aff693f06bb03b61a8851bc248ab7dd1e04675ec5ebe524e1674a9b9c&quot;,&quot;autofigure_element_id&quot;:&quot;imagination-z1-to-z2&quot;}"/>
          <p:cNvCxnSpPr>
            <a:stCxn id="111" idx="3"/>
            <a:endCxn id="112" idx="1"/>
          </p:cNvCxnSpPr>
          <p:nvPr/>
        </p:nvCxnSpPr>
        <p:spPr>
          <a:xfrm>
            <a:off x="10982325" y="1733550"/>
            <a:ext cx="44767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imagination-z2-to-zh-connector-01" descr="{&quot;arrow_spec_sha256&quot;:&quot;5a73e0e78b4259011c9231b3b1473fc80cb9044560062b702452cf84473f039b&quot;,&quot;autofigure_element_id&quot;:&quot;imagination-z2-to-zh&quot;}"/>
          <p:cNvCxnSpPr>
            <a:stCxn id="112" idx="3"/>
            <a:endCxn id="113" idx="1"/>
          </p:cNvCxnSpPr>
          <p:nvPr/>
        </p:nvCxnSpPr>
        <p:spPr>
          <a:xfrm>
            <a:off x="11934825" y="1733550"/>
            <a:ext cx="7334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rollout-z0-to-z1-connector-01" descr="{&quot;arrow_spec_sha256&quot;:&quot;59a636ef104730e3561865e9d8495723f944d4a0d43c97bae9c3dfa2d71d39dd&quot;,&quot;autofigure_element_id&quot;:&quot;rollout-z0-to-z1&quot;}"/>
          <p:cNvCxnSpPr>
            <a:stCxn id="125" idx="3"/>
            <a:endCxn id="126" idx="1"/>
          </p:cNvCxnSpPr>
          <p:nvPr/>
        </p:nvCxnSpPr>
        <p:spPr>
          <a:xfrm>
            <a:off x="10067925" y="2990850"/>
            <a:ext cx="4286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rollout-z1-to-z2-connector-01" descr="{&quot;arrow_spec_sha256&quot;:&quot;37d17d470c3cc157b89ce6b88cb0dd0564135bca99139b757464e8b22e3bfacb&quot;,&quot;autofigure_element_id&quot;:&quot;rollout-z1-to-z2&quot;}"/>
          <p:cNvCxnSpPr>
            <a:stCxn id="126" idx="3"/>
            <a:endCxn id="127" idx="1"/>
          </p:cNvCxnSpPr>
          <p:nvPr/>
        </p:nvCxnSpPr>
        <p:spPr>
          <a:xfrm>
            <a:off x="10982325" y="2990850"/>
            <a:ext cx="4667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rollout-z2-to-zh-connector-01" descr="{&quot;arrow_spec_sha256&quot;:&quot;efaf7995767a87968ee2b34c153a950065ed5f60e7fd8673221a46030fb0d77a&quot;,&quot;autofigure_element_id&quot;:&quot;rollout-z2-to-zh&quot;}"/>
          <p:cNvCxnSpPr>
            <a:stCxn id="127" idx="3"/>
            <a:endCxn id="128" idx="1"/>
          </p:cNvCxnSpPr>
          <p:nvPr/>
        </p:nvCxnSpPr>
        <p:spPr>
          <a:xfrm>
            <a:off x="11934825" y="2990850"/>
            <a:ext cx="7334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rollout-z0-to-pi0-connector-01" descr="{&quot;arrow_spec_sha256&quot;:&quot;62aa437f811c2704d0562268e73cafe4a11401ae568e957b1c264eff18363999&quot;,&quot;autofigure_element_id&quot;:&quot;rollout-z0-to-pi0&quot;}"/>
          <p:cNvCxnSpPr>
            <a:stCxn id="125" idx="2"/>
            <a:endCxn id="140" idx="0"/>
          </p:cNvCxnSpPr>
          <p:nvPr/>
        </p:nvCxnSpPr>
        <p:spPr>
          <a:xfrm>
            <a:off x="9839325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rollout-z1-to-pi1-connector-01" descr="{&quot;arrow_spec_sha256&quot;:&quot;fd7e896f11c0e894c5605cd0a55f0966385c41476cf5f14f91679a9734a1e188&quot;,&quot;autofigure_element_id&quot;:&quot;rollout-z1-to-pi1&quot;}"/>
          <p:cNvCxnSpPr>
            <a:stCxn id="126" idx="2"/>
            <a:endCxn id="141" idx="0"/>
          </p:cNvCxnSpPr>
          <p:nvPr/>
        </p:nvCxnSpPr>
        <p:spPr>
          <a:xfrm>
            <a:off x="10763250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af-rollout-z2-to-pi2-connector-01" descr="{&quot;arrow_spec_sha256&quot;:&quot;23aa9ddcc23ed34705ea14831614a9f92be4ee2d89408f173fdd223b5b20ff21&quot;,&quot;autofigure_element_id&quot;:&quot;rollout-z2-to-pi2&quot;}"/>
          <p:cNvCxnSpPr>
            <a:stCxn id="127" idx="2"/>
            <a:endCxn id="142" idx="0"/>
          </p:cNvCxnSpPr>
          <p:nvPr/>
        </p:nvCxnSpPr>
        <p:spPr>
          <a:xfrm>
            <a:off x="11715750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af-rollout-pi0-to-a0-freeform-arrow-01" descr="{&quot;arrow_spec_sha256&quot;:&quot;f297f4212bbaf79bc81e1538525275bb95d78d5c3fbc5076f932f3f4a9202497&quot;,&quot;autofigure_element_id&quot;:&quot;rollout-pi0-to-a0&quot;}"/>
          <p:cNvSpPr/>
          <p:nvPr/>
        </p:nvSpPr>
        <p:spPr>
          <a:xfrm>
            <a:off x="10010775" y="3781425"/>
            <a:ext cx="371475" cy="295275"/>
          </a:xfrm>
          <a:custGeom>
            <a:avLst/>
            <a:gdLst/>
            <a:ahLst/>
            <a:cxnLst/>
            <a:rect l="0" t="0" r="0" b="0"/>
            <a:pathLst>
              <a:path w="371475" h="295275">
                <a:moveTo>
                  <a:pt x="0" y="295275"/>
                </a:moveTo>
                <a:cubicBezTo>
                  <a:pt x="276225" y="266700"/>
                  <a:pt x="371475" y="142875"/>
                  <a:pt x="3143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2" name="af-rollout-pi1-to-a1-freeform-arrow-01" descr="{&quot;arrow_spec_sha256&quot;:&quot;80bc16fd8946a61a1d0c7178dbdbd8ac4d85d34bca79e1c966fdef806a265611&quot;,&quot;autofigure_element_id&quot;:&quot;rollout-pi1-to-a1&quot;}"/>
          <p:cNvSpPr/>
          <p:nvPr/>
        </p:nvSpPr>
        <p:spPr>
          <a:xfrm>
            <a:off x="10934700" y="3781425"/>
            <a:ext cx="352425" cy="295275"/>
          </a:xfrm>
          <a:custGeom>
            <a:avLst/>
            <a:gdLst/>
            <a:ahLst/>
            <a:cxnLst/>
            <a:rect l="0" t="0" r="0" b="0"/>
            <a:pathLst>
              <a:path w="352425" h="295275">
                <a:moveTo>
                  <a:pt x="0" y="295275"/>
                </a:moveTo>
                <a:cubicBezTo>
                  <a:pt x="257175" y="266700"/>
                  <a:pt x="352425" y="142875"/>
                  <a:pt x="30480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3" name="af-rollout-pi2-to-a2-freeform-arrow-01" descr="{&quot;arrow_spec_sha256&quot;:&quot;8c3a2ec0b5993063f2cabd8879419baaa0352aca827503318c5bf4022d70485a&quot;,&quot;autofigure_element_id&quot;:&quot;rollout-pi2-to-a2&quot;}"/>
          <p:cNvSpPr/>
          <p:nvPr/>
        </p:nvSpPr>
        <p:spPr>
          <a:xfrm>
            <a:off x="11887200" y="3781425"/>
            <a:ext cx="361950" cy="295275"/>
          </a:xfrm>
          <a:custGeom>
            <a:avLst/>
            <a:gdLst/>
            <a:ahLst/>
            <a:cxnLst/>
            <a:rect l="0" t="0" r="0" b="0"/>
            <a:pathLst>
              <a:path w="361950" h="295275">
                <a:moveTo>
                  <a:pt x="0" y="295275"/>
                </a:moveTo>
                <a:cubicBezTo>
                  <a:pt x="257175" y="266700"/>
                  <a:pt x="361950" y="142875"/>
                  <a:pt x="3143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4" name="af-rollout-a0-to-z1-freeform-arrow-01" descr="{&quot;arrow_spec_sha256&quot;:&quot;6e58ece868c5939e8982211c105139d70af47a839ac6b30cdf58eb58392049d2&quot;,&quot;autofigure_element_id&quot;:&quot;rollout-a0-to-z1&quot;}"/>
          <p:cNvSpPr/>
          <p:nvPr/>
        </p:nvSpPr>
        <p:spPr>
          <a:xfrm>
            <a:off x="10334625" y="3171825"/>
            <a:ext cx="238125" cy="209550"/>
          </a:xfrm>
          <a:custGeom>
            <a:avLst/>
            <a:gdLst/>
            <a:ahLst/>
            <a:cxnLst/>
            <a:rect l="0" t="0" r="0" b="0"/>
            <a:pathLst>
              <a:path w="238125" h="209550">
                <a:moveTo>
                  <a:pt x="0" y="209550"/>
                </a:moveTo>
                <a:cubicBezTo>
                  <a:pt x="190500" y="209550"/>
                  <a:pt x="238125" y="95250"/>
                  <a:pt x="2381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5" name="af-rollout-a1-to-z2-freeform-arrow-01" descr="{&quot;arrow_spec_sha256&quot;:&quot;29ae1ddb54088f6d2443b556aa6e4b20807f349a89f04edec077ef1d4775891b&quot;,&quot;autofigure_element_id&quot;:&quot;rollout-a1-to-z2&quot;}"/>
          <p:cNvSpPr/>
          <p:nvPr/>
        </p:nvSpPr>
        <p:spPr>
          <a:xfrm>
            <a:off x="11258550" y="3171825"/>
            <a:ext cx="266700" cy="209550"/>
          </a:xfrm>
          <a:custGeom>
            <a:avLst/>
            <a:gdLst/>
            <a:ahLst/>
            <a:cxnLst/>
            <a:rect l="0" t="0" r="0" b="0"/>
            <a:pathLst>
              <a:path w="266700" h="209550">
                <a:moveTo>
                  <a:pt x="0" y="209550"/>
                </a:moveTo>
                <a:cubicBezTo>
                  <a:pt x="200025" y="209550"/>
                  <a:pt x="266700" y="95250"/>
                  <a:pt x="26670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6" name="af-rollout-a2-to-next-freeform-arrow-01" descr="{&quot;arrow_spec_sha256&quot;:&quot;8e92be1f44bce5d76e810cc5db05054e1886b2e383ea77c31d539340fc4f4573&quot;,&quot;autofigure_element_id&quot;:&quot;rollout-a2-to-next&quot;}"/>
          <p:cNvSpPr/>
          <p:nvPr/>
        </p:nvSpPr>
        <p:spPr>
          <a:xfrm>
            <a:off x="12211050" y="3171825"/>
            <a:ext cx="219075" cy="209550"/>
          </a:xfrm>
          <a:custGeom>
            <a:avLst/>
            <a:gdLst/>
            <a:ahLst/>
            <a:cxnLst/>
            <a:rect l="0" t="0" r="0" b="0"/>
            <a:pathLst>
              <a:path w="219075" h="209550">
                <a:moveTo>
                  <a:pt x="0" y="209550"/>
                </a:moveTo>
                <a:cubicBezTo>
                  <a:pt x="219075" y="209550"/>
                  <a:pt x="209550" y="114300"/>
                  <a:pt x="20955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67" name="af-dense-trophy-text-01" descr="{&quot;autofigure_element_id&quot;:&quot;dense-trophy&quot;}"/>
          <p:cNvSpPr txBox="1"/>
          <p:nvPr/>
        </p:nvSpPr>
        <p:spPr>
          <a:xfrm>
            <a:off x="12268200" y="2204085"/>
            <a:ext cx="443484" cy="52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>
                <a:solidFill>
                  <a:srgbClr val="6F5C24"/>
                </a:solidFill>
                <a:latin typeface="Segoe UI Symbol"/>
              </a:rPr>
              <a:t>♕</a:t>
            </a:r>
          </a:p>
        </p:txBody>
      </p:sp>
      <p:sp>
        <p:nvSpPr>
          <p:cNvPr id="168" name="af-dense-reward-label-text-01" descr="{&quot;autofigure_element_id&quot;:&quot;dense-reward-label&quot;}"/>
          <p:cNvSpPr txBox="1"/>
          <p:nvPr/>
        </p:nvSpPr>
        <p:spPr>
          <a:xfrm>
            <a:off x="12620625" y="2142649"/>
            <a:ext cx="775335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dense</a:t>
            </a:r>
          </a:p>
        </p:txBody>
      </p:sp>
      <p:sp>
        <p:nvSpPr>
          <p:cNvPr id="169" name="af-dense-reward-label-2-text-01" descr="{&quot;autofigure_element_id&quot;:&quot;dense-reward-label-2&quot;}"/>
          <p:cNvSpPr txBox="1"/>
          <p:nvPr/>
        </p:nvSpPr>
        <p:spPr>
          <a:xfrm>
            <a:off x="12620625" y="2361724"/>
            <a:ext cx="862203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reward</a:t>
            </a:r>
          </a:p>
        </p:txBody>
      </p:sp>
      <p:sp>
        <p:nvSpPr>
          <p:cNvPr id="170" name="af-behavior-title-text-01" descr="{&quot;autofigure_element_id&quot;:&quot;behavior-title&quot;}"/>
          <p:cNvSpPr txBox="1"/>
          <p:nvPr/>
        </p:nvSpPr>
        <p:spPr>
          <a:xfrm>
            <a:off x="9601200" y="4480084"/>
            <a:ext cx="3864102" cy="51196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00000"/>
                </a:solidFill>
                <a:latin typeface="Arial"/>
              </a:rPr>
              <a:t>Task-Aware Behavior Learning</a:t>
            </a:r>
          </a:p>
        </p:txBody>
      </p:sp>
      <p:cxnSp>
        <p:nvCxnSpPr>
          <p:cNvPr id="171" name="af-mapping-to-imagination-connector-01" descr="{&quot;arrow_spec_sha256&quot;:&quot;35f5c5b14f7d55da1c3f80440453112a0bcf6f7d260e07f8da121d0d3ef86385&quot;,&quot;autofigure_element_id&quot;:&quot;mapping-to-imagination&quot;}"/>
          <p:cNvCxnSpPr>
            <a:stCxn id="19" idx="0"/>
            <a:endCxn id="105" idx="0"/>
          </p:cNvCxnSpPr>
          <p:nvPr/>
        </p:nvCxnSpPr>
        <p:spPr>
          <a:xfrm>
            <a:off x="9124950" y="619125"/>
            <a:ext cx="685800" cy="80010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f-joint-optimization-box-rect-01" descr="{&quot;autofigure_element_id&quot;:&quot;joint-optimization-box&quot;}"/>
          <p:cNvSpPr/>
          <p:nvPr/>
        </p:nvSpPr>
        <p:spPr>
          <a:xfrm>
            <a:off x="1781175" y="5200650"/>
            <a:ext cx="4010025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af-joint-optimization-label-text-01" descr="{&quot;autofigure_element_id&quot;:&quot;joint-optimization-label&quot;}"/>
          <p:cNvSpPr txBox="1"/>
          <p:nvPr/>
        </p:nvSpPr>
        <p:spPr>
          <a:xfrm>
            <a:off x="1883331" y="5289709"/>
            <a:ext cx="3815239" cy="3490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000000"/>
                </a:solidFill>
                <a:latin typeface="Arial"/>
              </a:rPr>
              <a:t>MLLM-WM Joint Optimization</a:t>
            </a:r>
          </a:p>
        </p:txBody>
      </p:sp>
      <p:sp>
        <p:nvSpPr>
          <p:cNvPr id="174" name="af-joint-loop-arrow-freeform-arrow-01" descr="{&quot;arrow_spec_sha256&quot;:&quot;11e8f198de3aa2ea64a78181ee4a87985cbb2a5d072f3d8e47093c566e3c29ad&quot;,&quot;autofigure_element_id&quot;:&quot;joint-loop-arrow&quot;}"/>
          <p:cNvSpPr/>
          <p:nvPr/>
        </p:nvSpPr>
        <p:spPr>
          <a:xfrm>
            <a:off x="1114425" y="4943475"/>
            <a:ext cx="600075" cy="514350"/>
          </a:xfrm>
          <a:custGeom>
            <a:avLst/>
            <a:gdLst/>
            <a:ahLst/>
            <a:cxnLst/>
            <a:rect l="0" t="0" r="0" b="0"/>
            <a:pathLst>
              <a:path w="600075" h="514350">
                <a:moveTo>
                  <a:pt x="600075" y="514350"/>
                </a:moveTo>
                <a:lnTo>
                  <a:pt x="209550" y="514350"/>
                </a:lnTo>
                <a:cubicBezTo>
                  <a:pt x="69850" y="514350"/>
                  <a:pt x="0" y="441325"/>
                  <a:pt x="0" y="295275"/>
                </a:cubicBezTo>
                <a:lnTo>
                  <a:pt x="0" y="0"/>
                </a:lnTo>
              </a:path>
            </a:pathLst>
          </a:custGeom>
          <a:noFill/>
          <a:ln w="95250" cap="rnd">
            <a:solidFill>
              <a:srgbClr val="D77E84"/>
            </a:solidFill>
            <a:round/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75" name="af-optimization-to-reward-freeform-01" descr="{&quot;autofigure_element_id&quot;:&quot;optimization-to-reward&quot;}"/>
          <p:cNvSpPr/>
          <p:nvPr/>
        </p:nvSpPr>
        <p:spPr>
          <a:xfrm>
            <a:off x="5819775" y="5305425"/>
            <a:ext cx="552450" cy="285750"/>
          </a:xfrm>
          <a:custGeom>
            <a:avLst/>
            <a:gdLst/>
            <a:ahLst/>
            <a:cxnLst/>
            <a:rect l="0" t="0" r="0" b="0"/>
            <a:pathLst>
              <a:path w="552450" h="285750">
                <a:moveTo>
                  <a:pt x="552450" y="66675"/>
                </a:moveTo>
                <a:lnTo>
                  <a:pt x="295275" y="66675"/>
                </a:lnTo>
                <a:lnTo>
                  <a:pt x="295275" y="0"/>
                </a:lnTo>
                <a:lnTo>
                  <a:pt x="0" y="142875"/>
                </a:lnTo>
                <a:lnTo>
                  <a:pt x="295275" y="285750"/>
                </a:lnTo>
                <a:lnTo>
                  <a:pt x="295275" y="209550"/>
                </a:lnTo>
                <a:lnTo>
                  <a:pt x="552450" y="209550"/>
                </a:lnTo>
                <a:close/>
              </a:path>
            </a:pathLst>
          </a:custGeom>
          <a:solidFill>
            <a:srgbClr val="D8747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6" name="af-reward-action-box-rect-01" descr="{&quot;autofigure_element_id&quot;:&quot;reward-action-box&quot;}"/>
          <p:cNvSpPr/>
          <p:nvPr/>
        </p:nvSpPr>
        <p:spPr>
          <a:xfrm>
            <a:off x="6419850" y="5181600"/>
            <a:ext cx="31146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af-reward-icon-text-01" descr="{&quot;autofigure_element_id&quot;:&quot;reward-icon&quot;}"/>
          <p:cNvSpPr txBox="1"/>
          <p:nvPr/>
        </p:nvSpPr>
        <p:spPr>
          <a:xfrm>
            <a:off x="6591300" y="5263039"/>
            <a:ext cx="458343" cy="38528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25">
                <a:solidFill>
                  <a:srgbClr val="88732D"/>
                </a:solidFill>
                <a:latin typeface="Segoe UI Symbol"/>
              </a:rPr>
              <a:t>♕</a:t>
            </a:r>
          </a:p>
        </p:txBody>
      </p:sp>
      <p:sp>
        <p:nvSpPr>
          <p:cNvPr id="178" name="af-reward-text-text-01" descr="{&quot;autofigure_element_id&quot;:&quot;reward-text&quot;}"/>
          <p:cNvSpPr txBox="1"/>
          <p:nvPr/>
        </p:nvSpPr>
        <p:spPr>
          <a:xfrm>
            <a:off x="6924675" y="5317331"/>
            <a:ext cx="1724025" cy="3309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75">
                <a:solidFill>
                  <a:srgbClr val="777777"/>
                </a:solidFill>
                <a:latin typeface="Arial"/>
              </a:rPr>
              <a:t>dense reward</a:t>
            </a:r>
          </a:p>
        </p:txBody>
      </p:sp>
      <p:sp>
        <p:nvSpPr>
          <p:cNvPr id="179" name="af-action-icon-ellipse-01" descr="{&quot;autofigure_element_id&quot;:&quot;action-icon&quot;}"/>
          <p:cNvSpPr/>
          <p:nvPr/>
        </p:nvSpPr>
        <p:spPr>
          <a:xfrm>
            <a:off x="8467725" y="530542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B97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af-action-icon-path-freeform-01" descr="{&quot;autofigure_element_id&quot;:&quot;action-icon-path&quot;}"/>
          <p:cNvSpPr/>
          <p:nvPr/>
        </p:nvSpPr>
        <p:spPr>
          <a:xfrm>
            <a:off x="8505825" y="5372100"/>
            <a:ext cx="247650" cy="133350"/>
          </a:xfrm>
          <a:custGeom>
            <a:avLst/>
            <a:gdLst/>
            <a:ahLst/>
            <a:cxnLst/>
            <a:rect l="0" t="0" r="0" b="0"/>
            <a:pathLst>
              <a:path w="247650" h="133350">
                <a:moveTo>
                  <a:pt x="0" y="95250"/>
                </a:moveTo>
                <a:lnTo>
                  <a:pt x="47625" y="95250"/>
                </a:lnTo>
                <a:lnTo>
                  <a:pt x="47625" y="19050"/>
                </a:lnTo>
                <a:lnTo>
                  <a:pt x="95250" y="19050"/>
                </a:lnTo>
                <a:lnTo>
                  <a:pt x="95250" y="133350"/>
                </a:lnTo>
                <a:lnTo>
                  <a:pt x="142875" y="133350"/>
                </a:lnTo>
                <a:lnTo>
                  <a:pt x="142875" y="0"/>
                </a:lnTo>
                <a:lnTo>
                  <a:pt x="190500" y="0"/>
                </a:lnTo>
                <a:lnTo>
                  <a:pt x="190500" y="95250"/>
                </a:lnTo>
                <a:lnTo>
                  <a:pt x="247650" y="95250"/>
                </a:lnTo>
              </a:path>
            </a:pathLst>
          </a:custGeom>
          <a:noFill/>
          <a:ln w="28575">
            <a:solidFill>
              <a:srgbClr val="5B9734"/>
            </a:solidFill>
            <a:miter/>
          </a:ln>
        </p:spPr>
        <p:txBody>
          <a:bodyPr/>
          <a:lstStyle/>
          <a:p>
            <a:endParaRPr/>
          </a:p>
        </p:txBody>
      </p:sp>
      <p:sp>
        <p:nvSpPr>
          <p:cNvPr id="181" name="af-action-text-text-01" descr="{&quot;autofigure_element_id&quot;:&quot;action-text&quot;}"/>
          <p:cNvSpPr txBox="1"/>
          <p:nvPr/>
        </p:nvSpPr>
        <p:spPr>
          <a:xfrm>
            <a:off x="8848725" y="5343525"/>
            <a:ext cx="62865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777777"/>
                </a:solidFill>
                <a:latin typeface="Arial"/>
              </a:rPr>
              <a:t>action</a:t>
            </a:r>
          </a:p>
        </p:txBody>
      </p:sp>
      <p:sp>
        <p:nvSpPr>
          <p:cNvPr id="182" name="af-behavior-to-reward-freeform-01" descr="{&quot;autofigure_element_id&quot;:&quot;behavior-to-reward&quot;}"/>
          <p:cNvSpPr/>
          <p:nvPr/>
        </p:nvSpPr>
        <p:spPr>
          <a:xfrm>
            <a:off x="9505950" y="4914900"/>
            <a:ext cx="581025" cy="285750"/>
          </a:xfrm>
          <a:custGeom>
            <a:avLst/>
            <a:gdLst/>
            <a:ahLst/>
            <a:cxnLst/>
            <a:rect l="0" t="0" r="0" b="0"/>
            <a:pathLst>
              <a:path w="581025" h="285750">
                <a:moveTo>
                  <a:pt x="581025" y="19050"/>
                </a:moveTo>
                <a:lnTo>
                  <a:pt x="95250" y="200025"/>
                </a:lnTo>
                <a:lnTo>
                  <a:pt x="142875" y="285750"/>
                </a:lnTo>
                <a:lnTo>
                  <a:pt x="0" y="247650"/>
                </a:lnTo>
                <a:lnTo>
                  <a:pt x="28575" y="104775"/>
                </a:lnTo>
                <a:lnTo>
                  <a:pt x="66675" y="180975"/>
                </a:lnTo>
                <a:lnTo>
                  <a:pt x="542925" y="0"/>
                </a:lnTo>
                <a:close/>
              </a:path>
            </a:pathLst>
          </a:custGeom>
          <a:solidFill>
            <a:srgbClr val="D8747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3" name="af-interaction-label-text-01" descr="{&quot;autofigure_element_id&quot;:&quot;interaction-label&quot;}"/>
          <p:cNvSpPr txBox="1"/>
          <p:nvPr/>
        </p:nvSpPr>
        <p:spPr>
          <a:xfrm>
            <a:off x="9874091" y="5153501"/>
            <a:ext cx="1244918" cy="4405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>
                <a:solidFill>
                  <a:srgbClr val="000000"/>
                </a:solidFill>
                <a:latin typeface="Arial"/>
              </a:rPr>
              <a:t>interaction</a:t>
            </a:r>
          </a:p>
        </p:txBody>
      </p:sp>
      <p:sp>
        <p:nvSpPr>
          <p:cNvPr id="184" name="af-interaction-exchange-block-arrow-autoshape-01" descr="{&quot;arrow_spec_sha256&quot;:&quot;c81c2d12be45956611bfd35a779c39c8e3144f198070787cdc5d34249a579e15&quot;,&quot;autofigure_element_id&quot;:&quot;interaction-exchange&quot;}"/>
          <p:cNvSpPr/>
          <p:nvPr/>
        </p:nvSpPr>
        <p:spPr>
          <a:xfrm>
            <a:off x="9658350" y="5367338"/>
            <a:ext cx="1524000" cy="161925"/>
          </a:xfrm>
          <a:prstGeom prst="leftRightArrow">
            <a:avLst>
              <a:gd name="adj1" fmla="val 52941"/>
              <a:gd name="adj2" fmla="val 47058"/>
            </a:avLst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af-atomic-environment-globe-atomic-raster-01" descr="{&quot;autofigure_element_id&quot;:&quot;atomic:environment-globe&quot;}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315700" y="5076825"/>
            <a:ext cx="762000" cy="771525"/>
          </a:xfrm>
          <a:prstGeom prst="rect">
            <a:avLst/>
          </a:prstGeom>
        </p:spPr>
      </p:pic>
      <p:sp>
        <p:nvSpPr>
          <p:cNvPr id="186" name="af-environment-label-text-01" descr="{&quot;autofigure_element_id&quot;:&quot;environment-label&quot;}"/>
          <p:cNvSpPr txBox="1"/>
          <p:nvPr/>
        </p:nvSpPr>
        <p:spPr>
          <a:xfrm>
            <a:off x="12125325" y="5439728"/>
            <a:ext cx="1480375" cy="4524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Arial"/>
              </a:rPr>
              <a:t>Environment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PROJECTID" val="HEX:6175746F6669677572652D30312D6D6F64756C61722D6167656E742D7265666572656E63652D6F6E6C79"/>
  <p:tag name="AISCIENTIFICILLUSTRATORTASKMODE" val="HEX:5245434F4E5354525543545F31544F31"/>
  <p:tag name="AISCIENTIFICILLUSTRATORTARGETID" val="HEX:6175746F6669677572652D70707478"/>
  <p:tag name="AISCIENTIFICILLUSTRATORSCENESCHEMAVERSION" val="HEX:322E312E30"/>
  <p:tag name="AISCIENTIFICILLUSTRATORREVISION" val="HEX:30"/>
  <p:tag name="AISCIENTIFICILLUSTRATORSESSIONID" val="HEX:65626261373533322D616430622D346166622D383663622D666131386235373135616665"/>
  <p:tag name="AISCIENTIFICILLUSTRATORSCENEGRAPHSHA256" val="HEX:63316330316239653631396532633464303130346337643934653061343736666136666433636561343337353130313664376139306566386464373937326365"/>
  <p:tag name="AISCIENTIFICILLUSTRATORRENDERPLANSHA256" val="HEX:623537373964613765333139353432633864303535333834623034386530396366663532353331306266343237346633656535323762313635656136643963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tomic:observation"/>
  <p:tag name="AISCIENTIFICILLUSTRATORSOURCESHA256" val="61c6c0a2d3ee6722cb36713edacd8310a676e2855245e250f1f1a8cae56f5e9f"/>
  <p:tag name="AISCIENTIFICILLUSTRATORRASTERREASON" val="The embedded observation photograph cannot be faithfully reconstructed with native PowerPoint geometry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Only the photograph is raster; its label and all connecting arrows remain native editable objects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tomic:environment-globe"/>
  <p:tag name="AISCIENTIFICILLUSTRATORSOURCESHA256" val="3bfe64f24f546aab0797223e0256f9da48314e668dc18d93a0b27347b84ba21d"/>
  <p:tag name="AISCIENTIFICILLUSTRATORRASTERREASON" val="The illustrated globe is a creative microasset whose native redraw materially reduces reference fidelity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Only the globe is raster; the Environment label and interaction arrows remain native editable objects.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</Words>
  <Application>Microsoft Office PowerPoint</Application>
  <PresentationFormat>自定义</PresentationFormat>
  <Paragraphs>67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Segoe UI Symbol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3</cp:revision>
  <dcterms:created xsi:type="dcterms:W3CDTF">2013-01-27T09:14:16Z</dcterms:created>
  <dcterms:modified xsi:type="dcterms:W3CDTF">2026-08-23T18:40:10Z</dcterms:modified>
  <cp:category/>
</cp:coreProperties>
</file>