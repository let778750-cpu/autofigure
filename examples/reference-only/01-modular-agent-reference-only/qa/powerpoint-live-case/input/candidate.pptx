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3611225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tags" Target="../tags/tag1.xml"/><Relationship Id="rId4" Type="http://schemas.openxmlformats.org/officeDocument/2006/relationships/image" Target="../media/image2.png"/><Relationship Id="rId5" Type="http://schemas.openxmlformats.org/officeDocument/2006/relationships/tags" Target="../tags/tag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f-background-rect-01"/>
          <p:cNvSpPr/>
          <p:nvPr/>
        </p:nvSpPr>
        <p:spPr>
          <a:xfrm>
            <a:off x="0" y="0"/>
            <a:ext cx="13611225" cy="59721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f-joint-panel-rect-01"/>
          <p:cNvSpPr/>
          <p:nvPr/>
        </p:nvSpPr>
        <p:spPr>
          <a:xfrm>
            <a:off x="171450" y="1019175"/>
            <a:ext cx="9020175" cy="391477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55F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af-behavior-panel-rect-01"/>
          <p:cNvSpPr/>
          <p:nvPr/>
        </p:nvSpPr>
        <p:spPr>
          <a:xfrm>
            <a:off x="9315450" y="1019175"/>
            <a:ext cx="4124325" cy="391477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55F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f-task-input-box-rect-01"/>
          <p:cNvSpPr/>
          <p:nvPr/>
        </p:nvSpPr>
        <p:spPr>
          <a:xfrm>
            <a:off x="276225" y="152400"/>
            <a:ext cx="3429000" cy="733425"/>
          </a:xfrm>
          <a:prstGeom prst="roundRect">
            <a:avLst>
              <a:gd name="adj" fmla="val 16883"/>
            </a:avLst>
          </a:prstGeom>
          <a:solidFill>
            <a:srgbClr val="F3F3F3"/>
          </a:solidFill>
          <a:ln w="22860">
            <a:solidFill>
              <a:srgbClr val="1834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f-user-icon-ring-ellipse-01"/>
          <p:cNvSpPr/>
          <p:nvPr/>
        </p:nvSpPr>
        <p:spPr>
          <a:xfrm>
            <a:off x="419100" y="285750"/>
            <a:ext cx="457200" cy="4572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f-user-icon-head-ellipse-01"/>
          <p:cNvSpPr/>
          <p:nvPr/>
        </p:nvSpPr>
        <p:spPr>
          <a:xfrm>
            <a:off x="581025" y="333375"/>
            <a:ext cx="133350" cy="13335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f-user-icon-body-freeform-01"/>
          <p:cNvSpPr/>
          <p:nvPr/>
        </p:nvSpPr>
        <p:spPr>
          <a:xfrm>
            <a:off x="485775" y="466725"/>
            <a:ext cx="323850" cy="190500"/>
          </a:xfrm>
          <a:custGeom>
            <a:avLst/>
            <a:gdLst/>
            <a:ahLst/>
            <a:cxnLst/>
            <a:rect l="0" t="0" r="0" b="0"/>
            <a:pathLst>
              <a:path w="323850" h="190500">
                <a:moveTo>
                  <a:pt x="0" y="190500"/>
                </a:moveTo>
                <a:cubicBezTo>
                  <a:pt x="0" y="57150"/>
                  <a:pt x="57150" y="0"/>
                  <a:pt x="161925" y="0"/>
                </a:cubicBezTo>
                <a:cubicBezTo>
                  <a:pt x="266700" y="0"/>
                  <a:pt x="323850" y="57150"/>
                  <a:pt x="323850" y="190500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/>
          <a:p/>
        </p:txBody>
      </p:sp>
      <p:sp>
        <p:nvSpPr>
          <p:cNvPr id="9" name="af-task-line-1-text-01"/>
          <p:cNvSpPr txBox="1"/>
          <p:nvPr/>
        </p:nvSpPr>
        <p:spPr>
          <a:xfrm>
            <a:off x="1076325" y="285750"/>
            <a:ext cx="2118360" cy="4286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>
                <a:solidFill>
                  <a:srgbClr val="000000"/>
                </a:solidFill>
                <a:latin typeface="Arial"/>
              </a:rPr>
              <a:t>Task 1: Turn on lamp</a:t>
            </a:r>
          </a:p>
        </p:txBody>
      </p:sp>
      <p:sp>
        <p:nvSpPr>
          <p:cNvPr id="10" name="af-task-line-2-text-01"/>
          <p:cNvSpPr txBox="1"/>
          <p:nvPr/>
        </p:nvSpPr>
        <p:spPr>
          <a:xfrm>
            <a:off x="1076325" y="561975"/>
            <a:ext cx="2571750" cy="2667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>
                <a:solidFill>
                  <a:srgbClr val="000000"/>
                </a:solidFill>
                <a:latin typeface="Arial"/>
              </a:rPr>
              <a:t>Task 2: Close top drawer ...</a:t>
            </a:r>
          </a:p>
        </p:txBody>
      </p:sp>
      <p:sp>
        <p:nvSpPr>
          <p:cNvPr id="11" name="af-task-encoder-rect-01"/>
          <p:cNvSpPr/>
          <p:nvPr/>
        </p:nvSpPr>
        <p:spPr>
          <a:xfrm>
            <a:off x="4143375" y="161925"/>
            <a:ext cx="1181100" cy="742950"/>
          </a:xfrm>
          <a:prstGeom prst="roundRect">
            <a:avLst>
              <a:gd name="adj" fmla="val 17948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af-task-encoder-line1-text-01"/>
          <p:cNvSpPr txBox="1"/>
          <p:nvPr/>
        </p:nvSpPr>
        <p:spPr>
          <a:xfrm>
            <a:off x="4401502" y="304800"/>
            <a:ext cx="664845" cy="4286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task</a:t>
            </a:r>
          </a:p>
        </p:txBody>
      </p:sp>
      <p:sp>
        <p:nvSpPr>
          <p:cNvPr id="13" name="af-task-encoder-line2-text-01"/>
          <p:cNvSpPr txBox="1"/>
          <p:nvPr/>
        </p:nvSpPr>
        <p:spPr>
          <a:xfrm>
            <a:off x="4235768" y="571500"/>
            <a:ext cx="996315" cy="2667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Encoder</a:t>
            </a:r>
          </a:p>
        </p:txBody>
      </p:sp>
      <p:sp>
        <p:nvSpPr>
          <p:cNvPr id="14" name="af-tau-box-rect-01"/>
          <p:cNvSpPr/>
          <p:nvPr/>
        </p:nvSpPr>
        <p:spPr>
          <a:xfrm>
            <a:off x="5686425" y="342900"/>
            <a:ext cx="1219200" cy="409575"/>
          </a:xfrm>
          <a:prstGeom prst="rect">
            <a:avLst/>
          </a:prstGeom>
          <a:solidFill>
            <a:srgbClr val="FFFFFF"/>
          </a:solidFill>
          <a:ln w="28575">
            <a:solidFill>
              <a:srgbClr val="1834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math:001" descr="AI_AUTOFIGURE_NATIVE_MATH_V1:eyJjb250ZW50X3J1bnMiOlt7ImNhbm9uaWNhbF9sYXRleCI6IlxcdGF1IiwiZm9ybXVsYV9pZCI6IkVRMDAxIiwia2luZCI6Im1hdGgiLCJsYXRleF9zaGEyNTYiOiI1NWQxODIzNTQ1YjViNGMzY2JjNDJiNzg0YzVlODQ2MDVmZmJlOGU1OWQxZGVlOTc4MmNkODc3NDFlZWY5ZGMzIiwibW9kZSI6ImlubGluZSIsIm9tbWxfc2hhMjU2IjoiNjI3NThjYWJiNjU4Yjc3NjgxYmFhNjE0ZmE0MDA1M2M0NDliNWZjZTkzMmYxYzlhNGQxZTNhMTBlZjI2MWFiMiIsInNlbWFudGljX29tbWxfcHJvZmlsZSI6Im9mZmljZS1tYXRoLXNlbWFudGljLXYyIiwic2VtYW50aWNfb21tbF9zaGEyNTYiOiIxZjMyN2Q3M2RkZGIzMWY1YWJjZmZiY2QwODNlMWJmOGIwNWEzMGY2ZGZkMDk2ZWFjZjdlYjljYTBlMTBhMzY4In1dLCJmb3JtdWxhcyI6W3siY2Fub25pY2FsX2xhdGV4IjoiXFx0YXUiLCJmb3JtdWxhX2lkIjoiRVEwMDEiLCJsYXRleF9zaGEyNTYiOiI1NWQxODIzNTQ1YjViNGMzY2JjNDJiNzg0YzVlODQ2MDVmZmJlOGU1OWQxZGVlOTc4MmNkODc3NDFlZWY5ZGMzIiwibW9kZSI6ImlubGluZSIsIm9tbWxfc2hhMjU2IjoiNjI3NThjYWJiNjU4Yjc3NjgxYmFhNjE0ZmE0MDA1M2M0NDliNWZjZTkzMmYxYzlhNGQxZTNhMTBlZjI2MWFiMiIsInNlbWFudGljX29tbWxfcHJvZmlsZSI6Im9mZmljZS1tYXRoLXNlbWFudGljLXYyIiwic2VtYW50aWNfb21tbF9zaGEyNTYiOiIxZjMyN2Q3M2RkZGIzMWY1YWJjZmZiY2QwODNlMWJmOGIwNWEzMGY2ZGZkMDk2ZWFjZjdlYjljYTBlMTBhMzY4In1dLCJraW5kIjoibmF0aXZlX29mZmljZV9tYXRoIiwicGxhY2Vob2xkZXJfbmFtZSI6Im1hdGg6MDAxIiwic2NoZW1hX3ZlcnNpb24iOiIxLjAifQ=="/>
              <p:cNvSpPr txBox="1"/>
              <p:nvPr/>
            </p:nvSpPr>
            <p:spPr>
              <a:xfrm>
                <a:off x="6081712" y="58103"/>
                <a:ext cx="409575" cy="452438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dirty="0" sz="1650">
                        <a:solidFill>
                          <a:srgbClr val="000000"/>
                        </a:solidFill>
                        <a:latin typeface="Cambria Math"/>
                      </a:rPr>
                      <m:t>τ</m:t>
                    </m:r>
                  </m:oMath>
                </a14:m>
                <a:endParaRPr lang="en-US" dirty="0" sz="1650">
                  <a:solidFill>
                    <a:srgbClr val="000000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5" name="math:001" descr="AI_AUTOFIGURE_MATH_FALLBACK_ONLY_V1:eyJjb250ZW50X3J1bnMiOlt7ImNhbm9uaWNhbF9sYXRleCI6IlxcdGF1IiwiZm9ybXVsYV9pZCI6IkVRMDAxIiwia2luZCI6Im1hdGgiLCJsYXRleF9zaGEyNTYiOiI1NWQxODIzNTQ1YjViNGMzY2JjNDJiNzg0YzVlODQ2MDVmZmJlOGU1OWQxZGVlOTc4MmNkODc3NDFlZWY5ZGMzIiwibW9kZSI6ImlubGluZSIsIm9tbWxfc2hhMjU2IjoiNjI3NThjYWJiNjU4Yjc3NjgxYmFhNjE0ZmE0MDA1M2M0NDliNWZjZTkzMmYxYzlhNGQxZTNhMTBlZjI2MWFiMiIsInNlbWFudGljX29tbWxfcHJvZmlsZSI6Im9mZmljZS1tYXRoLXNlbWFudGljLXYyIiwic2VtYW50aWNfb21tbF9zaGEyNTYiOiIxZjMyN2Q3M2RkZGIzMWY1YWJjZmZiY2QwODNlMWJmOGIwNWEzMGY2ZGZkMDk2ZWFjZjdlYjljYTBlMTBhMzY4In1dLCJmb3JtdWxhcyI6W3siY2Fub25pY2FsX2xhdGV4IjoiXFx0YXUiLCJmb3JtdWxhX2lkIjoiRVEwMDEiLCJsYXRleF9zaGEyNTYiOiI1NWQxODIzNTQ1YjViNGMzY2JjNDJiNzg0YzVlODQ2MDVmZmJlOGU1OWQxZGVlOTc4MmNkODc3NDFlZWY5ZGMzIiwibW9kZSI6ImlubGluZSIsIm9tbWxfc2hhMjU2IjoiNjI3NThjYWJiNjU4Yjc3NjgxYmFhNjE0ZmE0MDA1M2M0NDliNWZjZTkzMmYxYzlhNGQxZTNhMTBlZjI2MWFiMiIsInNlbWFudGljX29tbWxfcHJvZmlsZSI6Im9mZmljZS1tYXRoLXNlbWFudGljLXYyIiwic2VtYW50aWNfb21tbF9zaGEyNTYiOiIxZjMyN2Q3M2RkZGIzMWY1YWJjZmZiY2QwODNlMWJmOGIwNWEzMGY2ZGZkMDk2ZWFjZjdlYjljYTBlMTBhMzY4In1dLCJraW5kIjoibmF0aXZlX29mZmljZV9tYXRoIiwicGxhY2Vob2xkZXJfbmFtZSI6Im1hdGg6MDAxIiwic2NoZW1hX3ZlcnNpb24iOiIxLjAifQ=="/>
              <p:cNvSpPr txBox="1"/>
              <p:nvPr/>
            </p:nvSpPr>
            <p:spPr>
              <a:xfrm>
                <a:off x="6081712" y="58103"/>
                <a:ext cx="409575" cy="452438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650">
                    <a:solidFill>
                      <a:srgbClr val="000000"/>
                    </a:solidFill>
                  </a:rPr>
                  <a:t>\(\tau\)</a:t>
                </a:r>
                <a:endParaRPr lang="en-US" dirty="0" sz="1650">
                  <a:solidFill>
                    <a:srgbClr val="000000"/>
                  </a:solidFill>
                </a:endParaRPr>
              </a:p>
            </p:txBody>
          </p:sp>
        </mc:Fallback>
      </mc:AlternateContent>
      <p:sp>
        <p:nvSpPr>
          <p:cNvPr id="16" name="af-tau-node-1-ellipse-01"/>
          <p:cNvSpPr/>
          <p:nvPr/>
        </p:nvSpPr>
        <p:spPr>
          <a:xfrm>
            <a:off x="5781675" y="390525"/>
            <a:ext cx="323850" cy="323850"/>
          </a:xfrm>
          <a:prstGeom prst="ellipse">
            <a:avLst/>
          </a:prstGeom>
          <a:solidFill>
            <a:srgbClr val="B7B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f-tau-node-2-ellipse-01"/>
          <p:cNvSpPr/>
          <p:nvPr/>
        </p:nvSpPr>
        <p:spPr>
          <a:xfrm>
            <a:off x="6134100" y="390525"/>
            <a:ext cx="323850" cy="323850"/>
          </a:xfrm>
          <a:prstGeom prst="ellipse">
            <a:avLst/>
          </a:prstGeom>
          <a:solidFill>
            <a:srgbClr val="B7B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f-tau-node-3-ellipse-01"/>
          <p:cNvSpPr/>
          <p:nvPr/>
        </p:nvSpPr>
        <p:spPr>
          <a:xfrm>
            <a:off x="6486525" y="390525"/>
            <a:ext cx="323850" cy="323850"/>
          </a:xfrm>
          <a:prstGeom prst="ellipse">
            <a:avLst/>
          </a:prstGeom>
          <a:solidFill>
            <a:srgbClr val="B7B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f-mapping-box-rect-01"/>
          <p:cNvSpPr/>
          <p:nvPr/>
        </p:nvSpPr>
        <p:spPr>
          <a:xfrm>
            <a:off x="7286625" y="323850"/>
            <a:ext cx="1771650" cy="447675"/>
          </a:xfrm>
          <a:prstGeom prst="roundRect">
            <a:avLst>
              <a:gd name="adj" fmla="val 14893"/>
            </a:avLst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af-mapping-label-text-01"/>
          <p:cNvSpPr txBox="1"/>
          <p:nvPr/>
        </p:nvSpPr>
        <p:spPr>
          <a:xfrm>
            <a:off x="7515225" y="457200"/>
            <a:ext cx="1015365" cy="24765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mapping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math:002" descr="AI_AUTOFIGURE_NATIVE_MATH_V1:eyJjb250ZW50X3J1bnMiOlt7ImNhbm9uaWNhbF9sYXRleCI6ImZfe21hcH0iLCJmb3JtdWxhX2lkIjoiRVEwMDIiLCJraW5kIjoibWF0aCIsImxhdGV4X3NoYTI1NiI6IjU3MWIwZGZjYzU5NDUzMDFiMDU2Y2I1Mzc2YzZhYzQ1MDM5ODY0ZTYxYjU0OGQ2ZWM2NDhhNGQ2NzgxZTAyZmQiLCJtb2RlIjoiaW5saW5lIiwib21tbF9zaGEyNTYiOiIwYjY0N2UwMjhhZjI2MTk5NjIyNDYwZjhhNGFkYzNkN2I1M2U3MGMxZTRlM2RjYjcyN2IwZjlmOWMzODc3OGJjIiwic2VtYW50aWNfb21tbF9wcm9maWxlIjoib2ZmaWNlLW1hdGgtc2VtYW50aWMtdjIiLCJzZW1hbnRpY19vbW1sX3NoYTI1NiI6ImI4Yzg4NzY2ZWQ2NDRiZGVlYTJkZThkMTUyOWYyYzg5N2U5NzM4ODYyMTllOTI1ODBmODExZjAyOGVhNmRjYzcifV0sImZvcm11bGFzIjpbeyJjYW5vbmljYWxfbGF0ZXgiOiJmX3ttYXB9IiwiZm9ybXVsYV9pZCI6IkVRMDAyIiwibGF0ZXhfc2hhMjU2IjoiNTcxYjBkZmNjNTk0NTMwMWIwNTZjYjUzNzZjNmFjNDUwMzk4NjRlNjFiNTQ4ZDZlYzY0OGE0ZDY3ODFlMDJmZCIsIm1vZGUiOiJpbmxpbmUiLCJvbW1sX3NoYTI1NiI6IjBiNjQ3ZTAyOGFmMjYxOTk2MjI0NjBmOGE0YWRjM2Q3YjUzZTcwYzFlNGUzZGNiNzI3YjBmOWY5YzM4Nzc4YmMiLCJzZW1hbnRpY19vbW1sX3Byb2ZpbGUiOiJvZmZpY2UtbWF0aC1zZW1hbnRpYy12MiIsInNlbWFudGljX29tbWxfc2hhMjU2IjoiYjhjODg3NjZlZDY0NGJkZWVhMmRlOGQxNTI5ZjJjODk3ZTk3Mzg4NjIxOWU5MjU4MGY4MTFmMDI4ZWE2ZGNjNyJ9XSwia2luZCI6Im5hdGl2ZV9vZmZpY2VfbWF0aCIsInBsYWNlaG9sZGVyX25hbWUiOiJtYXRoOjAwMiIsInNjaGVtYV92ZXJzaW9uIjoiMS4wIn0="/>
              <p:cNvSpPr txBox="1"/>
              <p:nvPr/>
            </p:nvSpPr>
            <p:spPr>
              <a:xfrm>
                <a:off x="8477250" y="455771"/>
                <a:ext cx="514350" cy="249079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sSub>
                      <m:e>
                        <m:r>
                          <a:rPr lang="en-US" dirty="0" sz="1275">
                            <a:solidFill>
                              <a:srgbClr val="000000"/>
                            </a:solidFill>
                            <a:latin typeface="Cambria Math"/>
                          </a:rPr>
                          <m:t>f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000000"/>
                            </a:solidFill>
                            <a:latin typeface="Cambria Math"/>
                          </a:rPr>
                          <m:t>map</m:t>
                        </m:r>
                      </m:sub>
                    </m:sSub>
                  </m:oMath>
                </a14:m>
                <a:endParaRPr lang="en-US" dirty="0" sz="1275">
                  <a:solidFill>
                    <a:srgbClr val="000000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21" name="math:002" descr="AI_AUTOFIGURE_MATH_FALLBACK_ONLY_V1:eyJjb250ZW50X3J1bnMiOlt7ImNhbm9uaWNhbF9sYXRleCI6ImZfe21hcH0iLCJmb3JtdWxhX2lkIjoiRVEwMDIiLCJraW5kIjoibWF0aCIsImxhdGV4X3NoYTI1NiI6IjU3MWIwZGZjYzU5NDUzMDFiMDU2Y2I1Mzc2YzZhYzQ1MDM5ODY0ZTYxYjU0OGQ2ZWM2NDhhNGQ2NzgxZTAyZmQiLCJtb2RlIjoiaW5saW5lIiwib21tbF9zaGEyNTYiOiIwYjY0N2UwMjhhZjI2MTk5NjIyNDYwZjhhNGFkYzNkN2I1M2U3MGMxZTRlM2RjYjcyN2IwZjlmOWMzODc3OGJjIiwic2VtYW50aWNfb21tbF9wcm9maWxlIjoib2ZmaWNlLW1hdGgtc2VtYW50aWMtdjIiLCJzZW1hbnRpY19vbW1sX3NoYTI1NiI6ImI4Yzg4NzY2ZWQ2NDRiZGVlYTJkZThkMTUyOWYyYzg5N2U5NzM4ODYyMTllOTI1ODBmODExZjAyOGVhNmRjYzcifV0sImZvcm11bGFzIjpbeyJjYW5vbmljYWxfbGF0ZXgiOiJmX3ttYXB9IiwiZm9ybXVsYV9pZCI6IkVRMDAyIiwibGF0ZXhfc2hhMjU2IjoiNTcxYjBkZmNjNTk0NTMwMWIwNTZjYjUzNzZjNmFjNDUwMzk4NjRlNjFiNTQ4ZDZlYzY0OGE0ZDY3ODFlMDJmZCIsIm1vZGUiOiJpbmxpbmUiLCJvbW1sX3NoYTI1NiI6IjBiNjQ3ZTAyOGFmMjYxOTk2MjI0NjBmOGE0YWRjM2Q3YjUzZTcwYzFlNGUzZGNiNzI3YjBmOWY5YzM4Nzc4YmMiLCJzZW1hbnRpY19vbW1sX3Byb2ZpbGUiOiJvZmZpY2UtbWF0aC1zZW1hbnRpYy12MiIsInNlbWFudGljX29tbWxfc2hhMjU2IjoiYjhjODg3NjZlZDY0NGJkZWVhMmRlOGQxNTI5ZjJjODk3ZTk3Mzg4NjIxOWU5MjU4MGY4MTFmMDI4ZWE2ZGNjNyJ9XSwia2luZCI6Im5hdGl2ZV9vZmZpY2VfbWF0aCIsInBsYWNlaG9sZGVyX25hbWUiOiJtYXRoOjAwMiIsInNjaGVtYV92ZXJzaW9uIjoiMS4wIn0="/>
              <p:cNvSpPr txBox="1"/>
              <p:nvPr/>
            </p:nvSpPr>
            <p:spPr>
              <a:xfrm>
                <a:off x="8477250" y="455771"/>
                <a:ext cx="514350" cy="249079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l"/>
                <a:r>
                  <a:rPr lang="en-US" dirty="0" sz="1275">
                    <a:solidFill>
                      <a:srgbClr val="000000"/>
                    </a:solidFill>
                  </a:rPr>
                  <a:t>\(f_{map}\)</a:t>
                </a:r>
                <a:endParaRPr lang="en-US" dirty="0" sz="1275">
                  <a:solidFill>
                    <a:srgbClr val="000000"/>
                  </a:solidFill>
                </a:endParaRPr>
              </a:p>
            </p:txBody>
          </p:sp>
        </mc:Fallback>
      </mc:AlternateContent>
      <p:cxnSp>
        <p:nvCxnSpPr>
          <p:cNvPr id="22" name="af-task-input-to-encoder-connector-01"/>
          <p:cNvCxnSpPr>
            <a:stCxn id="5" idx="0"/>
            <a:endCxn id="11" idx="0"/>
          </p:cNvCxnSpPr>
          <p:nvPr/>
        </p:nvCxnSpPr>
        <p:spPr>
          <a:xfrm>
            <a:off x="3800475" y="533400"/>
            <a:ext cx="247650" cy="0"/>
          </a:xfrm>
          <a:prstGeom prst="line">
            <a:avLst/>
          </a:prstGeom>
          <a:ln w="66675">
            <a:solidFill>
              <a:srgbClr val="7F7F7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af-task-encoder-to-tau-connector-01"/>
          <p:cNvCxnSpPr>
            <a:stCxn id="11" idx="0"/>
            <a:endCxn id="14" idx="0"/>
          </p:cNvCxnSpPr>
          <p:nvPr/>
        </p:nvCxnSpPr>
        <p:spPr>
          <a:xfrm>
            <a:off x="5391150" y="533400"/>
            <a:ext cx="228600" cy="0"/>
          </a:xfrm>
          <a:prstGeom prst="line">
            <a:avLst/>
          </a:prstGeom>
          <a:ln w="66675">
            <a:solidFill>
              <a:srgbClr val="7F7F7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af-tau-to-mapping-connector-01"/>
          <p:cNvCxnSpPr>
            <a:stCxn id="14" idx="0"/>
            <a:endCxn id="19" idx="0"/>
          </p:cNvCxnSpPr>
          <p:nvPr/>
        </p:nvCxnSpPr>
        <p:spPr>
          <a:xfrm>
            <a:off x="6981825" y="533400"/>
            <a:ext cx="238125" cy="0"/>
          </a:xfrm>
          <a:prstGeom prst="line">
            <a:avLst/>
          </a:prstGeom>
          <a:ln w="66675">
            <a:solidFill>
              <a:srgbClr val="7F7F7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f-legend-sem-rect-01"/>
          <p:cNvSpPr/>
          <p:nvPr/>
        </p:nvSpPr>
        <p:spPr>
          <a:xfrm>
            <a:off x="11001375" y="171450"/>
            <a:ext cx="742950" cy="352425"/>
          </a:xfrm>
          <a:prstGeom prst="roundRect">
            <a:avLst>
              <a:gd name="adj" fmla="val 16216"/>
            </a:avLst>
          </a:prstGeom>
          <a:solidFill>
            <a:srgbClr val="FDE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f-legend-sem-short-text-01"/>
          <p:cNvSpPr txBox="1"/>
          <p:nvPr/>
        </p:nvSpPr>
        <p:spPr>
          <a:xfrm>
            <a:off x="11039475" y="237649"/>
            <a:ext cx="666750" cy="24812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425">
                <a:solidFill>
                  <a:srgbClr val="000000"/>
                </a:solidFill>
                <a:latin typeface="Arial"/>
              </a:rPr>
              <a:t>Sem</a:t>
            </a:r>
          </a:p>
        </p:txBody>
      </p:sp>
      <p:sp>
        <p:nvSpPr>
          <p:cNvPr id="27" name="af-legend-sem-long-text-01"/>
          <p:cNvSpPr txBox="1"/>
          <p:nvPr/>
        </p:nvSpPr>
        <p:spPr>
          <a:xfrm>
            <a:off x="11820525" y="247174"/>
            <a:ext cx="1591532" cy="4167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425">
                <a:solidFill>
                  <a:srgbClr val="000000"/>
                </a:solidFill>
                <a:latin typeface="Arial"/>
              </a:rPr>
              <a:t>semantic expert</a:t>
            </a:r>
          </a:p>
        </p:txBody>
      </p:sp>
      <p:sp>
        <p:nvSpPr>
          <p:cNvPr id="28" name="af-legend-dyn-rect-01"/>
          <p:cNvSpPr/>
          <p:nvPr/>
        </p:nvSpPr>
        <p:spPr>
          <a:xfrm>
            <a:off x="11001375" y="561975"/>
            <a:ext cx="742950" cy="352425"/>
          </a:xfrm>
          <a:prstGeom prst="roundRect">
            <a:avLst>
              <a:gd name="adj" fmla="val 16216"/>
            </a:avLst>
          </a:prstGeom>
          <a:solidFill>
            <a:srgbClr val="DC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f-legend-dyn-short-text-01"/>
          <p:cNvSpPr txBox="1"/>
          <p:nvPr/>
        </p:nvSpPr>
        <p:spPr>
          <a:xfrm>
            <a:off x="11065716" y="637699"/>
            <a:ext cx="614267" cy="23860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425">
                <a:solidFill>
                  <a:srgbClr val="000000"/>
                </a:solidFill>
                <a:latin typeface="Arial"/>
              </a:rPr>
              <a:t>Dyn</a:t>
            </a:r>
          </a:p>
        </p:txBody>
      </p:sp>
      <p:sp>
        <p:nvSpPr>
          <p:cNvPr id="30" name="af-legend-dyn-long-text-01"/>
          <p:cNvSpPr txBox="1"/>
          <p:nvPr/>
        </p:nvSpPr>
        <p:spPr>
          <a:xfrm>
            <a:off x="11820525" y="637699"/>
            <a:ext cx="1625918" cy="4167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425">
                <a:solidFill>
                  <a:srgbClr val="000000"/>
                </a:solidFill>
                <a:latin typeface="Arial"/>
              </a:rPr>
              <a:t>dynamics expert</a:t>
            </a:r>
          </a:p>
        </p:txBody>
      </p:sp>
      <p:sp>
        <p:nvSpPr>
          <p:cNvPr id="31" name="af-joint-title-text-01"/>
          <p:cNvSpPr txBox="1"/>
          <p:nvPr/>
        </p:nvSpPr>
        <p:spPr>
          <a:xfrm>
            <a:off x="390525" y="1307782"/>
            <a:ext cx="3254311" cy="50006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950" b="1">
                <a:solidFill>
                  <a:srgbClr val="000000"/>
                </a:solidFill>
                <a:latin typeface="Arial"/>
              </a:rPr>
              <a:t>Task-Aware Modular Joint</a:t>
            </a:r>
          </a:p>
        </p:txBody>
      </p:sp>
      <p:sp>
        <p:nvSpPr>
          <p:cNvPr id="32" name="af-allocator-box-rect-01"/>
          <p:cNvSpPr/>
          <p:nvPr/>
        </p:nvSpPr>
        <p:spPr>
          <a:xfrm>
            <a:off x="4619625" y="1257300"/>
            <a:ext cx="3352800" cy="438150"/>
          </a:xfrm>
          <a:prstGeom prst="rect">
            <a:avLst/>
          </a:prstGeom>
          <a:solidFill>
            <a:srgbClr val="FFFFFF"/>
          </a:solidFill>
          <a:ln w="28575">
            <a:solidFill>
              <a:srgbClr val="477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af-allocator-label-text-01"/>
          <p:cNvSpPr txBox="1"/>
          <p:nvPr/>
        </p:nvSpPr>
        <p:spPr>
          <a:xfrm>
            <a:off x="4833461" y="1372076"/>
            <a:ext cx="2925127" cy="26622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75" b="1">
                <a:solidFill>
                  <a:srgbClr val="000000"/>
                </a:solidFill>
                <a:latin typeface="Arial"/>
              </a:rPr>
              <a:t>Task-Guided Expert Allocator</a:t>
            </a:r>
          </a:p>
        </p:txBody>
      </p:sp>
      <p:sp>
        <p:nvSpPr>
          <p:cNvPr id="34" name="af-allocator-funnel-freeform-01"/>
          <p:cNvSpPr/>
          <p:nvPr/>
        </p:nvSpPr>
        <p:spPr>
          <a:xfrm>
            <a:off x="4619625" y="1695450"/>
            <a:ext cx="3352800" cy="285750"/>
          </a:xfrm>
          <a:custGeom>
            <a:avLst/>
            <a:gdLst/>
            <a:ahLst/>
            <a:cxnLst/>
            <a:rect l="0" t="0" r="0" b="0"/>
            <a:pathLst>
              <a:path w="3352800" h="285750">
                <a:moveTo>
                  <a:pt x="0" y="0"/>
                </a:moveTo>
                <a:lnTo>
                  <a:pt x="3352800" y="0"/>
                </a:lnTo>
                <a:lnTo>
                  <a:pt x="2143125" y="285750"/>
                </a:lnTo>
                <a:lnTo>
                  <a:pt x="1209675" y="285750"/>
                </a:lnTo>
                <a:close/>
              </a:path>
            </a:pathLst>
          </a:custGeom>
          <a:gradFill>
            <a:gsLst>
              <a:gs pos="0">
                <a:srgbClr val="4B78CF">
                  <a:alpha val="85000"/>
                </a:srgbClr>
              </a:gs>
              <a:gs pos="100000">
                <a:srgbClr val="D9E4FA">
                  <a:alpha val="15000"/>
                </a:srgbClr>
              </a:gs>
            </a:gsLst>
            <a:lin ang="5400000" scaled="1"/>
          </a:gradFill>
          <a:ln>
            <a:noFill/>
          </a:ln>
        </p:spPr>
        <p:txBody>
          <a:bodyPr/>
          <a:p/>
        </p:txBody>
      </p:sp>
      <p:grpSp>
        <p:nvGrpSpPr>
          <p:cNvPr id="37" name="af-tau-to-allocator-arrow-group-01"/>
          <p:cNvGrpSpPr/>
          <p:nvPr/>
        </p:nvGrpSpPr>
        <p:grpSpPr>
          <a:xfrm>
            <a:off x="0" y="0"/>
            <a:ext cx="13611225" cy="5972175"/>
            <a:chOff x="0" y="0"/>
            <a:chExt cx="13611225" cy="5972175"/>
          </a:xfrm>
        </p:grpSpPr>
        <p:cxnSp>
          <p:nvCxnSpPr>
            <p:cNvPr id="35" name="af-tau-to-allocator-connector-01"/>
            <p:cNvCxnSpPr>
              <a:stCxn id="14" idx="0"/>
              <a:endCxn id="32" idx="0"/>
            </p:cNvCxnSpPr>
            <p:nvPr/>
          </p:nvCxnSpPr>
          <p:spPr>
            <a:xfrm>
              <a:off x="6286500" y="762000"/>
              <a:ext cx="0" cy="447675"/>
            </a:xfrm>
            <a:prstGeom prst="line">
              <a:avLst/>
            </a:prstGeom>
            <a:ln w="28575">
              <a:solidFill>
                <a:srgbClr val="4776CC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af-tau-to-allocator-arrowhead-fallback-01"/>
            <p:cNvSpPr/>
            <p:nvPr/>
          </p:nvSpPr>
          <p:spPr>
            <a:xfrm>
              <a:off x="6234112" y="1123950"/>
              <a:ext cx="104775" cy="95250"/>
            </a:xfrm>
            <a:custGeom>
              <a:avLst/>
              <a:gdLst/>
              <a:ahLst/>
              <a:cxnLst/>
              <a:rect l="0" t="0" r="0" b="0"/>
              <a:pathLst>
                <a:path w="104775" h="95250">
                  <a:moveTo>
                    <a:pt x="104775" y="0"/>
                  </a:moveTo>
                  <a:lnTo>
                    <a:pt x="52388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567B7"/>
            </a:solidFill>
            <a:ln>
              <a:noFill/>
            </a:ln>
          </p:spPr>
        </p:sp>
      </p:grpSp>
      <p:sp>
        <p:nvSpPr>
          <p:cNvPr id="38" name="af-mllm-encoder-rect-01"/>
          <p:cNvSpPr/>
          <p:nvPr/>
        </p:nvSpPr>
        <p:spPr>
          <a:xfrm>
            <a:off x="1790700" y="2314575"/>
            <a:ext cx="1181100" cy="1066800"/>
          </a:xfrm>
          <a:prstGeom prst="roundRect">
            <a:avLst>
              <a:gd name="adj" fmla="val 12500"/>
            </a:avLst>
          </a:prstGeom>
          <a:solidFill>
            <a:srgbClr val="FF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f-mllm-line1-text-01"/>
          <p:cNvSpPr txBox="1"/>
          <p:nvPr/>
        </p:nvSpPr>
        <p:spPr>
          <a:xfrm>
            <a:off x="1924812" y="2438876"/>
            <a:ext cx="912876" cy="44053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75" b="1">
                <a:solidFill>
                  <a:srgbClr val="000000"/>
                </a:solidFill>
                <a:latin typeface="Arial"/>
              </a:rPr>
              <a:t>MLLM</a:t>
            </a:r>
          </a:p>
        </p:txBody>
      </p:sp>
      <p:sp>
        <p:nvSpPr>
          <p:cNvPr id="40" name="af-mllm-line2-text-01"/>
          <p:cNvSpPr txBox="1"/>
          <p:nvPr/>
        </p:nvSpPr>
        <p:spPr>
          <a:xfrm>
            <a:off x="1865805" y="2705576"/>
            <a:ext cx="1030891" cy="44053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75" b="1">
                <a:solidFill>
                  <a:srgbClr val="000000"/>
                </a:solidFill>
                <a:latin typeface="Arial"/>
              </a:rPr>
              <a:t>Encoder</a:t>
            </a:r>
          </a:p>
        </p:txBody>
      </p:sp>
      <p:sp>
        <p:nvSpPr>
          <p:cNvPr id="41" name="af-wm-encoder-rect-01"/>
          <p:cNvSpPr/>
          <p:nvPr/>
        </p:nvSpPr>
        <p:spPr>
          <a:xfrm>
            <a:off x="1790700" y="3819525"/>
            <a:ext cx="1181100" cy="828675"/>
          </a:xfrm>
          <a:prstGeom prst="roundRect">
            <a:avLst>
              <a:gd name="adj" fmla="val 16091"/>
            </a:avLst>
          </a:prstGeom>
          <a:solidFill>
            <a:srgbClr val="E5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af-wm-line1-text-01"/>
          <p:cNvSpPr txBox="1"/>
          <p:nvPr/>
        </p:nvSpPr>
        <p:spPr>
          <a:xfrm>
            <a:off x="2053828" y="3962876"/>
            <a:ext cx="654844" cy="44053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75" b="1">
                <a:solidFill>
                  <a:srgbClr val="000000"/>
                </a:solidFill>
                <a:latin typeface="Arial"/>
              </a:rPr>
              <a:t>WM</a:t>
            </a:r>
          </a:p>
        </p:txBody>
      </p:sp>
      <p:sp>
        <p:nvSpPr>
          <p:cNvPr id="43" name="af-wm-line2-text-01"/>
          <p:cNvSpPr txBox="1"/>
          <p:nvPr/>
        </p:nvSpPr>
        <p:spPr>
          <a:xfrm>
            <a:off x="1865805" y="4229576"/>
            <a:ext cx="1030891" cy="35194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75" b="1">
                <a:solidFill>
                  <a:srgbClr val="000000"/>
                </a:solidFill>
                <a:latin typeface="Arial"/>
              </a:rPr>
              <a:t>Encoder</a:t>
            </a:r>
          </a:p>
        </p:txBody>
      </p:sp>
      <p:pic>
        <p:nvPicPr>
          <p:cNvPr id="44" name="af-atomic-observation-atomic-raster-01" descr="image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400050" y="2762250"/>
            <a:ext cx="1009650" cy="819150"/>
          </a:xfrm>
          <a:prstGeom prst="rect">
            <a:avLst/>
          </a:prstGeom>
        </p:spPr>
      </p:pic>
      <p:sp>
        <p:nvSpPr>
          <p:cNvPr id="45" name="af-observation-ellipsis-text-01"/>
          <p:cNvSpPr txBox="1"/>
          <p:nvPr/>
        </p:nvSpPr>
        <p:spPr>
          <a:xfrm>
            <a:off x="295275" y="3392805"/>
            <a:ext cx="510540" cy="47625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00">
                <a:solidFill>
                  <a:srgbClr val="888888"/>
                </a:solidFill>
                <a:latin typeface="Arial"/>
              </a:rPr>
              <a:t>...</a:t>
            </a:r>
          </a:p>
        </p:txBody>
      </p:sp>
      <p:sp>
        <p:nvSpPr>
          <p:cNvPr id="46" name="af-observation-label-text-01"/>
          <p:cNvSpPr txBox="1"/>
          <p:nvPr/>
        </p:nvSpPr>
        <p:spPr>
          <a:xfrm>
            <a:off x="276225" y="3658552"/>
            <a:ext cx="1379791" cy="452438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50">
                <a:solidFill>
                  <a:srgbClr val="000000"/>
                </a:solidFill>
                <a:latin typeface="Arial"/>
              </a:rPr>
              <a:t>observation</a:t>
            </a:r>
          </a:p>
        </p:txBody>
      </p:sp>
      <p:cxnSp>
        <p:nvCxnSpPr>
          <p:cNvPr id="47" name="af-observation-to-mllm-connector-01"/>
          <p:cNvCxnSpPr>
            <a:stCxn id="44" idx="0"/>
            <a:endCxn id="38" idx="0"/>
          </p:cNvCxnSpPr>
          <p:nvPr/>
        </p:nvCxnSpPr>
        <p:spPr>
          <a:xfrm flipV="1">
            <a:off x="1438275" y="2790825"/>
            <a:ext cx="257175" cy="276225"/>
          </a:xfrm>
          <a:prstGeom prst="line">
            <a:avLst/>
          </a:prstGeom>
          <a:ln w="47625">
            <a:solidFill>
              <a:srgbClr val="F2762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af-observation-to-wm-connector-01"/>
          <p:cNvCxnSpPr>
            <a:stCxn id="44" idx="0"/>
            <a:endCxn id="41" idx="0"/>
          </p:cNvCxnSpPr>
          <p:nvPr/>
        </p:nvCxnSpPr>
        <p:spPr>
          <a:xfrm>
            <a:off x="1428750" y="3581400"/>
            <a:ext cx="285750" cy="228600"/>
          </a:xfrm>
          <a:prstGeom prst="line">
            <a:avLst/>
          </a:prstGeom>
          <a:ln w="47625">
            <a:solidFill>
              <a:srgbClr val="3567B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af-mllm-to-ev-connector-01"/>
          <p:cNvCxnSpPr>
            <a:stCxn id="38" idx="0"/>
            <a:endCxn id="51" idx="0"/>
          </p:cNvCxnSpPr>
          <p:nvPr/>
        </p:nvCxnSpPr>
        <p:spPr>
          <a:xfrm>
            <a:off x="3000375" y="2609850"/>
            <a:ext cx="238125" cy="0"/>
          </a:xfrm>
          <a:prstGeom prst="line">
            <a:avLst/>
          </a:prstGeom>
          <a:ln w="47625">
            <a:solidFill>
              <a:srgbClr val="F2762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af-wm-to-st-connector-01"/>
          <p:cNvCxnSpPr>
            <a:stCxn id="41" idx="0"/>
            <a:endCxn id="56" idx="0"/>
          </p:cNvCxnSpPr>
          <p:nvPr/>
        </p:nvCxnSpPr>
        <p:spPr>
          <a:xfrm>
            <a:off x="3000375" y="4143375"/>
            <a:ext cx="238125" cy="0"/>
          </a:xfrm>
          <a:prstGeom prst="line">
            <a:avLst/>
          </a:prstGeom>
          <a:ln w="47625">
            <a:solidFill>
              <a:srgbClr val="3567B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af-ev-box-rect-01"/>
          <p:cNvSpPr/>
          <p:nvPr/>
        </p:nvSpPr>
        <p:spPr>
          <a:xfrm>
            <a:off x="3295650" y="2028825"/>
            <a:ext cx="400050" cy="1209675"/>
          </a:xfrm>
          <a:prstGeom prst="rect">
            <a:avLst/>
          </a:prstGeom>
          <a:solidFill>
            <a:srgbClr val="FFFFFF"/>
          </a:solidFill>
          <a:ln w="28575">
            <a:solidFill>
              <a:srgbClr val="193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2" name="math:003" descr="AI_AUTOFIGURE_NATIVE_MATH_V1:eyJjb250ZW50X3J1bnMiOlt7ImNhbm9uaWNhbF9sYXRleCI6ImVfe3Z9IiwiZm9ybXVsYV9pZCI6IkVRMDAzIiwia2luZCI6Im1hdGgiLCJsYXRleF9zaGEyNTYiOiIyZWZkODE5ZTcyNTZiNTkwYTRmNTFkMTVkMWIzZjdmYzgwODhhMGE0Mzc3ZWQyZTExMWUwZmQ5NDAyNjc5YzhkIiwibW9kZSI6ImlubGluZSIsIm9tbWxfc2hhMjU2IjoiNjM1YTA1MmI0MjllMzI3Y2I5ZmZlNTI5MTI0YjJjOGRlMDBlYzlkMmRiZDI3ZjE1MWJmZTM4ZmIwZjhjNzc3MiIsInNlbWFudGljX29tbWxfcHJvZmlsZSI6Im9mZmljZS1tYXRoLXNlbWFudGljLXYyIiwic2VtYW50aWNfb21tbF9zaGEyNTYiOiIyZjRlZjJkZTQ0NjBlNTJiN2I5NjdlNWFiZjRmZGI5OTQ5NzIzYWVlNmNkMzc5MTlkNGNlOTY2NmVmZTAyN2E4In1dLCJmb3JtdWxhcyI6W3siY2Fub25pY2FsX2xhdGV4IjoiZV97dn0iLCJmb3JtdWxhX2lkIjoiRVEwMDMiLCJsYXRleF9zaGEyNTYiOiIyZWZkODE5ZTcyNTZiNTkwYTRmNTFkMTVkMWIzZjdmYzgwODhhMGE0Mzc3ZWQyZTExMWUwZmQ5NDAyNjc5YzhkIiwibW9kZSI6ImlubGluZSIsIm9tbWxfc2hhMjU2IjoiNjM1YTA1MmI0MjllMzI3Y2I5ZmZlNTI5MTI0YjJjOGRlMDBlYzlkMmRiZDI3ZjE1MWJmZTM4ZmIwZjhjNzc3MiIsInNlbWFudGljX29tbWxfcHJvZmlsZSI6Im9mZmljZS1tYXRoLXNlbWFudGljLXYyIiwic2VtYW50aWNfb21tbF9zaGEyNTYiOiIyZjRlZjJkZTQ0NjBlNTJiN2I5NjdlNWFiZjRmZGI5OTQ5NzIzYWVlNmNkMzc5MTlkNGNlOTY2NmVmZTAyN2E4In1dLCJraW5kIjoibmF0aXZlX29mZmljZV9tYXRoIiwicGxhY2Vob2xkZXJfbmFtZSI6Im1hdGg6MDAzIiwic2NoZW1hX3ZlcnNpb24iOiIxLjAifQ=="/>
              <p:cNvSpPr txBox="1"/>
              <p:nvPr/>
            </p:nvSpPr>
            <p:spPr>
              <a:xfrm>
                <a:off x="3254121" y="1751648"/>
                <a:ext cx="483108" cy="4048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350">
                            <a:solidFill>
                              <a:srgbClr val="000000"/>
                            </a:solidFill>
                            <a:latin typeface="Cambria Math"/>
                          </a:rPr>
                          <m:t>e</m:t>
                        </m:r>
                      </m:e>
                      <m:sub>
                        <m:r>
                          <a:rPr lang="en-US" dirty="0" sz="1350">
                            <a:solidFill>
                              <a:srgbClr val="000000"/>
                            </a:solidFill>
                            <a:latin typeface="Cambria Math"/>
                          </a:rPr>
                          <m:t>v</m:t>
                        </m:r>
                      </m:sub>
                    </m:sSub>
                  </m:oMath>
                </a14:m>
                <a:endParaRPr lang="en-US" dirty="0" sz="1350">
                  <a:solidFill>
                    <a:srgbClr val="000000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52" name="math:003" descr="AI_AUTOFIGURE_MATH_FALLBACK_ONLY_V1:eyJjb250ZW50X3J1bnMiOlt7ImNhbm9uaWNhbF9sYXRleCI6ImVfe3Z9IiwiZm9ybXVsYV9pZCI6IkVRMDAzIiwia2luZCI6Im1hdGgiLCJsYXRleF9zaGEyNTYiOiIyZWZkODE5ZTcyNTZiNTkwYTRmNTFkMTVkMWIzZjdmYzgwODhhMGE0Mzc3ZWQyZTExMWUwZmQ5NDAyNjc5YzhkIiwibW9kZSI6ImlubGluZSIsIm9tbWxfc2hhMjU2IjoiNjM1YTA1MmI0MjllMzI3Y2I5ZmZlNTI5MTI0YjJjOGRlMDBlYzlkMmRiZDI3ZjE1MWJmZTM4ZmIwZjhjNzc3MiIsInNlbWFudGljX29tbWxfcHJvZmlsZSI6Im9mZmljZS1tYXRoLXNlbWFudGljLXYyIiwic2VtYW50aWNfb21tbF9zaGEyNTYiOiIyZjRlZjJkZTQ0NjBlNTJiN2I5NjdlNWFiZjRmZGI5OTQ5NzIzYWVlNmNkMzc5MTlkNGNlOTY2NmVmZTAyN2E4In1dLCJmb3JtdWxhcyI6W3siY2Fub25pY2FsX2xhdGV4IjoiZV97dn0iLCJmb3JtdWxhX2lkIjoiRVEwMDMiLCJsYXRleF9zaGEyNTYiOiIyZWZkODE5ZTcyNTZiNTkwYTRmNTFkMTVkMWIzZjdmYzgwODhhMGE0Mzc3ZWQyZTExMWUwZmQ5NDAyNjc5YzhkIiwibW9kZSI6ImlubGluZSIsIm9tbWxfc2hhMjU2IjoiNjM1YTA1MmI0MjllMzI3Y2I5ZmZlNTI5MTI0YjJjOGRlMDBlYzlkMmRiZDI3ZjE1MWJmZTM4ZmIwZjhjNzc3MiIsInNlbWFudGljX29tbWxfcHJvZmlsZSI6Im9mZmljZS1tYXRoLXNlbWFudGljLXYyIiwic2VtYW50aWNfb21tbF9zaGEyNTYiOiIyZjRlZjJkZTQ0NjBlNTJiN2I5NjdlNWFiZjRmZGI5OTQ5NzIzYWVlNmNkMzc5MTlkNGNlOTY2NmVmZTAyN2E4In1dLCJraW5kIjoibmF0aXZlX29mZmljZV9tYXRoIiwicGxhY2Vob2xkZXJfbmFtZSI6Im1hdGg6MDAzIiwic2NoZW1hX3ZlcnNpb24iOiIxLjAifQ=="/>
              <p:cNvSpPr txBox="1"/>
              <p:nvPr/>
            </p:nvSpPr>
            <p:spPr>
              <a:xfrm>
                <a:off x="3254121" y="1751648"/>
                <a:ext cx="483108" cy="4048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350">
                    <a:solidFill>
                      <a:srgbClr val="000000"/>
                    </a:solidFill>
                  </a:rPr>
                  <a:t>\(e_{v}\)</a:t>
                </a:r>
                <a:endParaRPr lang="en-US" dirty="0" sz="1350">
                  <a:solidFill>
                    <a:srgbClr val="000000"/>
                  </a:solidFill>
                </a:endParaRPr>
              </a:p>
            </p:txBody>
          </p:sp>
        </mc:Fallback>
      </mc:AlternateContent>
      <p:sp>
        <p:nvSpPr>
          <p:cNvPr id="53" name="af-ev-node-1-ellipse-01"/>
          <p:cNvSpPr/>
          <p:nvPr/>
        </p:nvSpPr>
        <p:spPr>
          <a:xfrm>
            <a:off x="3333750" y="2114550"/>
            <a:ext cx="323850" cy="323850"/>
          </a:xfrm>
          <a:prstGeom prst="ellipse">
            <a:avLst/>
          </a:prstGeom>
          <a:solidFill>
            <a:srgbClr val="F3A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af-ev-node-2-ellipse-01"/>
          <p:cNvSpPr/>
          <p:nvPr/>
        </p:nvSpPr>
        <p:spPr>
          <a:xfrm>
            <a:off x="3333750" y="2476500"/>
            <a:ext cx="323850" cy="323850"/>
          </a:xfrm>
          <a:prstGeom prst="ellipse">
            <a:avLst/>
          </a:prstGeom>
          <a:solidFill>
            <a:srgbClr val="F3A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af-ev-node-3-ellipse-01"/>
          <p:cNvSpPr/>
          <p:nvPr/>
        </p:nvSpPr>
        <p:spPr>
          <a:xfrm>
            <a:off x="3333750" y="2838450"/>
            <a:ext cx="323850" cy="323850"/>
          </a:xfrm>
          <a:prstGeom prst="ellipse">
            <a:avLst/>
          </a:prstGeom>
          <a:solidFill>
            <a:srgbClr val="F3A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af-st-box-rect-01"/>
          <p:cNvSpPr/>
          <p:nvPr/>
        </p:nvSpPr>
        <p:spPr>
          <a:xfrm>
            <a:off x="3305175" y="3562350"/>
            <a:ext cx="400050" cy="1200150"/>
          </a:xfrm>
          <a:prstGeom prst="rect">
            <a:avLst/>
          </a:prstGeom>
          <a:solidFill>
            <a:srgbClr val="FFFFFF"/>
          </a:solidFill>
          <a:ln w="28575">
            <a:solidFill>
              <a:srgbClr val="193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7" name="math:004" descr="AI_AUTOFIGURE_NATIVE_MATH_V1:eyJjb250ZW50X3J1bnMiOlt7ImNhbm9uaWNhbF9sYXRleCI6InNfe3R9IiwiZm9ybXVsYV9pZCI6IkVRMDA0Iiwia2luZCI6Im1hdGgiLCJsYXRleF9zaGEyNTYiOiIwMDE3ZmQ1YjUxNmM2YTU5ZjUxZTM3MWJlZTBmMjQ5ODI4ZWIzZDhlOTNhYTc0NzM3Y2M4ZWYxNTY5YzM1ZTIyIiwibW9kZSI6ImlubGluZSIsIm9tbWxfc2hhMjU2IjoiMWJhZjE4MDU3OTA4OTQ0ZmQxZmFiYzgwMzBhN2RiMWFmMjY1MmUxOGQ1Y2U3YjlhMGJiMWU2MWMzYTU3ZTg3NyIsInNlbWFudGljX29tbWxfcHJvZmlsZSI6Im9mZmljZS1tYXRoLXNlbWFudGljLXYyIiwic2VtYW50aWNfb21tbF9zaGEyNTYiOiI2OWRhZTcyNmY2OTRlNTQ3MDhmYjQ2Y2IxZjRjYTM5NzhhODhjOWIxZmJmMDc2ZjE2MWIxODVlZThhNDdiYzBkIn1dLCJmb3JtdWxhcyI6W3siY2Fub25pY2FsX2xhdGV4Ijoic197dH0iLCJmb3JtdWxhX2lkIjoiRVEwMDQiLCJsYXRleF9zaGEyNTYiOiIwMDE3ZmQ1YjUxNmM2YTU5ZjUxZTM3MWJlZTBmMjQ5ODI4ZWIzZDhlOTNhYTc0NzM3Y2M4ZWYxNTY5YzM1ZTIyIiwibW9kZSI6ImlubGluZSIsIm9tbWxfc2hhMjU2IjoiMWJhZjE4MDU3OTA4OTQ0ZmQxZmFiYzgwMzBhN2RiMWFmMjY1MmUxOGQ1Y2U3YjlhMGJiMWU2MWMzYTU3ZTg3NyIsInNlbWFudGljX29tbWxfcHJvZmlsZSI6Im9mZmljZS1tYXRoLXNlbWFudGljLXYyIiwic2VtYW50aWNfb21tbF9zaGEyNTYiOiI2OWRhZTcyNmY2OTRlNTQ3MDhmYjQ2Y2IxZjRjYTM5NzhhODhjOWIxZmJmMDc2ZjE2MWIxODVlZThhNDdiYzBkIn1dLCJraW5kIjoibmF0aXZlX29mZmljZV9tYXRoIiwicGxhY2Vob2xkZXJfbmFtZSI6Im1hdGg6MDA0Iiwic2NoZW1hX3ZlcnNpb24iOiIxLjAifQ=="/>
              <p:cNvSpPr txBox="1"/>
              <p:nvPr/>
            </p:nvSpPr>
            <p:spPr>
              <a:xfrm>
                <a:off x="3279934" y="3304222"/>
                <a:ext cx="450532" cy="4048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350">
                            <a:solidFill>
                              <a:srgbClr val="000000"/>
                            </a:solidFill>
                            <a:latin typeface="Cambria Math"/>
                          </a:rPr>
                          <m:t>s</m:t>
                        </m:r>
                      </m:e>
                      <m:sub>
                        <m:r>
                          <a:rPr lang="en-US" dirty="0" sz="1350">
                            <a:solidFill>
                              <a:srgbClr val="000000"/>
                            </a:solidFill>
                            <a:latin typeface="Cambria Math"/>
                          </a:rPr>
                          <m:t>t</m:t>
                        </m:r>
                      </m:sub>
                    </m:sSub>
                  </m:oMath>
                </a14:m>
                <a:endParaRPr lang="en-US" dirty="0" sz="1350">
                  <a:solidFill>
                    <a:srgbClr val="000000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57" name="math:004" descr="AI_AUTOFIGURE_MATH_FALLBACK_ONLY_V1:eyJjb250ZW50X3J1bnMiOlt7ImNhbm9uaWNhbF9sYXRleCI6InNfe3R9IiwiZm9ybXVsYV9pZCI6IkVRMDA0Iiwia2luZCI6Im1hdGgiLCJsYXRleF9zaGEyNTYiOiIwMDE3ZmQ1YjUxNmM2YTU5ZjUxZTM3MWJlZTBmMjQ5ODI4ZWIzZDhlOTNhYTc0NzM3Y2M4ZWYxNTY5YzM1ZTIyIiwibW9kZSI6ImlubGluZSIsIm9tbWxfc2hhMjU2IjoiMWJhZjE4MDU3OTA4OTQ0ZmQxZmFiYzgwMzBhN2RiMWFmMjY1MmUxOGQ1Y2U3YjlhMGJiMWU2MWMzYTU3ZTg3NyIsInNlbWFudGljX29tbWxfcHJvZmlsZSI6Im9mZmljZS1tYXRoLXNlbWFudGljLXYyIiwic2VtYW50aWNfb21tbF9zaGEyNTYiOiI2OWRhZTcyNmY2OTRlNTQ3MDhmYjQ2Y2IxZjRjYTM5NzhhODhjOWIxZmJmMDc2ZjE2MWIxODVlZThhNDdiYzBkIn1dLCJmb3JtdWxhcyI6W3siY2Fub25pY2FsX2xhdGV4Ijoic197dH0iLCJmb3JtdWxhX2lkIjoiRVEwMDQiLCJsYXRleF9zaGEyNTYiOiIwMDE3ZmQ1YjUxNmM2YTU5ZjUxZTM3MWJlZTBmMjQ5ODI4ZWIzZDhlOTNhYTc0NzM3Y2M4ZWYxNTY5YzM1ZTIyIiwibW9kZSI6ImlubGluZSIsIm9tbWxfc2hhMjU2IjoiMWJhZjE4MDU3OTA4OTQ0ZmQxZmFiYzgwMzBhN2RiMWFmMjY1MmUxOGQ1Y2U3YjlhMGJiMWU2MWMzYTU3ZTg3NyIsInNlbWFudGljX29tbWxfcHJvZmlsZSI6Im9mZmljZS1tYXRoLXNlbWFudGljLXYyIiwic2VtYW50aWNfb21tbF9zaGEyNTYiOiI2OWRhZTcyNmY2OTRlNTQ3MDhmYjQ2Y2IxZjRjYTM5NzhhODhjOWIxZmJmMDc2ZjE2MWIxODVlZThhNDdiYzBkIn1dLCJraW5kIjoibmF0aXZlX29mZmljZV9tYXRoIiwicGxhY2Vob2xkZXJfbmFtZSI6Im1hdGg6MDA0Iiwic2NoZW1hX3ZlcnNpb24iOiIxLjAifQ=="/>
              <p:cNvSpPr txBox="1"/>
              <p:nvPr/>
            </p:nvSpPr>
            <p:spPr>
              <a:xfrm>
                <a:off x="3279934" y="3304222"/>
                <a:ext cx="450532" cy="4048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350">
                    <a:solidFill>
                      <a:srgbClr val="000000"/>
                    </a:solidFill>
                  </a:rPr>
                  <a:t>\(s_{t}\)</a:t>
                </a:r>
                <a:endParaRPr lang="en-US" dirty="0" sz="1350">
                  <a:solidFill>
                    <a:srgbClr val="000000"/>
                  </a:solidFill>
                </a:endParaRPr>
              </a:p>
            </p:txBody>
          </p:sp>
        </mc:Fallback>
      </mc:AlternateContent>
      <p:sp>
        <p:nvSpPr>
          <p:cNvPr id="58" name="af-st-node-1-ellipse-01"/>
          <p:cNvSpPr/>
          <p:nvPr/>
        </p:nvSpPr>
        <p:spPr>
          <a:xfrm>
            <a:off x="3343275" y="3629025"/>
            <a:ext cx="323850" cy="323850"/>
          </a:xfrm>
          <a:prstGeom prst="ellipse">
            <a:avLst/>
          </a:prstGeom>
          <a:solidFill>
            <a:srgbClr val="277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af-st-node-2-ellipse-01"/>
          <p:cNvSpPr/>
          <p:nvPr/>
        </p:nvSpPr>
        <p:spPr>
          <a:xfrm>
            <a:off x="3343275" y="3990975"/>
            <a:ext cx="323850" cy="323850"/>
          </a:xfrm>
          <a:prstGeom prst="ellipse">
            <a:avLst/>
          </a:prstGeom>
          <a:solidFill>
            <a:srgbClr val="277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af-st-node-3-ellipse-01"/>
          <p:cNvSpPr/>
          <p:nvPr/>
        </p:nvSpPr>
        <p:spPr>
          <a:xfrm>
            <a:off x="3343275" y="4352925"/>
            <a:ext cx="323850" cy="323850"/>
          </a:xfrm>
          <a:prstGeom prst="ellipse">
            <a:avLst/>
          </a:prstGeom>
          <a:solidFill>
            <a:srgbClr val="277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af-ev-to-joint-connector-01"/>
          <p:cNvCxnSpPr>
            <a:stCxn id="51" idx="0"/>
            <a:endCxn id="63" idx="0"/>
          </p:cNvCxnSpPr>
          <p:nvPr/>
        </p:nvCxnSpPr>
        <p:spPr>
          <a:xfrm>
            <a:off x="3733800" y="2609850"/>
            <a:ext cx="276225" cy="0"/>
          </a:xfrm>
          <a:prstGeom prst="line">
            <a:avLst/>
          </a:prstGeom>
          <a:ln w="47625">
            <a:solidFill>
              <a:srgbClr val="F2762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af-st-to-joint-connector-01"/>
          <p:cNvCxnSpPr>
            <a:stCxn id="56" idx="0"/>
            <a:endCxn id="63" idx="0"/>
          </p:cNvCxnSpPr>
          <p:nvPr/>
        </p:nvCxnSpPr>
        <p:spPr>
          <a:xfrm>
            <a:off x="3743325" y="4152900"/>
            <a:ext cx="266700" cy="0"/>
          </a:xfrm>
          <a:prstGeom prst="line">
            <a:avLst/>
          </a:prstGeom>
          <a:ln w="47625">
            <a:solidFill>
              <a:srgbClr val="3567B7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af-joint-core-rect-01"/>
          <p:cNvSpPr/>
          <p:nvPr/>
        </p:nvSpPr>
        <p:spPr>
          <a:xfrm>
            <a:off x="4076700" y="1990725"/>
            <a:ext cx="4238625" cy="2809875"/>
          </a:xfrm>
          <a:prstGeom prst="roundRect">
            <a:avLst>
              <a:gd name="adj" fmla="val 5762"/>
            </a:avLst>
          </a:prstGeom>
          <a:solidFill>
            <a:srgbClr val="FFFFFF"/>
          </a:solidFill>
          <a:ln w="21908">
            <a:solidFill>
              <a:srgbClr val="193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af-task-1-box-rect-01"/>
          <p:cNvSpPr/>
          <p:nvPr/>
        </p:nvSpPr>
        <p:spPr>
          <a:xfrm>
            <a:off x="4219575" y="2524125"/>
            <a:ext cx="904875" cy="466725"/>
          </a:xfrm>
          <a:prstGeom prst="rect">
            <a:avLst/>
          </a:prstGeom>
          <a:solidFill>
            <a:srgbClr val="35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af-task-1-label-text-01"/>
          <p:cNvSpPr txBox="1"/>
          <p:nvPr/>
        </p:nvSpPr>
        <p:spPr>
          <a:xfrm>
            <a:off x="4267200" y="2648902"/>
            <a:ext cx="800100" cy="29432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650">
                <a:solidFill>
                  <a:srgbClr val="FFFFFF"/>
                </a:solidFill>
                <a:latin typeface="Arial"/>
              </a:rPr>
              <a:t>Task 1</a:t>
            </a:r>
          </a:p>
        </p:txBody>
      </p:sp>
      <p:sp>
        <p:nvSpPr>
          <p:cNvPr id="66" name="af-task-2-box-rect-01"/>
          <p:cNvSpPr/>
          <p:nvPr/>
        </p:nvSpPr>
        <p:spPr>
          <a:xfrm>
            <a:off x="4219575" y="3686175"/>
            <a:ext cx="904875" cy="457200"/>
          </a:xfrm>
          <a:prstGeom prst="rect">
            <a:avLst/>
          </a:prstGeom>
          <a:solidFill>
            <a:srgbClr val="C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af-task-2-label-text-01"/>
          <p:cNvSpPr txBox="1"/>
          <p:nvPr/>
        </p:nvSpPr>
        <p:spPr>
          <a:xfrm>
            <a:off x="4267200" y="3801428"/>
            <a:ext cx="800100" cy="29432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650">
                <a:solidFill>
                  <a:srgbClr val="FFFFFF"/>
                </a:solidFill>
                <a:latin typeface="Arial"/>
              </a:rPr>
              <a:t>Task 2</a:t>
            </a:r>
          </a:p>
        </p:txBody>
      </p:sp>
      <p:sp>
        <p:nvSpPr>
          <p:cNvPr id="68" name="af-expert-1-box-rect-01"/>
          <p:cNvSpPr/>
          <p:nvPr/>
        </p:nvSpPr>
        <p:spPr>
          <a:xfrm>
            <a:off x="5257800" y="2181225"/>
            <a:ext cx="485775" cy="2247900"/>
          </a:xfrm>
          <a:prstGeom prst="rect">
            <a:avLst/>
          </a:prstGeom>
          <a:solidFill>
            <a:srgbClr val="FAFAFA"/>
          </a:solidFill>
          <a:ln w="19050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af-expert-1-sem-rect-01"/>
          <p:cNvSpPr/>
          <p:nvPr/>
        </p:nvSpPr>
        <p:spPr>
          <a:xfrm>
            <a:off x="5324475" y="2314575"/>
            <a:ext cx="352425" cy="952500"/>
          </a:xfrm>
          <a:prstGeom prst="roundRect">
            <a:avLst>
              <a:gd name="adj" fmla="val 21621"/>
            </a:avLst>
          </a:prstGeom>
          <a:solidFill>
            <a:srgbClr val="FDE4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af-expert-1-dyn-rect-01"/>
          <p:cNvSpPr/>
          <p:nvPr/>
        </p:nvSpPr>
        <p:spPr>
          <a:xfrm>
            <a:off x="5324475" y="3390900"/>
            <a:ext cx="352425" cy="952500"/>
          </a:xfrm>
          <a:prstGeom prst="roundRect">
            <a:avLst>
              <a:gd name="adj" fmla="val 18918"/>
            </a:avLst>
          </a:prstGeom>
          <a:solidFill>
            <a:srgbClr val="DC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af-expert-1-sem-label-text-01"/>
          <p:cNvSpPr txBox="1"/>
          <p:nvPr/>
        </p:nvSpPr>
        <p:spPr>
          <a:xfrm>
            <a:off x="5362575" y="2520791"/>
            <a:ext cx="285750" cy="34528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75">
                <a:solidFill>
                  <a:srgbClr val="000000"/>
                </a:solidFill>
                <a:latin typeface="Arial"/>
              </a:rPr>
              <a:t>S</a:t>
            </a:r>
            <a:r>
              <a:rPr sz="975">
                <a:solidFill>
                  <a:srgbClr val="000000"/>
                </a:solidFill>
                <a:latin typeface="Arial"/>
              </a:rPr>
              <a:t>e</a:t>
            </a:r>
            <a:r>
              <a:rPr sz="975">
                <a:solidFill>
                  <a:srgbClr val="000000"/>
                </a:solidFill>
                <a:latin typeface="Arial"/>
              </a:rPr>
              <a:t>m</a:t>
            </a:r>
          </a:p>
        </p:txBody>
      </p:sp>
      <p:sp>
        <p:nvSpPr>
          <p:cNvPr id="72" name="af-expert-1-dyn-label-text-01"/>
          <p:cNvSpPr txBox="1"/>
          <p:nvPr/>
        </p:nvSpPr>
        <p:spPr>
          <a:xfrm>
            <a:off x="5362575" y="3597116"/>
            <a:ext cx="285750" cy="34528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75">
                <a:solidFill>
                  <a:srgbClr val="000000"/>
                </a:solidFill>
                <a:latin typeface="Arial"/>
              </a:rPr>
              <a:t>D</a:t>
            </a:r>
            <a:r>
              <a:rPr sz="975">
                <a:solidFill>
                  <a:srgbClr val="000000"/>
                </a:solidFill>
                <a:latin typeface="Arial"/>
              </a:rPr>
              <a:t>y</a:t>
            </a:r>
            <a:r>
              <a:rPr sz="975">
                <a:solidFill>
                  <a:srgbClr val="000000"/>
                </a:solidFill>
                <a:latin typeface="Arial"/>
              </a:rPr>
              <a:t>n</a:t>
            </a:r>
          </a:p>
        </p:txBody>
      </p:sp>
      <p:sp>
        <p:nvSpPr>
          <p:cNvPr id="73" name="af-expert-2-box-rect-01"/>
          <p:cNvSpPr/>
          <p:nvPr/>
        </p:nvSpPr>
        <p:spPr>
          <a:xfrm>
            <a:off x="5981700" y="2181225"/>
            <a:ext cx="495300" cy="2247900"/>
          </a:xfrm>
          <a:prstGeom prst="rect">
            <a:avLst/>
          </a:prstGeom>
          <a:solidFill>
            <a:srgbClr val="FAFAFA"/>
          </a:solidFill>
          <a:ln w="19050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af-expert-2-sem-rect-01"/>
          <p:cNvSpPr/>
          <p:nvPr/>
        </p:nvSpPr>
        <p:spPr>
          <a:xfrm>
            <a:off x="6057900" y="2314575"/>
            <a:ext cx="352425" cy="952500"/>
          </a:xfrm>
          <a:prstGeom prst="roundRect">
            <a:avLst>
              <a:gd name="adj" fmla="val 21621"/>
            </a:avLst>
          </a:prstGeom>
          <a:solidFill>
            <a:srgbClr val="FDE4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af-expert-2-dyn-rect-01"/>
          <p:cNvSpPr/>
          <p:nvPr/>
        </p:nvSpPr>
        <p:spPr>
          <a:xfrm>
            <a:off x="6057900" y="3390900"/>
            <a:ext cx="352425" cy="952500"/>
          </a:xfrm>
          <a:prstGeom prst="roundRect">
            <a:avLst>
              <a:gd name="adj" fmla="val 18918"/>
            </a:avLst>
          </a:prstGeom>
          <a:solidFill>
            <a:srgbClr val="DC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af-expert-2-sem-label-text-01"/>
          <p:cNvSpPr txBox="1"/>
          <p:nvPr/>
        </p:nvSpPr>
        <p:spPr>
          <a:xfrm>
            <a:off x="6096000" y="2520791"/>
            <a:ext cx="285750" cy="34528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75">
                <a:solidFill>
                  <a:srgbClr val="000000"/>
                </a:solidFill>
                <a:latin typeface="Arial"/>
              </a:rPr>
              <a:t>S</a:t>
            </a:r>
            <a:r>
              <a:rPr sz="975">
                <a:solidFill>
                  <a:srgbClr val="000000"/>
                </a:solidFill>
                <a:latin typeface="Arial"/>
              </a:rPr>
              <a:t>e</a:t>
            </a:r>
            <a:r>
              <a:rPr sz="975">
                <a:solidFill>
                  <a:srgbClr val="000000"/>
                </a:solidFill>
                <a:latin typeface="Arial"/>
              </a:rPr>
              <a:t>m</a:t>
            </a:r>
          </a:p>
        </p:txBody>
      </p:sp>
      <p:sp>
        <p:nvSpPr>
          <p:cNvPr id="77" name="af-expert-2-dyn-label-text-01"/>
          <p:cNvSpPr txBox="1"/>
          <p:nvPr/>
        </p:nvSpPr>
        <p:spPr>
          <a:xfrm>
            <a:off x="6096000" y="3597116"/>
            <a:ext cx="285750" cy="34528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75">
                <a:solidFill>
                  <a:srgbClr val="000000"/>
                </a:solidFill>
                <a:latin typeface="Arial"/>
              </a:rPr>
              <a:t>D</a:t>
            </a:r>
            <a:r>
              <a:rPr sz="975">
                <a:solidFill>
                  <a:srgbClr val="000000"/>
                </a:solidFill>
                <a:latin typeface="Arial"/>
              </a:rPr>
              <a:t>y</a:t>
            </a:r>
            <a:r>
              <a:rPr sz="975">
                <a:solidFill>
                  <a:srgbClr val="000000"/>
                </a:solidFill>
                <a:latin typeface="Arial"/>
              </a:rPr>
              <a:t>n</a:t>
            </a:r>
          </a:p>
        </p:txBody>
      </p:sp>
      <p:sp>
        <p:nvSpPr>
          <p:cNvPr id="78" name="af-expert-3-box-rect-01"/>
          <p:cNvSpPr/>
          <p:nvPr/>
        </p:nvSpPr>
        <p:spPr>
          <a:xfrm>
            <a:off x="6734175" y="2181225"/>
            <a:ext cx="485775" cy="2247900"/>
          </a:xfrm>
          <a:prstGeom prst="rect">
            <a:avLst/>
          </a:prstGeom>
          <a:solidFill>
            <a:srgbClr val="FAFAFA"/>
          </a:solidFill>
          <a:ln w="19050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af-expert-3-sem-rect-01"/>
          <p:cNvSpPr/>
          <p:nvPr/>
        </p:nvSpPr>
        <p:spPr>
          <a:xfrm>
            <a:off x="6800850" y="2314575"/>
            <a:ext cx="352425" cy="952500"/>
          </a:xfrm>
          <a:prstGeom prst="roundRect">
            <a:avLst>
              <a:gd name="adj" fmla="val 21621"/>
            </a:avLst>
          </a:prstGeom>
          <a:solidFill>
            <a:srgbClr val="FDE4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af-expert-3-dyn-rect-01"/>
          <p:cNvSpPr/>
          <p:nvPr/>
        </p:nvSpPr>
        <p:spPr>
          <a:xfrm>
            <a:off x="6800850" y="3390900"/>
            <a:ext cx="352425" cy="952500"/>
          </a:xfrm>
          <a:prstGeom prst="roundRect">
            <a:avLst>
              <a:gd name="adj" fmla="val 18918"/>
            </a:avLst>
          </a:prstGeom>
          <a:solidFill>
            <a:srgbClr val="DC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af-expert-3-sem-label-text-01"/>
          <p:cNvSpPr txBox="1"/>
          <p:nvPr/>
        </p:nvSpPr>
        <p:spPr>
          <a:xfrm>
            <a:off x="6838950" y="2520791"/>
            <a:ext cx="285750" cy="34528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75">
                <a:solidFill>
                  <a:srgbClr val="000000"/>
                </a:solidFill>
                <a:latin typeface="Arial"/>
              </a:rPr>
              <a:t>S</a:t>
            </a:r>
            <a:r>
              <a:rPr sz="975">
                <a:solidFill>
                  <a:srgbClr val="000000"/>
                </a:solidFill>
                <a:latin typeface="Arial"/>
              </a:rPr>
              <a:t>e</a:t>
            </a:r>
            <a:r>
              <a:rPr sz="975">
                <a:solidFill>
                  <a:srgbClr val="000000"/>
                </a:solidFill>
                <a:latin typeface="Arial"/>
              </a:rPr>
              <a:t>m</a:t>
            </a:r>
          </a:p>
        </p:txBody>
      </p:sp>
      <p:sp>
        <p:nvSpPr>
          <p:cNvPr id="82" name="af-expert-3-dyn-label-text-01"/>
          <p:cNvSpPr txBox="1"/>
          <p:nvPr/>
        </p:nvSpPr>
        <p:spPr>
          <a:xfrm>
            <a:off x="6838950" y="3597116"/>
            <a:ext cx="285750" cy="34528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75">
                <a:solidFill>
                  <a:srgbClr val="000000"/>
                </a:solidFill>
                <a:latin typeface="Arial"/>
              </a:rPr>
              <a:t>D</a:t>
            </a:r>
            <a:r>
              <a:rPr sz="975">
                <a:solidFill>
                  <a:srgbClr val="000000"/>
                </a:solidFill>
                <a:latin typeface="Arial"/>
              </a:rPr>
              <a:t>y</a:t>
            </a:r>
            <a:r>
              <a:rPr sz="975">
                <a:solidFill>
                  <a:srgbClr val="000000"/>
                </a:solidFill>
                <a:latin typeface="Arial"/>
              </a:rPr>
              <a:t>n</a:t>
            </a:r>
          </a:p>
        </p:txBody>
      </p:sp>
      <p:sp>
        <p:nvSpPr>
          <p:cNvPr id="83" name="af-expert-4-box-rect-01"/>
          <p:cNvSpPr/>
          <p:nvPr/>
        </p:nvSpPr>
        <p:spPr>
          <a:xfrm>
            <a:off x="7610475" y="2181225"/>
            <a:ext cx="495300" cy="2247900"/>
          </a:xfrm>
          <a:prstGeom prst="rect">
            <a:avLst/>
          </a:prstGeom>
          <a:solidFill>
            <a:srgbClr val="FAFAFA"/>
          </a:solidFill>
          <a:ln w="19050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af-expert-4-sem-rect-01"/>
          <p:cNvSpPr/>
          <p:nvPr/>
        </p:nvSpPr>
        <p:spPr>
          <a:xfrm>
            <a:off x="7686675" y="2314575"/>
            <a:ext cx="352425" cy="952500"/>
          </a:xfrm>
          <a:prstGeom prst="roundRect">
            <a:avLst>
              <a:gd name="adj" fmla="val 21621"/>
            </a:avLst>
          </a:prstGeom>
          <a:solidFill>
            <a:srgbClr val="FDE4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af-expert-4-dyn-rect-01"/>
          <p:cNvSpPr/>
          <p:nvPr/>
        </p:nvSpPr>
        <p:spPr>
          <a:xfrm>
            <a:off x="7686675" y="3390900"/>
            <a:ext cx="352425" cy="952500"/>
          </a:xfrm>
          <a:prstGeom prst="roundRect">
            <a:avLst>
              <a:gd name="adj" fmla="val 18918"/>
            </a:avLst>
          </a:prstGeom>
          <a:solidFill>
            <a:srgbClr val="DC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af-expert-4-sem-label-text-01"/>
          <p:cNvSpPr txBox="1"/>
          <p:nvPr/>
        </p:nvSpPr>
        <p:spPr>
          <a:xfrm>
            <a:off x="7715250" y="2520791"/>
            <a:ext cx="285750" cy="34528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75">
                <a:solidFill>
                  <a:srgbClr val="000000"/>
                </a:solidFill>
                <a:latin typeface="Arial"/>
              </a:rPr>
              <a:t>S</a:t>
            </a:r>
            <a:r>
              <a:rPr sz="975">
                <a:solidFill>
                  <a:srgbClr val="000000"/>
                </a:solidFill>
                <a:latin typeface="Arial"/>
              </a:rPr>
              <a:t>e</a:t>
            </a:r>
            <a:r>
              <a:rPr sz="975">
                <a:solidFill>
                  <a:srgbClr val="000000"/>
                </a:solidFill>
                <a:latin typeface="Arial"/>
              </a:rPr>
              <a:t>m</a:t>
            </a:r>
          </a:p>
        </p:txBody>
      </p:sp>
      <p:sp>
        <p:nvSpPr>
          <p:cNvPr id="87" name="af-expert-4-dyn-label-text-01"/>
          <p:cNvSpPr txBox="1"/>
          <p:nvPr/>
        </p:nvSpPr>
        <p:spPr>
          <a:xfrm>
            <a:off x="7715250" y="3597116"/>
            <a:ext cx="285750" cy="34528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75">
                <a:solidFill>
                  <a:srgbClr val="000000"/>
                </a:solidFill>
                <a:latin typeface="Arial"/>
              </a:rPr>
              <a:t>D</a:t>
            </a:r>
            <a:r>
              <a:rPr sz="975">
                <a:solidFill>
                  <a:srgbClr val="000000"/>
                </a:solidFill>
                <a:latin typeface="Arial"/>
              </a:rPr>
              <a:t>y</a:t>
            </a:r>
            <a:r>
              <a:rPr sz="975">
                <a:solidFill>
                  <a:srgbClr val="000000"/>
                </a:solidFill>
                <a:latin typeface="Arial"/>
              </a:rPr>
              <a:t>n</a:t>
            </a:r>
          </a:p>
        </p:txBody>
      </p:sp>
      <p:sp>
        <p:nvSpPr>
          <p:cNvPr id="88" name="af-expert-index-1-text-01"/>
          <p:cNvSpPr txBox="1"/>
          <p:nvPr/>
        </p:nvSpPr>
        <p:spPr>
          <a:xfrm>
            <a:off x="5299710" y="4457700"/>
            <a:ext cx="411480" cy="4286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 i="1">
                <a:solidFill>
                  <a:srgbClr val="000000"/>
                </a:solidFill>
                <a:latin typeface="Times New Roman"/>
              </a:rPr>
              <a:t>1</a:t>
            </a:r>
          </a:p>
        </p:txBody>
      </p:sp>
      <p:sp>
        <p:nvSpPr>
          <p:cNvPr id="89" name="af-expert-index-2-text-01"/>
          <p:cNvSpPr txBox="1"/>
          <p:nvPr/>
        </p:nvSpPr>
        <p:spPr>
          <a:xfrm>
            <a:off x="6023610" y="4457700"/>
            <a:ext cx="411480" cy="4286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 i="1">
                <a:solidFill>
                  <a:srgbClr val="000000"/>
                </a:solidFill>
                <a:latin typeface="Times New Roman"/>
              </a:rPr>
              <a:t>2</a:t>
            </a:r>
          </a:p>
        </p:txBody>
      </p:sp>
      <p:sp>
        <p:nvSpPr>
          <p:cNvPr id="90" name="af-expert-index-3-text-01"/>
          <p:cNvSpPr txBox="1"/>
          <p:nvPr/>
        </p:nvSpPr>
        <p:spPr>
          <a:xfrm>
            <a:off x="6776085" y="4457700"/>
            <a:ext cx="411480" cy="4286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 i="1">
                <a:solidFill>
                  <a:srgbClr val="000000"/>
                </a:solidFill>
                <a:latin typeface="Times New Roman"/>
              </a:rPr>
              <a:t>3</a:t>
            </a:r>
          </a:p>
        </p:txBody>
      </p:sp>
      <p:sp>
        <p:nvSpPr>
          <p:cNvPr id="91" name="af-expert-index-dots-text-01"/>
          <p:cNvSpPr txBox="1"/>
          <p:nvPr/>
        </p:nvSpPr>
        <p:spPr>
          <a:xfrm>
            <a:off x="7205186" y="4171474"/>
            <a:ext cx="467677" cy="4167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425">
                <a:solidFill>
                  <a:srgbClr val="888888"/>
                </a:solidFill>
                <a:latin typeface="Arial"/>
              </a:rPr>
              <a:t>...</a:t>
            </a:r>
          </a:p>
        </p:txBody>
      </p:sp>
      <p:sp>
        <p:nvSpPr>
          <p:cNvPr id="92" name="af-expert-index-l-text-01"/>
          <p:cNvSpPr txBox="1"/>
          <p:nvPr/>
        </p:nvSpPr>
        <p:spPr>
          <a:xfrm>
            <a:off x="7679055" y="4457700"/>
            <a:ext cx="358140" cy="4286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 i="1">
                <a:solidFill>
                  <a:srgbClr val="000000"/>
                </a:solidFill>
                <a:latin typeface="Times New Roman"/>
              </a:rPr>
              <a:t>l</a:t>
            </a:r>
          </a:p>
        </p:txBody>
      </p:sp>
      <p:sp>
        <p:nvSpPr>
          <p:cNvPr id="93" name="af-allocator-task1-route-1-freeform-arrow-01"/>
          <p:cNvSpPr/>
          <p:nvPr/>
        </p:nvSpPr>
        <p:spPr>
          <a:xfrm>
            <a:off x="5114925" y="2476500"/>
            <a:ext cx="771525" cy="828675"/>
          </a:xfrm>
          <a:custGeom>
            <a:avLst/>
            <a:gdLst/>
            <a:ahLst/>
            <a:cxnLst/>
            <a:rect l="0" t="0" r="0" b="0"/>
            <a:pathLst>
              <a:path w="771525" h="828675">
                <a:moveTo>
                  <a:pt x="0" y="276225"/>
                </a:moveTo>
                <a:cubicBezTo>
                  <a:pt x="314325" y="0"/>
                  <a:pt x="438150" y="161925"/>
                  <a:pt x="771525" y="828675"/>
                </a:cubicBezTo>
              </a:path>
            </a:pathLst>
          </a:custGeom>
          <a:noFill/>
          <a:ln w="28575">
            <a:solidFill>
              <a:srgbClr val="3567B7"/>
            </a:solidFill>
            <a:prstDash val="sysDot"/>
            <a:tailEnd type="triangle" w="med" len="med"/>
          </a:ln>
        </p:spPr>
        <p:txBody>
          <a:bodyPr/>
          <a:p/>
        </p:txBody>
      </p:sp>
      <p:sp>
        <p:nvSpPr>
          <p:cNvPr id="94" name="af-allocator-task1-route-2-freeform-arrow-01"/>
          <p:cNvSpPr/>
          <p:nvPr/>
        </p:nvSpPr>
        <p:spPr>
          <a:xfrm>
            <a:off x="5124450" y="2381250"/>
            <a:ext cx="3076575" cy="1714500"/>
          </a:xfrm>
          <a:custGeom>
            <a:avLst/>
            <a:gdLst/>
            <a:ahLst/>
            <a:cxnLst/>
            <a:rect l="0" t="0" r="0" b="0"/>
            <a:pathLst>
              <a:path w="3076575" h="1714500">
                <a:moveTo>
                  <a:pt x="0" y="381000"/>
                </a:moveTo>
                <a:cubicBezTo>
                  <a:pt x="800100" y="0"/>
                  <a:pt x="809625" y="1714500"/>
                  <a:pt x="1543050" y="1695450"/>
                </a:cubicBezTo>
                <a:cubicBezTo>
                  <a:pt x="2114550" y="1676400"/>
                  <a:pt x="2352675" y="133350"/>
                  <a:pt x="3076575" y="323850"/>
                </a:cubicBezTo>
              </a:path>
            </a:pathLst>
          </a:custGeom>
          <a:noFill/>
          <a:ln w="28575">
            <a:solidFill>
              <a:srgbClr val="3567B7"/>
            </a:solidFill>
            <a:prstDash val="sysDot"/>
            <a:tailEnd type="triangle" w="med" len="med"/>
          </a:ln>
        </p:spPr>
        <p:txBody>
          <a:bodyPr/>
          <a:p/>
        </p:txBody>
      </p:sp>
      <p:grpSp>
        <p:nvGrpSpPr>
          <p:cNvPr id="97" name="af-allocator-task2-route-1-arrow-group-01"/>
          <p:cNvGrpSpPr/>
          <p:nvPr/>
        </p:nvGrpSpPr>
        <p:grpSpPr>
          <a:xfrm>
            <a:off x="0" y="0"/>
            <a:ext cx="13611225" cy="5972175"/>
            <a:chOff x="0" y="0"/>
            <a:chExt cx="13611225" cy="5972175"/>
          </a:xfrm>
        </p:grpSpPr>
        <p:sp>
          <p:nvSpPr>
            <p:cNvPr id="95" name="af-allocator-task2-route-1-freeform-arrow-01"/>
            <p:cNvSpPr/>
            <p:nvPr/>
          </p:nvSpPr>
          <p:spPr>
            <a:xfrm>
              <a:off x="5114925" y="2667000"/>
              <a:ext cx="2066925" cy="1533525"/>
            </a:xfrm>
            <a:custGeom>
              <a:avLst/>
              <a:gdLst/>
              <a:ahLst/>
              <a:cxnLst/>
              <a:rect l="0" t="0" r="0" b="0"/>
              <a:pathLst>
                <a:path w="2066925" h="1533525">
                  <a:moveTo>
                    <a:pt x="0" y="1238250"/>
                  </a:moveTo>
                  <a:cubicBezTo>
                    <a:pt x="790575" y="1066800"/>
                    <a:pt x="904875" y="1533525"/>
                    <a:pt x="1381125" y="990600"/>
                  </a:cubicBezTo>
                  <a:cubicBezTo>
                    <a:pt x="1704975" y="628650"/>
                    <a:pt x="1743075" y="0"/>
                    <a:pt x="2066925" y="19050"/>
                  </a:cubicBezTo>
                </a:path>
              </a:pathLst>
            </a:custGeom>
            <a:noFill/>
            <a:ln w="28575">
              <a:solidFill>
                <a:srgbClr val="D40000"/>
              </a:solidFill>
              <a:prstDash val="sysDot"/>
            </a:ln>
          </p:spPr>
        </p:sp>
        <p:sp>
          <p:nvSpPr>
            <p:cNvPr id="96" name="af-allocator-task2-route-1-arrowhead-fallback-01"/>
            <p:cNvSpPr/>
            <p:nvPr/>
          </p:nvSpPr>
          <p:spPr>
            <a:xfrm>
              <a:off x="7093197" y="2628719"/>
              <a:ext cx="98162" cy="104594"/>
            </a:xfrm>
            <a:custGeom>
              <a:avLst/>
              <a:gdLst/>
              <a:ahLst/>
              <a:cxnLst/>
              <a:rect l="0" t="0" r="0" b="0"/>
              <a:pathLst>
                <a:path w="98162" h="104594">
                  <a:moveTo>
                    <a:pt x="6153" y="0"/>
                  </a:moveTo>
                  <a:lnTo>
                    <a:pt x="98162" y="57890"/>
                  </a:lnTo>
                  <a:lnTo>
                    <a:pt x="0" y="104594"/>
                  </a:lnTo>
                  <a:close/>
                </a:path>
              </a:pathLst>
            </a:custGeom>
            <a:solidFill>
              <a:srgbClr val="F27622"/>
            </a:solidFill>
            <a:ln>
              <a:noFill/>
            </a:ln>
          </p:spPr>
        </p:sp>
      </p:grpSp>
      <p:grpSp>
        <p:nvGrpSpPr>
          <p:cNvPr id="100" name="af-allocator-task2-route-2-arrow-group-01"/>
          <p:cNvGrpSpPr/>
          <p:nvPr/>
        </p:nvGrpSpPr>
        <p:grpSpPr>
          <a:xfrm>
            <a:off x="0" y="0"/>
            <a:ext cx="13611225" cy="5972175"/>
            <a:chOff x="0" y="0"/>
            <a:chExt cx="13611225" cy="5972175"/>
          </a:xfrm>
        </p:grpSpPr>
        <p:sp>
          <p:nvSpPr>
            <p:cNvPr id="98" name="af-allocator-task2-route-2-freeform-arrow-01"/>
            <p:cNvSpPr/>
            <p:nvPr/>
          </p:nvSpPr>
          <p:spPr>
            <a:xfrm>
              <a:off x="5114925" y="3228975"/>
              <a:ext cx="3095625" cy="1104900"/>
            </a:xfrm>
            <a:custGeom>
              <a:avLst/>
              <a:gdLst/>
              <a:ahLst/>
              <a:cxnLst/>
              <a:rect l="0" t="0" r="0" b="0"/>
              <a:pathLst>
                <a:path w="3095625" h="1104900">
                  <a:moveTo>
                    <a:pt x="0" y="676275"/>
                  </a:moveTo>
                  <a:cubicBezTo>
                    <a:pt x="809625" y="609600"/>
                    <a:pt x="1019175" y="809625"/>
                    <a:pt x="1476375" y="409575"/>
                  </a:cubicBezTo>
                  <a:cubicBezTo>
                    <a:pt x="1943100" y="0"/>
                    <a:pt x="2324100" y="1104900"/>
                    <a:pt x="3095625" y="752475"/>
                  </a:cubicBezTo>
                </a:path>
              </a:pathLst>
            </a:custGeom>
            <a:noFill/>
            <a:ln w="28575">
              <a:solidFill>
                <a:srgbClr val="D40000"/>
              </a:solidFill>
              <a:prstDash val="sysDot"/>
            </a:ln>
          </p:spPr>
        </p:sp>
        <p:sp>
          <p:nvSpPr>
            <p:cNvPr id="99" name="af-allocator-task2-route-2-arrowhead-fallback-01"/>
            <p:cNvSpPr/>
            <p:nvPr/>
          </p:nvSpPr>
          <p:spPr>
            <a:xfrm>
              <a:off x="8110808" y="3969417"/>
              <a:ext cx="108406" cy="95303"/>
            </a:xfrm>
            <a:custGeom>
              <a:avLst/>
              <a:gdLst/>
              <a:ahLst/>
              <a:cxnLst/>
              <a:rect l="0" t="0" r="0" b="0"/>
              <a:pathLst>
                <a:path w="108406" h="95303">
                  <a:moveTo>
                    <a:pt x="0" y="0"/>
                  </a:moveTo>
                  <a:lnTo>
                    <a:pt x="108406" y="8076"/>
                  </a:lnTo>
                  <a:lnTo>
                    <a:pt x="43533" y="95303"/>
                  </a:lnTo>
                  <a:close/>
                </a:path>
              </a:pathLst>
            </a:custGeom>
            <a:solidFill>
              <a:srgbClr val="F27622"/>
            </a:solidFill>
            <a:ln>
              <a:noFill/>
            </a:ln>
          </p:spPr>
        </p:sp>
      </p:grpSp>
      <p:sp>
        <p:nvSpPr>
          <p:cNvPr id="101" name="af-zt-top-box-rect-01"/>
          <p:cNvSpPr/>
          <p:nvPr/>
        </p:nvSpPr>
        <p:spPr>
          <a:xfrm>
            <a:off x="8601075" y="1981200"/>
            <a:ext cx="400050" cy="1219200"/>
          </a:xfrm>
          <a:prstGeom prst="rect">
            <a:avLst/>
          </a:prstGeom>
          <a:solidFill>
            <a:srgbClr val="FFFFFF"/>
          </a:solidFill>
          <a:ln w="28575">
            <a:solidFill>
              <a:srgbClr val="193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2" name="math:005" descr="AI_AUTOFIGURE_NATIVE_MATH_V1:eyJjb250ZW50X3J1bnMiOlt7ImNhbm9uaWNhbF9sYXRleCI6Inpfe3R9IiwiZm9ybXVsYV9pZCI6IkVRMDA1Iiwia2luZCI6Im1hdGg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mb3JtdWxhcyI6W3siY2Fub25pY2FsX2xhdGV4Ijoiel97dH0iLCJmb3JtdWxhX2lkIjoiRVEwMDU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raW5kIjoibmF0aXZlX29mZmljZV9tYXRoIiwicGxhY2Vob2xkZXJfbmFtZSI6Im1hdGg6MDA1Iiwic2NoZW1hX3ZlcnNpb24iOiIxLjAifQ=="/>
              <p:cNvSpPr txBox="1"/>
              <p:nvPr/>
            </p:nvSpPr>
            <p:spPr>
              <a:xfrm>
                <a:off x="8575834" y="1723072"/>
                <a:ext cx="450532" cy="4048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350">
                            <a:solidFill>
                              <a:srgbClr val="000000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a:rPr lang="en-US" dirty="0" sz="1350">
                            <a:solidFill>
                              <a:srgbClr val="000000"/>
                            </a:solidFill>
                            <a:latin typeface="Cambria Math"/>
                          </a:rPr>
                          <m:t>t</m:t>
                        </m:r>
                      </m:sub>
                    </m:sSub>
                  </m:oMath>
                </a14:m>
                <a:endParaRPr lang="en-US" dirty="0" sz="1350">
                  <a:solidFill>
                    <a:srgbClr val="000000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02" name="math:005" descr="AI_AUTOFIGURE_MATH_FALLBACK_ONLY_V1:eyJjb250ZW50X3J1bnMiOlt7ImNhbm9uaWNhbF9sYXRleCI6Inpfe3R9IiwiZm9ybXVsYV9pZCI6IkVRMDA1Iiwia2luZCI6Im1hdGg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mb3JtdWxhcyI6W3siY2Fub25pY2FsX2xhdGV4Ijoiel97dH0iLCJmb3JtdWxhX2lkIjoiRVEwMDU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raW5kIjoibmF0aXZlX29mZmljZV9tYXRoIiwicGxhY2Vob2xkZXJfbmFtZSI6Im1hdGg6MDA1Iiwic2NoZW1hX3ZlcnNpb24iOiIxLjAifQ=="/>
              <p:cNvSpPr txBox="1"/>
              <p:nvPr/>
            </p:nvSpPr>
            <p:spPr>
              <a:xfrm>
                <a:off x="8575834" y="1723072"/>
                <a:ext cx="450532" cy="4048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350">
                    <a:solidFill>
                      <a:srgbClr val="000000"/>
                    </a:solidFill>
                  </a:rPr>
                  <a:t>\(z_{t}\)</a:t>
                </a:r>
                <a:endParaRPr lang="en-US" dirty="0" sz="1350">
                  <a:solidFill>
                    <a:srgbClr val="000000"/>
                  </a:solidFill>
                </a:endParaRPr>
              </a:p>
            </p:txBody>
          </p:sp>
        </mc:Fallback>
      </mc:AlternateContent>
      <p:sp>
        <p:nvSpPr>
          <p:cNvPr id="103" name="af-zt-top-1-ellipse-01"/>
          <p:cNvSpPr/>
          <p:nvPr/>
        </p:nvSpPr>
        <p:spPr>
          <a:xfrm>
            <a:off x="8648700" y="2057400"/>
            <a:ext cx="304800" cy="304800"/>
          </a:xfrm>
          <a:prstGeom prst="ellipse">
            <a:avLst/>
          </a:prstGeom>
          <a:gradFill>
            <a:gsLst>
              <a:gs pos="0">
                <a:srgbClr val="F3A46E"/>
              </a:gs>
              <a:gs pos="48000">
                <a:srgbClr val="F3A46E"/>
              </a:gs>
              <a:gs pos="52000">
                <a:srgbClr val="F4F4EF"/>
              </a:gs>
              <a:gs pos="58000">
                <a:srgbClr val="2B8C9C"/>
              </a:gs>
              <a:gs pos="100000">
                <a:srgbClr val="2B8C9C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af-zt-top-2-ellipse-01"/>
          <p:cNvSpPr/>
          <p:nvPr/>
        </p:nvSpPr>
        <p:spPr>
          <a:xfrm>
            <a:off x="8648700" y="2419350"/>
            <a:ext cx="304800" cy="304800"/>
          </a:xfrm>
          <a:prstGeom prst="ellipse">
            <a:avLst/>
          </a:prstGeom>
          <a:gradFill>
            <a:gsLst>
              <a:gs pos="0">
                <a:srgbClr val="F3A46E"/>
              </a:gs>
              <a:gs pos="48000">
                <a:srgbClr val="F3A46E"/>
              </a:gs>
              <a:gs pos="52000">
                <a:srgbClr val="F4F4EF"/>
              </a:gs>
              <a:gs pos="58000">
                <a:srgbClr val="2B8C9C"/>
              </a:gs>
              <a:gs pos="100000">
                <a:srgbClr val="2B8C9C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af-zt-top-3-ellipse-01"/>
          <p:cNvSpPr/>
          <p:nvPr/>
        </p:nvSpPr>
        <p:spPr>
          <a:xfrm>
            <a:off x="8648700" y="2781300"/>
            <a:ext cx="304800" cy="304800"/>
          </a:xfrm>
          <a:prstGeom prst="ellipse">
            <a:avLst/>
          </a:prstGeom>
          <a:gradFill>
            <a:gsLst>
              <a:gs pos="0">
                <a:srgbClr val="F3A46E"/>
              </a:gs>
              <a:gs pos="48000">
                <a:srgbClr val="F3A46E"/>
              </a:gs>
              <a:gs pos="52000">
                <a:srgbClr val="F4F4EF"/>
              </a:gs>
              <a:gs pos="58000">
                <a:srgbClr val="2B8C9C"/>
              </a:gs>
              <a:gs pos="100000">
                <a:srgbClr val="2B8C9C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af-zt-bottom-box-rect-01"/>
          <p:cNvSpPr/>
          <p:nvPr/>
        </p:nvSpPr>
        <p:spPr>
          <a:xfrm>
            <a:off x="8601075" y="3362325"/>
            <a:ext cx="400050" cy="1200150"/>
          </a:xfrm>
          <a:prstGeom prst="rect">
            <a:avLst/>
          </a:prstGeom>
          <a:solidFill>
            <a:srgbClr val="FFFFFF"/>
          </a:solidFill>
          <a:ln w="28575">
            <a:solidFill>
              <a:srgbClr val="193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af-zt-bottom-1-ellipse-01"/>
          <p:cNvSpPr/>
          <p:nvPr/>
        </p:nvSpPr>
        <p:spPr>
          <a:xfrm>
            <a:off x="8648700" y="3467100"/>
            <a:ext cx="304800" cy="304800"/>
          </a:xfrm>
          <a:prstGeom prst="ellipse">
            <a:avLst/>
          </a:prstGeom>
          <a:gradFill>
            <a:gsLst>
              <a:gs pos="0">
                <a:srgbClr val="F3A46E"/>
              </a:gs>
              <a:gs pos="48000">
                <a:srgbClr val="F3A46E"/>
              </a:gs>
              <a:gs pos="52000">
                <a:srgbClr val="F4F4EF"/>
              </a:gs>
              <a:gs pos="58000">
                <a:srgbClr val="2B8C9C"/>
              </a:gs>
              <a:gs pos="100000">
                <a:srgbClr val="2B8C9C"/>
              </a:gs>
            </a:gsLst>
            <a:lin ang="81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af-zt-bottom-2-ellipse-01"/>
          <p:cNvSpPr/>
          <p:nvPr/>
        </p:nvSpPr>
        <p:spPr>
          <a:xfrm>
            <a:off x="8648700" y="3819525"/>
            <a:ext cx="304800" cy="304800"/>
          </a:xfrm>
          <a:prstGeom prst="ellipse">
            <a:avLst/>
          </a:prstGeom>
          <a:gradFill>
            <a:gsLst>
              <a:gs pos="0">
                <a:srgbClr val="F3A46E"/>
              </a:gs>
              <a:gs pos="48000">
                <a:srgbClr val="F3A46E"/>
              </a:gs>
              <a:gs pos="52000">
                <a:srgbClr val="F4F4EF"/>
              </a:gs>
              <a:gs pos="58000">
                <a:srgbClr val="2B8C9C"/>
              </a:gs>
              <a:gs pos="100000">
                <a:srgbClr val="2B8C9C"/>
              </a:gs>
            </a:gsLst>
            <a:lin ang="81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af-zt-bottom-3-ellipse-01"/>
          <p:cNvSpPr/>
          <p:nvPr/>
        </p:nvSpPr>
        <p:spPr>
          <a:xfrm>
            <a:off x="8648700" y="4171950"/>
            <a:ext cx="304800" cy="304800"/>
          </a:xfrm>
          <a:prstGeom prst="ellipse">
            <a:avLst/>
          </a:prstGeom>
          <a:gradFill>
            <a:gsLst>
              <a:gs pos="0">
                <a:srgbClr val="F3A46E"/>
              </a:gs>
              <a:gs pos="48000">
                <a:srgbClr val="F3A46E"/>
              </a:gs>
              <a:gs pos="52000">
                <a:srgbClr val="F4F4EF"/>
              </a:gs>
              <a:gs pos="58000">
                <a:srgbClr val="2B8C9C"/>
              </a:gs>
              <a:gs pos="100000">
                <a:srgbClr val="2B8C9C"/>
              </a:gs>
            </a:gsLst>
            <a:lin ang="81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af-task-conditioned-imagination-rect-01"/>
          <p:cNvSpPr/>
          <p:nvPr/>
        </p:nvSpPr>
        <p:spPr>
          <a:xfrm>
            <a:off x="9458325" y="1152525"/>
            <a:ext cx="3810000" cy="866775"/>
          </a:xfrm>
          <a:prstGeom prst="roundRect">
            <a:avLst>
              <a:gd name="adj" fmla="val 18681"/>
            </a:avLst>
          </a:prstGeom>
          <a:solidFill>
            <a:srgbClr val="F3F3F3"/>
          </a:solidFill>
          <a:ln w="21908">
            <a:solidFill>
              <a:srgbClr val="193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af-imagination-title-text-01"/>
          <p:cNvSpPr txBox="1"/>
          <p:nvPr/>
        </p:nvSpPr>
        <p:spPr>
          <a:xfrm>
            <a:off x="9938766" y="1267301"/>
            <a:ext cx="2849118" cy="44053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75" b="1">
                <a:solidFill>
                  <a:srgbClr val="000000"/>
                </a:solidFill>
                <a:latin typeface="Arial"/>
              </a:rPr>
              <a:t>task-conditioned imagination</a:t>
            </a:r>
          </a:p>
        </p:txBody>
      </p:sp>
      <p:sp>
        <p:nvSpPr>
          <p:cNvPr id="112" name="af-imag-z0-rect-01"/>
          <p:cNvSpPr/>
          <p:nvPr/>
        </p:nvSpPr>
        <p:spPr>
          <a:xfrm>
            <a:off x="9610725" y="1581150"/>
            <a:ext cx="438150" cy="323850"/>
          </a:xfrm>
          <a:prstGeom prst="roundRect">
            <a:avLst>
              <a:gd name="adj" fmla="val 17647"/>
            </a:avLst>
          </a:prstGeom>
          <a:solidFill>
            <a:srgbClr val="8FC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af-imag-z1-rect-01"/>
          <p:cNvSpPr/>
          <p:nvPr/>
        </p:nvSpPr>
        <p:spPr>
          <a:xfrm>
            <a:off x="10534650" y="1581150"/>
            <a:ext cx="438150" cy="323850"/>
          </a:xfrm>
          <a:prstGeom prst="roundRect">
            <a:avLst>
              <a:gd name="adj" fmla="val 17647"/>
            </a:avLst>
          </a:prstGeom>
          <a:solidFill>
            <a:srgbClr val="8FC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af-imag-z2-rect-01"/>
          <p:cNvSpPr/>
          <p:nvPr/>
        </p:nvSpPr>
        <p:spPr>
          <a:xfrm>
            <a:off x="11477625" y="1581150"/>
            <a:ext cx="438150" cy="323850"/>
          </a:xfrm>
          <a:prstGeom prst="roundRect">
            <a:avLst>
              <a:gd name="adj" fmla="val 17647"/>
            </a:avLst>
          </a:prstGeom>
          <a:solidFill>
            <a:srgbClr val="8FC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af-imag-zh-rect-01"/>
          <p:cNvSpPr/>
          <p:nvPr/>
        </p:nvSpPr>
        <p:spPr>
          <a:xfrm>
            <a:off x="12715875" y="1581150"/>
            <a:ext cx="447675" cy="323850"/>
          </a:xfrm>
          <a:prstGeom prst="roundRect">
            <a:avLst>
              <a:gd name="adj" fmla="val 17647"/>
            </a:avLst>
          </a:prstGeom>
          <a:solidFill>
            <a:srgbClr val="8FC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6" name="math:006" descr="AI_AUTOFIGURE_NATIVE_MATH_V1:eyJjb250ZW50X3J1bnMiOlt7ImNhbm9uaWNhbF9sYXRleCI6Inpee1xcdGF1fV97dH0iLCJmb3JtdWxhX2lkIjoiRVEwMDYiLCJraW5kIjoibWF0aCIsImxhdGV4X3NoYTI1NiI6IjgxMmI1YjFjOGFmZDdhYzI0Nzc5YTQxYzhmMmE0ZDNiNzZlODAyYzNlNDk5NDc3MjdlM2Q4OTZhYmI3MmQ3ZjEiLCJtb2RlIjoiaW5saW5lIiwib21tbF9zaGEyNTYiOiIwYjA5Y2ZlY2EzYmZiNzFlMzRjMGY1ZmI2ZTY2NDUzZTMwMWFlZGI1Nzc5YmE1MTFhMGZiZDc0MDljMWZlN2M1Iiwic2VtYW50aWNfb21tbF9wcm9maWxlIjoib2ZmaWNlLW1hdGgtc2VtYW50aWMtdjIiLCJzZW1hbnRpY19vbW1sX3NoYTI1NiI6IjdiMDU0ZTcxNjkxNGEwYjY5OGE4N2NmZWM0NTQ3ZWYwYjY2NTA0YzFhYTU3YmI0NDkwN2Q0NGE0YzQ3NDgxZWQifV0sImZvcm11bGFzIjpbeyJjYW5vbmljYWxfbGF0ZXgiOiJ6XntcXHRhdX1fe3R9IiwiZm9ybXVsYV9pZCI6IkVRMDA2IiwibGF0ZXhfc2hhMjU2IjoiODEyYjViMWM4YWZkN2FjMjQ3NzlhNDFjOGYyYTRkM2I3NmU4MDJjM2U0OTk0NzcyN2UzZDg5NmFiYjcyZDdmMSIsIm1vZGUiOiJpbmxpbmUiLCJvbW1sX3NoYTI1NiI6IjBiMDljZmVjYTNiZmI3MWUzNGMwZjVmYjZlNjY0NTNlMzAxYWVkYjU3NzliYTUxMWEwZmJkNzQwOWMxZmU3YzUiLCJzZW1hbnRpY19vbW1sX3Byb2ZpbGUiOiJvZmZpY2UtbWF0aC1zZW1hbnRpYy12MiIsInNlbWFudGljX29tbWxfc2hhMjU2IjoiN2IwNTRlNzE2OTE0YTBiNjk4YTg3Y2ZlYzQ1NDdlZjBiNjY1MDRjMWFhNTdiYjQ0OTA3ZDQ0YTRjNDc0ODFlZCJ9XSwia2luZCI6Im5hdGl2ZV9vZmZpY2VfbWF0aCIsInBsYWNlaG9sZGVyX25hbWUiOiJtYXRoOjAwNiIsInNjaGVtYV92ZXJzaW9uIjoiMS4wIn0="/>
              <p:cNvSpPr txBox="1"/>
              <p:nvPr/>
            </p:nvSpPr>
            <p:spPr>
              <a:xfrm>
                <a:off x="9639300" y="1636871"/>
                <a:ext cx="381000" cy="239554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Sup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</m:t>
                        </m:r>
                      </m:sub>
                      <m:sup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τ</m:t>
                        </m:r>
                      </m:sup>
                    </m:sSubSup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16" name="math:006" descr="AI_AUTOFIGURE_MATH_FALLBACK_ONLY_V1:eyJjb250ZW50X3J1bnMiOlt7ImNhbm9uaWNhbF9sYXRleCI6Inpee1xcdGF1fV97dH0iLCJmb3JtdWxhX2lkIjoiRVEwMDYiLCJraW5kIjoibWF0aCIsImxhdGV4X3NoYTI1NiI6IjgxMmI1YjFjOGFmZDdhYzI0Nzc5YTQxYzhmMmE0ZDNiNzZlODAyYzNlNDk5NDc3MjdlM2Q4OTZhYmI3MmQ3ZjEiLCJtb2RlIjoiaW5saW5lIiwib21tbF9zaGEyNTYiOiIwYjA5Y2ZlY2EzYmZiNzFlMzRjMGY1ZmI2ZTY2NDUzZTMwMWFlZGI1Nzc5YmE1MTFhMGZiZDc0MDljMWZlN2M1Iiwic2VtYW50aWNfb21tbF9wcm9maWxlIjoib2ZmaWNlLW1hdGgtc2VtYW50aWMtdjIiLCJzZW1hbnRpY19vbW1sX3NoYTI1NiI6IjdiMDU0ZTcxNjkxNGEwYjY5OGE4N2NmZWM0NTQ3ZWYwYjY2NTA0YzFhYTU3YmI0NDkwN2Q0NGE0YzQ3NDgxZWQifV0sImZvcm11bGFzIjpbeyJjYW5vbmljYWxfbGF0ZXgiOiJ6XntcXHRhdX1fe3R9IiwiZm9ybXVsYV9pZCI6IkVRMDA2IiwibGF0ZXhfc2hhMjU2IjoiODEyYjViMWM4YWZkN2FjMjQ3NzlhNDFjOGYyYTRkM2I3NmU4MDJjM2U0OTk0NzcyN2UzZDg5NmFiYjcyZDdmMSIsIm1vZGUiOiJpbmxpbmUiLCJvbW1sX3NoYTI1NiI6IjBiMDljZmVjYTNiZmI3MWUzNGMwZjVmYjZlNjY0NTNlMzAxYWVkYjU3NzliYTUxMWEwZmJkNzQwOWMxZmU3YzUiLCJzZW1hbnRpY19vbW1sX3Byb2ZpbGUiOiJvZmZpY2UtbWF0aC1zZW1hbnRpYy12MiIsInNlbWFudGljX29tbWxfc2hhMjU2IjoiN2IwNTRlNzE2OTE0YTBiNjk4YTg3Y2ZlYzQ1NDdlZjBiNjY1MDRjMWFhNTdiYjQ0OTA3ZDQ0YTRjNDc0ODFlZCJ9XSwia2luZCI6Im5hdGl2ZV9vZmZpY2VfbWF0aCIsInBsYWNlaG9sZGVyX25hbWUiOiJtYXRoOjAwNiIsInNjaGVtYV92ZXJzaW9uIjoiMS4wIn0="/>
              <p:cNvSpPr txBox="1"/>
              <p:nvPr/>
            </p:nvSpPr>
            <p:spPr>
              <a:xfrm>
                <a:off x="9639300" y="1636871"/>
                <a:ext cx="381000" cy="239554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\(z^{\tau}_{t}\)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7" name="math:007" descr="AI_AUTOFIGURE_NATIVE_MATH_V1:eyJjb250ZW50X3J1bnMiOlt7ImNhbm9uaWNhbF9sYXRleCI6Inpee1xcdGF1fV97dCsxfSIsImZvcm11bGFfaWQiOiJFUTAwNyIsImtpbmQiOiJtYXRoIiwibGF0ZXhfc2hhMjU2IjoiMmM1ZTJlMzU3Mzg2MTFkZDE4YzEwNzBlZTQ2YjQ1MGU5YjE0ZGViZDFmYmU3ZDJlYzI0OWQ4OWMxZThmODU5MSIsIm1vZGUiOiJpbmxpbmUiLCJvbW1sX3NoYTI1NiI6IjY2YmY1ZjM0M2NjY2YwNTI1M2NjZGI5ODYxM2Y4NTFjZTYzMmVkOWNmMjBhMjE3MDc5MDUyYWE2NjRlYWQ3ZTkiLCJzZW1hbnRpY19vbW1sX3Byb2ZpbGUiOiJvZmZpY2UtbWF0aC1zZW1hbnRpYy12MiIsInNlbWFudGljX29tbWxfc2hhMjU2IjoiMjMzM2NjYjhkM2RjMTg3N2JiNDFkYzBkMmJlM2NmY2MxMjJjMGZjNDQyMzk3Mzk4YmI0MzlkMWMwNzdhMjY5OCJ9XSwiZm9ybXVsYXMiOlt7ImNhbm9uaWNhbF9sYXRleCI6Inpee1xcdGF1fV97dCsxfSIsImZvcm11bGFfaWQiOiJFUTAwNyIsImxhdGV4X3NoYTI1NiI6IjJjNWUyZTM1NzM4NjExZGQxOGMxMDcwZWU0NmI0NTBlOWIxNGRlYmQxZmJlN2QyZWMyNDlkODljMWU4Zjg1OTEiLCJtb2RlIjoiaW5saW5lIiwib21tbF9zaGEyNTYiOiI2NmJmNWYzNDNjY2NmMDUyNTNjY2RiOTg2MTNmODUxY2U2MzJlZDljZjIwYTIxNzA3OTA1MmFhNjY0ZWFkN2U5Iiwic2VtYW50aWNfb21tbF9wcm9maWxlIjoib2ZmaWNlLW1hdGgtc2VtYW50aWMtdjIiLCJzZW1hbnRpY19vbW1sX3NoYTI1NiI6IjIzMzNjY2I4ZDNkYzE4NzdiYjQxZGMwZDJiZTNjZmNjMTIyYzBmYzQ0MjM5NzM5OGJiNDM5ZDFjMDc3YTI2OTgifV0sImtpbmQiOiJuYXRpdmVfb2ZmaWNlX21hdGgiLCJwbGFjZWhvbGRlcl9uYW1lIjoibWF0aDowMDciLCJzY2hlbWFfdmVyc2lvbiI6IjEuMCJ9"/>
              <p:cNvSpPr txBox="1"/>
              <p:nvPr/>
            </p:nvSpPr>
            <p:spPr>
              <a:xfrm>
                <a:off x="10563225" y="1636871"/>
                <a:ext cx="381000" cy="239554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Sup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t+1</m:t>
                        </m:r>
                      </m:sub>
                      <m:sup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τ</m:t>
                        </m:r>
                      </m:sup>
                    </m:sSubSup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17" name="math:007" descr="AI_AUTOFIGURE_MATH_FALLBACK_ONLY_V1:eyJjb250ZW50X3J1bnMiOlt7ImNhbm9uaWNhbF9sYXRleCI6Inpee1xcdGF1fV97dCsxfSIsImZvcm11bGFfaWQiOiJFUTAwNyIsImtpbmQiOiJtYXRoIiwibGF0ZXhfc2hhMjU2IjoiMmM1ZTJlMzU3Mzg2MTFkZDE4YzEwNzBlZTQ2YjQ1MGU5YjE0ZGViZDFmYmU3ZDJlYzI0OWQ4OWMxZThmODU5MSIsIm1vZGUiOiJpbmxpbmUiLCJvbW1sX3NoYTI1NiI6IjY2YmY1ZjM0M2NjY2YwNTI1M2NjZGI5ODYxM2Y4NTFjZTYzMmVkOWNmMjBhMjE3MDc5MDUyYWE2NjRlYWQ3ZTkiLCJzZW1hbnRpY19vbW1sX3Byb2ZpbGUiOiJvZmZpY2UtbWF0aC1zZW1hbnRpYy12MiIsInNlbWFudGljX29tbWxfc2hhMjU2IjoiMjMzM2NjYjhkM2RjMTg3N2JiNDFkYzBkMmJlM2NmY2MxMjJjMGZjNDQyMzk3Mzk4YmI0MzlkMWMwNzdhMjY5OCJ9XSwiZm9ybXVsYXMiOlt7ImNhbm9uaWNhbF9sYXRleCI6Inpee1xcdGF1fV97dCsxfSIsImZvcm11bGFfaWQiOiJFUTAwNyIsImxhdGV4X3NoYTI1NiI6IjJjNWUyZTM1NzM4NjExZGQxOGMxMDcwZWU0NmI0NTBlOWIxNGRlYmQxZmJlN2QyZWMyNDlkODljMWU4Zjg1OTEiLCJtb2RlIjoiaW5saW5lIiwib21tbF9zaGEyNTYiOiI2NmJmNWYzNDNjY2NmMDUyNTNjY2RiOTg2MTNmODUxY2U2MzJlZDljZjIwYTIxNzA3OTA1MmFhNjY0ZWFkN2U5Iiwic2VtYW50aWNfb21tbF9wcm9maWxlIjoib2ZmaWNlLW1hdGgtc2VtYW50aWMtdjIiLCJzZW1hbnRpY19vbW1sX3NoYTI1NiI6IjIzMzNjY2I4ZDNkYzE4NzdiYjQxZGMwZDJiZTNjZmNjMTIyYzBmYzQ0MjM5NzM5OGJiNDM5ZDFjMDc3YTI2OTgifV0sImtpbmQiOiJuYXRpdmVfb2ZmaWNlX21hdGgiLCJwbGFjZWhvbGRlcl9uYW1lIjoibWF0aDowMDciLCJzY2hlbWFfdmVyc2lvbiI6IjEuMCJ9"/>
              <p:cNvSpPr txBox="1"/>
              <p:nvPr/>
            </p:nvSpPr>
            <p:spPr>
              <a:xfrm>
                <a:off x="10563225" y="1636871"/>
                <a:ext cx="381000" cy="239554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\(z^{\tau}_{t+1}\)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math:008" descr="AI_AUTOFIGURE_NATIVE_MATH_V1:eyJjb250ZW50X3J1bnMiOlt7ImNhbm9uaWNhbF9sYXRleCI6Inpee1xcdGF1fV97dCsyfSIsImZvcm11bGFfaWQiOiJFUTAwOCIsImtpbmQiOiJtYXRoIiwibGF0ZXhfc2hhMjU2IjoiZjE3MjkyMTZjNmIzNGI3ODc1N2JhN2I1NThmZTBlZjUzN2Q5YjM2ZTg1ZmY4NmE0ZTA0NjQ5ZmI5OTFmMWE0ZiIsIm1vZGUiOiJpbmxpbmUiLCJvbW1sX3NoYTI1NiI6IjU4YTU0YjQ2NDc2NGExYWVlOWMxNDQ1NTdjNjRhMjAxYjBjOGY5Zjk2MDE0ZjVlNDkwNmJhOTM4NDEzZjFmNDUiLCJzZW1hbnRpY19vbW1sX3Byb2ZpbGUiOiJvZmZpY2UtbWF0aC1zZW1hbnRpYy12MiIsInNlbWFudGljX29tbWxfc2hhMjU2IjoiMTc4YzVhMDM3MDY3NGFjYzc2NGI3OGYxNWExMGU0MmM5ZTNlZTRjZmZlY2Y5NjU5ZjgzMzViMjZlNzMyZmZmZSJ9XSwiZm9ybXVsYXMiOlt7ImNhbm9uaWNhbF9sYXRleCI6Inpee1xcdGF1fV97dCsyfSIsImZvcm11bGFfaWQiOiJFUTAwOCIsImxhdGV4X3NoYTI1NiI6ImYxNzI5MjE2YzZiMzRiNzg3NTdiYTdiNTU4ZmUwZWY1MzdkOWIzNmU4NWZmODZhNGUwNDY0OWZiOTkxZjFhNGYiLCJtb2RlIjoiaW5saW5lIiwib21tbF9zaGEyNTYiOiI1OGE1NGI0NjQ3NjRhMWFlZTljMTQ0NTU3YzY0YTIwMWIwYzhmOWY5NjAxNGY1ZTQ5MDZiYTkzODQxM2YxZjQ1Iiwic2VtYW50aWNfb21tbF9wcm9maWxlIjoib2ZmaWNlLW1hdGgtc2VtYW50aWMtdjIiLCJzZW1hbnRpY19vbW1sX3NoYTI1NiI6IjE3OGM1YTAzNzA2NzRhY2M3NjRiNzhmMTVhMTBlNDJjOWUzZWU0Y2ZmZWNmOTY1OWY4MzM1YjI2ZTczMmZmZmUifV0sImtpbmQiOiJuYXRpdmVfb2ZmaWNlX21hdGgiLCJwbGFjZWhvbGRlcl9uYW1lIjoibWF0aDowMDgiLCJzY2hlbWFfdmVyc2lvbiI6IjEuMCJ9"/>
              <p:cNvSpPr txBox="1"/>
              <p:nvPr/>
            </p:nvSpPr>
            <p:spPr>
              <a:xfrm>
                <a:off x="11506200" y="1636871"/>
                <a:ext cx="381000" cy="239554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Sup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t+2</m:t>
                        </m:r>
                      </m:sub>
                      <m:sup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τ</m:t>
                        </m:r>
                      </m:sup>
                    </m:sSubSup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18" name="math:008" descr="AI_AUTOFIGURE_MATH_FALLBACK_ONLY_V1:eyJjb250ZW50X3J1bnMiOlt7ImNhbm9uaWNhbF9sYXRleCI6Inpee1xcdGF1fV97dCsyfSIsImZvcm11bGFfaWQiOiJFUTAwOCIsImtpbmQiOiJtYXRoIiwibGF0ZXhfc2hhMjU2IjoiZjE3MjkyMTZjNmIzNGI3ODc1N2JhN2I1NThmZTBlZjUzN2Q5YjM2ZTg1ZmY4NmE0ZTA0NjQ5ZmI5OTFmMWE0ZiIsIm1vZGUiOiJpbmxpbmUiLCJvbW1sX3NoYTI1NiI6IjU4YTU0YjQ2NDc2NGExYWVlOWMxNDQ1NTdjNjRhMjAxYjBjOGY5Zjk2MDE0ZjVlNDkwNmJhOTM4NDEzZjFmNDUiLCJzZW1hbnRpY19vbW1sX3Byb2ZpbGUiOiJvZmZpY2UtbWF0aC1zZW1hbnRpYy12MiIsInNlbWFudGljX29tbWxfc2hhMjU2IjoiMTc4YzVhMDM3MDY3NGFjYzc2NGI3OGYxNWExMGU0MmM5ZTNlZTRjZmZlY2Y5NjU5ZjgzMzViMjZlNzMyZmZmZSJ9XSwiZm9ybXVsYXMiOlt7ImNhbm9uaWNhbF9sYXRleCI6Inpee1xcdGF1fV97dCsyfSIsImZvcm11bGFfaWQiOiJFUTAwOCIsImxhdGV4X3NoYTI1NiI6ImYxNzI5MjE2YzZiMzRiNzg3NTdiYTdiNTU4ZmUwZWY1MzdkOWIzNmU4NWZmODZhNGUwNDY0OWZiOTkxZjFhNGYiLCJtb2RlIjoiaW5saW5lIiwib21tbF9zaGEyNTYiOiI1OGE1NGI0NjQ3NjRhMWFlZTljMTQ0NTU3YzY0YTIwMWIwYzhmOWY5NjAxNGY1ZTQ5MDZiYTkzODQxM2YxZjQ1Iiwic2VtYW50aWNfb21tbF9wcm9maWxlIjoib2ZmaWNlLW1hdGgtc2VtYW50aWMtdjIiLCJzZW1hbnRpY19vbW1sX3NoYTI1NiI6IjE3OGM1YTAzNzA2NzRhY2M3NjRiNzhmMTVhMTBlNDJjOWUzZWU0Y2ZmZWNmOTY1OWY4MzM1YjI2ZTczMmZmZmUifV0sImtpbmQiOiJuYXRpdmVfb2ZmaWNlX21hdGgiLCJwbGFjZWhvbGRlcl9uYW1lIjoibWF0aDowMDgiLCJzY2hlbWFfdmVyc2lvbiI6IjEuMCJ9"/>
              <p:cNvSpPr txBox="1"/>
              <p:nvPr/>
            </p:nvSpPr>
            <p:spPr>
              <a:xfrm>
                <a:off x="11506200" y="1636871"/>
                <a:ext cx="381000" cy="239554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\(z^{\tau}_{t+2}\)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19" name="af-imag-dots-text-01"/>
          <p:cNvSpPr txBox="1"/>
          <p:nvPr/>
        </p:nvSpPr>
        <p:spPr>
          <a:xfrm>
            <a:off x="12068175" y="1636871"/>
            <a:ext cx="450532" cy="3929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275">
                <a:solidFill>
                  <a:srgbClr val="888888"/>
                </a:solidFill>
                <a:latin typeface="Arial"/>
              </a:rPr>
              <a:t>...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0" name="math:009" descr="AI_AUTOFIGURE_NATIVE_MATH_V1:eyJjb250ZW50X3J1bnMiOlt7ImNhbm9uaWNhbF9sYXRleCI6Inpee1xcdGF1fV97dCtofSIsImZvcm11bGFfaWQiOiJFUTAwOSIsImtpbmQiOiJtYXRoIiwibGF0ZXhfc2hhMjU2IjoiMTQ0MmExOTZjN2U5OWJhNTk2OTVjZTY3YzMyNTcyMjgzYjAyZmZlYjg4NDZhMDIxOTY0MDdiY2JiMjQzZjJkYSIsIm1vZGUiOiJpbmxpbmUiLCJvbW1sX3NoYTI1NiI6IjFkMGY2MzMyZDYwMTgwZTEwZTI4MDg1NDA1YmI5ZDc0Y2E2Mzg2NDllNmExOTBiOGE2Mjc1MzZmZmMxMjU4NzEiLCJzZW1hbnRpY19vbW1sX3Byb2ZpbGUiOiJvZmZpY2UtbWF0aC1zZW1hbnRpYy12MiIsInNlbWFudGljX29tbWxfc2hhMjU2IjoiMDM1YjgxMTU3MDY0NWY2YWY4ZGZhYTViMGM3Yzk4N2I2N2E3YmE0OWUxOGE4NWU5MDRjMzhiY2RjODViYWRlOCJ9XSwiZm9ybXVsYXMiOlt7ImNhbm9uaWNhbF9sYXRleCI6Inpee1xcdGF1fV97dCtofSIsImZvcm11bGFfaWQiOiJFUTAwOSIsImxhdGV4X3NoYTI1NiI6IjE0NDJhMTk2YzdlOTliYTU5Njk1Y2U2N2MzMjU3MjI4M2IwMmZmZWI4ODQ2YTAyMTk2NDA3YmNiYjI0M2YyZGEiLCJtb2RlIjoiaW5saW5lIiwib21tbF9zaGEyNTYiOiIxZDBmNjMzMmQ2MDE4MGUxMGUyODA4NTQwNWJiOWQ3NGNhNjM4NjQ5ZTZhMTkwYjhhNjI3NTM2ZmZjMTI1ODcxIiwic2VtYW50aWNfb21tbF9wcm9maWxlIjoib2ZmaWNlLW1hdGgtc2VtYW50aWMtdjIiLCJzZW1hbnRpY19vbW1sX3NoYTI1NiI6IjAzNWI4MTE1NzA2NDVmNmFmOGRmYWE1YjBjN2M5ODdiNjdhN2JhNDllMThhODVlOTA0YzM4YmNkYzg1YmFkZTgifV0sImtpbmQiOiJuYXRpdmVfb2ZmaWNlX21hdGgiLCJwbGFjZWhvbGRlcl9uYW1lIjoibWF0aDowMDkiLCJzY2hlbWFfdmVyc2lvbiI6IjEuMCJ9"/>
              <p:cNvSpPr txBox="1"/>
              <p:nvPr/>
            </p:nvSpPr>
            <p:spPr>
              <a:xfrm>
                <a:off x="12744450" y="1636871"/>
                <a:ext cx="381000" cy="239554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Sup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t+h</m:t>
                        </m:r>
                      </m:sub>
                      <m:sup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τ</m:t>
                        </m:r>
                      </m:sup>
                    </m:sSubSup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20" name="math:009" descr="AI_AUTOFIGURE_MATH_FALLBACK_ONLY_V1:eyJjb250ZW50X3J1bnMiOlt7ImNhbm9uaWNhbF9sYXRleCI6Inpee1xcdGF1fV97dCtofSIsImZvcm11bGFfaWQiOiJFUTAwOSIsImtpbmQiOiJtYXRoIiwibGF0ZXhfc2hhMjU2IjoiMTQ0MmExOTZjN2U5OWJhNTk2OTVjZTY3YzMyNTcyMjgzYjAyZmZlYjg4NDZhMDIxOTY0MDdiY2JiMjQzZjJkYSIsIm1vZGUiOiJpbmxpbmUiLCJvbW1sX3NoYTI1NiI6IjFkMGY2MzMyZDYwMTgwZTEwZTI4MDg1NDA1YmI5ZDc0Y2E2Mzg2NDllNmExOTBiOGE2Mjc1MzZmZmMxMjU4NzEiLCJzZW1hbnRpY19vbW1sX3Byb2ZpbGUiOiJvZmZpY2UtbWF0aC1zZW1hbnRpYy12MiIsInNlbWFudGljX29tbWxfc2hhMjU2IjoiMDM1YjgxMTU3MDY0NWY2YWY4ZGZhYTViMGM3Yzk4N2I2N2E3YmE0OWUxOGE4NWU5MDRjMzhiY2RjODViYWRlOCJ9XSwiZm9ybXVsYXMiOlt7ImNhbm9uaWNhbF9sYXRleCI6Inpee1xcdGF1fV97dCtofSIsImZvcm11bGFfaWQiOiJFUTAwOSIsImxhdGV4X3NoYTI1NiI6IjE0NDJhMTk2YzdlOTliYTU5Njk1Y2U2N2MzMjU3MjI4M2IwMmZmZWI4ODQ2YTAyMTk2NDA3YmNiYjI0M2YyZGEiLCJtb2RlIjoiaW5saW5lIiwib21tbF9zaGEyNTYiOiIxZDBmNjMzMmQ2MDE4MGUxMGUyODA4NTQwNWJiOWQ3NGNhNjM4NjQ5ZTZhMTkwYjhhNjI3NTM2ZmZjMTI1ODcxIiwic2VtYW50aWNfb21tbF9wcm9maWxlIjoib2ZmaWNlLW1hdGgtc2VtYW50aWMtdjIiLCJzZW1hbnRpY19vbW1sX3NoYTI1NiI6IjAzNWI4MTE1NzA2NDVmNmFmOGRmYWE1YjBjN2M5ODdiNjdhN2JhNDllMThhODVlOTA0YzM4YmNkYzg1YmFkZTgifV0sImtpbmQiOiJuYXRpdmVfb2ZmaWNlX21hdGgiLCJwbGFjZWhvbGRlcl9uYW1lIjoibWF0aDowMDkiLCJzY2hlbWFfdmVyc2lvbiI6IjEuMCJ9"/>
              <p:cNvSpPr txBox="1"/>
              <p:nvPr/>
            </p:nvSpPr>
            <p:spPr>
              <a:xfrm>
                <a:off x="12744450" y="1636871"/>
                <a:ext cx="381000" cy="239554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\(z^{\tau}_{t+h}\)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21" name="af-rollout-panel-rect-01"/>
          <p:cNvSpPr/>
          <p:nvPr/>
        </p:nvSpPr>
        <p:spPr>
          <a:xfrm>
            <a:off x="9458325" y="2676525"/>
            <a:ext cx="3810000" cy="1647825"/>
          </a:xfrm>
          <a:prstGeom prst="roundRect">
            <a:avLst>
              <a:gd name="adj" fmla="val 11560"/>
            </a:avLst>
          </a:prstGeom>
          <a:solidFill>
            <a:srgbClr val="F3F3F3"/>
          </a:solidFill>
          <a:ln w="21908">
            <a:solidFill>
              <a:srgbClr val="193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af-rollout-z0-rect-01"/>
          <p:cNvSpPr/>
          <p:nvPr/>
        </p:nvSpPr>
        <p:spPr>
          <a:xfrm>
            <a:off x="9629775" y="2819400"/>
            <a:ext cx="428625" cy="342900"/>
          </a:xfrm>
          <a:prstGeom prst="roundRect">
            <a:avLst>
              <a:gd name="adj" fmla="val 16666"/>
            </a:avLst>
          </a:prstGeom>
          <a:solidFill>
            <a:srgbClr val="2F7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af-rollout-z1-rect-01"/>
          <p:cNvSpPr/>
          <p:nvPr/>
        </p:nvSpPr>
        <p:spPr>
          <a:xfrm>
            <a:off x="10544175" y="2819400"/>
            <a:ext cx="428625" cy="342900"/>
          </a:xfrm>
          <a:prstGeom prst="roundRect">
            <a:avLst>
              <a:gd name="adj" fmla="val 16666"/>
            </a:avLst>
          </a:prstGeom>
          <a:solidFill>
            <a:srgbClr val="2F7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af-rollout-z2-rect-01"/>
          <p:cNvSpPr/>
          <p:nvPr/>
        </p:nvSpPr>
        <p:spPr>
          <a:xfrm>
            <a:off x="11496675" y="2819400"/>
            <a:ext cx="428625" cy="342900"/>
          </a:xfrm>
          <a:prstGeom prst="roundRect">
            <a:avLst>
              <a:gd name="adj" fmla="val 16666"/>
            </a:avLst>
          </a:prstGeom>
          <a:solidFill>
            <a:srgbClr val="2F7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af-rollout-zh-rect-01"/>
          <p:cNvSpPr/>
          <p:nvPr/>
        </p:nvSpPr>
        <p:spPr>
          <a:xfrm>
            <a:off x="12715875" y="2819400"/>
            <a:ext cx="447675" cy="342900"/>
          </a:xfrm>
          <a:prstGeom prst="roundRect">
            <a:avLst>
              <a:gd name="adj" fmla="val 16666"/>
            </a:avLst>
          </a:prstGeom>
          <a:solidFill>
            <a:srgbClr val="2F7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6" name="math:010" descr="AI_AUTOFIGURE_NATIVE_MATH_V1:eyJjb250ZW50X3J1bnMiOlt7ImNhbm9uaWNhbF9sYXRleCI6Inpfe3R9IiwiZm9ybXVsYV9pZCI6IkVRMDEwIiwia2luZCI6Im1hdGg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mb3JtdWxhcyI6W3siY2Fub25pY2FsX2xhdGV4Ijoiel97dH0iLCJmb3JtdWxhX2lkIjoiRVEwMTA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raW5kIjoibmF0aXZlX29mZmljZV9tYXRoIiwicGxhY2Vob2xkZXJfbmFtZSI6Im1hdGg6MDEwIiwic2NoZW1hX3ZlcnNpb24iOiIxLjAifQ=="/>
              <p:cNvSpPr txBox="1"/>
              <p:nvPr/>
            </p:nvSpPr>
            <p:spPr>
              <a:xfrm>
                <a:off x="9658350" y="2894171"/>
                <a:ext cx="361950" cy="239554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</m:t>
                        </m:r>
                      </m:sub>
                    </m:sSub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26" name="math:010" descr="AI_AUTOFIGURE_MATH_FALLBACK_ONLY_V1:eyJjb250ZW50X3J1bnMiOlt7ImNhbm9uaWNhbF9sYXRleCI6Inpfe3R9IiwiZm9ybXVsYV9pZCI6IkVRMDEwIiwia2luZCI6Im1hdGg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mb3JtdWxhcyI6W3siY2Fub25pY2FsX2xhdGV4Ijoiel97dH0iLCJmb3JtdWxhX2lkIjoiRVEwMTA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raW5kIjoibmF0aXZlX29mZmljZV9tYXRoIiwicGxhY2Vob2xkZXJfbmFtZSI6Im1hdGg6MDEwIiwic2NoZW1hX3ZlcnNpb24iOiIxLjAifQ=="/>
              <p:cNvSpPr txBox="1"/>
              <p:nvPr/>
            </p:nvSpPr>
            <p:spPr>
              <a:xfrm>
                <a:off x="9658350" y="2894171"/>
                <a:ext cx="361950" cy="239554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\(z_{t}\)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7" name="math:011" descr="AI_AUTOFIGURE_NATIVE_MATH_V1:eyJjb250ZW50X3J1bnMiOlt7ImNhbm9uaWNhbF9sYXRleCI6Inpfe3QrMX0iLCJmb3JtdWxhX2lkIjoiRVEwMTEiLCJraW5kIjoibWF0aCIsImxhdGV4X3NoYTI1NiI6IjhlNWQwMDAwYWJiOWNmMDc3M2U3OGZiNTMwMjc1MjMwYjhlZGZiOGNkOTYyYjMyNjM1ZGRlN2NjMjg0NjkwOTEiLCJtb2RlIjoiaW5saW5lIiwib21tbF9zaGEyNTYiOiJhOTVmOTI4NDdlYzgwMmEyMzkyZDQ5YWYwYTZlMTU3NzMxZTdkYzdjMjM4YzEwMGI2ZTlhZDY2NDVhMjhmZTQyIiwic2VtYW50aWNfb21tbF9wcm9maWxlIjoib2ZmaWNlLW1hdGgtc2VtYW50aWMtdjIiLCJzZW1hbnRpY19vbW1sX3NoYTI1NiI6IjY5OTJiMGQ0ODlkYWEyM2Y3ZWViMjgxMjc3NjIyNGU5NDRhNjc1MjQxNGNjYmQ5ZTIzYjQ0OTMyODM3ZjMzZTYifV0sImZvcm11bGFzIjpbeyJjYW5vbmljYWxfbGF0ZXgiOiJ6X3t0KzF9IiwiZm9ybXVsYV9pZCI6IkVRMDExIiwibGF0ZXhfc2hhMjU2IjoiOGU1ZDAwMDBhYmI5Y2YwNzczZTc4ZmI1MzAyNzUyMzBiOGVkZmI4Y2Q5NjJiMzI2MzVkZGU3Y2MyODQ2OTA5MSIsIm1vZGUiOiJpbmxpbmUiLCJvbW1sX3NoYTI1NiI6ImE5NWY5Mjg0N2VjODAyYTIzOTJkNDlhZjBhNmUxNTc3MzFlN2RjN2MyMzhjMTAwYjZlOWFkNjY0NWEyOGZlNDIiLCJzZW1hbnRpY19vbW1sX3Byb2ZpbGUiOiJvZmZpY2UtbWF0aC1zZW1hbnRpYy12MiIsInNlbWFudGljX29tbWxfc2hhMjU2IjoiNjk5MmIwZDQ4OWRhYTIzZjdlZWIyODEyNzc2MjI0ZTk0NGE2NzUyNDE0Y2NiZDllMjNiNDQ5MzI4MzdmMzNlNiJ9XSwia2luZCI6Im5hdGl2ZV9vZmZpY2VfbWF0aCIsInBsYWNlaG9sZGVyX25hbWUiOiJtYXRoOjAxMSIsInNjaGVtYV92ZXJzaW9uIjoiMS4wIn0="/>
              <p:cNvSpPr txBox="1"/>
              <p:nvPr/>
            </p:nvSpPr>
            <p:spPr>
              <a:xfrm>
                <a:off x="10572750" y="2894171"/>
                <a:ext cx="361950" cy="239554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t+1</m:t>
                        </m:r>
                      </m:sub>
                    </m:sSub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27" name="math:011" descr="AI_AUTOFIGURE_MATH_FALLBACK_ONLY_V1:eyJjb250ZW50X3J1bnMiOlt7ImNhbm9uaWNhbF9sYXRleCI6Inpfe3QrMX0iLCJmb3JtdWxhX2lkIjoiRVEwMTEiLCJraW5kIjoibWF0aCIsImxhdGV4X3NoYTI1NiI6IjhlNWQwMDAwYWJiOWNmMDc3M2U3OGZiNTMwMjc1MjMwYjhlZGZiOGNkOTYyYjMyNjM1ZGRlN2NjMjg0NjkwOTEiLCJtb2RlIjoiaW5saW5lIiwib21tbF9zaGEyNTYiOiJhOTVmOTI4NDdlYzgwMmEyMzkyZDQ5YWYwYTZlMTU3NzMxZTdkYzdjMjM4YzEwMGI2ZTlhZDY2NDVhMjhmZTQyIiwic2VtYW50aWNfb21tbF9wcm9maWxlIjoib2ZmaWNlLW1hdGgtc2VtYW50aWMtdjIiLCJzZW1hbnRpY19vbW1sX3NoYTI1NiI6IjY5OTJiMGQ0ODlkYWEyM2Y3ZWViMjgxMjc3NjIyNGU5NDRhNjc1MjQxNGNjYmQ5ZTIzYjQ0OTMyODM3ZjMzZTYifV0sImZvcm11bGFzIjpbeyJjYW5vbmljYWxfbGF0ZXgiOiJ6X3t0KzF9IiwiZm9ybXVsYV9pZCI6IkVRMDExIiwibGF0ZXhfc2hhMjU2IjoiOGU1ZDAwMDBhYmI5Y2YwNzczZTc4ZmI1MzAyNzUyMzBiOGVkZmI4Y2Q5NjJiMzI2MzVkZGU3Y2MyODQ2OTA5MSIsIm1vZGUiOiJpbmxpbmUiLCJvbW1sX3NoYTI1NiI6ImE5NWY5Mjg0N2VjODAyYTIzOTJkNDlhZjBhNmUxNTc3MzFlN2RjN2MyMzhjMTAwYjZlOWFkNjY0NWEyOGZlNDIiLCJzZW1hbnRpY19vbW1sX3Byb2ZpbGUiOiJvZmZpY2UtbWF0aC1zZW1hbnRpYy12MiIsInNlbWFudGljX29tbWxfc2hhMjU2IjoiNjk5MmIwZDQ4OWRhYTIzZjdlZWIyODEyNzc2MjI0ZTk0NGE2NzUyNDE0Y2NiZDllMjNiNDQ5MzI4MzdmMzNlNiJ9XSwia2luZCI6Im5hdGl2ZV9vZmZpY2VfbWF0aCIsInBsYWNlaG9sZGVyX25hbWUiOiJtYXRoOjAxMSIsInNjaGVtYV92ZXJzaW9uIjoiMS4wIn0="/>
              <p:cNvSpPr txBox="1"/>
              <p:nvPr/>
            </p:nvSpPr>
            <p:spPr>
              <a:xfrm>
                <a:off x="10572750" y="2894171"/>
                <a:ext cx="361950" cy="239554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\(z_{t+1}\)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8" name="math:012" descr="AI_AUTOFIGURE_NATIVE_MATH_V1:eyJjb250ZW50X3J1bnMiOlt7ImNhbm9uaWNhbF9sYXRleCI6Inpfe3QrMn0iLCJmb3JtdWxhX2lkIjoiRVEwMTIiLCJraW5kIjoibWF0aCIsImxhdGV4X3NoYTI1NiI6ImVkN2EzM2FmMDZiOTY1M2Y4Mzk2MmMyN2IyMGRkOWI4NDZjYjJlZTBlMDAzMDY1MGNhMTQ0MzZiMzg5NzA5M2EiLCJtb2RlIjoiaW5saW5lIiwib21tbF9zaGEyNTYiOiI2NDc0MzYwMTY3NzVjMGViNTYwYWIzNjYzNDJjNjUxZTVkY2ZhMzBkZWE3ZjU3NTcyNDMxZDEzNjNlYmI3ZDBkIiwic2VtYW50aWNfb21tbF9wcm9maWxlIjoib2ZmaWNlLW1hdGgtc2VtYW50aWMtdjIiLCJzZW1hbnRpY19vbW1sX3NoYTI1NiI6ImE1ZTA0ZjFhNzZiNzc4MjQ5NzY0MzBlYzg4MmNmOGNjMWE4ZTk5YmYzN2FlYTFlMWVlNWI3ODA5MmM4ZTQ4MTMifV0sImZvcm11bGFzIjpbeyJjYW5vbmljYWxfbGF0ZXgiOiJ6X3t0KzJ9IiwiZm9ybXVsYV9pZCI6IkVRMDEyIiwibGF0ZXhfc2hhMjU2IjoiZWQ3YTMzYWYwNmI5NjUzZjgzOTYyYzI3YjIwZGQ5Yjg0NmNiMmVlMGUwMDMwNjUwY2ExNDQzNmIzODk3MDkzYSIsIm1vZGUiOiJpbmxpbmUiLCJvbW1sX3NoYTI1NiI6IjY0NzQzNjAxNjc3NWMwZWI1NjBhYjM2NjM0MmM2NTFlNWRjZmEzMGRlYTdmNTc1NzI0MzFkMTM2M2ViYjdkMGQiLCJzZW1hbnRpY19vbW1sX3Byb2ZpbGUiOiJvZmZpY2UtbWF0aC1zZW1hbnRpYy12MiIsInNlbWFudGljX29tbWxfc2hhMjU2IjoiYTVlMDRmMWE3NmI3NzgyNDk3NjQzMGVjODgyY2Y4Y2MxYThlOTliZjM3YWVhMWUxZWU1Yjc4MDkyYzhlNDgxMyJ9XSwia2luZCI6Im5hdGl2ZV9vZmZpY2VfbWF0aCIsInBsYWNlaG9sZGVyX25hbWUiOiJtYXRoOjAxMiIsInNjaGVtYV92ZXJzaW9uIjoiMS4wIn0="/>
              <p:cNvSpPr txBox="1"/>
              <p:nvPr/>
            </p:nvSpPr>
            <p:spPr>
              <a:xfrm>
                <a:off x="11525250" y="2894171"/>
                <a:ext cx="361950" cy="239554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t+2</m:t>
                        </m:r>
                      </m:sub>
                    </m:sSub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28" name="math:012" descr="AI_AUTOFIGURE_MATH_FALLBACK_ONLY_V1:eyJjb250ZW50X3J1bnMiOlt7ImNhbm9uaWNhbF9sYXRleCI6Inpfe3QrMn0iLCJmb3JtdWxhX2lkIjoiRVEwMTIiLCJraW5kIjoibWF0aCIsImxhdGV4X3NoYTI1NiI6ImVkN2EzM2FmMDZiOTY1M2Y4Mzk2MmMyN2IyMGRkOWI4NDZjYjJlZTBlMDAzMDY1MGNhMTQ0MzZiMzg5NzA5M2EiLCJtb2RlIjoiaW5saW5lIiwib21tbF9zaGEyNTYiOiI2NDc0MzYwMTY3NzVjMGViNTYwYWIzNjYzNDJjNjUxZTVkY2ZhMzBkZWE3ZjU3NTcyNDMxZDEzNjNlYmI3ZDBkIiwic2VtYW50aWNfb21tbF9wcm9maWxlIjoib2ZmaWNlLW1hdGgtc2VtYW50aWMtdjIiLCJzZW1hbnRpY19vbW1sX3NoYTI1NiI6ImE1ZTA0ZjFhNzZiNzc4MjQ5NzY0MzBlYzg4MmNmOGNjMWE4ZTk5YmYzN2FlYTFlMWVlNWI3ODA5MmM4ZTQ4MTMifV0sImZvcm11bGFzIjpbeyJjYW5vbmljYWxfbGF0ZXgiOiJ6X3t0KzJ9IiwiZm9ybXVsYV9pZCI6IkVRMDEyIiwibGF0ZXhfc2hhMjU2IjoiZWQ3YTMzYWYwNmI5NjUzZjgzOTYyYzI3YjIwZGQ5Yjg0NmNiMmVlMGUwMDMwNjUwY2ExNDQzNmIzODk3MDkzYSIsIm1vZGUiOiJpbmxpbmUiLCJvbW1sX3NoYTI1NiI6IjY0NzQzNjAxNjc3NWMwZWI1NjBhYjM2NjM0MmM2NTFlNWRjZmEzMGRlYTdmNTc1NzI0MzFkMTM2M2ViYjdkMGQiLCJzZW1hbnRpY19vbW1sX3Byb2ZpbGUiOiJvZmZpY2UtbWF0aC1zZW1hbnRpYy12MiIsInNlbWFudGljX29tbWxfc2hhMjU2IjoiYTVlMDRmMWE3NmI3NzgyNDk3NjQzMGVjODgyY2Y4Y2MxYThlOTliZjM3YWVhMWUxZWU1Yjc4MDkyYzhlNDgxMyJ9XSwia2luZCI6Im5hdGl2ZV9vZmZpY2VfbWF0aCIsInBsYWNlaG9sZGVyX25hbWUiOiJtYXRoOjAxMiIsInNjaGVtYV92ZXJzaW9uIjoiMS4wIn0="/>
              <p:cNvSpPr txBox="1"/>
              <p:nvPr/>
            </p:nvSpPr>
            <p:spPr>
              <a:xfrm>
                <a:off x="11525250" y="2894171"/>
                <a:ext cx="361950" cy="239554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\(z_{t+2}\)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9" name="math:013" descr="AI_AUTOFIGURE_NATIVE_MATH_V1:eyJjb250ZW50X3J1bnMiOlt7ImNhbm9uaWNhbF9sYXRleCI6Inpfe3QraH0iLCJmb3JtdWxhX2lkIjoiRVEwMTMiLCJraW5kIjoibWF0aCIsImxhdGV4X3NoYTI1NiI6IjA0ZWYyNTM3NWI3NzI4NDJjNzhlMjkxMGQwZWIyZTkzMTUwZTkzNmRlNGJlMjZiNDI4YTk5MGQwMWZiNDU2ZTAiLCJtb2RlIjoiaW5saW5lIiwib21tbF9zaGEyNTYiOiI2MTJkY2M3MzFjMWJmOWMzNDhmOWQxYmIwNWI5NDVjYzEwNzBlNDVkMzI0ZDJlODVlNDRiNTNkZTIwZjdmZjE0Iiwic2VtYW50aWNfb21tbF9wcm9maWxlIjoib2ZmaWNlLW1hdGgtc2VtYW50aWMtdjIiLCJzZW1hbnRpY19vbW1sX3NoYTI1NiI6IjgxYWM2YzQxYWZmNmFiZWM1NWJhOWFkMzRiNTdkM2U4MDZjYzY0YzUzMjEyYzRkODQ0ZDE5YzgyYjRiZjU0NDAifV0sImZvcm11bGFzIjpbeyJjYW5vbmljYWxfbGF0ZXgiOiJ6X3t0K2h9IiwiZm9ybXVsYV9pZCI6IkVRMDEzIiwibGF0ZXhfc2hhMjU2IjoiMDRlZjI1Mzc1Yjc3Mjg0MmM3OGUyOTEwZDBlYjJlOTMxNTBlOTM2ZGU0YmUyNmI0MjhhOTkwZDAxZmI0NTZlMCIsIm1vZGUiOiJpbmxpbmUiLCJvbW1sX3NoYTI1NiI6IjYxMmRjYzczMWMxYmY5YzM0OGY5ZDFiYjA1Yjk0NWNjMTA3MGU0NWQzMjRkMmU4NWU0NGI1M2RlMjBmN2ZmMTQiLCJzZW1hbnRpY19vbW1sX3Byb2ZpbGUiOiJvZmZpY2UtbWF0aC1zZW1hbnRpYy12MiIsInNlbWFudGljX29tbWxfc2hhMjU2IjoiODFhYzZjNDFhZmY2YWJlYzU1YmE5YWQzNGI1N2QzZTgwNmNjNjRjNTMyMTJjNGQ4NDRkMTljODJiNGJmNTQ0MCJ9XSwia2luZCI6Im5hdGl2ZV9vZmZpY2VfbWF0aCIsInBsYWNlaG9sZGVyX25hbWUiOiJtYXRoOjAxMyIsInNjaGVtYV92ZXJzaW9uIjoiMS4wIn0="/>
              <p:cNvSpPr txBox="1"/>
              <p:nvPr/>
            </p:nvSpPr>
            <p:spPr>
              <a:xfrm>
                <a:off x="12744450" y="2894171"/>
                <a:ext cx="381000" cy="239554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t+h</m:t>
                        </m:r>
                      </m:sub>
                    </m:sSub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29" name="math:013" descr="AI_AUTOFIGURE_MATH_FALLBACK_ONLY_V1:eyJjb250ZW50X3J1bnMiOlt7ImNhbm9uaWNhbF9sYXRleCI6Inpfe3QraH0iLCJmb3JtdWxhX2lkIjoiRVEwMTMiLCJraW5kIjoibWF0aCIsImxhdGV4X3NoYTI1NiI6IjA0ZWYyNTM3NWI3NzI4NDJjNzhlMjkxMGQwZWIyZTkzMTUwZTkzNmRlNGJlMjZiNDI4YTk5MGQwMWZiNDU2ZTAiLCJtb2RlIjoiaW5saW5lIiwib21tbF9zaGEyNTYiOiI2MTJkY2M3MzFjMWJmOWMzNDhmOWQxYmIwNWI5NDVjYzEwNzBlNDVkMzI0ZDJlODVlNDRiNTNkZTIwZjdmZjE0Iiwic2VtYW50aWNfb21tbF9wcm9maWxlIjoib2ZmaWNlLW1hdGgtc2VtYW50aWMtdjIiLCJzZW1hbnRpY19vbW1sX3NoYTI1NiI6IjgxYWM2YzQxYWZmNmFiZWM1NWJhOWFkMzRiNTdkM2U4MDZjYzY0YzUzMjEyYzRkODQ0ZDE5YzgyYjRiZjU0NDAifV0sImZvcm11bGFzIjpbeyJjYW5vbmljYWxfbGF0ZXgiOiJ6X3t0K2h9IiwiZm9ybXVsYV9pZCI6IkVRMDEzIiwibGF0ZXhfc2hhMjU2IjoiMDRlZjI1Mzc1Yjc3Mjg0MmM3OGUyOTEwZDBlYjJlOTMxNTBlOTM2ZGU0YmUyNmI0MjhhOTkwZDAxZmI0NTZlMCIsIm1vZGUiOiJpbmxpbmUiLCJvbW1sX3NoYTI1NiI6IjYxMmRjYzczMWMxYmY5YzM0OGY5ZDFiYjA1Yjk0NWNjMTA3MGU0NWQzMjRkMmU4NWU0NGI1M2RlMjBmN2ZmMTQiLCJzZW1hbnRpY19vbW1sX3Byb2ZpbGUiOiJvZmZpY2UtbWF0aC1zZW1hbnRpYy12MiIsInNlbWFudGljX29tbWxfc2hhMjU2IjoiODFhYzZjNDFhZmY2YWJlYzU1YmE5YWQzNGI1N2QzZTgwNmNjNjRjNTMyMTJjNGQ4NDRkMTljODJiNGJmNTQ0MCJ9XSwia2luZCI6Im5hdGl2ZV9vZmZpY2VfbWF0aCIsInBsYWNlaG9sZGVyX25hbWUiOiJtYXRoOjAxMyIsInNjaGVtYV92ZXJzaW9uIjoiMS4wIn0="/>
              <p:cNvSpPr txBox="1"/>
              <p:nvPr/>
            </p:nvSpPr>
            <p:spPr>
              <a:xfrm>
                <a:off x="12744450" y="2894171"/>
                <a:ext cx="381000" cy="239554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\(z_{t+h}\)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30" name="af-rollout-label-text-01"/>
          <p:cNvSpPr txBox="1"/>
          <p:nvPr/>
        </p:nvSpPr>
        <p:spPr>
          <a:xfrm>
            <a:off x="12449175" y="3991451"/>
            <a:ext cx="752475" cy="26622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75" b="1">
                <a:solidFill>
                  <a:srgbClr val="000000"/>
                </a:solidFill>
                <a:latin typeface="Arial"/>
              </a:rPr>
              <a:t>rollout</a:t>
            </a:r>
          </a:p>
        </p:txBody>
      </p:sp>
      <p:sp>
        <p:nvSpPr>
          <p:cNvPr id="131" name="af-reward-r0-ellipse-01"/>
          <p:cNvSpPr/>
          <p:nvPr/>
        </p:nvSpPr>
        <p:spPr>
          <a:xfrm>
            <a:off x="9639300" y="2152650"/>
            <a:ext cx="400050" cy="400050"/>
          </a:xfrm>
          <a:prstGeom prst="ellipse">
            <a:avLst/>
          </a:prstGeom>
          <a:solidFill>
            <a:srgbClr val="EF7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af-reward-r1-ellipse-01"/>
          <p:cNvSpPr/>
          <p:nvPr/>
        </p:nvSpPr>
        <p:spPr>
          <a:xfrm>
            <a:off x="10553700" y="2152650"/>
            <a:ext cx="400050" cy="400050"/>
          </a:xfrm>
          <a:prstGeom prst="ellipse">
            <a:avLst/>
          </a:prstGeom>
          <a:solidFill>
            <a:srgbClr val="EF7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af-reward-r2-ellipse-01"/>
          <p:cNvSpPr/>
          <p:nvPr/>
        </p:nvSpPr>
        <p:spPr>
          <a:xfrm>
            <a:off x="11506200" y="2152650"/>
            <a:ext cx="400050" cy="400050"/>
          </a:xfrm>
          <a:prstGeom prst="ellipse">
            <a:avLst/>
          </a:prstGeom>
          <a:solidFill>
            <a:srgbClr val="EF7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4" name="math:014" descr="AI_AUTOFIGURE_NATIVE_MATH_V1:eyJjb250ZW50X3J1bnMiOlt7ImNhbm9uaWNhbF9sYXRleCI6InLigLJfe3R9IiwiZm9ybXVsYV9pZCI6IkVRMDE0Iiwia2luZCI6Im1hdGgiLCJsYXRleF9zaGEyNTYiOiI3ZWRhZjhhYmNhZjYwZDliMGZkZDg5MDM3ZWFiODdiODQ4NDEyODA0ZTg2OTFiM2I0NzdjNzFlMTAyOWVlMjIxIiwibW9kZSI6ImlubGluZSIsIm9tbWxfc2hhMjU2IjoiMzY3NDc5MTgxYWIzZWQwNDRiODIzZTFlM2IxNjgxMjRjNjUyMzJmNDQ2YTZiODRkZTE2NTIyNjRlNWY3MzMxMiIsInNlbWFudGljX29tbWxfcHJvZmlsZSI6Im9mZmljZS1tYXRoLXNlbWFudGljLXYyIiwic2VtYW50aWNfb21tbF9zaGEyNTYiOiIwNGJiNGM4YWM3NGRlOGI4NmM0ZDJmYmM5ZDE2MDQ2NDBhNTcxYzg1MjY1MmVlNDNlNjk5YTAwOGJhMzRlMWQ0In1dLCJmb3JtdWxhcyI6W3siY2Fub25pY2FsX2xhdGV4IjoicuKAsl97dH0iLCJmb3JtdWxhX2lkIjoiRVEwMTQiLCJsYXRleF9zaGEyNTYiOiI3ZWRhZjhhYmNhZjYwZDliMGZkZDg5MDM3ZWFiODdiODQ4NDEyODA0ZTg2OTFiM2I0NzdjNzFlMTAyOWVlMjIxIiwibW9kZSI6ImlubGluZSIsIm9tbWxfc2hhMjU2IjoiMzY3NDc5MTgxYWIzZWQwNDRiODIzZTFlM2IxNjgxMjRjNjUyMzJmNDQ2YTZiODRkZTE2NTIyNjRlNWY3MzMxMiIsInNlbWFudGljX29tbWxfcHJvZmlsZSI6Im9mZmljZS1tYXRoLXNlbWFudGljLXYyIiwic2VtYW50aWNfb21tbF9zaGEyNTYiOiIwNGJiNGM4YWM3NGRlOGI4NmM0ZDJmYmM5ZDE2MDQ2NDBhNTcxYzg1MjY1MmVlNDNlNjk5YTAwOGJhMzRlMWQ0In1dLCJraW5kIjoibmF0aXZlX29mZmljZV9tYXRoIiwicGxhY2Vob2xkZXJfbmFtZSI6Im1hdGg6MDE0Iiwic2NoZW1hX3ZlcnNpb24iOiIxLjAifQ=="/>
              <p:cNvSpPr txBox="1"/>
              <p:nvPr/>
            </p:nvSpPr>
            <p:spPr>
              <a:xfrm>
                <a:off x="9588960" y="2255996"/>
                <a:ext cx="500729" cy="3929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dirty="0" sz="1275">
                        <a:solidFill>
                          <a:srgbClr val="FFFFFF"/>
                        </a:solidFill>
                        <a:latin typeface="Cambria Math"/>
                      </a:rPr>
                      <m:t>r</m:t>
                    </m:r>
                    <m:sSub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′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</m:t>
                        </m:r>
                      </m:sub>
                    </m:sSub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34" name="math:014" descr="AI_AUTOFIGURE_MATH_FALLBACK_ONLY_V1:eyJjb250ZW50X3J1bnMiOlt7ImNhbm9uaWNhbF9sYXRleCI6InLigLJfe3R9IiwiZm9ybXVsYV9pZCI6IkVRMDE0Iiwia2luZCI6Im1hdGgiLCJsYXRleF9zaGEyNTYiOiI3ZWRhZjhhYmNhZjYwZDliMGZkZDg5MDM3ZWFiODdiODQ4NDEyODA0ZTg2OTFiM2I0NzdjNzFlMTAyOWVlMjIxIiwibW9kZSI6ImlubGluZSIsIm9tbWxfc2hhMjU2IjoiMzY3NDc5MTgxYWIzZWQwNDRiODIzZTFlM2IxNjgxMjRjNjUyMzJmNDQ2YTZiODRkZTE2NTIyNjRlNWY3MzMxMiIsInNlbWFudGljX29tbWxfcHJvZmlsZSI6Im9mZmljZS1tYXRoLXNlbWFudGljLXYyIiwic2VtYW50aWNfb21tbF9zaGEyNTYiOiIwNGJiNGM4YWM3NGRlOGI4NmM0ZDJmYmM5ZDE2MDQ2NDBhNTcxYzg1MjY1MmVlNDNlNjk5YTAwOGJhMzRlMWQ0In1dLCJmb3JtdWxhcyI6W3siY2Fub25pY2FsX2xhdGV4IjoicuKAsl97dH0iLCJmb3JtdWxhX2lkIjoiRVEwMTQiLCJsYXRleF9zaGEyNTYiOiI3ZWRhZjhhYmNhZjYwZDliMGZkZDg5MDM3ZWFiODdiODQ4NDEyODA0ZTg2OTFiM2I0NzdjNzFlMTAyOWVlMjIxIiwibW9kZSI6ImlubGluZSIsIm9tbWxfc2hhMjU2IjoiMzY3NDc5MTgxYWIzZWQwNDRiODIzZTFlM2IxNjgxMjRjNjUyMzJmNDQ2YTZiODRkZTE2NTIyNjRlNWY3MzMxMiIsInNlbWFudGljX29tbWxfcHJvZmlsZSI6Im9mZmljZS1tYXRoLXNlbWFudGljLXYyIiwic2VtYW50aWNfb21tbF9zaGEyNTYiOiIwNGJiNGM4YWM3NGRlOGI4NmM0ZDJmYmM5ZDE2MDQ2NDBhNTcxYzg1MjY1MmVlNDNlNjk5YTAwOGJhMzRlMWQ0In1dLCJraW5kIjoibmF0aXZlX29mZmljZV9tYXRoIiwicGxhY2Vob2xkZXJfbmFtZSI6Im1hdGg6MDE0Iiwic2NoZW1hX3ZlcnNpb24iOiIxLjAifQ=="/>
              <p:cNvSpPr txBox="1"/>
              <p:nvPr/>
            </p:nvSpPr>
            <p:spPr>
              <a:xfrm>
                <a:off x="9588960" y="2255996"/>
                <a:ext cx="500729" cy="3929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\(r′_{t}\)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5" name="math:015" descr="AI_AUTOFIGURE_NATIVE_MATH_V1:eyJjb250ZW50X3J1bnMiOlt7ImNhbm9uaWNhbF9sYXRleCI6InLigLJfe3QrMX0iLCJmb3JtdWxhX2lkIjoiRVEwMTUiLCJraW5kIjoibWF0aCIsImxhdGV4X3NoYTI1NiI6ImY3NTUxODY4NGIyOGY1YjZkYzI3MmYzOGNjZDZkMjk0MjllOTNhZmFkMWFhZGJmY2JiYzA0MTg5ODIzY2VhYTEiLCJtb2RlIjoiaW5saW5lIiwib21tbF9zaGEyNTYiOiIxMjYzY2JkZjUzY2VjYWQ5OTcwMTIyMzNmMzU0YmU3ZWQwNTMzNTVlNzc3YmVjYjU3NzMxMjhlY2Q4OTliNWYyIiwic2VtYW50aWNfb21tbF9wcm9maWxlIjoib2ZmaWNlLW1hdGgtc2VtYW50aWMtdjIiLCJzZW1hbnRpY19vbW1sX3NoYTI1NiI6ImNiNzhjMGM2ZDlmNjhmNjE5NTU2OTg2NTk0YjE3MzhhMWVlOTBiZWQ3NzdmY2E1MzE1MTkxNTMzNjBhN2Y0OTQifV0sImZvcm11bGFzIjpbeyJjYW5vbmljYWxfbGF0ZXgiOiJy4oCyX3t0KzF9IiwiZm9ybXVsYV9pZCI6IkVRMDE1IiwibGF0ZXhfc2hhMjU2IjoiZjc1NTE4Njg0YjI4ZjViNmRjMjcyZjM4Y2NkNmQyOTQyOWU5M2FmYWQxYWFkYmZjYmJjMDQxODk4MjNjZWFhMSIsIm1vZGUiOiJpbmxpbmUiLCJvbW1sX3NoYTI1NiI6IjEyNjNjYmRmNTNjZWNhZDk5NzAxMjIzM2YzNTRiZTdlZDA1MzM1NWU3NzdiZWNiNTc3MzEyOGVjZDg5OWI1ZjIiLCJzZW1hbnRpY19vbW1sX3Byb2ZpbGUiOiJvZmZpY2UtbWF0aC1zZW1hbnRpYy12MiIsInNlbWFudGljX29tbWxfc2hhMjU2IjoiY2I3OGMwYzZkOWY2OGY2MTk1NTY5ODY1OTRiMTczOGExZWU5MGJlZDc3N2ZjYTUzMTUxOTE1MzM2MGE3ZjQ5NCJ9XSwia2luZCI6Im5hdGl2ZV9vZmZpY2VfbWF0aCIsInBsYWNlaG9sZGVyX25hbWUiOiJtYXRoOjAxNSIsInNjaGVtYV92ZXJzaW9uIjoiMS4wIn0="/>
              <p:cNvSpPr txBox="1"/>
              <p:nvPr/>
            </p:nvSpPr>
            <p:spPr>
              <a:xfrm>
                <a:off x="10415921" y="2255996"/>
                <a:ext cx="675608" cy="3929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dirty="0" sz="1275">
                        <a:solidFill>
                          <a:srgbClr val="FFFFFF"/>
                        </a:solidFill>
                        <a:latin typeface="Cambria Math"/>
                      </a:rPr>
                      <m:t>r</m:t>
                    </m:r>
                    <m:sSub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′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t+1</m:t>
                        </m:r>
                      </m:sub>
                    </m:sSub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35" name="math:015" descr="AI_AUTOFIGURE_MATH_FALLBACK_ONLY_V1:eyJjb250ZW50X3J1bnMiOlt7ImNhbm9uaWNhbF9sYXRleCI6InLigLJfe3QrMX0iLCJmb3JtdWxhX2lkIjoiRVEwMTUiLCJraW5kIjoibWF0aCIsImxhdGV4X3NoYTI1NiI6ImY3NTUxODY4NGIyOGY1YjZkYzI3MmYzOGNjZDZkMjk0MjllOTNhZmFkMWFhZGJmY2JiYzA0MTg5ODIzY2VhYTEiLCJtb2RlIjoiaW5saW5lIiwib21tbF9zaGEyNTYiOiIxMjYzY2JkZjUzY2VjYWQ5OTcwMTIyMzNmMzU0YmU3ZWQwNTMzNTVlNzc3YmVjYjU3NzMxMjhlY2Q4OTliNWYyIiwic2VtYW50aWNfb21tbF9wcm9maWxlIjoib2ZmaWNlLW1hdGgtc2VtYW50aWMtdjIiLCJzZW1hbnRpY19vbW1sX3NoYTI1NiI6ImNiNzhjMGM2ZDlmNjhmNjE5NTU2OTg2NTk0YjE3MzhhMWVlOTBiZWQ3NzdmY2E1MzE1MTkxNTMzNjBhN2Y0OTQifV0sImZvcm11bGFzIjpbeyJjYW5vbmljYWxfbGF0ZXgiOiJy4oCyX3t0KzF9IiwiZm9ybXVsYV9pZCI6IkVRMDE1IiwibGF0ZXhfc2hhMjU2IjoiZjc1NTE4Njg0YjI4ZjViNmRjMjcyZjM4Y2NkNmQyOTQyOWU5M2FmYWQxYWFkYmZjYmJjMDQxODk4MjNjZWFhMSIsIm1vZGUiOiJpbmxpbmUiLCJvbW1sX3NoYTI1NiI6IjEyNjNjYmRmNTNjZWNhZDk5NzAxMjIzM2YzNTRiZTdlZDA1MzM1NWU3NzdiZWNiNTc3MzEyOGVjZDg5OWI1ZjIiLCJzZW1hbnRpY19vbW1sX3Byb2ZpbGUiOiJvZmZpY2UtbWF0aC1zZW1hbnRpYy12MiIsInNlbWFudGljX29tbWxfc2hhMjU2IjoiY2I3OGMwYzZkOWY2OGY2MTk1NTY5ODY1OTRiMTczOGExZWU5MGJlZDc3N2ZjYTUzMTUxOTE1MzM2MGE3ZjQ5NCJ9XSwia2luZCI6Im5hdGl2ZV9vZmZpY2VfbWF0aCIsInBsYWNlaG9sZGVyX25hbWUiOiJtYXRoOjAxNSIsInNjaGVtYV92ZXJzaW9uIjoiMS4wIn0="/>
              <p:cNvSpPr txBox="1"/>
              <p:nvPr/>
            </p:nvSpPr>
            <p:spPr>
              <a:xfrm>
                <a:off x="10415921" y="2255996"/>
                <a:ext cx="675608" cy="3929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\(r′_{t+1}\)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6" name="math:016" descr="AI_AUTOFIGURE_NATIVE_MATH_V1:eyJjb250ZW50X3J1bnMiOlt7ImNhbm9uaWNhbF9sYXRleCI6InLigLJfe3QrMn0iLCJmb3JtdWxhX2lkIjoiRVEwMTYiLCJraW5kIjoibWF0aCIsImxhdGV4X3NoYTI1NiI6Ijk1MDQxNmMyNjQ2YjVjMjA5MmQ3YTU4MTdkZmJiYjhiZTkzMDNhNzU5NjAwNmM1MWNlMWNlZDIxYmI3OTIxOGQiLCJtb2RlIjoiaW5saW5lIiwib21tbF9zaGEyNTYiOiJlYTg4ZTRmNjdiODhlNTZiNmVkNTQ5MDcwN2RkZTMyMWU5OTU4MjEyYWYzNDljNGQ1NmZlNDA4NmNiMzQxYzQ5Iiwic2VtYW50aWNfb21tbF9wcm9maWxlIjoib2ZmaWNlLW1hdGgtc2VtYW50aWMtdjIiLCJzZW1hbnRpY19vbW1sX3NoYTI1NiI6Ijk2NDEwZGI1MzdlNmZiNzhmMzliZGEyNDY3ZGNhZmE4MzE5ZDM2ZTA1ODkwNzI1YjA5MTIwNWVhOWRjNDU5NDgifV0sImZvcm11bGFzIjpbeyJjYW5vbmljYWxfbGF0ZXgiOiJy4oCyX3t0KzJ9IiwiZm9ybXVsYV9pZCI6IkVRMDE2IiwibGF0ZXhfc2hhMjU2IjoiOTUwNDE2YzI2NDZiNWMyMDkyZDdhNTgxN2RmYmJiOGJlOTMwM2E3NTk2MDA2YzUxY2UxY2VkMjFiYjc5MjE4ZCIsIm1vZGUiOiJpbmxpbmUiLCJvbW1sX3NoYTI1NiI6ImVhODhlNGY2N2I4OGU1NmI2ZWQ1NDkwNzA3ZGRlMzIxZTk5NTgyMTJhZjM0OWM0ZDU2ZmU0MDg2Y2IzNDFjNDkiLCJzZW1hbnRpY19vbW1sX3Byb2ZpbGUiOiJvZmZpY2UtbWF0aC1zZW1hbnRpYy12MiIsInNlbWFudGljX29tbWxfc2hhMjU2IjoiOTY0MTBkYjUzN2U2ZmI3OGYzOWJkYTI0NjdkY2FmYTgzMTlkMzZlMDU4OTA3MjViMDkxMjA1ZWE5ZGM0NTk0OCJ9XSwia2luZCI6Im5hdGl2ZV9vZmZpY2VfbWF0aCIsInBsYWNlaG9sZGVyX25hbWUiOiJtYXRoOjAxNiIsInNjaGVtYV92ZXJzaW9uIjoiMS4wIn0="/>
              <p:cNvSpPr txBox="1"/>
              <p:nvPr/>
            </p:nvSpPr>
            <p:spPr>
              <a:xfrm>
                <a:off x="11368421" y="2255996"/>
                <a:ext cx="675608" cy="3929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dirty="0" sz="1275">
                        <a:solidFill>
                          <a:srgbClr val="FFFFFF"/>
                        </a:solidFill>
                        <a:latin typeface="Cambria Math"/>
                      </a:rPr>
                      <m:t>r</m:t>
                    </m:r>
                    <m:sSub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′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t+2</m:t>
                        </m:r>
                      </m:sub>
                    </m:sSub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36" name="math:016" descr="AI_AUTOFIGURE_MATH_FALLBACK_ONLY_V1:eyJjb250ZW50X3J1bnMiOlt7ImNhbm9uaWNhbF9sYXRleCI6InLigLJfe3QrMn0iLCJmb3JtdWxhX2lkIjoiRVEwMTYiLCJraW5kIjoibWF0aCIsImxhdGV4X3NoYTI1NiI6Ijk1MDQxNmMyNjQ2YjVjMjA5MmQ3YTU4MTdkZmJiYjhiZTkzMDNhNzU5NjAwNmM1MWNlMWNlZDIxYmI3OTIxOGQiLCJtb2RlIjoiaW5saW5lIiwib21tbF9zaGEyNTYiOiJlYTg4ZTRmNjdiODhlNTZiNmVkNTQ5MDcwN2RkZTMyMWU5OTU4MjEyYWYzNDljNGQ1NmZlNDA4NmNiMzQxYzQ5Iiwic2VtYW50aWNfb21tbF9wcm9maWxlIjoib2ZmaWNlLW1hdGgtc2VtYW50aWMtdjIiLCJzZW1hbnRpY19vbW1sX3NoYTI1NiI6Ijk2NDEwZGI1MzdlNmZiNzhmMzliZGEyNDY3ZGNhZmE4MzE5ZDM2ZTA1ODkwNzI1YjA5MTIwNWVhOWRjNDU5NDgifV0sImZvcm11bGFzIjpbeyJjYW5vbmljYWxfbGF0ZXgiOiJy4oCyX3t0KzJ9IiwiZm9ybXVsYV9pZCI6IkVRMDE2IiwibGF0ZXhfc2hhMjU2IjoiOTUwNDE2YzI2NDZiNWMyMDkyZDdhNTgxN2RmYmJiOGJlOTMwM2E3NTk2MDA2YzUxY2UxY2VkMjFiYjc5MjE4ZCIsIm1vZGUiOiJpbmxpbmUiLCJvbW1sX3NoYTI1NiI6ImVhODhlNGY2N2I4OGU1NmI2ZWQ1NDkwNzA3ZGRlMzIxZTk5NTgyMTJhZjM0OWM0ZDU2ZmU0MDg2Y2IzNDFjNDkiLCJzZW1hbnRpY19vbW1sX3Byb2ZpbGUiOiJvZmZpY2UtbWF0aC1zZW1hbnRpYy12MiIsInNlbWFudGljX29tbWxfc2hhMjU2IjoiOTY0MTBkYjUzN2U2ZmI3OGYzOWJkYTI0NjdkY2FmYTgzMTlkMzZlMDU4OTA3MjViMDkxMjA1ZWE5ZGM0NTk0OCJ9XSwia2luZCI6Im5hdGl2ZV9vZmZpY2VfbWF0aCIsInBsYWNlaG9sZGVyX25hbWUiOiJtYXRoOjAxNiIsInNjaGVtYV92ZXJzaW9uIjoiMS4wIn0="/>
              <p:cNvSpPr txBox="1"/>
              <p:nvPr/>
            </p:nvSpPr>
            <p:spPr>
              <a:xfrm>
                <a:off x="11368421" y="2255996"/>
                <a:ext cx="675608" cy="3929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\(r′_{t+2}\)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37" name="af-policy-pi0-ellipse-01"/>
          <p:cNvSpPr/>
          <p:nvPr/>
        </p:nvSpPr>
        <p:spPr>
          <a:xfrm>
            <a:off x="9667875" y="3886200"/>
            <a:ext cx="342900" cy="342900"/>
          </a:xfrm>
          <a:prstGeom prst="ellipse">
            <a:avLst/>
          </a:prstGeom>
          <a:solidFill>
            <a:srgbClr val="91A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af-policy-pi1-ellipse-01"/>
          <p:cNvSpPr/>
          <p:nvPr/>
        </p:nvSpPr>
        <p:spPr>
          <a:xfrm>
            <a:off x="10591800" y="3886200"/>
            <a:ext cx="342900" cy="342900"/>
          </a:xfrm>
          <a:prstGeom prst="ellipse">
            <a:avLst/>
          </a:prstGeom>
          <a:solidFill>
            <a:srgbClr val="91A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af-policy-pi2-ellipse-01"/>
          <p:cNvSpPr/>
          <p:nvPr/>
        </p:nvSpPr>
        <p:spPr>
          <a:xfrm>
            <a:off x="11544300" y="3886200"/>
            <a:ext cx="342900" cy="342900"/>
          </a:xfrm>
          <a:prstGeom prst="ellipse">
            <a:avLst/>
          </a:prstGeom>
          <a:solidFill>
            <a:srgbClr val="91A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0" name="math:017" descr="AI_AUTOFIGURE_NATIVE_MATH_V1:eyJjb250ZW50X3J1bnMiOlt7ImNhbm9uaWNhbF9sYXRleCI6IlxccGkiLCJmb3JtdWxhX2lkIjoiRVEwMTciLCJraW5kIjoibWF0aCIsImxhdGV4X3NoYTI1NiI6ImYxY2YwNDA5M2QwOGI2ZGMwZDU4YTg3Mzk2NDA1Y2I5MDkzYTIyZTllZDYyYTk1YmI5NWVkNDZlNWRhOTcwOTciLCJtb2RlIjoiaW5saW5lIiwib21tbF9zaGEyNTYiOiI4MGIzNzkwZWVkMDMxOWQ1MWJmZDZkZDA4MmQ2YTU3YTNjOTllNjU4Njc3MTA3ZDQyMTYyN2MxZjc0OGY3NjU5Iiwic2VtYW50aWNfb21tbF9wcm9maWxlIjoib2ZmaWNlLW1hdGgtc2VtYW50aWMtdjIiLCJzZW1hbnRpY19vbW1sX3NoYTI1NiI6ImU4OWQxNDFjNDBjNmI1MjM0M2IwNjM4ZWY3ZjUyODE2ZTg0ODU4NWY2MjU1MWFhYzMwNThjZWQwNGY3NjllYjYifV0sImZvcm11bGFzIjpbeyJjYW5vbmljYWxfbGF0ZXgiOiJcXHBpIiwiZm9ybXVsYV9pZCI6IkVRMDE3IiwibGF0ZXhfc2hhMjU2IjoiZjFjZjA0MDkzZDA4YjZkYzBkNThhODczOTY0MDVjYjkwOTNhMjJlOWVkNjJhOTViYjk1ZWQ0NmU1ZGE5NzA5NyIsIm1vZGUiOiJpbmxpbmUiLCJvbW1sX3NoYTI1NiI6IjgwYjM3OTBlZWQwMzE5ZDUxYmZkNmRkMDgyZDZhNTdhM2M5OWU2NTg2NzcxMDdkNDIxNjI3YzFmNzQ4Zjc2NTkiLCJzZW1hbnRpY19vbW1sX3Byb2ZpbGUiOiJvZmZpY2UtbWF0aC1zZW1hbnRpYy12MiIsInNlbWFudGljX29tbWxfc2hhMjU2IjoiZTg5ZDE0MWM0MGM2YjUyMzQzYjA2MzhlZjdmNTI4MTZlODQ4NTg1ZjYyNTUxYWFjMzA1OGNlZDA0Zjc2OWViNiJ9XSwia2luZCI6Im5hdGl2ZV9vZmZpY2VfbWF0aCIsInBsYWNlaG9sZGVyX25hbWUiOiJtYXRoOjAxNyIsInNjaGVtYV92ZXJzaW9uIjoiMS4wIn0="/>
              <p:cNvSpPr txBox="1"/>
              <p:nvPr/>
            </p:nvSpPr>
            <p:spPr>
              <a:xfrm>
                <a:off x="9639776" y="3951922"/>
                <a:ext cx="399098" cy="4048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dirty="0" sz="1350">
                        <a:solidFill>
                          <a:srgbClr val="FFFFFF"/>
                        </a:solidFill>
                        <a:latin typeface="Cambria Math"/>
                      </a:rPr>
                      <m:t>π</m:t>
                    </m:r>
                  </m:oMath>
                </a14:m>
                <a:endParaRPr lang="en-US" dirty="0" sz="1350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40" name="math:017" descr="AI_AUTOFIGURE_MATH_FALLBACK_ONLY_V1:eyJjb250ZW50X3J1bnMiOlt7ImNhbm9uaWNhbF9sYXRleCI6IlxccGkiLCJmb3JtdWxhX2lkIjoiRVEwMTciLCJraW5kIjoibWF0aCIsImxhdGV4X3NoYTI1NiI6ImYxY2YwNDA5M2QwOGI2ZGMwZDU4YTg3Mzk2NDA1Y2I5MDkzYTIyZTllZDYyYTk1YmI5NWVkNDZlNWRhOTcwOTciLCJtb2RlIjoiaW5saW5lIiwib21tbF9zaGEyNTYiOiI4MGIzNzkwZWVkMDMxOWQ1MWJmZDZkZDA4MmQ2YTU3YTNjOTllNjU4Njc3MTA3ZDQyMTYyN2MxZjc0OGY3NjU5Iiwic2VtYW50aWNfb21tbF9wcm9maWxlIjoib2ZmaWNlLW1hdGgtc2VtYW50aWMtdjIiLCJzZW1hbnRpY19vbW1sX3NoYTI1NiI6ImU4OWQxNDFjNDBjNmI1MjM0M2IwNjM4ZWY3ZjUyODE2ZTg0ODU4NWY2MjU1MWFhYzMwNThjZWQwNGY3NjllYjYifV0sImZvcm11bGFzIjpbeyJjYW5vbmljYWxfbGF0ZXgiOiJcXHBpIiwiZm9ybXVsYV9pZCI6IkVRMDE3IiwibGF0ZXhfc2hhMjU2IjoiZjFjZjA0MDkzZDA4YjZkYzBkNThhODczOTY0MDVjYjkwOTNhMjJlOWVkNjJhOTViYjk1ZWQ0NmU1ZGE5NzA5NyIsIm1vZGUiOiJpbmxpbmUiLCJvbW1sX3NoYTI1NiI6IjgwYjM3OTBlZWQwMzE5ZDUxYmZkNmRkMDgyZDZhNTdhM2M5OWU2NTg2NzcxMDdkNDIxNjI3YzFmNzQ4Zjc2NTkiLCJzZW1hbnRpY19vbW1sX3Byb2ZpbGUiOiJvZmZpY2UtbWF0aC1zZW1hbnRpYy12MiIsInNlbWFudGljX29tbWxfc2hhMjU2IjoiZTg5ZDE0MWM0MGM2YjUyMzQzYjA2MzhlZjdmNTI4MTZlODQ4NTg1ZjYyNTUxYWFjMzA1OGNlZDA0Zjc2OWViNiJ9XSwia2luZCI6Im5hdGl2ZV9vZmZpY2VfbWF0aCIsInBsYWNlaG9sZGVyX25hbWUiOiJtYXRoOjAxNyIsInNjaGVtYV92ZXJzaW9uIjoiMS4wIn0="/>
              <p:cNvSpPr txBox="1"/>
              <p:nvPr/>
            </p:nvSpPr>
            <p:spPr>
              <a:xfrm>
                <a:off x="9639776" y="3951922"/>
                <a:ext cx="399098" cy="4048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350">
                    <a:solidFill>
                      <a:srgbClr val="FFFFFF"/>
                    </a:solidFill>
                  </a:rPr>
                  <a:t>\(\pi\)</a:t>
                </a:r>
                <a:endParaRPr lang="en-US" dirty="0" sz="1350">
                  <a:solidFill>
                    <a:srgbClr val="FFFFFF"/>
                  </a:solidFill>
                </a:endParaRP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1" name="math:018" descr="AI_AUTOFIGURE_NATIVE_MATH_V1:eyJjb250ZW50X3J1bnMiOlt7ImNhbm9uaWNhbF9sYXRleCI6IlxccGkiLCJmb3JtdWxhX2lkIjoiRVEwMTgiLCJraW5kIjoibWF0aCIsImxhdGV4X3NoYTI1NiI6ImYxY2YwNDA5M2QwOGI2ZGMwZDU4YTg3Mzk2NDA1Y2I5MDkzYTIyZTllZDYyYTk1YmI5NWVkNDZlNWRhOTcwOTciLCJtb2RlIjoiaW5saW5lIiwib21tbF9zaGEyNTYiOiI4MGIzNzkwZWVkMDMxOWQ1MWJmZDZkZDA4MmQ2YTU3YTNjOTllNjU4Njc3MTA3ZDQyMTYyN2MxZjc0OGY3NjU5Iiwic2VtYW50aWNfb21tbF9wcm9maWxlIjoib2ZmaWNlLW1hdGgtc2VtYW50aWMtdjIiLCJzZW1hbnRpY19vbW1sX3NoYTI1NiI6ImU4OWQxNDFjNDBjNmI1MjM0M2IwNjM4ZWY3ZjUyODE2ZTg0ODU4NWY2MjU1MWFhYzMwNThjZWQwNGY3NjllYjYifV0sImZvcm11bGFzIjpbeyJjYW5vbmljYWxfbGF0ZXgiOiJcXHBpIiwiZm9ybXVsYV9pZCI6IkVRMDE4IiwibGF0ZXhfc2hhMjU2IjoiZjFjZjA0MDkzZDA4YjZkYzBkNThhODczOTY0MDVjYjkwOTNhMjJlOWVkNjJhOTViYjk1ZWQ0NmU1ZGE5NzA5NyIsIm1vZGUiOiJpbmxpbmUiLCJvbW1sX3NoYTI1NiI6IjgwYjM3OTBlZWQwMzE5ZDUxYmZkNmRkMDgyZDZhNTdhM2M5OWU2NTg2NzcxMDdkNDIxNjI3YzFmNzQ4Zjc2NTkiLCJzZW1hbnRpY19vbW1sX3Byb2ZpbGUiOiJvZmZpY2UtbWF0aC1zZW1hbnRpYy12MiIsInNlbWFudGljX29tbWxfc2hhMjU2IjoiZTg5ZDE0MWM0MGM2YjUyMzQzYjA2MzhlZjdmNTI4MTZlODQ4NTg1ZjYyNTUxYWFjMzA1OGNlZDA0Zjc2OWViNiJ9XSwia2luZCI6Im5hdGl2ZV9vZmZpY2VfbWF0aCIsInBsYWNlaG9sZGVyX25hbWUiOiJtYXRoOjAxOCIsInNjaGVtYV92ZXJzaW9uIjoiMS4wIn0="/>
              <p:cNvSpPr txBox="1"/>
              <p:nvPr/>
            </p:nvSpPr>
            <p:spPr>
              <a:xfrm>
                <a:off x="10563701" y="3951922"/>
                <a:ext cx="399098" cy="4048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dirty="0" sz="1350">
                        <a:solidFill>
                          <a:srgbClr val="FFFFFF"/>
                        </a:solidFill>
                        <a:latin typeface="Cambria Math"/>
                      </a:rPr>
                      <m:t>π</m:t>
                    </m:r>
                  </m:oMath>
                </a14:m>
                <a:endParaRPr lang="en-US" dirty="0" sz="1350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41" name="math:018" descr="AI_AUTOFIGURE_MATH_FALLBACK_ONLY_V1:eyJjb250ZW50X3J1bnMiOlt7ImNhbm9uaWNhbF9sYXRleCI6IlxccGkiLCJmb3JtdWxhX2lkIjoiRVEwMTgiLCJraW5kIjoibWF0aCIsImxhdGV4X3NoYTI1NiI6ImYxY2YwNDA5M2QwOGI2ZGMwZDU4YTg3Mzk2NDA1Y2I5MDkzYTIyZTllZDYyYTk1YmI5NWVkNDZlNWRhOTcwOTciLCJtb2RlIjoiaW5saW5lIiwib21tbF9zaGEyNTYiOiI4MGIzNzkwZWVkMDMxOWQ1MWJmZDZkZDA4MmQ2YTU3YTNjOTllNjU4Njc3MTA3ZDQyMTYyN2MxZjc0OGY3NjU5Iiwic2VtYW50aWNfb21tbF9wcm9maWxlIjoib2ZmaWNlLW1hdGgtc2VtYW50aWMtdjIiLCJzZW1hbnRpY19vbW1sX3NoYTI1NiI6ImU4OWQxNDFjNDBjNmI1MjM0M2IwNjM4ZWY3ZjUyODE2ZTg0ODU4NWY2MjU1MWFhYzMwNThjZWQwNGY3NjllYjYifV0sImZvcm11bGFzIjpbeyJjYW5vbmljYWxfbGF0ZXgiOiJcXHBpIiwiZm9ybXVsYV9pZCI6IkVRMDE4IiwibGF0ZXhfc2hhMjU2IjoiZjFjZjA0MDkzZDA4YjZkYzBkNThhODczOTY0MDVjYjkwOTNhMjJlOWVkNjJhOTViYjk1ZWQ0NmU1ZGE5NzA5NyIsIm1vZGUiOiJpbmxpbmUiLCJvbW1sX3NoYTI1NiI6IjgwYjM3OTBlZWQwMzE5ZDUxYmZkNmRkMDgyZDZhNTdhM2M5OWU2NTg2NzcxMDdkNDIxNjI3YzFmNzQ4Zjc2NTkiLCJzZW1hbnRpY19vbW1sX3Byb2ZpbGUiOiJvZmZpY2UtbWF0aC1zZW1hbnRpYy12MiIsInNlbWFudGljX29tbWxfc2hhMjU2IjoiZTg5ZDE0MWM0MGM2YjUyMzQzYjA2MzhlZjdmNTI4MTZlODQ4NTg1ZjYyNTUxYWFjMzA1OGNlZDA0Zjc2OWViNiJ9XSwia2luZCI6Im5hdGl2ZV9vZmZpY2VfbWF0aCIsInBsYWNlaG9sZGVyX25hbWUiOiJtYXRoOjAxOCIsInNjaGVtYV92ZXJzaW9uIjoiMS4wIn0="/>
              <p:cNvSpPr txBox="1"/>
              <p:nvPr/>
            </p:nvSpPr>
            <p:spPr>
              <a:xfrm>
                <a:off x="10563701" y="3951922"/>
                <a:ext cx="399098" cy="4048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350">
                    <a:solidFill>
                      <a:srgbClr val="FFFFFF"/>
                    </a:solidFill>
                  </a:rPr>
                  <a:t>\(\pi\)</a:t>
                </a:r>
                <a:endParaRPr lang="en-US" dirty="0" sz="1350">
                  <a:solidFill>
                    <a:srgbClr val="FFFFFF"/>
                  </a:solidFill>
                </a:endParaRP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2" name="math:019" descr="AI_AUTOFIGURE_NATIVE_MATH_V1:eyJjb250ZW50X3J1bnMiOlt7ImNhbm9uaWNhbF9sYXRleCI6IlxccGkiLCJmb3JtdWxhX2lkIjoiRVEwMTkiLCJraW5kIjoibWF0aCIsImxhdGV4X3NoYTI1NiI6ImYxY2YwNDA5M2QwOGI2ZGMwZDU4YTg3Mzk2NDA1Y2I5MDkzYTIyZTllZDYyYTk1YmI5NWVkNDZlNWRhOTcwOTciLCJtb2RlIjoiaW5saW5lIiwib21tbF9zaGEyNTYiOiI4MGIzNzkwZWVkMDMxOWQ1MWJmZDZkZDA4MmQ2YTU3YTNjOTllNjU4Njc3MTA3ZDQyMTYyN2MxZjc0OGY3NjU5Iiwic2VtYW50aWNfb21tbF9wcm9maWxlIjoib2ZmaWNlLW1hdGgtc2VtYW50aWMtdjIiLCJzZW1hbnRpY19vbW1sX3NoYTI1NiI6ImU4OWQxNDFjNDBjNmI1MjM0M2IwNjM4ZWY3ZjUyODE2ZTg0ODU4NWY2MjU1MWFhYzMwNThjZWQwNGY3NjllYjYifV0sImZvcm11bGFzIjpbeyJjYW5vbmljYWxfbGF0ZXgiOiJcXHBpIiwiZm9ybXVsYV9pZCI6IkVRMDE5IiwibGF0ZXhfc2hhMjU2IjoiZjFjZjA0MDkzZDA4YjZkYzBkNThhODczOTY0MDVjYjkwOTNhMjJlOWVkNjJhOTViYjk1ZWQ0NmU1ZGE5NzA5NyIsIm1vZGUiOiJpbmxpbmUiLCJvbW1sX3NoYTI1NiI6IjgwYjM3OTBlZWQwMzE5ZDUxYmZkNmRkMDgyZDZhNTdhM2M5OWU2NTg2NzcxMDdkNDIxNjI3YzFmNzQ4Zjc2NTkiLCJzZW1hbnRpY19vbW1sX3Byb2ZpbGUiOiJvZmZpY2UtbWF0aC1zZW1hbnRpYy12MiIsInNlbWFudGljX29tbWxfc2hhMjU2IjoiZTg5ZDE0MWM0MGM2YjUyMzQzYjA2MzhlZjdmNTI4MTZlODQ4NTg1ZjYyNTUxYWFjMzA1OGNlZDA0Zjc2OWViNiJ9XSwia2luZCI6Im5hdGl2ZV9vZmZpY2VfbWF0aCIsInBsYWNlaG9sZGVyX25hbWUiOiJtYXRoOjAxOSIsInNjaGVtYV92ZXJzaW9uIjoiMS4wIn0="/>
              <p:cNvSpPr txBox="1"/>
              <p:nvPr/>
            </p:nvSpPr>
            <p:spPr>
              <a:xfrm>
                <a:off x="11516201" y="3951922"/>
                <a:ext cx="399098" cy="4048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dirty="0" sz="1350">
                        <a:solidFill>
                          <a:srgbClr val="FFFFFF"/>
                        </a:solidFill>
                        <a:latin typeface="Cambria Math"/>
                      </a:rPr>
                      <m:t>π</m:t>
                    </m:r>
                  </m:oMath>
                </a14:m>
                <a:endParaRPr lang="en-US" dirty="0" sz="1350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42" name="math:019" descr="AI_AUTOFIGURE_MATH_FALLBACK_ONLY_V1:eyJjb250ZW50X3J1bnMiOlt7ImNhbm9uaWNhbF9sYXRleCI6IlxccGkiLCJmb3JtdWxhX2lkIjoiRVEwMTkiLCJraW5kIjoibWF0aCIsImxhdGV4X3NoYTI1NiI6ImYxY2YwNDA5M2QwOGI2ZGMwZDU4YTg3Mzk2NDA1Y2I5MDkzYTIyZTllZDYyYTk1YmI5NWVkNDZlNWRhOTcwOTciLCJtb2RlIjoiaW5saW5lIiwib21tbF9zaGEyNTYiOiI4MGIzNzkwZWVkMDMxOWQ1MWJmZDZkZDA4MmQ2YTU3YTNjOTllNjU4Njc3MTA3ZDQyMTYyN2MxZjc0OGY3NjU5Iiwic2VtYW50aWNfb21tbF9wcm9maWxlIjoib2ZmaWNlLW1hdGgtc2VtYW50aWMtdjIiLCJzZW1hbnRpY19vbW1sX3NoYTI1NiI6ImU4OWQxNDFjNDBjNmI1MjM0M2IwNjM4ZWY3ZjUyODE2ZTg0ODU4NWY2MjU1MWFhYzMwNThjZWQwNGY3NjllYjYifV0sImZvcm11bGFzIjpbeyJjYW5vbmljYWxfbGF0ZXgiOiJcXHBpIiwiZm9ybXVsYV9pZCI6IkVRMDE5IiwibGF0ZXhfc2hhMjU2IjoiZjFjZjA0MDkzZDA4YjZkYzBkNThhODczOTY0MDVjYjkwOTNhMjJlOWVkNjJhOTViYjk1ZWQ0NmU1ZGE5NzA5NyIsIm1vZGUiOiJpbmxpbmUiLCJvbW1sX3NoYTI1NiI6IjgwYjM3OTBlZWQwMzE5ZDUxYmZkNmRkMDgyZDZhNTdhM2M5OWU2NTg2NzcxMDdkNDIxNjI3YzFmNzQ4Zjc2NTkiLCJzZW1hbnRpY19vbW1sX3Byb2ZpbGUiOiJvZmZpY2UtbWF0aC1zZW1hbnRpYy12MiIsInNlbWFudGljX29tbWxfc2hhMjU2IjoiZTg5ZDE0MWM0MGM2YjUyMzQzYjA2MzhlZjdmNTI4MTZlODQ4NTg1ZjYyNTUxYWFjMzA1OGNlZDA0Zjc2OWViNiJ9XSwia2luZCI6Im5hdGl2ZV9vZmZpY2VfbWF0aCIsInBsYWNlaG9sZGVyX25hbWUiOiJtYXRoOjAxOSIsInNjaGVtYV92ZXJzaW9uIjoiMS4wIn0="/>
              <p:cNvSpPr txBox="1"/>
              <p:nvPr/>
            </p:nvSpPr>
            <p:spPr>
              <a:xfrm>
                <a:off x="11516201" y="3951922"/>
                <a:ext cx="399098" cy="4048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350">
                    <a:solidFill>
                      <a:srgbClr val="FFFFFF"/>
                    </a:solidFill>
                  </a:rPr>
                  <a:t>\(\pi\)</a:t>
                </a:r>
                <a:endParaRPr lang="en-US" dirty="0" sz="1350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43" name="af-action-a0-ellipse-01"/>
          <p:cNvSpPr/>
          <p:nvPr/>
        </p:nvSpPr>
        <p:spPr>
          <a:xfrm>
            <a:off x="10144125" y="3400425"/>
            <a:ext cx="342900" cy="342900"/>
          </a:xfrm>
          <a:prstGeom prst="ellipse">
            <a:avLst/>
          </a:prstGeom>
          <a:solidFill>
            <a:srgbClr val="C7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af-action-a1-ellipse-01"/>
          <p:cNvSpPr/>
          <p:nvPr/>
        </p:nvSpPr>
        <p:spPr>
          <a:xfrm>
            <a:off x="11068050" y="3400425"/>
            <a:ext cx="342900" cy="342900"/>
          </a:xfrm>
          <a:prstGeom prst="ellipse">
            <a:avLst/>
          </a:prstGeom>
          <a:solidFill>
            <a:srgbClr val="C7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af-action-a2-ellipse-01"/>
          <p:cNvSpPr/>
          <p:nvPr/>
        </p:nvSpPr>
        <p:spPr>
          <a:xfrm>
            <a:off x="12020550" y="3400425"/>
            <a:ext cx="342900" cy="342900"/>
          </a:xfrm>
          <a:prstGeom prst="ellipse">
            <a:avLst/>
          </a:prstGeom>
          <a:solidFill>
            <a:srgbClr val="C7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6" name="math:020" descr="AI_AUTOFIGURE_NATIVE_MATH_V1:eyJjb250ZW50X3J1bnMiOlt7ImNhbm9uaWNhbF9sYXRleCI6ImFfe3R9IiwiZm9ybXVsYV9pZCI6IkVRMDIwIiwia2luZCI6Im1hdGgiLCJsYXRleF9zaGEyNTYiOiJiMjM2YTRmNjc5MDRhMDkzYjk2N2E2NTYxMjY2OTM2Yjc1MDczMTAwMjc5YjZjZGRkYzhlMTc3Nzc2ZDVmZDdlIiwibW9kZSI6ImlubGluZSIsIm9tbWxfc2hhMjU2IjoiOTRjNWE5YzNlOGZiOWY5NmRhOWFiZDJkYTJiMTA4ZDdlNzUyNDU2YzJkYzZlNDJiNzlmZDZmYTAwNGRmNmMzYyIsInNlbWFudGljX29tbWxfcHJvZmlsZSI6Im9mZmljZS1tYXRoLXNlbWFudGljLXYyIiwic2VtYW50aWNfb21tbF9zaGEyNTYiOiI1OGYyMTBlMTVmNzM4YjY1YTk3MmYyODI4MTFjYTllMjBkODE0MWU4ZTk2N2JjYWE4NGRkN2VlZTBlZmU4MzFhIn1dLCJmb3JtdWxhcyI6W3siY2Fub25pY2FsX2xhdGV4IjoiYV97dH0iLCJmb3JtdWxhX2lkIjoiRVEwMjAiLCJsYXRleF9zaGEyNTYiOiJiMjM2YTRmNjc5MDRhMDkzYjk2N2E2NTYxMjY2OTM2Yjc1MDczMTAwMjc5YjZjZGRkYzhlMTc3Nzc2ZDVmZDdlIiwibW9kZSI6ImlubGluZSIsIm9tbWxfc2hhMjU2IjoiOTRjNWE5YzNlOGZiOWY5NmRhOWFiZDJkYTJiMTA4ZDdlNzUyNDU2YzJkYzZlNDJiNzlmZDZmYTAwNGRmNmMzYyIsInNlbWFudGljX29tbWxfcHJvZmlsZSI6Im9mZmljZS1tYXRoLXNlbWFudGljLXYyIiwic2VtYW50aWNfb21tbF9zaGEyNTYiOiI1OGYyMTBlMTVmNzM4YjY1YTk3MmYyODI4MTFjYTllMjBkODE0MWU4ZTk2N2JjYWE4NGRkN2VlZTBlZmU4MzFhIn1dLCJraW5kIjoibmF0aXZlX29mZmljZV9tYXRoIiwicGxhY2Vob2xkZXJfbmFtZSI6Im1hdGg6MDIwIiwic2NoZW1hX3ZlcnNpb24iOiIxLjAifQ=="/>
              <p:cNvSpPr txBox="1"/>
              <p:nvPr/>
            </p:nvSpPr>
            <p:spPr>
              <a:xfrm>
                <a:off x="10094357" y="3475196"/>
                <a:ext cx="442436" cy="3929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a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</m:t>
                        </m:r>
                      </m:sub>
                    </m:sSub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46" name="math:020" descr="AI_AUTOFIGURE_MATH_FALLBACK_ONLY_V1:eyJjb250ZW50X3J1bnMiOlt7ImNhbm9uaWNhbF9sYXRleCI6ImFfe3R9IiwiZm9ybXVsYV9pZCI6IkVRMDIwIiwia2luZCI6Im1hdGgiLCJsYXRleF9zaGEyNTYiOiJiMjM2YTRmNjc5MDRhMDkzYjk2N2E2NTYxMjY2OTM2Yjc1MDczMTAwMjc5YjZjZGRkYzhlMTc3Nzc2ZDVmZDdlIiwibW9kZSI6ImlubGluZSIsIm9tbWxfc2hhMjU2IjoiOTRjNWE5YzNlOGZiOWY5NmRhOWFiZDJkYTJiMTA4ZDdlNzUyNDU2YzJkYzZlNDJiNzlmZDZmYTAwNGRmNmMzYyIsInNlbWFudGljX29tbWxfcHJvZmlsZSI6Im9mZmljZS1tYXRoLXNlbWFudGljLXYyIiwic2VtYW50aWNfb21tbF9zaGEyNTYiOiI1OGYyMTBlMTVmNzM4YjY1YTk3MmYyODI4MTFjYTllMjBkODE0MWU4ZTk2N2JjYWE4NGRkN2VlZTBlZmU4MzFhIn1dLCJmb3JtdWxhcyI6W3siY2Fub25pY2FsX2xhdGV4IjoiYV97dH0iLCJmb3JtdWxhX2lkIjoiRVEwMjAiLCJsYXRleF9zaGEyNTYiOiJiMjM2YTRmNjc5MDRhMDkzYjk2N2E2NTYxMjY2OTM2Yjc1MDczMTAwMjc5YjZjZGRkYzhlMTc3Nzc2ZDVmZDdlIiwibW9kZSI6ImlubGluZSIsIm9tbWxfc2hhMjU2IjoiOTRjNWE5YzNlOGZiOWY5NmRhOWFiZDJkYTJiMTA4ZDdlNzUyNDU2YzJkYzZlNDJiNzlmZDZmYTAwNGRmNmMzYyIsInNlbWFudGljX29tbWxfcHJvZmlsZSI6Im9mZmljZS1tYXRoLXNlbWFudGljLXYyIiwic2VtYW50aWNfb21tbF9zaGEyNTYiOiI1OGYyMTBlMTVmNzM4YjY1YTk3MmYyODI4MTFjYTllMjBkODE0MWU4ZTk2N2JjYWE4NGRkN2VlZTBlZmU4MzFhIn1dLCJraW5kIjoibmF0aXZlX29mZmljZV9tYXRoIiwicGxhY2Vob2xkZXJfbmFtZSI6Im1hdGg6MDIwIiwic2NoZW1hX3ZlcnNpb24iOiIxLjAifQ=="/>
              <p:cNvSpPr txBox="1"/>
              <p:nvPr/>
            </p:nvSpPr>
            <p:spPr>
              <a:xfrm>
                <a:off x="10094357" y="3475196"/>
                <a:ext cx="442436" cy="3929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\(a_{t}\)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7" name="math:021" descr="AI_AUTOFIGURE_NATIVE_MATH_V1:eyJjb250ZW50X3J1bnMiOlt7ImNhbm9uaWNhbF9sYXRleCI6ImFfe3QrMX0iLCJmb3JtdWxhX2lkIjoiRVEwMjEiLCJraW5kIjoibWF0aCIsImxhdGV4X3NoYTI1NiI6ImNkNTFlODVhMWRhMGJkNjU2MGEzOGU0NTVmNWIzMDNkYjcxNzUzMzc3NmRhZTFjZjU0NGM0ZTEwOGJmM2VhZWEiLCJtb2RlIjoiaW5saW5lIiwib21tbF9zaGEyNTYiOiJiYzc2NzNhNjFlZDE1OTBkYmJjNzQzYzMzNjI2NWU0Zjk4ZTYzOGZhMGE3NzMxZjRlMzk2MmE3NDdmNmY1MmYwIiwic2VtYW50aWNfb21tbF9wcm9maWxlIjoib2ZmaWNlLW1hdGgtc2VtYW50aWMtdjIiLCJzZW1hbnRpY19vbW1sX3NoYTI1NiI6IjM1ZmU0NTJiNDQ4ZWY4MTUxMWJlOTA3ZjVlZWRjOWM1YjYwMWMzN2U2NTVmY2ZmNDY3ZmQ5NzFiYWM4ZTllZTEifV0sImZvcm11bGFzIjpbeyJjYW5vbmljYWxfbGF0ZXgiOiJhX3t0KzF9IiwiZm9ybXVsYV9pZCI6IkVRMDIxIiwibGF0ZXhfc2hhMjU2IjoiY2Q1MWU4NWExZGEwYmQ2NTYwYTM4ZTQ1NWY1YjMwM2RiNzE3NTMzNzc2ZGFlMWNmNTQ0YzRlMTA4YmYzZWFlYSIsIm1vZGUiOiJpbmxpbmUiLCJvbW1sX3NoYTI1NiI6ImJjNzY3M2E2MWVkMTU5MGRiYmM3NDNjMzM2MjY1ZTRmOThlNjM4ZmEwYTc3MzFmNGUzOTYyYTc0N2Y2ZjUyZjAiLCJzZW1hbnRpY19vbW1sX3Byb2ZpbGUiOiJvZmZpY2UtbWF0aC1zZW1hbnRpYy12MiIsInNlbWFudGljX29tbWxfc2hhMjU2IjoiMzVmZTQ1MmI0NDhlZjgxNTExYmU5MDdmNWVlZGM5YzViNjAxYzM3ZTY1NWZjZmY0NjdmZDk3MWJhYzhlOWVlMSJ9XSwia2luZCI6Im5hdGl2ZV9vZmZpY2VfbWF0aCIsInBsYWNlaG9sZGVyX25hbWUiOiJtYXRoOjAyMSIsInNjaGVtYV92ZXJzaW9uIjoiMS4wIn0="/>
              <p:cNvSpPr txBox="1"/>
              <p:nvPr/>
            </p:nvSpPr>
            <p:spPr>
              <a:xfrm>
                <a:off x="10930842" y="3475196"/>
                <a:ext cx="617315" cy="3929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a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t+1</m:t>
                        </m:r>
                      </m:sub>
                    </m:sSub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47" name="math:021" descr="AI_AUTOFIGURE_MATH_FALLBACK_ONLY_V1:eyJjb250ZW50X3J1bnMiOlt7ImNhbm9uaWNhbF9sYXRleCI6ImFfe3QrMX0iLCJmb3JtdWxhX2lkIjoiRVEwMjEiLCJraW5kIjoibWF0aCIsImxhdGV4X3NoYTI1NiI6ImNkNTFlODVhMWRhMGJkNjU2MGEzOGU0NTVmNWIzMDNkYjcxNzUzMzc3NmRhZTFjZjU0NGM0ZTEwOGJmM2VhZWEiLCJtb2RlIjoiaW5saW5lIiwib21tbF9zaGEyNTYiOiJiYzc2NzNhNjFlZDE1OTBkYmJjNzQzYzMzNjI2NWU0Zjk4ZTYzOGZhMGE3NzMxZjRlMzk2MmE3NDdmNmY1MmYwIiwic2VtYW50aWNfb21tbF9wcm9maWxlIjoib2ZmaWNlLW1hdGgtc2VtYW50aWMtdjIiLCJzZW1hbnRpY19vbW1sX3NoYTI1NiI6IjM1ZmU0NTJiNDQ4ZWY4MTUxMWJlOTA3ZjVlZWRjOWM1YjYwMWMzN2U2NTVmY2ZmNDY3ZmQ5NzFiYWM4ZTllZTEifV0sImZvcm11bGFzIjpbeyJjYW5vbmljYWxfbGF0ZXgiOiJhX3t0KzF9IiwiZm9ybXVsYV9pZCI6IkVRMDIxIiwibGF0ZXhfc2hhMjU2IjoiY2Q1MWU4NWExZGEwYmQ2NTYwYTM4ZTQ1NWY1YjMwM2RiNzE3NTMzNzc2ZGFlMWNmNTQ0YzRlMTA4YmYzZWFlYSIsIm1vZGUiOiJpbmxpbmUiLCJvbW1sX3NoYTI1NiI6ImJjNzY3M2E2MWVkMTU5MGRiYmM3NDNjMzM2MjY1ZTRmOThlNjM4ZmEwYTc3MzFmNGUzOTYyYTc0N2Y2ZjUyZjAiLCJzZW1hbnRpY19vbW1sX3Byb2ZpbGUiOiJvZmZpY2UtbWF0aC1zZW1hbnRpYy12MiIsInNlbWFudGljX29tbWxfc2hhMjU2IjoiMzVmZTQ1MmI0NDhlZjgxNTExYmU5MDdmNWVlZGM5YzViNjAxYzM3ZTY1NWZjZmY0NjdmZDk3MWJhYzhlOWVlMSJ9XSwia2luZCI6Im5hdGl2ZV9vZmZpY2VfbWF0aCIsInBsYWNlaG9sZGVyX25hbWUiOiJtYXRoOjAyMSIsInNjaGVtYV92ZXJzaW9uIjoiMS4wIn0="/>
              <p:cNvSpPr txBox="1"/>
              <p:nvPr/>
            </p:nvSpPr>
            <p:spPr>
              <a:xfrm>
                <a:off x="10930842" y="3475196"/>
                <a:ext cx="617315" cy="3929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\(a_{t+1}\)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8" name="math:022" descr="AI_AUTOFIGURE_NATIVE_MATH_V1:eyJjb250ZW50X3J1bnMiOlt7ImNhbm9uaWNhbF9sYXRleCI6ImFfe3QrMn0iLCJmb3JtdWxhX2lkIjoiRVEwMjIiLCJraW5kIjoibWF0aCIsImxhdGV4X3NoYTI1NiI6ImZkYWYzMzQzZjgxNjEyYjY0OWZlNDcyZDc0Mzk4M2U2YTBmMTI4MzdiOGZmY2M4NjUwMTVhNjZkYWU0Zjc2YjQiLCJtb2RlIjoiaW5saW5lIiwib21tbF9zaGEyNTYiOiI4MWRjMWE4MmFlNGVmY2JmMDYxYmYzM2E2NmNjZmE4OGNkOTg5NzQzZjM2NjExMzhmZWRiYmU1OTNlZjJjOTVlIiwic2VtYW50aWNfb21tbF9wcm9maWxlIjoib2ZmaWNlLW1hdGgtc2VtYW50aWMtdjIiLCJzZW1hbnRpY19vbW1sX3NoYTI1NiI6ImYzNmQyNDY3MzZjNjAyNjZkODBmMWI0MGY3ODU1MTk0NDgzNjE4ZjcyYWM1ZjlmMWJhZTg5YTQwZGZjYmM3MWIifV0sImZvcm11bGFzIjpbeyJjYW5vbmljYWxfbGF0ZXgiOiJhX3t0KzJ9IiwiZm9ybXVsYV9pZCI6IkVRMDIyIiwibGF0ZXhfc2hhMjU2IjoiZmRhZjMzNDNmODE2MTJiNjQ5ZmU0NzJkNzQzOTgzZTZhMGYxMjgzN2I4ZmZjYzg2NTAxNWE2NmRhZTRmNzZiNCIsIm1vZGUiOiJpbmxpbmUiLCJvbW1sX3NoYTI1NiI6IjgxZGMxYTgyYWU0ZWZjYmYwNjFiZjMzYTY2Y2NmYTg4Y2Q5ODk3NDNmMzY2MTEzOGZlZGJiZTU5M2VmMmM5NWUiLCJzZW1hbnRpY19vbW1sX3Byb2ZpbGUiOiJvZmZpY2UtbWF0aC1zZW1hbnRpYy12MiIsInNlbWFudGljX29tbWxfc2hhMjU2IjoiZjM2ZDI0NjczNmM2MDI2NmQ4MGYxYjQwZjc4NTUxOTQ0ODM2MThmNzJhYzVmOWYxYmFlODlhNDBkZmNiYzcxYiJ9XSwia2luZCI6Im5hdGl2ZV9vZmZpY2VfbWF0aCIsInBsYWNlaG9sZGVyX25hbWUiOiJtYXRoOjAyMiIsInNjaGVtYV92ZXJzaW9uIjoiMS4wIn0="/>
              <p:cNvSpPr txBox="1"/>
              <p:nvPr/>
            </p:nvSpPr>
            <p:spPr>
              <a:xfrm>
                <a:off x="11883342" y="3475196"/>
                <a:ext cx="617315" cy="3929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a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t+2</m:t>
                        </m:r>
                      </m:sub>
                    </m:sSub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48" name="math:022" descr="AI_AUTOFIGURE_MATH_FALLBACK_ONLY_V1:eyJjb250ZW50X3J1bnMiOlt7ImNhbm9uaWNhbF9sYXRleCI6ImFfe3QrMn0iLCJmb3JtdWxhX2lkIjoiRVEwMjIiLCJraW5kIjoibWF0aCIsImxhdGV4X3NoYTI1NiI6ImZkYWYzMzQzZjgxNjEyYjY0OWZlNDcyZDc0Mzk4M2U2YTBmMTI4MzdiOGZmY2M4NjUwMTVhNjZkYWU0Zjc2YjQiLCJtb2RlIjoiaW5saW5lIiwib21tbF9zaGEyNTYiOiI4MWRjMWE4MmFlNGVmY2JmMDYxYmYzM2E2NmNjZmE4OGNkOTg5NzQzZjM2NjExMzhmZWRiYmU1OTNlZjJjOTVlIiwic2VtYW50aWNfb21tbF9wcm9maWxlIjoib2ZmaWNlLW1hdGgtc2VtYW50aWMtdjIiLCJzZW1hbnRpY19vbW1sX3NoYTI1NiI6ImYzNmQyNDY3MzZjNjAyNjZkODBmMWI0MGY3ODU1MTk0NDgzNjE4ZjcyYWM1ZjlmMWJhZTg5YTQwZGZjYmM3MWIifV0sImZvcm11bGFzIjpbeyJjYW5vbmljYWxfbGF0ZXgiOiJhX3t0KzJ9IiwiZm9ybXVsYV9pZCI6IkVRMDIyIiwibGF0ZXhfc2hhMjU2IjoiZmRhZjMzNDNmODE2MTJiNjQ5ZmU0NzJkNzQzOTgzZTZhMGYxMjgzN2I4ZmZjYzg2NTAxNWE2NmRhZTRmNzZiNCIsIm1vZGUiOiJpbmxpbmUiLCJvbW1sX3NoYTI1NiI6IjgxZGMxYTgyYWU0ZWZjYmYwNjFiZjMzYTY2Y2NmYTg4Y2Q5ODk3NDNmMzY2MTEzOGZlZGJiZTU5M2VmMmM5NWUiLCJzZW1hbnRpY19vbW1sX3Byb2ZpbGUiOiJvZmZpY2UtbWF0aC1zZW1hbnRpYy12MiIsInNlbWFudGljX29tbWxfc2hhMjU2IjoiZjM2ZDI0NjczNmM2MDI2NmQ4MGYxYjQwZjc4NTUxOTQ0ODM2MThmNzJhYzVmOWYxYmFlODlhNDBkZmNiYzcxYiJ9XSwia2luZCI6Im5hdGl2ZV9vZmZpY2VfbWF0aCIsInBsYWNlaG9sZGVyX25hbWUiOiJtYXRoOjAyMiIsInNjaGVtYV92ZXJzaW9uIjoiMS4wIn0="/>
              <p:cNvSpPr txBox="1"/>
              <p:nvPr/>
            </p:nvSpPr>
            <p:spPr>
              <a:xfrm>
                <a:off x="11883342" y="3475196"/>
                <a:ext cx="617315" cy="3929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\(a_{t+2}\)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p:cxnSp>
        <p:nvCxnSpPr>
          <p:cNvPr id="149" name="af-imagination-z0-to-z1-connector-01"/>
          <p:cNvCxnSpPr>
            <a:stCxn id="112" idx="0"/>
            <a:endCxn id="113" idx="0"/>
          </p:cNvCxnSpPr>
          <p:nvPr/>
        </p:nvCxnSpPr>
        <p:spPr>
          <a:xfrm>
            <a:off x="10058400" y="1733550"/>
            <a:ext cx="428625" cy="0"/>
          </a:xfrm>
          <a:prstGeom prst="line">
            <a:avLst/>
          </a:prstGeom>
          <a:ln w="19050">
            <a:solidFill>
              <a:srgbClr val="9A7600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af-imagination-z1-to-z2-connector-01"/>
          <p:cNvCxnSpPr>
            <a:stCxn id="113" idx="0"/>
            <a:endCxn id="114" idx="0"/>
          </p:cNvCxnSpPr>
          <p:nvPr/>
        </p:nvCxnSpPr>
        <p:spPr>
          <a:xfrm>
            <a:off x="10982325" y="1733550"/>
            <a:ext cx="447675" cy="0"/>
          </a:xfrm>
          <a:prstGeom prst="line">
            <a:avLst/>
          </a:prstGeom>
          <a:ln w="19050">
            <a:solidFill>
              <a:srgbClr val="9A7600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af-imagination-z2-to-zh-connector-01"/>
          <p:cNvCxnSpPr>
            <a:stCxn id="114" idx="0"/>
            <a:endCxn id="115" idx="0"/>
          </p:cNvCxnSpPr>
          <p:nvPr/>
        </p:nvCxnSpPr>
        <p:spPr>
          <a:xfrm>
            <a:off x="11934825" y="1733550"/>
            <a:ext cx="733425" cy="0"/>
          </a:xfrm>
          <a:prstGeom prst="line">
            <a:avLst/>
          </a:prstGeom>
          <a:ln w="19050">
            <a:solidFill>
              <a:srgbClr val="9A7600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af-imagination-z0-to-r0-connector-01"/>
          <p:cNvCxnSpPr>
            <a:stCxn id="112" idx="0"/>
            <a:endCxn id="131" idx="0"/>
          </p:cNvCxnSpPr>
          <p:nvPr/>
        </p:nvCxnSpPr>
        <p:spPr>
          <a:xfrm>
            <a:off x="9839325" y="1914525"/>
            <a:ext cx="0" cy="209550"/>
          </a:xfrm>
          <a:prstGeom prst="line">
            <a:avLst/>
          </a:prstGeom>
          <a:ln w="19050">
            <a:solidFill>
              <a:srgbClr val="9A7600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af-imagination-z1-to-r1-connector-01"/>
          <p:cNvCxnSpPr>
            <a:stCxn id="113" idx="0"/>
            <a:endCxn id="132" idx="0"/>
          </p:cNvCxnSpPr>
          <p:nvPr/>
        </p:nvCxnSpPr>
        <p:spPr>
          <a:xfrm>
            <a:off x="10753725" y="1914525"/>
            <a:ext cx="0" cy="209550"/>
          </a:xfrm>
          <a:prstGeom prst="line">
            <a:avLst/>
          </a:prstGeom>
          <a:ln w="19050">
            <a:solidFill>
              <a:srgbClr val="9A7600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af-imagination-z2-to-r2-connector-01"/>
          <p:cNvCxnSpPr>
            <a:stCxn id="114" idx="0"/>
            <a:endCxn id="133" idx="0"/>
          </p:cNvCxnSpPr>
          <p:nvPr/>
        </p:nvCxnSpPr>
        <p:spPr>
          <a:xfrm>
            <a:off x="11706225" y="1914525"/>
            <a:ext cx="0" cy="209550"/>
          </a:xfrm>
          <a:prstGeom prst="line">
            <a:avLst/>
          </a:prstGeom>
          <a:ln w="19050">
            <a:solidFill>
              <a:srgbClr val="9A7600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af-rollout-z0-to-z1-connector-01"/>
          <p:cNvCxnSpPr>
            <a:stCxn id="122" idx="0"/>
            <a:endCxn id="123" idx="0"/>
          </p:cNvCxnSpPr>
          <p:nvPr/>
        </p:nvCxnSpPr>
        <p:spPr>
          <a:xfrm>
            <a:off x="10067925" y="2990850"/>
            <a:ext cx="428625" cy="0"/>
          </a:xfrm>
          <a:prstGeom prst="line">
            <a:avLst/>
          </a:prstGeom>
          <a:ln w="19050">
            <a:solidFill>
              <a:srgbClr val="9A7600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af-rollout-z1-to-z2-connector-01"/>
          <p:cNvCxnSpPr>
            <a:stCxn id="123" idx="0"/>
            <a:endCxn id="124" idx="0"/>
          </p:cNvCxnSpPr>
          <p:nvPr/>
        </p:nvCxnSpPr>
        <p:spPr>
          <a:xfrm>
            <a:off x="10982325" y="2990850"/>
            <a:ext cx="466725" cy="0"/>
          </a:xfrm>
          <a:prstGeom prst="line">
            <a:avLst/>
          </a:prstGeom>
          <a:ln w="19050">
            <a:solidFill>
              <a:srgbClr val="9A7600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af-rollout-z2-to-zh-connector-01"/>
          <p:cNvCxnSpPr>
            <a:stCxn id="124" idx="0"/>
            <a:endCxn id="125" idx="0"/>
          </p:cNvCxnSpPr>
          <p:nvPr/>
        </p:nvCxnSpPr>
        <p:spPr>
          <a:xfrm>
            <a:off x="11934825" y="2990850"/>
            <a:ext cx="733425" cy="0"/>
          </a:xfrm>
          <a:prstGeom prst="line">
            <a:avLst/>
          </a:prstGeom>
          <a:ln w="19050">
            <a:solidFill>
              <a:srgbClr val="9A7600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af-rollout-z0-to-pi0-connector-01"/>
          <p:cNvCxnSpPr>
            <a:stCxn id="122" idx="0"/>
            <a:endCxn id="137" idx="0"/>
          </p:cNvCxnSpPr>
          <p:nvPr/>
        </p:nvCxnSpPr>
        <p:spPr>
          <a:xfrm>
            <a:off x="9839325" y="3171825"/>
            <a:ext cx="0" cy="676275"/>
          </a:xfrm>
          <a:prstGeom prst="line">
            <a:avLst/>
          </a:prstGeom>
          <a:ln w="19050">
            <a:solidFill>
              <a:srgbClr val="9A7600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af-rollout-z1-to-pi1-connector-01"/>
          <p:cNvCxnSpPr>
            <a:stCxn id="123" idx="0"/>
            <a:endCxn id="138" idx="0"/>
          </p:cNvCxnSpPr>
          <p:nvPr/>
        </p:nvCxnSpPr>
        <p:spPr>
          <a:xfrm>
            <a:off x="10763250" y="3171825"/>
            <a:ext cx="0" cy="676275"/>
          </a:xfrm>
          <a:prstGeom prst="line">
            <a:avLst/>
          </a:prstGeom>
          <a:ln w="19050">
            <a:solidFill>
              <a:srgbClr val="9A7600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af-rollout-z2-to-pi2-connector-01"/>
          <p:cNvCxnSpPr>
            <a:stCxn id="124" idx="0"/>
            <a:endCxn id="139" idx="0"/>
          </p:cNvCxnSpPr>
          <p:nvPr/>
        </p:nvCxnSpPr>
        <p:spPr>
          <a:xfrm>
            <a:off x="11715750" y="3171825"/>
            <a:ext cx="0" cy="676275"/>
          </a:xfrm>
          <a:prstGeom prst="line">
            <a:avLst/>
          </a:prstGeom>
          <a:ln w="19050">
            <a:solidFill>
              <a:srgbClr val="9A7600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af-rollout-pi0-to-a0-freeform-arrow-01"/>
          <p:cNvSpPr/>
          <p:nvPr/>
        </p:nvSpPr>
        <p:spPr>
          <a:xfrm>
            <a:off x="10010775" y="3781425"/>
            <a:ext cx="371475" cy="295275"/>
          </a:xfrm>
          <a:custGeom>
            <a:avLst/>
            <a:gdLst/>
            <a:ahLst/>
            <a:cxnLst/>
            <a:rect l="0" t="0" r="0" b="0"/>
            <a:pathLst>
              <a:path w="371475" h="295275">
                <a:moveTo>
                  <a:pt x="0" y="295275"/>
                </a:moveTo>
                <a:cubicBezTo>
                  <a:pt x="276225" y="266700"/>
                  <a:pt x="371475" y="142875"/>
                  <a:pt x="314325" y="0"/>
                </a:cubicBezTo>
              </a:path>
            </a:pathLst>
          </a:custGeom>
          <a:noFill/>
          <a:ln w="19050">
            <a:solidFill>
              <a:srgbClr val="9A7600"/>
            </a:solidFill>
            <a:tailEnd type="triangle" w="lg" len="med"/>
          </a:ln>
        </p:spPr>
        <p:txBody>
          <a:bodyPr/>
          <a:p/>
        </p:txBody>
      </p:sp>
      <p:sp>
        <p:nvSpPr>
          <p:cNvPr id="162" name="af-rollout-pi1-to-a1-freeform-arrow-01"/>
          <p:cNvSpPr/>
          <p:nvPr/>
        </p:nvSpPr>
        <p:spPr>
          <a:xfrm>
            <a:off x="10934700" y="3781425"/>
            <a:ext cx="352425" cy="295275"/>
          </a:xfrm>
          <a:custGeom>
            <a:avLst/>
            <a:gdLst/>
            <a:ahLst/>
            <a:cxnLst/>
            <a:rect l="0" t="0" r="0" b="0"/>
            <a:pathLst>
              <a:path w="352425" h="295275">
                <a:moveTo>
                  <a:pt x="0" y="295275"/>
                </a:moveTo>
                <a:cubicBezTo>
                  <a:pt x="257175" y="266700"/>
                  <a:pt x="352425" y="142875"/>
                  <a:pt x="304800" y="0"/>
                </a:cubicBezTo>
              </a:path>
            </a:pathLst>
          </a:custGeom>
          <a:noFill/>
          <a:ln w="19050">
            <a:solidFill>
              <a:srgbClr val="9A7600"/>
            </a:solidFill>
            <a:tailEnd type="triangle" w="lg" len="med"/>
          </a:ln>
        </p:spPr>
        <p:txBody>
          <a:bodyPr/>
          <a:p/>
        </p:txBody>
      </p:sp>
      <p:sp>
        <p:nvSpPr>
          <p:cNvPr id="163" name="af-rollout-pi2-to-a2-freeform-arrow-01"/>
          <p:cNvSpPr/>
          <p:nvPr/>
        </p:nvSpPr>
        <p:spPr>
          <a:xfrm>
            <a:off x="11887200" y="3781425"/>
            <a:ext cx="361950" cy="295275"/>
          </a:xfrm>
          <a:custGeom>
            <a:avLst/>
            <a:gdLst/>
            <a:ahLst/>
            <a:cxnLst/>
            <a:rect l="0" t="0" r="0" b="0"/>
            <a:pathLst>
              <a:path w="361950" h="295275">
                <a:moveTo>
                  <a:pt x="0" y="295275"/>
                </a:moveTo>
                <a:cubicBezTo>
                  <a:pt x="257175" y="266700"/>
                  <a:pt x="361950" y="142875"/>
                  <a:pt x="314325" y="0"/>
                </a:cubicBezTo>
              </a:path>
            </a:pathLst>
          </a:custGeom>
          <a:noFill/>
          <a:ln w="19050">
            <a:solidFill>
              <a:srgbClr val="9A7600"/>
            </a:solidFill>
            <a:tailEnd type="triangle" w="lg" len="med"/>
          </a:ln>
        </p:spPr>
        <p:txBody>
          <a:bodyPr/>
          <a:p/>
        </p:txBody>
      </p:sp>
      <p:sp>
        <p:nvSpPr>
          <p:cNvPr id="164" name="af-rollout-a0-to-z1-freeform-arrow-01"/>
          <p:cNvSpPr/>
          <p:nvPr/>
        </p:nvSpPr>
        <p:spPr>
          <a:xfrm>
            <a:off x="10334625" y="3171825"/>
            <a:ext cx="238125" cy="209550"/>
          </a:xfrm>
          <a:custGeom>
            <a:avLst/>
            <a:gdLst/>
            <a:ahLst/>
            <a:cxnLst/>
            <a:rect l="0" t="0" r="0" b="0"/>
            <a:pathLst>
              <a:path w="238125" h="209550">
                <a:moveTo>
                  <a:pt x="0" y="209550"/>
                </a:moveTo>
                <a:cubicBezTo>
                  <a:pt x="190500" y="209550"/>
                  <a:pt x="238125" y="95250"/>
                  <a:pt x="238125" y="0"/>
                </a:cubicBezTo>
              </a:path>
            </a:pathLst>
          </a:custGeom>
          <a:noFill/>
          <a:ln w="19050">
            <a:solidFill>
              <a:srgbClr val="9A7600"/>
            </a:solidFill>
            <a:tailEnd type="triangle" w="lg" len="med"/>
          </a:ln>
        </p:spPr>
        <p:txBody>
          <a:bodyPr/>
          <a:p/>
        </p:txBody>
      </p:sp>
      <p:sp>
        <p:nvSpPr>
          <p:cNvPr id="165" name="af-rollout-a1-to-z2-freeform-arrow-01"/>
          <p:cNvSpPr/>
          <p:nvPr/>
        </p:nvSpPr>
        <p:spPr>
          <a:xfrm>
            <a:off x="11258550" y="3171825"/>
            <a:ext cx="266700" cy="209550"/>
          </a:xfrm>
          <a:custGeom>
            <a:avLst/>
            <a:gdLst/>
            <a:ahLst/>
            <a:cxnLst/>
            <a:rect l="0" t="0" r="0" b="0"/>
            <a:pathLst>
              <a:path w="266700" h="209550">
                <a:moveTo>
                  <a:pt x="0" y="209550"/>
                </a:moveTo>
                <a:cubicBezTo>
                  <a:pt x="200025" y="209550"/>
                  <a:pt x="266700" y="95250"/>
                  <a:pt x="266700" y="0"/>
                </a:cubicBezTo>
              </a:path>
            </a:pathLst>
          </a:custGeom>
          <a:noFill/>
          <a:ln w="19050">
            <a:solidFill>
              <a:srgbClr val="9A7600"/>
            </a:solidFill>
            <a:tailEnd type="triangle" w="lg" len="med"/>
          </a:ln>
        </p:spPr>
        <p:txBody>
          <a:bodyPr/>
          <a:p/>
        </p:txBody>
      </p:sp>
      <p:sp>
        <p:nvSpPr>
          <p:cNvPr id="166" name="af-rollout-a2-to-next-freeform-arrow-01"/>
          <p:cNvSpPr/>
          <p:nvPr/>
        </p:nvSpPr>
        <p:spPr>
          <a:xfrm>
            <a:off x="12211050" y="3171825"/>
            <a:ext cx="219075" cy="209550"/>
          </a:xfrm>
          <a:custGeom>
            <a:avLst/>
            <a:gdLst/>
            <a:ahLst/>
            <a:cxnLst/>
            <a:rect l="0" t="0" r="0" b="0"/>
            <a:pathLst>
              <a:path w="219075" h="209550">
                <a:moveTo>
                  <a:pt x="0" y="209550"/>
                </a:moveTo>
                <a:cubicBezTo>
                  <a:pt x="219075" y="209550"/>
                  <a:pt x="209550" y="114300"/>
                  <a:pt x="209550" y="0"/>
                </a:cubicBezTo>
              </a:path>
            </a:pathLst>
          </a:custGeom>
          <a:noFill/>
          <a:ln w="19050">
            <a:solidFill>
              <a:srgbClr val="9A7600"/>
            </a:solidFill>
            <a:tailEnd type="triangle" w="lg" len="med"/>
          </a:ln>
        </p:spPr>
        <p:txBody>
          <a:bodyPr/>
          <a:p/>
        </p:txBody>
      </p:sp>
      <p:cxnSp>
        <p:nvCxnSpPr>
          <p:cNvPr id="167" name="af-zt-top-to-imagination-connector-01"/>
          <p:cNvCxnSpPr>
            <a:stCxn id="101" idx="0"/>
            <a:endCxn id="122" idx="0"/>
          </p:cNvCxnSpPr>
          <p:nvPr/>
        </p:nvCxnSpPr>
        <p:spPr>
          <a:xfrm>
            <a:off x="9010650" y="2590800"/>
            <a:ext cx="561975" cy="381000"/>
          </a:xfrm>
          <a:prstGeom prst="line">
            <a:avLst/>
          </a:prstGeom>
          <a:ln w="19050">
            <a:solidFill>
              <a:srgbClr val="9A7600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af-zt-bottom-to-rollout-connector-01"/>
          <p:cNvCxnSpPr>
            <a:stCxn id="106" idx="0"/>
            <a:endCxn id="122" idx="0"/>
          </p:cNvCxnSpPr>
          <p:nvPr/>
        </p:nvCxnSpPr>
        <p:spPr>
          <a:xfrm flipV="1">
            <a:off x="9010650" y="3105150"/>
            <a:ext cx="561975" cy="857250"/>
          </a:xfrm>
          <a:prstGeom prst="line">
            <a:avLst/>
          </a:prstGeom>
          <a:ln w="19050">
            <a:solidFill>
              <a:srgbClr val="9A7600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af-dense-trophy-text-01"/>
          <p:cNvSpPr txBox="1"/>
          <p:nvPr/>
        </p:nvSpPr>
        <p:spPr>
          <a:xfrm>
            <a:off x="12268200" y="2204085"/>
            <a:ext cx="443484" cy="52387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100">
                <a:solidFill>
                  <a:srgbClr val="6F5C24"/>
                </a:solidFill>
                <a:latin typeface="Segoe UI Symbol"/>
              </a:rPr>
              <a:t>♕</a:t>
            </a:r>
          </a:p>
        </p:txBody>
      </p:sp>
      <p:sp>
        <p:nvSpPr>
          <p:cNvPr id="170" name="af-dense-reward-label-text-01"/>
          <p:cNvSpPr txBox="1"/>
          <p:nvPr/>
        </p:nvSpPr>
        <p:spPr>
          <a:xfrm>
            <a:off x="12620625" y="2142649"/>
            <a:ext cx="775335" cy="4167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425">
                <a:solidFill>
                  <a:srgbClr val="666666"/>
                </a:solidFill>
                <a:latin typeface="Arial"/>
              </a:rPr>
              <a:t>dense</a:t>
            </a:r>
          </a:p>
        </p:txBody>
      </p:sp>
      <p:sp>
        <p:nvSpPr>
          <p:cNvPr id="171" name="af-dense-reward-label-2-text-01"/>
          <p:cNvSpPr txBox="1"/>
          <p:nvPr/>
        </p:nvSpPr>
        <p:spPr>
          <a:xfrm>
            <a:off x="12620625" y="2361724"/>
            <a:ext cx="862203" cy="4167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425">
                <a:solidFill>
                  <a:srgbClr val="666666"/>
                </a:solidFill>
                <a:latin typeface="Arial"/>
              </a:rPr>
              <a:t>reward</a:t>
            </a:r>
          </a:p>
        </p:txBody>
      </p:sp>
      <p:sp>
        <p:nvSpPr>
          <p:cNvPr id="172" name="af-behavior-title-text-01"/>
          <p:cNvSpPr txBox="1"/>
          <p:nvPr/>
        </p:nvSpPr>
        <p:spPr>
          <a:xfrm>
            <a:off x="9601200" y="4480084"/>
            <a:ext cx="3864102" cy="51196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025" b="1">
                <a:solidFill>
                  <a:srgbClr val="000000"/>
                </a:solidFill>
                <a:latin typeface="Arial"/>
              </a:rPr>
              <a:t>Task-Aware Behavior Learning</a:t>
            </a:r>
          </a:p>
        </p:txBody>
      </p:sp>
      <p:cxnSp>
        <p:nvCxnSpPr>
          <p:cNvPr id="173" name="af-mapping-to-imagination-connector-01"/>
          <p:cNvCxnSpPr>
            <a:stCxn id="19" idx="0"/>
            <a:endCxn id="110" idx="0"/>
          </p:cNvCxnSpPr>
          <p:nvPr/>
        </p:nvCxnSpPr>
        <p:spPr>
          <a:xfrm>
            <a:off x="9124950" y="619125"/>
            <a:ext cx="685800" cy="800100"/>
          </a:xfrm>
          <a:prstGeom prst="line">
            <a:avLst/>
          </a:prstGeom>
          <a:ln w="66675">
            <a:solidFill>
              <a:srgbClr val="7F7F7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af-joint-optimization-box-rect-01"/>
          <p:cNvSpPr/>
          <p:nvPr/>
        </p:nvSpPr>
        <p:spPr>
          <a:xfrm>
            <a:off x="1781175" y="5200650"/>
            <a:ext cx="4010025" cy="49530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55F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af-joint-optimization-label-text-01"/>
          <p:cNvSpPr txBox="1"/>
          <p:nvPr/>
        </p:nvSpPr>
        <p:spPr>
          <a:xfrm>
            <a:off x="1883331" y="5289709"/>
            <a:ext cx="3815239" cy="34909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2025" b="1">
                <a:solidFill>
                  <a:srgbClr val="000000"/>
                </a:solidFill>
                <a:latin typeface="Arial"/>
              </a:rPr>
              <a:t>MLLM-WM Joint Optimization</a:t>
            </a:r>
          </a:p>
        </p:txBody>
      </p:sp>
      <p:sp>
        <p:nvSpPr>
          <p:cNvPr id="176" name="af-joint-loop-arrow-freeform-01"/>
          <p:cNvSpPr/>
          <p:nvPr/>
        </p:nvSpPr>
        <p:spPr>
          <a:xfrm>
            <a:off x="1009650" y="4953000"/>
            <a:ext cx="771525" cy="514350"/>
          </a:xfrm>
          <a:custGeom>
            <a:avLst/>
            <a:gdLst/>
            <a:ahLst/>
            <a:cxnLst/>
            <a:rect l="0" t="0" r="0" b="0"/>
            <a:pathLst>
              <a:path w="771525" h="514350">
                <a:moveTo>
                  <a:pt x="771525" y="514350"/>
                </a:moveTo>
                <a:lnTo>
                  <a:pt x="314325" y="514350"/>
                </a:lnTo>
                <a:cubicBezTo>
                  <a:pt x="152400" y="514350"/>
                  <a:pt x="95250" y="438150"/>
                  <a:pt x="95250" y="285750"/>
                </a:cubicBezTo>
                <a:lnTo>
                  <a:pt x="95250" y="28575"/>
                </a:lnTo>
                <a:lnTo>
                  <a:pt x="0" y="142875"/>
                </a:lnTo>
                <a:lnTo>
                  <a:pt x="95250" y="0"/>
                </a:lnTo>
                <a:lnTo>
                  <a:pt x="200025" y="142875"/>
                </a:lnTo>
                <a:lnTo>
                  <a:pt x="133350" y="57150"/>
                </a:lnTo>
                <a:lnTo>
                  <a:pt x="133350" y="285750"/>
                </a:lnTo>
                <a:cubicBezTo>
                  <a:pt x="133350" y="419100"/>
                  <a:pt x="200025" y="466725"/>
                  <a:pt x="323850" y="466725"/>
                </a:cubicBezTo>
                <a:lnTo>
                  <a:pt x="771525" y="466725"/>
                </a:lnTo>
                <a:close/>
              </a:path>
            </a:pathLst>
          </a:custGeom>
          <a:solidFill>
            <a:srgbClr val="D8747D"/>
          </a:solidFill>
          <a:ln>
            <a:noFill/>
          </a:ln>
        </p:spPr>
        <p:txBody>
          <a:bodyPr/>
          <a:p/>
        </p:txBody>
      </p:sp>
      <p:sp>
        <p:nvSpPr>
          <p:cNvPr id="177" name="af-optimization-to-reward-freeform-01"/>
          <p:cNvSpPr/>
          <p:nvPr/>
        </p:nvSpPr>
        <p:spPr>
          <a:xfrm>
            <a:off x="5819775" y="5305425"/>
            <a:ext cx="552450" cy="285750"/>
          </a:xfrm>
          <a:custGeom>
            <a:avLst/>
            <a:gdLst/>
            <a:ahLst/>
            <a:cxnLst/>
            <a:rect l="0" t="0" r="0" b="0"/>
            <a:pathLst>
              <a:path w="552450" h="285750">
                <a:moveTo>
                  <a:pt x="552450" y="66675"/>
                </a:moveTo>
                <a:lnTo>
                  <a:pt x="295275" y="66675"/>
                </a:lnTo>
                <a:lnTo>
                  <a:pt x="295275" y="0"/>
                </a:lnTo>
                <a:lnTo>
                  <a:pt x="0" y="142875"/>
                </a:lnTo>
                <a:lnTo>
                  <a:pt x="295275" y="285750"/>
                </a:lnTo>
                <a:lnTo>
                  <a:pt x="295275" y="209550"/>
                </a:lnTo>
                <a:lnTo>
                  <a:pt x="552450" y="209550"/>
                </a:lnTo>
                <a:close/>
              </a:path>
            </a:pathLst>
          </a:custGeom>
          <a:solidFill>
            <a:srgbClr val="D8747D"/>
          </a:solidFill>
          <a:ln>
            <a:noFill/>
          </a:ln>
        </p:spPr>
        <p:txBody>
          <a:bodyPr/>
          <a:p/>
        </p:txBody>
      </p:sp>
      <p:sp>
        <p:nvSpPr>
          <p:cNvPr id="178" name="af-reward-action-box-rect-01"/>
          <p:cNvSpPr/>
          <p:nvPr/>
        </p:nvSpPr>
        <p:spPr>
          <a:xfrm>
            <a:off x="6419850" y="5181600"/>
            <a:ext cx="3114675" cy="52387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9050">
            <a:solidFill>
              <a:srgbClr val="193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af-reward-icon-text-01"/>
          <p:cNvSpPr txBox="1"/>
          <p:nvPr/>
        </p:nvSpPr>
        <p:spPr>
          <a:xfrm>
            <a:off x="6591300" y="5263039"/>
            <a:ext cx="458343" cy="38528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325">
                <a:solidFill>
                  <a:srgbClr val="88732D"/>
                </a:solidFill>
                <a:latin typeface="Segoe UI Symbol"/>
              </a:rPr>
              <a:t>♕</a:t>
            </a:r>
          </a:p>
        </p:txBody>
      </p:sp>
      <p:sp>
        <p:nvSpPr>
          <p:cNvPr id="180" name="af-reward-text-text-01"/>
          <p:cNvSpPr txBox="1"/>
          <p:nvPr/>
        </p:nvSpPr>
        <p:spPr>
          <a:xfrm>
            <a:off x="6924675" y="5317331"/>
            <a:ext cx="1724025" cy="33099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75">
                <a:solidFill>
                  <a:srgbClr val="777777"/>
                </a:solidFill>
                <a:latin typeface="Arial"/>
              </a:rPr>
              <a:t>dense reward</a:t>
            </a:r>
          </a:p>
        </p:txBody>
      </p:sp>
      <p:sp>
        <p:nvSpPr>
          <p:cNvPr id="181" name="af-action-icon-ellipse-01"/>
          <p:cNvSpPr/>
          <p:nvPr/>
        </p:nvSpPr>
        <p:spPr>
          <a:xfrm>
            <a:off x="8467725" y="5305425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5B9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af-action-icon-path-freeform-01"/>
          <p:cNvSpPr/>
          <p:nvPr/>
        </p:nvSpPr>
        <p:spPr>
          <a:xfrm>
            <a:off x="8505825" y="5372100"/>
            <a:ext cx="247650" cy="133350"/>
          </a:xfrm>
          <a:custGeom>
            <a:avLst/>
            <a:gdLst/>
            <a:ahLst/>
            <a:cxnLst/>
            <a:rect l="0" t="0" r="0" b="0"/>
            <a:pathLst>
              <a:path w="247650" h="133350">
                <a:moveTo>
                  <a:pt x="0" y="95250"/>
                </a:moveTo>
                <a:lnTo>
                  <a:pt x="47625" y="95250"/>
                </a:lnTo>
                <a:lnTo>
                  <a:pt x="47625" y="19050"/>
                </a:lnTo>
                <a:lnTo>
                  <a:pt x="95250" y="19050"/>
                </a:lnTo>
                <a:lnTo>
                  <a:pt x="95250" y="133350"/>
                </a:lnTo>
                <a:lnTo>
                  <a:pt x="142875" y="133350"/>
                </a:lnTo>
                <a:lnTo>
                  <a:pt x="142875" y="0"/>
                </a:lnTo>
                <a:lnTo>
                  <a:pt x="190500" y="0"/>
                </a:lnTo>
                <a:lnTo>
                  <a:pt x="190500" y="95250"/>
                </a:lnTo>
                <a:lnTo>
                  <a:pt x="247650" y="95250"/>
                </a:lnTo>
              </a:path>
            </a:pathLst>
          </a:custGeom>
          <a:noFill/>
          <a:ln w="28575">
            <a:solidFill>
              <a:srgbClr val="5B9734"/>
            </a:solidFill>
          </a:ln>
        </p:spPr>
        <p:txBody>
          <a:bodyPr/>
          <a:p/>
        </p:txBody>
      </p:sp>
      <p:sp>
        <p:nvSpPr>
          <p:cNvPr id="183" name="af-action-text-text-01"/>
          <p:cNvSpPr txBox="1"/>
          <p:nvPr/>
        </p:nvSpPr>
        <p:spPr>
          <a:xfrm>
            <a:off x="8848725" y="5343525"/>
            <a:ext cx="628650" cy="3048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>
                <a:solidFill>
                  <a:srgbClr val="777777"/>
                </a:solidFill>
                <a:latin typeface="Arial"/>
              </a:rPr>
              <a:t>action</a:t>
            </a:r>
          </a:p>
        </p:txBody>
      </p:sp>
      <p:sp>
        <p:nvSpPr>
          <p:cNvPr id="184" name="af-behavior-to-reward-freeform-01"/>
          <p:cNvSpPr/>
          <p:nvPr/>
        </p:nvSpPr>
        <p:spPr>
          <a:xfrm>
            <a:off x="9505950" y="4914900"/>
            <a:ext cx="581025" cy="285750"/>
          </a:xfrm>
          <a:custGeom>
            <a:avLst/>
            <a:gdLst/>
            <a:ahLst/>
            <a:cxnLst/>
            <a:rect l="0" t="0" r="0" b="0"/>
            <a:pathLst>
              <a:path w="581025" h="285750">
                <a:moveTo>
                  <a:pt x="581025" y="19050"/>
                </a:moveTo>
                <a:lnTo>
                  <a:pt x="95250" y="200025"/>
                </a:lnTo>
                <a:lnTo>
                  <a:pt x="142875" y="285750"/>
                </a:lnTo>
                <a:lnTo>
                  <a:pt x="0" y="247650"/>
                </a:lnTo>
                <a:lnTo>
                  <a:pt x="28575" y="104775"/>
                </a:lnTo>
                <a:lnTo>
                  <a:pt x="66675" y="180975"/>
                </a:lnTo>
                <a:lnTo>
                  <a:pt x="542925" y="0"/>
                </a:lnTo>
                <a:close/>
              </a:path>
            </a:pathLst>
          </a:custGeom>
          <a:solidFill>
            <a:srgbClr val="D8747D"/>
          </a:solidFill>
          <a:ln>
            <a:noFill/>
          </a:ln>
        </p:spPr>
        <p:txBody>
          <a:bodyPr/>
          <a:p/>
        </p:txBody>
      </p:sp>
      <p:sp>
        <p:nvSpPr>
          <p:cNvPr id="185" name="af-interaction-label-text-01"/>
          <p:cNvSpPr txBox="1"/>
          <p:nvPr/>
        </p:nvSpPr>
        <p:spPr>
          <a:xfrm>
            <a:off x="9874091" y="5153501"/>
            <a:ext cx="1244918" cy="44053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75">
                <a:solidFill>
                  <a:srgbClr val="000000"/>
                </a:solidFill>
                <a:latin typeface="Arial"/>
              </a:rPr>
              <a:t>interaction</a:t>
            </a:r>
          </a:p>
        </p:txBody>
      </p:sp>
      <p:cxnSp>
        <p:nvCxnSpPr>
          <p:cNvPr id="186" name="af-interaction-left-connector-01"/>
          <p:cNvCxnSpPr>
            <a:stCxn id="188" idx="0"/>
            <a:endCxn id="178" idx="0"/>
          </p:cNvCxnSpPr>
          <p:nvPr/>
        </p:nvCxnSpPr>
        <p:spPr>
          <a:xfrm flipH="1">
            <a:off x="9667875" y="5457825"/>
            <a:ext cx="1457325" cy="0"/>
          </a:xfrm>
          <a:prstGeom prst="line">
            <a:avLst/>
          </a:prstGeom>
          <a:ln w="66675">
            <a:solidFill>
              <a:srgbClr val="7F7F7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af-interaction-right-connector-01"/>
          <p:cNvCxnSpPr>
            <a:stCxn id="178" idx="0"/>
            <a:endCxn id="188" idx="0"/>
          </p:cNvCxnSpPr>
          <p:nvPr/>
        </p:nvCxnSpPr>
        <p:spPr>
          <a:xfrm>
            <a:off x="9667875" y="5457825"/>
            <a:ext cx="1543050" cy="0"/>
          </a:xfrm>
          <a:prstGeom prst="line">
            <a:avLst/>
          </a:prstGeom>
          <a:ln w="66675">
            <a:solidFill>
              <a:srgbClr val="7F7F7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8" name="af-atomic-environment-globe-atomic-raster-01" descr="image.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1315700" y="5076825"/>
            <a:ext cx="762000" cy="771525"/>
          </a:xfrm>
          <a:prstGeom prst="rect">
            <a:avLst/>
          </a:prstGeom>
        </p:spPr>
      </p:pic>
      <p:sp>
        <p:nvSpPr>
          <p:cNvPr id="189" name="af-environment-label-text-01"/>
          <p:cNvSpPr txBox="1"/>
          <p:nvPr/>
        </p:nvSpPr>
        <p:spPr>
          <a:xfrm>
            <a:off x="12125325" y="5439728"/>
            <a:ext cx="1480375" cy="452438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50">
                <a:solidFill>
                  <a:srgbClr val="000000"/>
                </a:solidFill>
                <a:latin typeface="Arial"/>
              </a:rPr>
              <a:t>Environment</a:t>
            </a:r>
          </a:p>
        </p:txBody>
      </p:sp>
    </p:spTree>
  </p:cSld>
  <p:clrMapOvr>
    <a:masterClrMapping/>
  </p:clrMapOvr>
</p:sld>
</file>

<file path=ppt/tags/tag1.xml><?xml version="1.0" encoding="utf-8"?>
<ns0:tagLst xmlns:ns0="http://schemas.openxmlformats.org/presentationml/2006/main">
  <ns0:tag name="AISCIENTIFICILLUSTRATORASSETID" val="atomic:observation"/>
  <ns0:tag name="AISCIENTIFICILLUSTRATORSOURCESHA256" val="61c6c0a2d3ee6722cb36713edacd8310a676e2855245e250f1f1a8cae56f5e9f"/>
  <ns0:tag name="AISCIENTIFICILLUSTRATORRASTERREASON" val="The embedded observation photograph cannot be faithfully reconstructed with native PowerPoint geometry."/>
  <ns0:tag name="AISCIENTIFICILLUSTRATORSOURCETIGHTLYCROPPED" val="True"/>
  <ns0:tag name="AISCIENTIFICILLUSTRATORATOMICRASTERUNIT" val="True"/>
  <ns0:tag name="AISCIENTIFICILLUSTRATORCONTAINSRECONSTRUCTABLECONTENT" val="False"/>
  <ns0:tag name="AISCIENTIFICILLUSTRATORDECOMPOSITIONNOTE" val="Only the photograph is raster; its label and all connecting arrows remain native editable objects."/>
</ns0:tagLst>
</file>

<file path=ppt/tags/tag2.xml><?xml version="1.0" encoding="utf-8"?>
<ns0:tagLst xmlns:ns0="http://schemas.openxmlformats.org/presentationml/2006/main">
  <ns0:tag name="AISCIENTIFICILLUSTRATORASSETID" val="atomic:environment-globe"/>
  <ns0:tag name="AISCIENTIFICILLUSTRATORSOURCESHA256" val="3bfe64f24f546aab0797223e0256f9da48314e668dc18d93a0b27347b84ba21d"/>
  <ns0:tag name="AISCIENTIFICILLUSTRATORRASTERREASON" val="The illustrated globe is a creative microasset whose native redraw materially reduces reference fidelity."/>
  <ns0:tag name="AISCIENTIFICILLUSTRATORSOURCETIGHTLYCROPPED" val="True"/>
  <ns0:tag name="AISCIENTIFICILLUSTRATORATOMICRASTERUNIT" val="True"/>
  <ns0:tag name="AISCIENTIFICILLUSTRATORCONTAINSRECONSTRUCTABLECONTENT" val="False"/>
  <ns0:tag name="AISCIENTIFICILLUSTRATORDECOMPOSITIONNOTE" val="Only the globe is raster; the Environment label and interaction arrows remain native editable objects."/>
</ns0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