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925425" cy="624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925425" cy="6248400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225" y="87154"/>
            <a:ext cx="44034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 b="1">
                <a:solidFill>
                  <a:srgbClr val="000000"/>
                </a:solidFill>
                <a:latin typeface="Liberation Serif"/>
              </a:rPr>
              <a:t>CSF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87154"/>
            <a:ext cx="270119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000000"/>
                </a:solidFill>
                <a:latin typeface="Liberation Serif"/>
              </a:rPr>
              <a:t>(SPSA Based Optimization)</a:t>
            </a:r>
          </a:p>
        </p:txBody>
      </p:sp>
      <p:sp>
        <p:nvSpPr>
          <p:cNvPr id="5" name="freeform-5"/>
          <p:cNvSpPr/>
          <p:nvPr/>
        </p:nvSpPr>
        <p:spPr>
          <a:xfrm>
            <a:off x="666750" y="409575"/>
            <a:ext cx="7334250" cy="1114425"/>
          </a:xfrm>
          <a:custGeom>
            <a:avLst/>
            <a:gdLst/>
            <a:ahLst/>
            <a:cxnLst/>
            <a:rect l="0" t="0" r="0" b="0"/>
            <a:pathLst>
              <a:path w="7334250" h="1114425">
                <a:moveTo>
                  <a:pt x="0" y="1114425"/>
                </a:moveTo>
                <a:lnTo>
                  <a:pt x="0" y="0"/>
                </a:lnTo>
                <a:lnTo>
                  <a:pt x="7334250" y="0"/>
                </a:lnTo>
                <a:lnTo>
                  <a:pt x="7334250" y="34290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6" name="freeform-6"/>
          <p:cNvSpPr/>
          <p:nvPr/>
        </p:nvSpPr>
        <p:spPr>
          <a:xfrm>
            <a:off x="666750" y="1381125"/>
            <a:ext cx="95" cy="142875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7" name="freeform-7"/>
          <p:cNvSpPr/>
          <p:nvPr/>
        </p:nvSpPr>
        <p:spPr>
          <a:xfrm>
            <a:off x="623888" y="1455420"/>
            <a:ext cx="85725" cy="68580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0"/>
                </a:moveTo>
                <a:lnTo>
                  <a:pt x="42862" y="68580"/>
                </a:lnTo>
                <a:lnTo>
                  <a:pt x="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8" name="TextBox 7"/>
          <p:cNvSpPr txBox="1"/>
          <p:nvPr/>
        </p:nvSpPr>
        <p:spPr>
          <a:xfrm rot="16200000">
            <a:off x="219837" y="1020366"/>
            <a:ext cx="608076" cy="226219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STIXGeneral"/>
              </a:rPr>
              <a:t>∇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θ</a:t>
            </a:r>
            <a:r>
              <a:rPr sz="1425" i="1">
                <a:solidFill>
                  <a:srgbClr val="000000"/>
                </a:solidFill>
                <a:latin typeface="STIXGeneral"/>
              </a:rPr>
              <a:t> ℒ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1562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5300" y="1943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095625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76625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2550" y="1171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52550" y="1562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52550" y="1943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52550" y="2324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52550" y="2705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2550" y="309562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52550" y="3476625"/>
            <a:ext cx="352425" cy="33337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2550" y="3838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3600" y="1171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33600" y="1562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33600" y="1943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3600" y="2324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3600" y="2705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33600" y="309562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33600" y="3476625"/>
            <a:ext cx="352425" cy="33337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33600" y="3838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62275" y="1943100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62275" y="2324100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62275" y="2714625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62275" y="3095625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-35"/>
          <p:cNvSpPr/>
          <p:nvPr/>
        </p:nvSpPr>
        <p:spPr>
          <a:xfrm>
            <a:off x="866775" y="2505075"/>
            <a:ext cx="457200" cy="95"/>
          </a:xfrm>
          <a:custGeom>
            <a:avLst/>
            <a:gdLst/>
            <a:ahLst/>
            <a:cxnLst/>
            <a:rect l="0" t="0" r="0" b="0"/>
            <a:pathLst>
              <a:path w="457200" h="9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36" name="freeform-36"/>
          <p:cNvSpPr/>
          <p:nvPr/>
        </p:nvSpPr>
        <p:spPr>
          <a:xfrm>
            <a:off x="125920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37" name="freeform-37"/>
          <p:cNvSpPr/>
          <p:nvPr/>
        </p:nvSpPr>
        <p:spPr>
          <a:xfrm>
            <a:off x="1724025" y="2505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38" name="freeform-38"/>
          <p:cNvSpPr/>
          <p:nvPr/>
        </p:nvSpPr>
        <p:spPr>
          <a:xfrm>
            <a:off x="204025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39" name="freeform-39"/>
          <p:cNvSpPr/>
          <p:nvPr/>
        </p:nvSpPr>
        <p:spPr>
          <a:xfrm>
            <a:off x="2505075" y="2505075"/>
            <a:ext cx="419100" cy="95"/>
          </a:xfrm>
          <a:custGeom>
            <a:avLst/>
            <a:gdLst/>
            <a:ahLst/>
            <a:cxnLst/>
            <a:rect l="0" t="0" r="0" b="0"/>
            <a:pathLst>
              <a:path w="419100" h="9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40" name="freeform-40"/>
          <p:cNvSpPr/>
          <p:nvPr/>
        </p:nvSpPr>
        <p:spPr>
          <a:xfrm>
            <a:off x="285940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41" name="freeform-41"/>
          <p:cNvSpPr/>
          <p:nvPr/>
        </p:nvSpPr>
        <p:spPr>
          <a:xfrm>
            <a:off x="3333750" y="2505075"/>
            <a:ext cx="514350" cy="95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0" y="0"/>
                </a:moveTo>
                <a:lnTo>
                  <a:pt x="5143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42" name="freeform-42"/>
          <p:cNvSpPr/>
          <p:nvPr/>
        </p:nvSpPr>
        <p:spPr>
          <a:xfrm>
            <a:off x="37833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43" name="freeform-43"/>
          <p:cNvSpPr/>
          <p:nvPr/>
        </p:nvSpPr>
        <p:spPr>
          <a:xfrm>
            <a:off x="876300" y="2886075"/>
            <a:ext cx="457200" cy="95"/>
          </a:xfrm>
          <a:custGeom>
            <a:avLst/>
            <a:gdLst/>
            <a:ahLst/>
            <a:cxnLst/>
            <a:rect l="0" t="0" r="0" b="0"/>
            <a:pathLst>
              <a:path w="457200" h="95">
                <a:moveTo>
                  <a:pt x="457200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4" name="freeform-44"/>
          <p:cNvSpPr/>
          <p:nvPr/>
        </p:nvSpPr>
        <p:spPr>
          <a:xfrm>
            <a:off x="87630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5" name="freeform-45"/>
          <p:cNvSpPr/>
          <p:nvPr/>
        </p:nvSpPr>
        <p:spPr>
          <a:xfrm>
            <a:off x="1733550" y="2886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381000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6" name="freeform-46"/>
          <p:cNvSpPr/>
          <p:nvPr/>
        </p:nvSpPr>
        <p:spPr>
          <a:xfrm>
            <a:off x="173355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7" name="freeform-47"/>
          <p:cNvSpPr/>
          <p:nvPr/>
        </p:nvSpPr>
        <p:spPr>
          <a:xfrm>
            <a:off x="2514600" y="2886075"/>
            <a:ext cx="428625" cy="95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8" name="freeform-48"/>
          <p:cNvSpPr/>
          <p:nvPr/>
        </p:nvSpPr>
        <p:spPr>
          <a:xfrm>
            <a:off x="251460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9" name="freeform-49"/>
          <p:cNvSpPr/>
          <p:nvPr/>
        </p:nvSpPr>
        <p:spPr>
          <a:xfrm>
            <a:off x="3343275" y="2886075"/>
            <a:ext cx="504825" cy="95"/>
          </a:xfrm>
          <a:custGeom>
            <a:avLst/>
            <a:gdLst/>
            <a:ahLst/>
            <a:cxnLst/>
            <a:rect l="0" t="0" r="0" b="0"/>
            <a:pathLst>
              <a:path w="504825" h="95">
                <a:moveTo>
                  <a:pt x="5048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50" name="freeform-50"/>
          <p:cNvSpPr/>
          <p:nvPr/>
        </p:nvSpPr>
        <p:spPr>
          <a:xfrm>
            <a:off x="3343275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51" name="Rounded Rectangle 50"/>
          <p:cNvSpPr/>
          <p:nvPr/>
        </p:nvSpPr>
        <p:spPr>
          <a:xfrm>
            <a:off x="3876675" y="2181225"/>
            <a:ext cx="2200275" cy="10287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38100">
            <a:solidFill>
              <a:srgbClr val="D86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0787" y="2296954"/>
            <a:ext cx="117205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Bio-inspired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5461" y="2573179"/>
            <a:ext cx="1822704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Adaptive Sampling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04385" y="2858929"/>
            <a:ext cx="744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(BASS)</a:t>
            </a:r>
          </a:p>
        </p:txBody>
      </p:sp>
      <p:sp>
        <p:nvSpPr>
          <p:cNvPr id="55" name="freeform-55"/>
          <p:cNvSpPr/>
          <p:nvPr/>
        </p:nvSpPr>
        <p:spPr>
          <a:xfrm>
            <a:off x="6096000" y="2505075"/>
            <a:ext cx="1028700" cy="95"/>
          </a:xfrm>
          <a:custGeom>
            <a:avLst/>
            <a:gdLst/>
            <a:ahLst/>
            <a:cxnLst/>
            <a:rect l="0" t="0" r="0" b="0"/>
            <a:pathLst>
              <a:path w="1028700" h="95">
                <a:moveTo>
                  <a:pt x="0" y="0"/>
                </a:moveTo>
                <a:lnTo>
                  <a:pt x="10287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56" name="freeform-56"/>
          <p:cNvSpPr/>
          <p:nvPr/>
        </p:nvSpPr>
        <p:spPr>
          <a:xfrm>
            <a:off x="70599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57" name="freeform-57"/>
          <p:cNvSpPr/>
          <p:nvPr/>
        </p:nvSpPr>
        <p:spPr>
          <a:xfrm>
            <a:off x="6115050" y="2886075"/>
            <a:ext cx="942975" cy="1371600"/>
          </a:xfrm>
          <a:custGeom>
            <a:avLst/>
            <a:gdLst/>
            <a:ahLst/>
            <a:cxnLst/>
            <a:rect l="0" t="0" r="0" b="0"/>
            <a:pathLst>
              <a:path w="942975" h="1371600">
                <a:moveTo>
                  <a:pt x="942975" y="1371600"/>
                </a:moveTo>
                <a:lnTo>
                  <a:pt x="457200" y="1371600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58" name="freeform-58"/>
          <p:cNvSpPr/>
          <p:nvPr/>
        </p:nvSpPr>
        <p:spPr>
          <a:xfrm>
            <a:off x="611505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59" name="freeform-59"/>
          <p:cNvSpPr/>
          <p:nvPr/>
        </p:nvSpPr>
        <p:spPr>
          <a:xfrm>
            <a:off x="4419600" y="3238500"/>
            <a:ext cx="95" cy="428625"/>
          </a:xfrm>
          <a:custGeom>
            <a:avLst/>
            <a:gdLst/>
            <a:ahLst/>
            <a:cxnLst/>
            <a:rect l="0" t="0" r="0" b="0"/>
            <a:pathLst>
              <a:path w="95" h="428625">
                <a:moveTo>
                  <a:pt x="0" y="4286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60" name="freeform-60"/>
          <p:cNvSpPr/>
          <p:nvPr/>
        </p:nvSpPr>
        <p:spPr>
          <a:xfrm>
            <a:off x="4379595" y="3238500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61" name="freeform-61"/>
          <p:cNvSpPr/>
          <p:nvPr/>
        </p:nvSpPr>
        <p:spPr>
          <a:xfrm>
            <a:off x="5314950" y="3238500"/>
            <a:ext cx="95" cy="1162050"/>
          </a:xfrm>
          <a:custGeom>
            <a:avLst/>
            <a:gdLst/>
            <a:ahLst/>
            <a:cxnLst/>
            <a:rect l="0" t="0" r="0" b="0"/>
            <a:pathLst>
              <a:path w="9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62" name="freeform-62"/>
          <p:cNvSpPr/>
          <p:nvPr/>
        </p:nvSpPr>
        <p:spPr>
          <a:xfrm>
            <a:off x="5274945" y="3238500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63" name="TextBox 62"/>
          <p:cNvSpPr txBox="1"/>
          <p:nvPr/>
        </p:nvSpPr>
        <p:spPr>
          <a:xfrm>
            <a:off x="3793379" y="3706654"/>
            <a:ext cx="123339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Pixel Budget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6685" y="3973354"/>
            <a:ext cx="146780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i="1">
                <a:solidFill>
                  <a:srgbClr val="000000"/>
                </a:solidFill>
                <a:latin typeface="Liberation Serif"/>
              </a:rPr>
              <a:t>B</a:t>
            </a:r>
          </a:p>
        </p:txBody>
      </p:sp>
      <p:sp>
        <p:nvSpPr>
          <p:cNvPr id="65" name="TextBox 64"/>
          <p:cNvSpPr txBox="1"/>
          <p:nvPr/>
        </p:nvSpPr>
        <p:spPr>
          <a:xfrm rot="16200000">
            <a:off x="-831723" y="2514600"/>
            <a:ext cx="2311146" cy="285750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Latent Encoding Layer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7479" y="4230529"/>
            <a:ext cx="149409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Transformation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73863" y="4516279"/>
            <a:ext cx="681323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Layers</a:t>
            </a:r>
          </a:p>
        </p:txBody>
      </p:sp>
      <p:sp>
        <p:nvSpPr>
          <p:cNvPr id="68" name="TextBox 67"/>
          <p:cNvSpPr txBox="1"/>
          <p:nvPr/>
        </p:nvSpPr>
        <p:spPr>
          <a:xfrm rot="16200000">
            <a:off x="2732722" y="4014788"/>
            <a:ext cx="611505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  <a:latin typeface="Liberation Serif"/>
              </a:rPr>
              <a:t>Möbius</a:t>
            </a:r>
          </a:p>
        </p:txBody>
      </p:sp>
      <p:sp>
        <p:nvSpPr>
          <p:cNvPr id="69" name="TextBox 68"/>
          <p:cNvSpPr txBox="1"/>
          <p:nvPr/>
        </p:nvSpPr>
        <p:spPr>
          <a:xfrm rot="16200000">
            <a:off x="2803208" y="4014788"/>
            <a:ext cx="984885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  <a:latin typeface="Liberation Serif"/>
              </a:rPr>
              <a:t>Parameters</a:t>
            </a:r>
          </a:p>
        </p:txBody>
      </p:sp>
      <p:sp>
        <p:nvSpPr>
          <p:cNvPr id="70" name="freeform-70"/>
          <p:cNvSpPr/>
          <p:nvPr/>
        </p:nvSpPr>
        <p:spPr>
          <a:xfrm>
            <a:off x="447675" y="4276725"/>
            <a:ext cx="95" cy="1028700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38100">
            <a:solidFill>
              <a:srgbClr val="DADADA"/>
            </a:solidFill>
            <a:prstDash val="sysDash"/>
          </a:ln>
        </p:spPr>
      </p:sp>
      <p:sp>
        <p:nvSpPr>
          <p:cNvPr id="71" name="freeform-71"/>
          <p:cNvSpPr/>
          <p:nvPr/>
        </p:nvSpPr>
        <p:spPr>
          <a:xfrm>
            <a:off x="3629025" y="4276725"/>
            <a:ext cx="95" cy="1028700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38100">
            <a:solidFill>
              <a:srgbClr val="DADADA"/>
            </a:solidFill>
            <a:prstDash val="sysDash"/>
          </a:ln>
        </p:spPr>
      </p:sp>
      <p:sp>
        <p:nvSpPr>
          <p:cNvPr id="72" name="freeform-72"/>
          <p:cNvSpPr/>
          <p:nvPr/>
        </p:nvSpPr>
        <p:spPr>
          <a:xfrm>
            <a:off x="447675" y="5305425"/>
            <a:ext cx="3181350" cy="390525"/>
          </a:xfrm>
          <a:custGeom>
            <a:avLst/>
            <a:gdLst/>
            <a:ahLst/>
            <a:cxnLst/>
            <a:rect l="0" t="0" r="0" b="0"/>
            <a:pathLst>
              <a:path w="3181350" h="390525">
                <a:moveTo>
                  <a:pt x="0" y="0"/>
                </a:moveTo>
                <a:cubicBezTo>
                  <a:pt x="0" y="139700"/>
                  <a:pt x="19050" y="209550"/>
                  <a:pt x="57150" y="209550"/>
                </a:cubicBezTo>
                <a:lnTo>
                  <a:pt x="1524000" y="209550"/>
                </a:lnTo>
                <a:cubicBezTo>
                  <a:pt x="1562100" y="209550"/>
                  <a:pt x="1581150" y="269875"/>
                  <a:pt x="1581150" y="390525"/>
                </a:cubicBezTo>
                <a:cubicBezTo>
                  <a:pt x="1581150" y="269875"/>
                  <a:pt x="1600200" y="209550"/>
                  <a:pt x="1638300" y="209550"/>
                </a:cubicBezTo>
                <a:lnTo>
                  <a:pt x="3124200" y="209550"/>
                </a:lnTo>
                <a:cubicBezTo>
                  <a:pt x="3162300" y="209550"/>
                  <a:pt x="3181350" y="139700"/>
                  <a:pt x="3181350" y="0"/>
                </a:cubicBezTo>
              </a:path>
            </a:pathLst>
          </a:custGeom>
          <a:noFill/>
          <a:ln w="38100" cap="rnd">
            <a:solidFill>
              <a:srgbClr val="7E7F7E"/>
            </a:solidFill>
          </a:ln>
        </p:spPr>
      </p:sp>
      <p:sp>
        <p:nvSpPr>
          <p:cNvPr id="73" name="TextBox 72"/>
          <p:cNvSpPr txBox="1"/>
          <p:nvPr/>
        </p:nvSpPr>
        <p:spPr>
          <a:xfrm>
            <a:off x="1330833" y="5812155"/>
            <a:ext cx="1415034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MLP Network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14850" y="676275"/>
            <a:ext cx="1381125" cy="638175"/>
          </a:xfrm>
          <a:prstGeom prst="roundRect">
            <a:avLst>
              <a:gd name="adj" fmla="val 11940"/>
            </a:avLst>
          </a:prstGeom>
          <a:solidFill>
            <a:srgbClr val="E7F7FD"/>
          </a:solidFill>
          <a:ln w="38100">
            <a:solidFill>
              <a:srgbClr val="60C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05017" y="761524"/>
            <a:ext cx="100079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GT Answers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7969" y="1018222"/>
            <a:ext cx="234887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y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gt</a:t>
            </a:r>
          </a:p>
        </p:txBody>
      </p:sp>
      <p:sp>
        <p:nvSpPr>
          <p:cNvPr id="77" name="freeform-77"/>
          <p:cNvSpPr/>
          <p:nvPr/>
        </p:nvSpPr>
        <p:spPr>
          <a:xfrm>
            <a:off x="5895975" y="990600"/>
            <a:ext cx="1276350" cy="95"/>
          </a:xfrm>
          <a:custGeom>
            <a:avLst/>
            <a:gdLst/>
            <a:ahLst/>
            <a:cxnLst/>
            <a:rect l="0" t="0" r="0" b="0"/>
            <a:pathLst>
              <a:path w="1276350" h="95">
                <a:moveTo>
                  <a:pt x="0" y="0"/>
                </a:moveTo>
                <a:lnTo>
                  <a:pt x="12763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78" name="freeform-78"/>
          <p:cNvSpPr/>
          <p:nvPr/>
        </p:nvSpPr>
        <p:spPr>
          <a:xfrm>
            <a:off x="7107555" y="95059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79" name="Rounded Rectangle 78"/>
          <p:cNvSpPr/>
          <p:nvPr/>
        </p:nvSpPr>
        <p:spPr>
          <a:xfrm>
            <a:off x="7200900" y="752475"/>
            <a:ext cx="1600200" cy="476250"/>
          </a:xfrm>
          <a:prstGeom prst="roundRect">
            <a:avLst>
              <a:gd name="adj" fmla="val 20000"/>
            </a:avLst>
          </a:prstGeom>
          <a:solidFill>
            <a:srgbClr val="FF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32904" y="859155"/>
            <a:ext cx="1536192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Liberation Serif"/>
              </a:rPr>
              <a:t>Semantic Loss</a:t>
            </a:r>
          </a:p>
        </p:txBody>
      </p:sp>
      <p:sp>
        <p:nvSpPr>
          <p:cNvPr id="81" name="freeform-81"/>
          <p:cNvSpPr/>
          <p:nvPr/>
        </p:nvSpPr>
        <p:spPr>
          <a:xfrm>
            <a:off x="8820150" y="990600"/>
            <a:ext cx="1381125" cy="95"/>
          </a:xfrm>
          <a:custGeom>
            <a:avLst/>
            <a:gdLst/>
            <a:ahLst/>
            <a:cxnLst/>
            <a:rect l="0" t="0" r="0" b="0"/>
            <a:pathLst>
              <a:path w="1381125" h="95">
                <a:moveTo>
                  <a:pt x="13811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2" name="freeform-82"/>
          <p:cNvSpPr/>
          <p:nvPr/>
        </p:nvSpPr>
        <p:spPr>
          <a:xfrm>
            <a:off x="8820150" y="95059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83" name="TextBox 82"/>
          <p:cNvSpPr txBox="1"/>
          <p:nvPr/>
        </p:nvSpPr>
        <p:spPr>
          <a:xfrm>
            <a:off x="7230666" y="1621631"/>
            <a:ext cx="1635919" cy="2976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75">
                <a:solidFill>
                  <a:srgbClr val="000000"/>
                </a:solidFill>
                <a:latin typeface="Liberation Serif"/>
              </a:rPr>
              <a:t>Sampled Image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6295" y="1923098"/>
            <a:ext cx="70466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Î = 𝔼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θ</a:t>
            </a:r>
            <a:r>
              <a:rPr sz="1350" i="1">
                <a:solidFill>
                  <a:srgbClr val="000000"/>
                </a:solidFill>
                <a:latin typeface="STIXGeneral"/>
              </a:rPr>
              <a:t>(I)</a:t>
            </a:r>
          </a:p>
        </p:txBody>
      </p:sp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2190750"/>
            <a:ext cx="1809750" cy="1228725"/>
          </a:xfrm>
          <a:prstGeom prst="rect">
            <a:avLst/>
          </a:prstGeom>
        </p:spPr>
      </p:pic>
      <p:sp>
        <p:nvSpPr>
          <p:cNvPr id="86" name="freeform-86"/>
          <p:cNvSpPr/>
          <p:nvPr/>
        </p:nvSpPr>
        <p:spPr>
          <a:xfrm>
            <a:off x="8953500" y="2505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7" name="freeform-87"/>
          <p:cNvSpPr/>
          <p:nvPr/>
        </p:nvSpPr>
        <p:spPr>
          <a:xfrm>
            <a:off x="92697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88" name="freeform-88"/>
          <p:cNvSpPr/>
          <p:nvPr/>
        </p:nvSpPr>
        <p:spPr>
          <a:xfrm>
            <a:off x="8048625" y="3419475"/>
            <a:ext cx="95" cy="533400"/>
          </a:xfrm>
          <a:custGeom>
            <a:avLst/>
            <a:gdLst/>
            <a:ahLst/>
            <a:cxnLst/>
            <a:rect l="0" t="0" r="0" b="0"/>
            <a:pathLst>
              <a:path w="9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9" name="freeform-89"/>
          <p:cNvSpPr/>
          <p:nvPr/>
        </p:nvSpPr>
        <p:spPr>
          <a:xfrm>
            <a:off x="8008620" y="388810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80010" y="0"/>
                </a:moveTo>
                <a:lnTo>
                  <a:pt x="40005" y="64770"/>
                </a:lnTo>
                <a:lnTo>
                  <a:pt x="0" y="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90" name="Rounded Rectangle 89"/>
          <p:cNvSpPr/>
          <p:nvPr/>
        </p:nvSpPr>
        <p:spPr>
          <a:xfrm>
            <a:off x="7058025" y="3971925"/>
            <a:ext cx="1990725" cy="581025"/>
          </a:xfrm>
          <a:prstGeom prst="roundRect">
            <a:avLst>
              <a:gd name="adj" fmla="val 16393"/>
            </a:avLst>
          </a:prstGeom>
          <a:solidFill>
            <a:srgbClr val="FF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2426" y="4135755"/>
            <a:ext cx="1661922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Liberation Serif"/>
              </a:rPr>
              <a:t>Perceptual Loss</a:t>
            </a:r>
          </a:p>
        </p:txBody>
      </p:sp>
      <p:sp>
        <p:nvSpPr>
          <p:cNvPr id="92" name="freeform-92"/>
          <p:cNvSpPr/>
          <p:nvPr/>
        </p:nvSpPr>
        <p:spPr>
          <a:xfrm>
            <a:off x="6219825" y="4562475"/>
            <a:ext cx="1838325" cy="447675"/>
          </a:xfrm>
          <a:custGeom>
            <a:avLst/>
            <a:gdLst/>
            <a:ahLst/>
            <a:cxnLst/>
            <a:rect l="0" t="0" r="0" b="0"/>
            <a:pathLst>
              <a:path w="1838325" h="447675">
                <a:moveTo>
                  <a:pt x="0" y="447675"/>
                </a:moveTo>
                <a:lnTo>
                  <a:pt x="1838325" y="447675"/>
                </a:lnTo>
                <a:lnTo>
                  <a:pt x="1838325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93" name="freeform-93"/>
          <p:cNvSpPr/>
          <p:nvPr/>
        </p:nvSpPr>
        <p:spPr>
          <a:xfrm>
            <a:off x="8018145" y="45624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94" name="TextBox 93"/>
          <p:cNvSpPr txBox="1"/>
          <p:nvPr/>
        </p:nvSpPr>
        <p:spPr>
          <a:xfrm rot="16200000">
            <a:off x="6208395" y="3633788"/>
            <a:ext cx="441960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STIXGeneral"/>
              </a:rPr>
              <a:t>ℒ</a:t>
            </a:r>
            <a:r>
              <a:rPr sz="975" i="1" baseline="-25000">
                <a:solidFill>
                  <a:srgbClr val="000000"/>
                </a:solidFill>
                <a:latin typeface="STIXGeneral"/>
              </a:rPr>
              <a:t>img</a:t>
            </a:r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075" y="4400550"/>
            <a:ext cx="1809750" cy="121920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722876" y="5640705"/>
            <a:ext cx="1184148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Input Image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83518" y="5935028"/>
            <a:ext cx="6286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i="1">
                <a:solidFill>
                  <a:srgbClr val="000000"/>
                </a:solidFill>
                <a:latin typeface="Liberation Serif"/>
              </a:rPr>
              <a:t>I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353550" y="1790700"/>
            <a:ext cx="3390900" cy="2181225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38100">
            <a:solidFill>
              <a:srgbClr val="C2F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525000" y="1924050"/>
            <a:ext cx="3057525" cy="590550"/>
          </a:xfrm>
          <a:prstGeom prst="roundRect">
            <a:avLst>
              <a:gd name="adj" fmla="val 19354"/>
            </a:avLst>
          </a:prstGeom>
          <a:solidFill>
            <a:srgbClr val="F5F9FC">
              <a:alpha val="80000"/>
            </a:srgbClr>
          </a:solidFill>
          <a:ln w="28575">
            <a:solidFill>
              <a:srgbClr val="EEFBE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127075" y="2132648"/>
            <a:ext cx="1853374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Self and Cross Attention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250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8298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1346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4394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442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0490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3538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6586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9634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682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9486900" y="3333750"/>
            <a:ext cx="1447800" cy="485775"/>
          </a:xfrm>
          <a:prstGeom prst="roundRect">
            <a:avLst>
              <a:gd name="adj" fmla="val 19607"/>
            </a:avLst>
          </a:prstGeom>
          <a:solidFill>
            <a:srgbClr val="EAF7E5">
              <a:alpha val="92000"/>
            </a:srgbClr>
          </a:solidFill>
          <a:ln w="28575">
            <a:solidFill>
              <a:srgbClr val="EEFBEF">
                <a:alpha val="9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1163300" y="3333750"/>
            <a:ext cx="1447800" cy="485775"/>
          </a:xfrm>
          <a:prstGeom prst="roundRect">
            <a:avLst>
              <a:gd name="adj" fmla="val 19607"/>
            </a:avLst>
          </a:prstGeom>
          <a:solidFill>
            <a:srgbClr val="EAF7E5">
              <a:alpha val="92000"/>
            </a:srgbClr>
          </a:solidFill>
          <a:ln w="28575">
            <a:solidFill>
              <a:srgbClr val="EEFBEF">
                <a:alpha val="9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636442" y="3485198"/>
            <a:ext cx="114871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Visual Encoder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77136" y="3485198"/>
            <a:ext cx="102012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Text Encoder</a:t>
            </a:r>
          </a:p>
        </p:txBody>
      </p:sp>
      <p:sp>
        <p:nvSpPr>
          <p:cNvPr id="115" name="freeform-115"/>
          <p:cNvSpPr/>
          <p:nvPr/>
        </p:nvSpPr>
        <p:spPr>
          <a:xfrm>
            <a:off x="10210800" y="3086100"/>
            <a:ext cx="95" cy="247650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16" name="freeform-116"/>
          <p:cNvSpPr/>
          <p:nvPr/>
        </p:nvSpPr>
        <p:spPr>
          <a:xfrm>
            <a:off x="10180320" y="308610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17" name="freeform-117"/>
          <p:cNvSpPr/>
          <p:nvPr/>
        </p:nvSpPr>
        <p:spPr>
          <a:xfrm>
            <a:off x="11887200" y="3086100"/>
            <a:ext cx="95" cy="247650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18" name="freeform-118"/>
          <p:cNvSpPr/>
          <p:nvPr/>
        </p:nvSpPr>
        <p:spPr>
          <a:xfrm>
            <a:off x="11856720" y="308610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19" name="freeform-119"/>
          <p:cNvSpPr/>
          <p:nvPr/>
        </p:nvSpPr>
        <p:spPr>
          <a:xfrm>
            <a:off x="10210800" y="2533650"/>
            <a:ext cx="95" cy="238125"/>
          </a:xfrm>
          <a:custGeom>
            <a:avLst/>
            <a:gdLst/>
            <a:ahLst/>
            <a:cxnLst/>
            <a:rect l="0" t="0" r="0" b="0"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20" name="freeform-120"/>
          <p:cNvSpPr/>
          <p:nvPr/>
        </p:nvSpPr>
        <p:spPr>
          <a:xfrm>
            <a:off x="10180320" y="253365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21" name="freeform-121"/>
          <p:cNvSpPr/>
          <p:nvPr/>
        </p:nvSpPr>
        <p:spPr>
          <a:xfrm>
            <a:off x="11887200" y="2533650"/>
            <a:ext cx="95" cy="238125"/>
          </a:xfrm>
          <a:custGeom>
            <a:avLst/>
            <a:gdLst/>
            <a:ahLst/>
            <a:cxnLst/>
            <a:rect l="0" t="0" r="0" b="0"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22" name="freeform-122"/>
          <p:cNvSpPr/>
          <p:nvPr/>
        </p:nvSpPr>
        <p:spPr>
          <a:xfrm>
            <a:off x="11856720" y="253365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cxnSp>
        <p:nvCxnSpPr>
          <p:cNvPr id="123" name="Connector 122"/>
          <p:cNvCxnSpPr/>
          <p:nvPr/>
        </p:nvCxnSpPr>
        <p:spPr>
          <a:xfrm flipV="1">
            <a:off x="11039475" y="2428875"/>
            <a:ext cx="0" cy="476250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10963275" y="249650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1039475" y="249650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 flipV="1">
            <a:off x="10963275" y="240125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1039475" y="240125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1039475" y="2667000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1319510" y="2634615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1319510" y="2743200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1402378" y="2586990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1402378" y="2695575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1039475" y="2905125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1319510" y="3043238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1319510" y="3067050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1402378" y="3090862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1402378" y="3114675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1039475" y="2905125"/>
            <a:ext cx="0" cy="476250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1039475" y="322897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0963275" y="322897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1039475" y="332422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10963275" y="332422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10627042" y="2905125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10723245" y="3067050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10647045" y="3043238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0641330" y="3114675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 flipV="1">
            <a:off x="10565130" y="3090862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 flipV="1">
            <a:off x="10627042" y="2667000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10647045" y="2743200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10723245" y="2634615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10565130" y="2695575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 flipV="1">
            <a:off x="10641330" y="2586990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1039475" y="2428875"/>
            <a:ext cx="0" cy="476250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10963275" y="249650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1039475" y="249650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 flipV="1">
            <a:off x="10963275" y="240125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1039475" y="240125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1039475" y="2667000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1319510" y="2634615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1319510" y="2743200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1402378" y="2586990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1402378" y="2695575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1039475" y="2905125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1319510" y="3043238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1319510" y="3067050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1402378" y="3090862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1402378" y="3114675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039475" y="2905125"/>
            <a:ext cx="0" cy="476250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1039475" y="322897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10963275" y="322897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1039475" y="332422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10963275" y="332422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10627042" y="2905125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10723245" y="3067050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10647045" y="3043238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10641330" y="3114675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10565130" y="3090862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10627042" y="2667000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10647045" y="2743200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10723245" y="2634615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10565130" y="2695575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 flipV="1">
            <a:off x="10641330" y="2586990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Oval 182"/>
          <p:cNvSpPr/>
          <p:nvPr/>
        </p:nvSpPr>
        <p:spPr>
          <a:xfrm>
            <a:off x="10987088" y="2852738"/>
            <a:ext cx="104775" cy="104775"/>
          </a:xfrm>
          <a:prstGeom prst="ellipse">
            <a:avLst/>
          </a:prstGeom>
          <a:solidFill>
            <a:srgbClr val="CDD6DA">
              <a:alpha val="8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1007090" y="2872740"/>
            <a:ext cx="64770" cy="64770"/>
          </a:xfrm>
          <a:prstGeom prst="ellipse">
            <a:avLst/>
          </a:prstGeom>
          <a:solidFill>
            <a:srgbClr val="2BAAE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-185"/>
          <p:cNvSpPr/>
          <p:nvPr/>
        </p:nvSpPr>
        <p:spPr>
          <a:xfrm>
            <a:off x="11049000" y="1323975"/>
            <a:ext cx="95" cy="466725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4667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86" name="freeform-186"/>
          <p:cNvSpPr/>
          <p:nvPr/>
        </p:nvSpPr>
        <p:spPr>
          <a:xfrm>
            <a:off x="11008995" y="13239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87" name="TextBox 186"/>
          <p:cNvSpPr txBox="1"/>
          <p:nvPr/>
        </p:nvSpPr>
        <p:spPr>
          <a:xfrm>
            <a:off x="10104025" y="1429702"/>
            <a:ext cx="861250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0000"/>
                </a:solidFill>
                <a:latin typeface="Liberation Serif"/>
              </a:rPr>
              <a:t>Inference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210800" y="676275"/>
            <a:ext cx="1685925" cy="638175"/>
          </a:xfrm>
          <a:prstGeom prst="roundRect">
            <a:avLst>
              <a:gd name="adj" fmla="val 10447"/>
            </a:avLst>
          </a:prstGeom>
          <a:solidFill>
            <a:srgbClr val="FFFFFF"/>
          </a:solidFill>
          <a:ln w="38100">
            <a:solidFill>
              <a:srgbClr val="8DD9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336197" y="761524"/>
            <a:ext cx="143513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Predicted Outputs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844594" y="1018222"/>
            <a:ext cx="41833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y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pred</a:t>
            </a:r>
          </a:p>
        </p:txBody>
      </p:sp>
      <p:sp>
        <p:nvSpPr>
          <p:cNvPr id="191" name="freeform-191"/>
          <p:cNvSpPr/>
          <p:nvPr/>
        </p:nvSpPr>
        <p:spPr>
          <a:xfrm>
            <a:off x="10629900" y="3990975"/>
            <a:ext cx="95" cy="390525"/>
          </a:xfrm>
          <a:custGeom>
            <a:avLst/>
            <a:gdLst/>
            <a:ahLst/>
            <a:cxnLst/>
            <a:rect l="0" t="0" r="0" b="0"/>
            <a:pathLst>
              <a:path w="95" h="390525">
                <a:moveTo>
                  <a:pt x="0" y="3905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92" name="freeform-192"/>
          <p:cNvSpPr/>
          <p:nvPr/>
        </p:nvSpPr>
        <p:spPr>
          <a:xfrm>
            <a:off x="10589895" y="39909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93" name="Rounded Rectangle 192"/>
          <p:cNvSpPr/>
          <p:nvPr/>
        </p:nvSpPr>
        <p:spPr>
          <a:xfrm>
            <a:off x="9925050" y="4381500"/>
            <a:ext cx="1400175" cy="647700"/>
          </a:xfrm>
          <a:prstGeom prst="roundRect">
            <a:avLst>
              <a:gd name="adj" fmla="val 11764"/>
            </a:avLst>
          </a:prstGeom>
          <a:solidFill>
            <a:srgbClr val="E7F7FD"/>
          </a:solidFill>
          <a:ln w="38100">
            <a:solidFill>
              <a:srgbClr val="60C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0226992" y="4476274"/>
            <a:ext cx="79629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Questions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116693" y="4751546"/>
            <a:ext cx="1016889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>
                <a:solidFill>
                  <a:srgbClr val="000000"/>
                </a:solidFill>
                <a:latin typeface="STIXGeneral"/>
              </a:rPr>
              <a:t>&lt;q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1</a:t>
            </a:r>
            <a:r>
              <a:rPr sz="1275" i="1">
                <a:solidFill>
                  <a:srgbClr val="000000"/>
                </a:solidFill>
                <a:latin typeface="STIXGeneral"/>
              </a:rPr>
              <a:t>, 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2</a:t>
            </a:r>
            <a:r>
              <a:rPr sz="1275" i="1">
                <a:solidFill>
                  <a:srgbClr val="000000"/>
                </a:solidFill>
                <a:latin typeface="STIXGeneral"/>
              </a:rPr>
              <a:t> ... 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n</a:t>
            </a:r>
            <a:r>
              <a:rPr sz="1275" i="1">
                <a:solidFill>
                  <a:srgbClr val="000000"/>
                </a:solidFill>
                <a:latin typeface="STIXGeneral"/>
              </a:rPr>
              <a:t>&gt;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401425" y="4021931"/>
            <a:ext cx="1328738" cy="2976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75">
                <a:solidFill>
                  <a:srgbClr val="000000"/>
                </a:solidFill>
                <a:latin typeface="Liberation Serif"/>
              </a:rPr>
              <a:t>Frozen VLM</a:t>
            </a:r>
          </a:p>
        </p:txBody>
      </p:sp>
      <p:sp>
        <p:nvSpPr>
          <p:cNvPr id="197" name="freeform-197"/>
          <p:cNvSpPr/>
          <p:nvPr/>
        </p:nvSpPr>
        <p:spPr>
          <a:xfrm>
            <a:off x="10582275" y="5581650"/>
            <a:ext cx="666750" cy="95"/>
          </a:xfrm>
          <a:custGeom>
            <a:avLst/>
            <a:gdLst/>
            <a:ahLst/>
            <a:cxnLst/>
            <a:rect l="0" t="0" r="0" b="0"/>
            <a:pathLst>
              <a:path w="666750" h="9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98" name="freeform-198"/>
          <p:cNvSpPr/>
          <p:nvPr/>
        </p:nvSpPr>
        <p:spPr>
          <a:xfrm>
            <a:off x="11184255" y="554164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99" name="TextBox 198"/>
          <p:cNvSpPr txBox="1"/>
          <p:nvPr/>
        </p:nvSpPr>
        <p:spPr>
          <a:xfrm>
            <a:off x="11334750" y="5449252"/>
            <a:ext cx="1311783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Liberation Serif"/>
              </a:rPr>
              <a:t>Forward Pass</a:t>
            </a:r>
          </a:p>
        </p:txBody>
      </p:sp>
      <p:sp>
        <p:nvSpPr>
          <p:cNvPr id="200" name="freeform-200"/>
          <p:cNvSpPr/>
          <p:nvPr/>
        </p:nvSpPr>
        <p:spPr>
          <a:xfrm>
            <a:off x="10582275" y="5857875"/>
            <a:ext cx="666750" cy="95"/>
          </a:xfrm>
          <a:custGeom>
            <a:avLst/>
            <a:gdLst/>
            <a:ahLst/>
            <a:cxnLst/>
            <a:rect l="0" t="0" r="0" b="0"/>
            <a:pathLst>
              <a:path w="666750" h="9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201" name="freeform-201"/>
          <p:cNvSpPr/>
          <p:nvPr/>
        </p:nvSpPr>
        <p:spPr>
          <a:xfrm>
            <a:off x="11184255" y="58178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202" name="TextBox 201"/>
          <p:cNvSpPr txBox="1"/>
          <p:nvPr/>
        </p:nvSpPr>
        <p:spPr>
          <a:xfrm>
            <a:off x="11334750" y="5735002"/>
            <a:ext cx="1454277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Liberation Serif"/>
              </a:rPr>
              <a:t>Backward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