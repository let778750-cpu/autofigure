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925425" cy="624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925425" cy="6248400"/>
          </a:xfrm>
          <a:prstGeom prst="rect">
            <a:avLst/>
          </a:prstGeom>
          <a:solidFill>
            <a:srgbClr val="FFFFF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7225" y="87154"/>
            <a:ext cx="440341" cy="2738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5" b="1">
                <a:solidFill>
                  <a:srgbClr val="000000"/>
                </a:solidFill>
                <a:latin typeface="Liberation Serif"/>
              </a:rPr>
              <a:t>CSF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4900" y="87154"/>
            <a:ext cx="2701195" cy="2738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725">
                <a:solidFill>
                  <a:srgbClr val="000000"/>
                </a:solidFill>
                <a:latin typeface="Liberation Serif"/>
              </a:rPr>
              <a:t>(SPSA Based Optimization)</a:t>
            </a:r>
          </a:p>
        </p:txBody>
      </p:sp>
      <p:sp>
        <p:nvSpPr>
          <p:cNvPr id="5" name="freeform-5"/>
          <p:cNvSpPr/>
          <p:nvPr/>
        </p:nvSpPr>
        <p:spPr>
          <a:xfrm>
            <a:off x="666750" y="409575"/>
            <a:ext cx="7334250" cy="1114425"/>
          </a:xfrm>
          <a:custGeom>
            <a:avLst/>
            <a:gdLst/>
            <a:ahLst/>
            <a:cxnLst/>
            <a:rect l="0" t="0" r="0" b="0"/>
            <a:pathLst>
              <a:path w="7334250" h="1114425">
                <a:moveTo>
                  <a:pt x="0" y="1114425"/>
                </a:moveTo>
                <a:lnTo>
                  <a:pt x="0" y="0"/>
                </a:lnTo>
                <a:lnTo>
                  <a:pt x="7334250" y="0"/>
                </a:lnTo>
                <a:lnTo>
                  <a:pt x="7334250" y="342900"/>
                </a:lnTo>
              </a:path>
            </a:pathLst>
          </a:custGeom>
          <a:noFill/>
          <a:ln w="38100" cap="sq">
            <a:solidFill>
              <a:srgbClr val="FFC000"/>
            </a:solidFill>
          </a:ln>
        </p:spPr>
      </p:sp>
      <p:sp>
        <p:nvSpPr>
          <p:cNvPr id="6" name="freeform-6"/>
          <p:cNvSpPr/>
          <p:nvPr/>
        </p:nvSpPr>
        <p:spPr>
          <a:xfrm>
            <a:off x="666750" y="1381125"/>
            <a:ext cx="95" cy="142875"/>
          </a:xfrm>
          <a:custGeom>
            <a:avLst/>
            <a:gdLst/>
            <a:ahLst/>
            <a:cxnLst/>
            <a:rect l="0" t="0" r="0" b="0"/>
            <a:pathLst>
              <a:path w="95" h="142875">
                <a:moveTo>
                  <a:pt x="0" y="0"/>
                </a:moveTo>
                <a:lnTo>
                  <a:pt x="0" y="142875"/>
                </a:lnTo>
              </a:path>
            </a:pathLst>
          </a:custGeom>
          <a:noFill/>
          <a:ln w="38100" cap="sq">
            <a:solidFill>
              <a:srgbClr val="FFC000"/>
            </a:solidFill>
          </a:ln>
        </p:spPr>
      </p:sp>
      <p:sp>
        <p:nvSpPr>
          <p:cNvPr id="7" name="freeform-7"/>
          <p:cNvSpPr/>
          <p:nvPr/>
        </p:nvSpPr>
        <p:spPr>
          <a:xfrm>
            <a:off x="623888" y="1455420"/>
            <a:ext cx="85725" cy="68580"/>
          </a:xfrm>
          <a:custGeom>
            <a:avLst/>
            <a:gdLst/>
            <a:ahLst/>
            <a:cxnLst/>
            <a:rect l="0" t="0" r="0" b="0"/>
            <a:pathLst>
              <a:path w="85725" h="68580">
                <a:moveTo>
                  <a:pt x="85725" y="0"/>
                </a:moveTo>
                <a:lnTo>
                  <a:pt x="42862" y="68580"/>
                </a:lnTo>
                <a:lnTo>
                  <a:pt x="0" y="0"/>
                </a:lnTo>
              </a:path>
            </a:pathLst>
          </a:custGeom>
          <a:noFill/>
          <a:ln w="38100" cap="rnd">
            <a:solidFill>
              <a:srgbClr val="FFC000"/>
            </a:solidFill>
          </a:ln>
        </p:spPr>
      </p:sp>
      <p:sp>
        <p:nvSpPr>
          <p:cNvPr id="8" name="TextBox 7"/>
          <p:cNvSpPr txBox="1"/>
          <p:nvPr/>
        </p:nvSpPr>
        <p:spPr>
          <a:xfrm rot="16200000">
            <a:off x="219837" y="1020366"/>
            <a:ext cx="608076" cy="226219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425" i="1">
                <a:solidFill>
                  <a:srgbClr val="000000"/>
                </a:solidFill>
                <a:latin typeface="STIXGeneral"/>
              </a:rPr>
              <a:t>∇</a:t>
            </a:r>
            <a:r>
              <a:rPr sz="900" i="1" baseline="-25000">
                <a:solidFill>
                  <a:srgbClr val="000000"/>
                </a:solidFill>
                <a:latin typeface="STIXGeneral"/>
              </a:rPr>
              <a:t>θ</a:t>
            </a:r>
            <a:r>
              <a:rPr sz="1425" i="1">
                <a:solidFill>
                  <a:srgbClr val="000000"/>
                </a:solidFill>
                <a:latin typeface="STIXGeneral"/>
              </a:rPr>
              <a:t> ℒ</a:t>
            </a:r>
            <a:r>
              <a:rPr sz="900" i="1" baseline="-25000">
                <a:solidFill>
                  <a:srgbClr val="000000"/>
                </a:solidFill>
                <a:latin typeface="STIXGeneral"/>
              </a:rPr>
              <a:t>ext</a:t>
            </a:r>
          </a:p>
        </p:txBody>
      </p:sp>
      <p:sp>
        <p:nvSpPr>
          <p:cNvPr id="9" name="Rectangle 8"/>
          <p:cNvSpPr/>
          <p:nvPr/>
        </p:nvSpPr>
        <p:spPr>
          <a:xfrm>
            <a:off x="495300" y="1562100"/>
            <a:ext cx="352425" cy="352425"/>
          </a:xfrm>
          <a:prstGeom prst="rect">
            <a:avLst/>
          </a:prstGeom>
          <a:solidFill>
            <a:srgbClr val="F2CFEE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95300" y="1943100"/>
            <a:ext cx="352425" cy="352425"/>
          </a:xfrm>
          <a:prstGeom prst="rect">
            <a:avLst/>
          </a:prstGeom>
          <a:solidFill>
            <a:srgbClr val="F2CFEE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352425" cy="352425"/>
          </a:xfrm>
          <a:prstGeom prst="rect">
            <a:avLst/>
          </a:prstGeom>
          <a:solidFill>
            <a:srgbClr val="F2CFEE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705100"/>
            <a:ext cx="352425" cy="352425"/>
          </a:xfrm>
          <a:prstGeom prst="rect">
            <a:avLst/>
          </a:prstGeom>
          <a:solidFill>
            <a:srgbClr val="F2CFEE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095625"/>
            <a:ext cx="352425" cy="352425"/>
          </a:xfrm>
          <a:prstGeom prst="rect">
            <a:avLst/>
          </a:prstGeom>
          <a:solidFill>
            <a:srgbClr val="F2CFEE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476625"/>
            <a:ext cx="352425" cy="352425"/>
          </a:xfrm>
          <a:prstGeom prst="rect">
            <a:avLst/>
          </a:prstGeom>
          <a:solidFill>
            <a:srgbClr val="F2CFEE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52550" y="1171575"/>
            <a:ext cx="352425" cy="352425"/>
          </a:xfrm>
          <a:prstGeom prst="rect">
            <a:avLst/>
          </a:prstGeom>
          <a:solidFill>
            <a:srgbClr val="F6C5AC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52550" y="1562100"/>
            <a:ext cx="352425" cy="352425"/>
          </a:xfrm>
          <a:prstGeom prst="rect">
            <a:avLst/>
          </a:prstGeom>
          <a:solidFill>
            <a:srgbClr val="F6C5AC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52550" y="1943100"/>
            <a:ext cx="352425" cy="352425"/>
          </a:xfrm>
          <a:prstGeom prst="rect">
            <a:avLst/>
          </a:prstGeom>
          <a:solidFill>
            <a:srgbClr val="F6C5AC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52550" y="2324100"/>
            <a:ext cx="352425" cy="352425"/>
          </a:xfrm>
          <a:prstGeom prst="rect">
            <a:avLst/>
          </a:prstGeom>
          <a:solidFill>
            <a:srgbClr val="F6C5AC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52550" y="2705100"/>
            <a:ext cx="352425" cy="352425"/>
          </a:xfrm>
          <a:prstGeom prst="rect">
            <a:avLst/>
          </a:prstGeom>
          <a:solidFill>
            <a:srgbClr val="F6C5AC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52550" y="3095625"/>
            <a:ext cx="352425" cy="352425"/>
          </a:xfrm>
          <a:prstGeom prst="rect">
            <a:avLst/>
          </a:prstGeom>
          <a:solidFill>
            <a:srgbClr val="F6C5AC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52550" y="3476625"/>
            <a:ext cx="352425" cy="333375"/>
          </a:xfrm>
          <a:prstGeom prst="rect">
            <a:avLst/>
          </a:prstGeom>
          <a:solidFill>
            <a:srgbClr val="F6C5AC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52550" y="3838575"/>
            <a:ext cx="352425" cy="352425"/>
          </a:xfrm>
          <a:prstGeom prst="rect">
            <a:avLst/>
          </a:prstGeom>
          <a:solidFill>
            <a:srgbClr val="F6C5AC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33600" y="1171575"/>
            <a:ext cx="352425" cy="352425"/>
          </a:xfrm>
          <a:prstGeom prst="rect">
            <a:avLst/>
          </a:prstGeom>
          <a:solidFill>
            <a:srgbClr val="F6C5AC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33600" y="1562100"/>
            <a:ext cx="352425" cy="352425"/>
          </a:xfrm>
          <a:prstGeom prst="rect">
            <a:avLst/>
          </a:prstGeom>
          <a:solidFill>
            <a:srgbClr val="F6C5AC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133600" y="1943100"/>
            <a:ext cx="352425" cy="352425"/>
          </a:xfrm>
          <a:prstGeom prst="rect">
            <a:avLst/>
          </a:prstGeom>
          <a:solidFill>
            <a:srgbClr val="F6C5AC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133600" y="2324100"/>
            <a:ext cx="352425" cy="352425"/>
          </a:xfrm>
          <a:prstGeom prst="rect">
            <a:avLst/>
          </a:prstGeom>
          <a:solidFill>
            <a:srgbClr val="F6C5AC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133600" y="2705100"/>
            <a:ext cx="352425" cy="352425"/>
          </a:xfrm>
          <a:prstGeom prst="rect">
            <a:avLst/>
          </a:prstGeom>
          <a:solidFill>
            <a:srgbClr val="F6C5AC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133600" y="3095625"/>
            <a:ext cx="352425" cy="352425"/>
          </a:xfrm>
          <a:prstGeom prst="rect">
            <a:avLst/>
          </a:prstGeom>
          <a:solidFill>
            <a:srgbClr val="F6C5AC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133600" y="3476625"/>
            <a:ext cx="352425" cy="333375"/>
          </a:xfrm>
          <a:prstGeom prst="rect">
            <a:avLst/>
          </a:prstGeom>
          <a:solidFill>
            <a:srgbClr val="F6C5AC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133600" y="3838575"/>
            <a:ext cx="352425" cy="352425"/>
          </a:xfrm>
          <a:prstGeom prst="rect">
            <a:avLst/>
          </a:prstGeom>
          <a:solidFill>
            <a:srgbClr val="F6C5AC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62275" y="1943100"/>
            <a:ext cx="352425" cy="352425"/>
          </a:xfrm>
          <a:prstGeom prst="rect">
            <a:avLst/>
          </a:prstGeom>
          <a:solidFill>
            <a:srgbClr val="D9F2D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962275" y="2324100"/>
            <a:ext cx="352425" cy="352425"/>
          </a:xfrm>
          <a:prstGeom prst="rect">
            <a:avLst/>
          </a:prstGeom>
          <a:solidFill>
            <a:srgbClr val="D9F2D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962275" y="2714625"/>
            <a:ext cx="352425" cy="352425"/>
          </a:xfrm>
          <a:prstGeom prst="rect">
            <a:avLst/>
          </a:prstGeom>
          <a:solidFill>
            <a:srgbClr val="D9F2D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962275" y="3095625"/>
            <a:ext cx="352425" cy="352425"/>
          </a:xfrm>
          <a:prstGeom prst="rect">
            <a:avLst/>
          </a:prstGeom>
          <a:solidFill>
            <a:srgbClr val="D9F2D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-35"/>
          <p:cNvSpPr/>
          <p:nvPr/>
        </p:nvSpPr>
        <p:spPr>
          <a:xfrm>
            <a:off x="866775" y="2505075"/>
            <a:ext cx="457200" cy="95"/>
          </a:xfrm>
          <a:custGeom>
            <a:avLst/>
            <a:gdLst/>
            <a:ahLst/>
            <a:cxnLst/>
            <a:rect l="0" t="0" r="0" b="0"/>
            <a:pathLst>
              <a:path w="457200" h="95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w="38100" cap="sq">
            <a:solidFill>
              <a:srgbClr val="4E94D9"/>
            </a:solidFill>
          </a:ln>
        </p:spPr>
      </p:sp>
      <p:sp>
        <p:nvSpPr>
          <p:cNvPr id="36" name="freeform-36"/>
          <p:cNvSpPr/>
          <p:nvPr/>
        </p:nvSpPr>
        <p:spPr>
          <a:xfrm>
            <a:off x="1259205" y="2465070"/>
            <a:ext cx="64770" cy="80010"/>
          </a:xfrm>
          <a:custGeom>
            <a:avLst/>
            <a:gdLst/>
            <a:ahLst/>
            <a:cxnLst/>
            <a:rect l="0" t="0" r="0" b="0"/>
            <a:pathLst>
              <a:path w="64770" h="80010">
                <a:moveTo>
                  <a:pt x="0" y="0"/>
                </a:moveTo>
                <a:lnTo>
                  <a:pt x="64770" y="40005"/>
                </a:lnTo>
                <a:lnTo>
                  <a:pt x="0" y="80010"/>
                </a:lnTo>
              </a:path>
            </a:pathLst>
          </a:custGeom>
          <a:noFill/>
          <a:ln w="38100" cap="rnd">
            <a:solidFill>
              <a:srgbClr val="4E94D9"/>
            </a:solidFill>
          </a:ln>
        </p:spPr>
      </p:sp>
      <p:sp>
        <p:nvSpPr>
          <p:cNvPr id="37" name="freeform-37"/>
          <p:cNvSpPr/>
          <p:nvPr/>
        </p:nvSpPr>
        <p:spPr>
          <a:xfrm>
            <a:off x="1724025" y="2505075"/>
            <a:ext cx="381000" cy="95"/>
          </a:xfrm>
          <a:custGeom>
            <a:avLst/>
            <a:gdLst/>
            <a:ahLst/>
            <a:cxnLst/>
            <a:rect l="0" t="0" r="0" b="0"/>
            <a:pathLst>
              <a:path w="381000" h="95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w="38100" cap="sq">
            <a:solidFill>
              <a:srgbClr val="4E94D9"/>
            </a:solidFill>
          </a:ln>
        </p:spPr>
      </p:sp>
      <p:sp>
        <p:nvSpPr>
          <p:cNvPr id="38" name="freeform-38"/>
          <p:cNvSpPr/>
          <p:nvPr/>
        </p:nvSpPr>
        <p:spPr>
          <a:xfrm>
            <a:off x="2040255" y="2465070"/>
            <a:ext cx="64770" cy="80010"/>
          </a:xfrm>
          <a:custGeom>
            <a:avLst/>
            <a:gdLst/>
            <a:ahLst/>
            <a:cxnLst/>
            <a:rect l="0" t="0" r="0" b="0"/>
            <a:pathLst>
              <a:path w="64770" h="80010">
                <a:moveTo>
                  <a:pt x="0" y="0"/>
                </a:moveTo>
                <a:lnTo>
                  <a:pt x="64770" y="40005"/>
                </a:lnTo>
                <a:lnTo>
                  <a:pt x="0" y="80010"/>
                </a:lnTo>
              </a:path>
            </a:pathLst>
          </a:custGeom>
          <a:noFill/>
          <a:ln w="38100" cap="rnd">
            <a:solidFill>
              <a:srgbClr val="4E94D9"/>
            </a:solidFill>
          </a:ln>
        </p:spPr>
      </p:sp>
      <p:sp>
        <p:nvSpPr>
          <p:cNvPr id="39" name="freeform-39"/>
          <p:cNvSpPr/>
          <p:nvPr/>
        </p:nvSpPr>
        <p:spPr>
          <a:xfrm>
            <a:off x="2505075" y="2505075"/>
            <a:ext cx="419100" cy="95"/>
          </a:xfrm>
          <a:custGeom>
            <a:avLst/>
            <a:gdLst/>
            <a:ahLst/>
            <a:cxnLst/>
            <a:rect l="0" t="0" r="0" b="0"/>
            <a:pathLst>
              <a:path w="419100" h="95">
                <a:moveTo>
                  <a:pt x="0" y="0"/>
                </a:moveTo>
                <a:lnTo>
                  <a:pt x="419100" y="0"/>
                </a:lnTo>
              </a:path>
            </a:pathLst>
          </a:custGeom>
          <a:noFill/>
          <a:ln w="38100" cap="sq">
            <a:solidFill>
              <a:srgbClr val="4E94D9"/>
            </a:solidFill>
          </a:ln>
        </p:spPr>
      </p:sp>
      <p:sp>
        <p:nvSpPr>
          <p:cNvPr id="40" name="freeform-40"/>
          <p:cNvSpPr/>
          <p:nvPr/>
        </p:nvSpPr>
        <p:spPr>
          <a:xfrm>
            <a:off x="2859405" y="2465070"/>
            <a:ext cx="64770" cy="80010"/>
          </a:xfrm>
          <a:custGeom>
            <a:avLst/>
            <a:gdLst/>
            <a:ahLst/>
            <a:cxnLst/>
            <a:rect l="0" t="0" r="0" b="0"/>
            <a:pathLst>
              <a:path w="64770" h="80010">
                <a:moveTo>
                  <a:pt x="0" y="0"/>
                </a:moveTo>
                <a:lnTo>
                  <a:pt x="64770" y="40005"/>
                </a:lnTo>
                <a:lnTo>
                  <a:pt x="0" y="80010"/>
                </a:lnTo>
              </a:path>
            </a:pathLst>
          </a:custGeom>
          <a:noFill/>
          <a:ln w="38100" cap="rnd">
            <a:solidFill>
              <a:srgbClr val="4E94D9"/>
            </a:solidFill>
          </a:ln>
        </p:spPr>
      </p:sp>
      <p:sp>
        <p:nvSpPr>
          <p:cNvPr id="41" name="freeform-41"/>
          <p:cNvSpPr/>
          <p:nvPr/>
        </p:nvSpPr>
        <p:spPr>
          <a:xfrm>
            <a:off x="3333750" y="2505075"/>
            <a:ext cx="514350" cy="95"/>
          </a:xfrm>
          <a:custGeom>
            <a:avLst/>
            <a:gdLst/>
            <a:ahLst/>
            <a:cxnLst/>
            <a:rect l="0" t="0" r="0" b="0"/>
            <a:pathLst>
              <a:path w="514350" h="95">
                <a:moveTo>
                  <a:pt x="0" y="0"/>
                </a:moveTo>
                <a:lnTo>
                  <a:pt x="514350" y="0"/>
                </a:lnTo>
              </a:path>
            </a:pathLst>
          </a:custGeom>
          <a:noFill/>
          <a:ln w="38100" cap="sq">
            <a:solidFill>
              <a:srgbClr val="4E94D9"/>
            </a:solidFill>
          </a:ln>
        </p:spPr>
      </p:sp>
      <p:sp>
        <p:nvSpPr>
          <p:cNvPr id="42" name="freeform-42"/>
          <p:cNvSpPr/>
          <p:nvPr/>
        </p:nvSpPr>
        <p:spPr>
          <a:xfrm>
            <a:off x="3783330" y="2465070"/>
            <a:ext cx="64770" cy="80010"/>
          </a:xfrm>
          <a:custGeom>
            <a:avLst/>
            <a:gdLst/>
            <a:ahLst/>
            <a:cxnLst/>
            <a:rect l="0" t="0" r="0" b="0"/>
            <a:pathLst>
              <a:path w="64770" h="80010">
                <a:moveTo>
                  <a:pt x="0" y="0"/>
                </a:moveTo>
                <a:lnTo>
                  <a:pt x="64770" y="40005"/>
                </a:lnTo>
                <a:lnTo>
                  <a:pt x="0" y="80010"/>
                </a:lnTo>
              </a:path>
            </a:pathLst>
          </a:custGeom>
          <a:noFill/>
          <a:ln w="38100" cap="rnd">
            <a:solidFill>
              <a:srgbClr val="4E94D9"/>
            </a:solidFill>
          </a:ln>
        </p:spPr>
      </p:sp>
      <p:sp>
        <p:nvSpPr>
          <p:cNvPr id="43" name="freeform-43"/>
          <p:cNvSpPr/>
          <p:nvPr/>
        </p:nvSpPr>
        <p:spPr>
          <a:xfrm>
            <a:off x="876300" y="2886075"/>
            <a:ext cx="457200" cy="95"/>
          </a:xfrm>
          <a:custGeom>
            <a:avLst/>
            <a:gdLst/>
            <a:ahLst/>
            <a:cxnLst/>
            <a:rect l="0" t="0" r="0" b="0"/>
            <a:pathLst>
              <a:path w="457200" h="95">
                <a:moveTo>
                  <a:pt x="457200" y="0"/>
                </a:moveTo>
                <a:lnTo>
                  <a:pt x="0" y="0"/>
                </a:lnTo>
              </a:path>
            </a:pathLst>
          </a:custGeom>
          <a:noFill/>
          <a:ln w="38100" cap="sq">
            <a:solidFill>
              <a:srgbClr val="FFC000"/>
            </a:solidFill>
          </a:ln>
        </p:spPr>
      </p:sp>
      <p:sp>
        <p:nvSpPr>
          <p:cNvPr id="44" name="freeform-44"/>
          <p:cNvSpPr/>
          <p:nvPr/>
        </p:nvSpPr>
        <p:spPr>
          <a:xfrm>
            <a:off x="876300" y="2846070"/>
            <a:ext cx="64770" cy="80010"/>
          </a:xfrm>
          <a:custGeom>
            <a:avLst/>
            <a:gdLst/>
            <a:ahLst/>
            <a:cxnLst/>
            <a:rect l="0" t="0" r="0" b="0"/>
            <a:pathLst>
              <a:path w="64770" h="80010">
                <a:moveTo>
                  <a:pt x="64770" y="80010"/>
                </a:moveTo>
                <a:lnTo>
                  <a:pt x="0" y="40005"/>
                </a:lnTo>
                <a:lnTo>
                  <a:pt x="64770" y="0"/>
                </a:lnTo>
              </a:path>
            </a:pathLst>
          </a:custGeom>
          <a:noFill/>
          <a:ln w="38100" cap="rnd">
            <a:solidFill>
              <a:srgbClr val="FFC000"/>
            </a:solidFill>
          </a:ln>
        </p:spPr>
      </p:sp>
      <p:sp>
        <p:nvSpPr>
          <p:cNvPr id="45" name="freeform-45"/>
          <p:cNvSpPr/>
          <p:nvPr/>
        </p:nvSpPr>
        <p:spPr>
          <a:xfrm>
            <a:off x="1733550" y="2886075"/>
            <a:ext cx="381000" cy="95"/>
          </a:xfrm>
          <a:custGeom>
            <a:avLst/>
            <a:gdLst/>
            <a:ahLst/>
            <a:cxnLst/>
            <a:rect l="0" t="0" r="0" b="0"/>
            <a:pathLst>
              <a:path w="381000" h="95">
                <a:moveTo>
                  <a:pt x="381000" y="0"/>
                </a:moveTo>
                <a:lnTo>
                  <a:pt x="0" y="0"/>
                </a:lnTo>
              </a:path>
            </a:pathLst>
          </a:custGeom>
          <a:noFill/>
          <a:ln w="38100" cap="sq">
            <a:solidFill>
              <a:srgbClr val="FFC000"/>
            </a:solidFill>
          </a:ln>
        </p:spPr>
      </p:sp>
      <p:sp>
        <p:nvSpPr>
          <p:cNvPr id="46" name="freeform-46"/>
          <p:cNvSpPr/>
          <p:nvPr/>
        </p:nvSpPr>
        <p:spPr>
          <a:xfrm>
            <a:off x="1733550" y="2846070"/>
            <a:ext cx="64770" cy="80010"/>
          </a:xfrm>
          <a:custGeom>
            <a:avLst/>
            <a:gdLst/>
            <a:ahLst/>
            <a:cxnLst/>
            <a:rect l="0" t="0" r="0" b="0"/>
            <a:pathLst>
              <a:path w="64770" h="80010">
                <a:moveTo>
                  <a:pt x="64770" y="80010"/>
                </a:moveTo>
                <a:lnTo>
                  <a:pt x="0" y="40005"/>
                </a:lnTo>
                <a:lnTo>
                  <a:pt x="64770" y="0"/>
                </a:lnTo>
              </a:path>
            </a:pathLst>
          </a:custGeom>
          <a:noFill/>
          <a:ln w="38100" cap="rnd">
            <a:solidFill>
              <a:srgbClr val="FFC000"/>
            </a:solidFill>
          </a:ln>
        </p:spPr>
      </p:sp>
      <p:sp>
        <p:nvSpPr>
          <p:cNvPr id="47" name="freeform-47"/>
          <p:cNvSpPr/>
          <p:nvPr/>
        </p:nvSpPr>
        <p:spPr>
          <a:xfrm>
            <a:off x="2514600" y="2886075"/>
            <a:ext cx="428625" cy="95"/>
          </a:xfrm>
          <a:custGeom>
            <a:avLst/>
            <a:gdLst/>
            <a:ahLst/>
            <a:cxnLst/>
            <a:rect l="0" t="0" r="0" b="0"/>
            <a:pathLst>
              <a:path w="428625" h="95">
                <a:moveTo>
                  <a:pt x="428625" y="0"/>
                </a:moveTo>
                <a:lnTo>
                  <a:pt x="0" y="0"/>
                </a:lnTo>
              </a:path>
            </a:pathLst>
          </a:custGeom>
          <a:noFill/>
          <a:ln w="38100" cap="sq">
            <a:solidFill>
              <a:srgbClr val="FFC000"/>
            </a:solidFill>
          </a:ln>
        </p:spPr>
      </p:sp>
      <p:sp>
        <p:nvSpPr>
          <p:cNvPr id="48" name="freeform-48"/>
          <p:cNvSpPr/>
          <p:nvPr/>
        </p:nvSpPr>
        <p:spPr>
          <a:xfrm>
            <a:off x="2514600" y="2846070"/>
            <a:ext cx="64770" cy="80010"/>
          </a:xfrm>
          <a:custGeom>
            <a:avLst/>
            <a:gdLst/>
            <a:ahLst/>
            <a:cxnLst/>
            <a:rect l="0" t="0" r="0" b="0"/>
            <a:pathLst>
              <a:path w="64770" h="80010">
                <a:moveTo>
                  <a:pt x="64770" y="80010"/>
                </a:moveTo>
                <a:lnTo>
                  <a:pt x="0" y="40005"/>
                </a:lnTo>
                <a:lnTo>
                  <a:pt x="64770" y="0"/>
                </a:lnTo>
              </a:path>
            </a:pathLst>
          </a:custGeom>
          <a:noFill/>
          <a:ln w="38100" cap="rnd">
            <a:solidFill>
              <a:srgbClr val="FFC000"/>
            </a:solidFill>
          </a:ln>
        </p:spPr>
      </p:sp>
      <p:sp>
        <p:nvSpPr>
          <p:cNvPr id="49" name="freeform-49"/>
          <p:cNvSpPr/>
          <p:nvPr/>
        </p:nvSpPr>
        <p:spPr>
          <a:xfrm>
            <a:off x="3343275" y="2886075"/>
            <a:ext cx="504825" cy="95"/>
          </a:xfrm>
          <a:custGeom>
            <a:avLst/>
            <a:gdLst/>
            <a:ahLst/>
            <a:cxnLst/>
            <a:rect l="0" t="0" r="0" b="0"/>
            <a:pathLst>
              <a:path w="504825" h="95">
                <a:moveTo>
                  <a:pt x="504825" y="0"/>
                </a:moveTo>
                <a:lnTo>
                  <a:pt x="0" y="0"/>
                </a:lnTo>
              </a:path>
            </a:pathLst>
          </a:custGeom>
          <a:noFill/>
          <a:ln w="38100" cap="sq">
            <a:solidFill>
              <a:srgbClr val="FFC000"/>
            </a:solidFill>
          </a:ln>
        </p:spPr>
      </p:sp>
      <p:sp>
        <p:nvSpPr>
          <p:cNvPr id="50" name="freeform-50"/>
          <p:cNvSpPr/>
          <p:nvPr/>
        </p:nvSpPr>
        <p:spPr>
          <a:xfrm>
            <a:off x="3343275" y="2846070"/>
            <a:ext cx="64770" cy="80010"/>
          </a:xfrm>
          <a:custGeom>
            <a:avLst/>
            <a:gdLst/>
            <a:ahLst/>
            <a:cxnLst/>
            <a:rect l="0" t="0" r="0" b="0"/>
            <a:pathLst>
              <a:path w="64770" h="80010">
                <a:moveTo>
                  <a:pt x="64770" y="80010"/>
                </a:moveTo>
                <a:lnTo>
                  <a:pt x="0" y="40005"/>
                </a:lnTo>
                <a:lnTo>
                  <a:pt x="64770" y="0"/>
                </a:lnTo>
              </a:path>
            </a:pathLst>
          </a:custGeom>
          <a:noFill/>
          <a:ln w="38100" cap="rnd">
            <a:solidFill>
              <a:srgbClr val="FFC000"/>
            </a:solidFill>
          </a:ln>
        </p:spPr>
      </p:sp>
      <p:sp>
        <p:nvSpPr>
          <p:cNvPr id="51" name="Rounded Rectangle 50"/>
          <p:cNvSpPr/>
          <p:nvPr/>
        </p:nvSpPr>
        <p:spPr>
          <a:xfrm>
            <a:off x="3876675" y="2181225"/>
            <a:ext cx="2200275" cy="102870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38100">
            <a:solidFill>
              <a:srgbClr val="D86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90787" y="2296954"/>
            <a:ext cx="1172051" cy="2738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725" b="1">
                <a:solidFill>
                  <a:srgbClr val="000000"/>
                </a:solidFill>
                <a:latin typeface="Liberation Serif"/>
              </a:rPr>
              <a:t>Bio-inspired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65461" y="2573179"/>
            <a:ext cx="1822704" cy="2738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725" b="1">
                <a:solidFill>
                  <a:srgbClr val="000000"/>
                </a:solidFill>
                <a:latin typeface="Liberation Serif"/>
              </a:rPr>
              <a:t>Adaptive Sampling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604385" y="2858929"/>
            <a:ext cx="744855" cy="2738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725" b="1">
                <a:solidFill>
                  <a:srgbClr val="000000"/>
                </a:solidFill>
                <a:latin typeface="Liberation Serif"/>
              </a:rPr>
              <a:t>(BASS)</a:t>
            </a:r>
          </a:p>
        </p:txBody>
      </p:sp>
      <p:sp>
        <p:nvSpPr>
          <p:cNvPr id="55" name="freeform-55"/>
          <p:cNvSpPr/>
          <p:nvPr/>
        </p:nvSpPr>
        <p:spPr>
          <a:xfrm>
            <a:off x="6096000" y="2505075"/>
            <a:ext cx="1028700" cy="95"/>
          </a:xfrm>
          <a:custGeom>
            <a:avLst/>
            <a:gdLst/>
            <a:ahLst/>
            <a:cxnLst/>
            <a:rect l="0" t="0" r="0" b="0"/>
            <a:pathLst>
              <a:path w="1028700" h="95">
                <a:moveTo>
                  <a:pt x="0" y="0"/>
                </a:moveTo>
                <a:lnTo>
                  <a:pt x="1028700" y="0"/>
                </a:lnTo>
              </a:path>
            </a:pathLst>
          </a:custGeom>
          <a:noFill/>
          <a:ln w="38100" cap="sq">
            <a:solidFill>
              <a:srgbClr val="4E94D9"/>
            </a:solidFill>
          </a:ln>
        </p:spPr>
      </p:sp>
      <p:sp>
        <p:nvSpPr>
          <p:cNvPr id="56" name="freeform-56"/>
          <p:cNvSpPr/>
          <p:nvPr/>
        </p:nvSpPr>
        <p:spPr>
          <a:xfrm>
            <a:off x="7059930" y="2465070"/>
            <a:ext cx="64770" cy="80010"/>
          </a:xfrm>
          <a:custGeom>
            <a:avLst/>
            <a:gdLst/>
            <a:ahLst/>
            <a:cxnLst/>
            <a:rect l="0" t="0" r="0" b="0"/>
            <a:pathLst>
              <a:path w="64770" h="80010">
                <a:moveTo>
                  <a:pt x="0" y="0"/>
                </a:moveTo>
                <a:lnTo>
                  <a:pt x="64770" y="40005"/>
                </a:lnTo>
                <a:lnTo>
                  <a:pt x="0" y="80010"/>
                </a:lnTo>
              </a:path>
            </a:pathLst>
          </a:custGeom>
          <a:noFill/>
          <a:ln w="38100" cap="rnd">
            <a:solidFill>
              <a:srgbClr val="4E94D9"/>
            </a:solidFill>
          </a:ln>
        </p:spPr>
      </p:sp>
      <p:sp>
        <p:nvSpPr>
          <p:cNvPr id="57" name="freeform-57"/>
          <p:cNvSpPr/>
          <p:nvPr/>
        </p:nvSpPr>
        <p:spPr>
          <a:xfrm>
            <a:off x="6115050" y="2886075"/>
            <a:ext cx="942975" cy="1371600"/>
          </a:xfrm>
          <a:custGeom>
            <a:avLst/>
            <a:gdLst/>
            <a:ahLst/>
            <a:cxnLst/>
            <a:rect l="0" t="0" r="0" b="0"/>
            <a:pathLst>
              <a:path w="942975" h="1371600">
                <a:moveTo>
                  <a:pt x="942975" y="1371600"/>
                </a:moveTo>
                <a:lnTo>
                  <a:pt x="457200" y="1371600"/>
                </a:lnTo>
                <a:lnTo>
                  <a:pt x="457200" y="0"/>
                </a:lnTo>
                <a:lnTo>
                  <a:pt x="0" y="0"/>
                </a:lnTo>
              </a:path>
            </a:pathLst>
          </a:custGeom>
          <a:noFill/>
          <a:ln w="38100" cap="sq">
            <a:solidFill>
              <a:srgbClr val="FFC000"/>
            </a:solidFill>
          </a:ln>
        </p:spPr>
      </p:sp>
      <p:sp>
        <p:nvSpPr>
          <p:cNvPr id="58" name="freeform-58"/>
          <p:cNvSpPr/>
          <p:nvPr/>
        </p:nvSpPr>
        <p:spPr>
          <a:xfrm>
            <a:off x="6115050" y="2846070"/>
            <a:ext cx="64770" cy="80010"/>
          </a:xfrm>
          <a:custGeom>
            <a:avLst/>
            <a:gdLst/>
            <a:ahLst/>
            <a:cxnLst/>
            <a:rect l="0" t="0" r="0" b="0"/>
            <a:pathLst>
              <a:path w="64770" h="80010">
                <a:moveTo>
                  <a:pt x="64770" y="80010"/>
                </a:moveTo>
                <a:lnTo>
                  <a:pt x="0" y="40005"/>
                </a:lnTo>
                <a:lnTo>
                  <a:pt x="64770" y="0"/>
                </a:lnTo>
              </a:path>
            </a:pathLst>
          </a:custGeom>
          <a:noFill/>
          <a:ln w="38100" cap="rnd">
            <a:solidFill>
              <a:srgbClr val="FFC000"/>
            </a:solidFill>
          </a:ln>
        </p:spPr>
      </p:sp>
      <p:sp>
        <p:nvSpPr>
          <p:cNvPr id="59" name="freeform-59"/>
          <p:cNvSpPr/>
          <p:nvPr/>
        </p:nvSpPr>
        <p:spPr>
          <a:xfrm>
            <a:off x="4419600" y="3238500"/>
            <a:ext cx="95" cy="428625"/>
          </a:xfrm>
          <a:custGeom>
            <a:avLst/>
            <a:gdLst/>
            <a:ahLst/>
            <a:cxnLst/>
            <a:rect l="0" t="0" r="0" b="0"/>
            <a:pathLst>
              <a:path w="95" h="428625">
                <a:moveTo>
                  <a:pt x="0" y="428625"/>
                </a:moveTo>
                <a:lnTo>
                  <a:pt x="0" y="0"/>
                </a:lnTo>
              </a:path>
            </a:pathLst>
          </a:custGeom>
          <a:noFill/>
          <a:ln w="38100" cap="sq">
            <a:solidFill>
              <a:srgbClr val="4E94D9"/>
            </a:solidFill>
          </a:ln>
        </p:spPr>
      </p:sp>
      <p:sp>
        <p:nvSpPr>
          <p:cNvPr id="60" name="freeform-60"/>
          <p:cNvSpPr/>
          <p:nvPr/>
        </p:nvSpPr>
        <p:spPr>
          <a:xfrm>
            <a:off x="4379595" y="3238500"/>
            <a:ext cx="80010" cy="64770"/>
          </a:xfrm>
          <a:custGeom>
            <a:avLst/>
            <a:gdLst/>
            <a:ahLst/>
            <a:cxnLst/>
            <a:rect l="0" t="0" r="0" b="0"/>
            <a:pathLst>
              <a:path w="80010" h="64770">
                <a:moveTo>
                  <a:pt x="0" y="64770"/>
                </a:moveTo>
                <a:lnTo>
                  <a:pt x="40005" y="0"/>
                </a:lnTo>
                <a:lnTo>
                  <a:pt x="80010" y="64770"/>
                </a:lnTo>
              </a:path>
            </a:pathLst>
          </a:custGeom>
          <a:noFill/>
          <a:ln w="38100" cap="rnd">
            <a:solidFill>
              <a:srgbClr val="4E94D9"/>
            </a:solidFill>
          </a:ln>
        </p:spPr>
      </p:sp>
      <p:sp>
        <p:nvSpPr>
          <p:cNvPr id="61" name="freeform-61"/>
          <p:cNvSpPr/>
          <p:nvPr/>
        </p:nvSpPr>
        <p:spPr>
          <a:xfrm>
            <a:off x="5314950" y="3238500"/>
            <a:ext cx="95" cy="1162050"/>
          </a:xfrm>
          <a:custGeom>
            <a:avLst/>
            <a:gdLst/>
            <a:ahLst/>
            <a:cxnLst/>
            <a:rect l="0" t="0" r="0" b="0"/>
            <a:pathLst>
              <a:path w="95" h="1162050">
                <a:moveTo>
                  <a:pt x="0" y="1162050"/>
                </a:moveTo>
                <a:lnTo>
                  <a:pt x="0" y="0"/>
                </a:lnTo>
              </a:path>
            </a:pathLst>
          </a:custGeom>
          <a:noFill/>
          <a:ln w="38100" cap="sq">
            <a:solidFill>
              <a:srgbClr val="4E94D9"/>
            </a:solidFill>
          </a:ln>
        </p:spPr>
      </p:sp>
      <p:sp>
        <p:nvSpPr>
          <p:cNvPr id="62" name="freeform-62"/>
          <p:cNvSpPr/>
          <p:nvPr/>
        </p:nvSpPr>
        <p:spPr>
          <a:xfrm>
            <a:off x="5274945" y="3238500"/>
            <a:ext cx="80010" cy="64770"/>
          </a:xfrm>
          <a:custGeom>
            <a:avLst/>
            <a:gdLst/>
            <a:ahLst/>
            <a:cxnLst/>
            <a:rect l="0" t="0" r="0" b="0"/>
            <a:pathLst>
              <a:path w="80010" h="64770">
                <a:moveTo>
                  <a:pt x="0" y="64770"/>
                </a:moveTo>
                <a:lnTo>
                  <a:pt x="40005" y="0"/>
                </a:lnTo>
                <a:lnTo>
                  <a:pt x="80010" y="64770"/>
                </a:lnTo>
              </a:path>
            </a:pathLst>
          </a:custGeom>
          <a:noFill/>
          <a:ln w="38100" cap="rnd">
            <a:solidFill>
              <a:srgbClr val="4E94D9"/>
            </a:solidFill>
          </a:ln>
        </p:spPr>
      </p:sp>
      <p:sp>
        <p:nvSpPr>
          <p:cNvPr id="63" name="TextBox 62"/>
          <p:cNvSpPr txBox="1"/>
          <p:nvPr/>
        </p:nvSpPr>
        <p:spPr>
          <a:xfrm>
            <a:off x="3793379" y="3706654"/>
            <a:ext cx="1233392" cy="2738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725">
                <a:solidFill>
                  <a:srgbClr val="000000"/>
                </a:solidFill>
                <a:latin typeface="Liberation Serif"/>
              </a:rPr>
              <a:t>Pixel Budget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36685" y="3973354"/>
            <a:ext cx="146780" cy="2738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725" i="1">
                <a:solidFill>
                  <a:srgbClr val="000000"/>
                </a:solidFill>
                <a:latin typeface="Liberation Serif"/>
              </a:rPr>
              <a:t>B</a:t>
            </a:r>
          </a:p>
        </p:txBody>
      </p:sp>
      <p:sp>
        <p:nvSpPr>
          <p:cNvPr id="65" name="TextBox 64"/>
          <p:cNvSpPr txBox="1"/>
          <p:nvPr/>
        </p:nvSpPr>
        <p:spPr>
          <a:xfrm rot="16200000">
            <a:off x="-831723" y="2514600"/>
            <a:ext cx="2311146" cy="285750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800">
                <a:solidFill>
                  <a:srgbClr val="000000"/>
                </a:solidFill>
                <a:latin typeface="Liberation Serif"/>
              </a:rPr>
              <a:t>Latent Encoding Layer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67479" y="4230529"/>
            <a:ext cx="1494092" cy="2738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725">
                <a:solidFill>
                  <a:srgbClr val="000000"/>
                </a:solidFill>
                <a:latin typeface="Liberation Serif"/>
              </a:rPr>
              <a:t>Transformation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573863" y="4516279"/>
            <a:ext cx="681323" cy="273844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725">
                <a:solidFill>
                  <a:srgbClr val="000000"/>
                </a:solidFill>
                <a:latin typeface="Liberation Serif"/>
              </a:rPr>
              <a:t>Layers</a:t>
            </a:r>
          </a:p>
        </p:txBody>
      </p:sp>
      <p:sp>
        <p:nvSpPr>
          <p:cNvPr id="68" name="TextBox 67"/>
          <p:cNvSpPr txBox="1"/>
          <p:nvPr/>
        </p:nvSpPr>
        <p:spPr>
          <a:xfrm rot="16200000">
            <a:off x="2732722" y="4014788"/>
            <a:ext cx="611505" cy="23812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500">
                <a:solidFill>
                  <a:srgbClr val="000000"/>
                </a:solidFill>
                <a:latin typeface="Liberation Serif"/>
              </a:rPr>
              <a:t>Möbius</a:t>
            </a:r>
          </a:p>
        </p:txBody>
      </p:sp>
      <p:sp>
        <p:nvSpPr>
          <p:cNvPr id="69" name="TextBox 68"/>
          <p:cNvSpPr txBox="1"/>
          <p:nvPr/>
        </p:nvSpPr>
        <p:spPr>
          <a:xfrm rot="16200000">
            <a:off x="2803208" y="4014788"/>
            <a:ext cx="984885" cy="23812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500">
                <a:solidFill>
                  <a:srgbClr val="000000"/>
                </a:solidFill>
                <a:latin typeface="Liberation Serif"/>
              </a:rPr>
              <a:t>Parameters</a:t>
            </a:r>
          </a:p>
        </p:txBody>
      </p:sp>
      <p:sp>
        <p:nvSpPr>
          <p:cNvPr id="70" name="freeform-70"/>
          <p:cNvSpPr/>
          <p:nvPr/>
        </p:nvSpPr>
        <p:spPr>
          <a:xfrm>
            <a:off x="447675" y="4276725"/>
            <a:ext cx="95" cy="1028700"/>
          </a:xfrm>
          <a:custGeom>
            <a:avLst/>
            <a:gdLst/>
            <a:ahLst/>
            <a:cxnLst/>
            <a:rect l="0" t="0" r="0" b="0"/>
            <a:pathLst>
              <a:path w="95" h="1028700">
                <a:moveTo>
                  <a:pt x="0" y="0"/>
                </a:moveTo>
                <a:lnTo>
                  <a:pt x="0" y="1028700"/>
                </a:lnTo>
              </a:path>
            </a:pathLst>
          </a:custGeom>
          <a:noFill/>
          <a:ln w="38100">
            <a:solidFill>
              <a:srgbClr val="DADADA"/>
            </a:solidFill>
            <a:prstDash val="sysDash"/>
          </a:ln>
        </p:spPr>
      </p:sp>
      <p:sp>
        <p:nvSpPr>
          <p:cNvPr id="71" name="freeform-71"/>
          <p:cNvSpPr/>
          <p:nvPr/>
        </p:nvSpPr>
        <p:spPr>
          <a:xfrm>
            <a:off x="3629025" y="4276725"/>
            <a:ext cx="95" cy="1028700"/>
          </a:xfrm>
          <a:custGeom>
            <a:avLst/>
            <a:gdLst/>
            <a:ahLst/>
            <a:cxnLst/>
            <a:rect l="0" t="0" r="0" b="0"/>
            <a:pathLst>
              <a:path w="95" h="1028700">
                <a:moveTo>
                  <a:pt x="0" y="0"/>
                </a:moveTo>
                <a:lnTo>
                  <a:pt x="0" y="1028700"/>
                </a:lnTo>
              </a:path>
            </a:pathLst>
          </a:custGeom>
          <a:noFill/>
          <a:ln w="38100">
            <a:solidFill>
              <a:srgbClr val="DADADA"/>
            </a:solidFill>
            <a:prstDash val="sysDash"/>
          </a:ln>
        </p:spPr>
      </p:sp>
      <p:sp>
        <p:nvSpPr>
          <p:cNvPr id="72" name="freeform-72"/>
          <p:cNvSpPr/>
          <p:nvPr/>
        </p:nvSpPr>
        <p:spPr>
          <a:xfrm>
            <a:off x="447675" y="5305425"/>
            <a:ext cx="3181350" cy="390525"/>
          </a:xfrm>
          <a:custGeom>
            <a:avLst/>
            <a:gdLst/>
            <a:ahLst/>
            <a:cxnLst/>
            <a:rect l="0" t="0" r="0" b="0"/>
            <a:pathLst>
              <a:path w="3181350" h="390525">
                <a:moveTo>
                  <a:pt x="0" y="0"/>
                </a:moveTo>
                <a:cubicBezTo>
                  <a:pt x="0" y="139700"/>
                  <a:pt x="19050" y="209550"/>
                  <a:pt x="57150" y="209550"/>
                </a:cubicBezTo>
                <a:lnTo>
                  <a:pt x="1524000" y="209550"/>
                </a:lnTo>
                <a:cubicBezTo>
                  <a:pt x="1562100" y="209550"/>
                  <a:pt x="1581150" y="269875"/>
                  <a:pt x="1581150" y="390525"/>
                </a:cubicBezTo>
                <a:cubicBezTo>
                  <a:pt x="1581150" y="269875"/>
                  <a:pt x="1600200" y="209550"/>
                  <a:pt x="1638300" y="209550"/>
                </a:cubicBezTo>
                <a:lnTo>
                  <a:pt x="3124200" y="209550"/>
                </a:lnTo>
                <a:cubicBezTo>
                  <a:pt x="3162300" y="209550"/>
                  <a:pt x="3181350" y="139700"/>
                  <a:pt x="3181350" y="0"/>
                </a:cubicBezTo>
              </a:path>
            </a:pathLst>
          </a:custGeom>
          <a:noFill/>
          <a:ln w="38100" cap="rnd">
            <a:solidFill>
              <a:srgbClr val="7E7F7E"/>
            </a:solidFill>
          </a:ln>
        </p:spPr>
      </p:sp>
      <p:sp>
        <p:nvSpPr>
          <p:cNvPr id="73" name="TextBox 72"/>
          <p:cNvSpPr txBox="1"/>
          <p:nvPr/>
        </p:nvSpPr>
        <p:spPr>
          <a:xfrm>
            <a:off x="1330833" y="5812155"/>
            <a:ext cx="1415034" cy="28575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>
                <a:solidFill>
                  <a:srgbClr val="000000"/>
                </a:solidFill>
                <a:latin typeface="Liberation Serif"/>
              </a:rPr>
              <a:t>MLP Network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514850" y="676275"/>
            <a:ext cx="1381125" cy="638175"/>
          </a:xfrm>
          <a:prstGeom prst="roundRect">
            <a:avLst>
              <a:gd name="adj" fmla="val 11940"/>
            </a:avLst>
          </a:prstGeom>
          <a:solidFill>
            <a:srgbClr val="E7F7FD"/>
          </a:solidFill>
          <a:ln w="38100">
            <a:solidFill>
              <a:srgbClr val="60CB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705017" y="761524"/>
            <a:ext cx="1000792" cy="2262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425" i="1">
                <a:solidFill>
                  <a:srgbClr val="000000"/>
                </a:solidFill>
                <a:latin typeface="Liberation Serif"/>
              </a:rPr>
              <a:t>GT Answers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87969" y="1018222"/>
            <a:ext cx="234887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 i="1">
                <a:solidFill>
                  <a:srgbClr val="000000"/>
                </a:solidFill>
                <a:latin typeface="STIXGeneral"/>
              </a:rPr>
              <a:t>y</a:t>
            </a:r>
            <a:r>
              <a:rPr sz="900" i="1" baseline="-25000">
                <a:solidFill>
                  <a:srgbClr val="000000"/>
                </a:solidFill>
                <a:latin typeface="STIXGeneral"/>
              </a:rPr>
              <a:t>gt</a:t>
            </a:r>
          </a:p>
        </p:txBody>
      </p:sp>
      <p:sp>
        <p:nvSpPr>
          <p:cNvPr id="77" name="freeform-77"/>
          <p:cNvSpPr/>
          <p:nvPr/>
        </p:nvSpPr>
        <p:spPr>
          <a:xfrm>
            <a:off x="5895975" y="990600"/>
            <a:ext cx="1276350" cy="95"/>
          </a:xfrm>
          <a:custGeom>
            <a:avLst/>
            <a:gdLst/>
            <a:ahLst/>
            <a:cxnLst/>
            <a:rect l="0" t="0" r="0" b="0"/>
            <a:pathLst>
              <a:path w="1276350" h="95">
                <a:moveTo>
                  <a:pt x="0" y="0"/>
                </a:moveTo>
                <a:lnTo>
                  <a:pt x="1276350" y="0"/>
                </a:lnTo>
              </a:path>
            </a:pathLst>
          </a:custGeom>
          <a:noFill/>
          <a:ln w="38100" cap="sq">
            <a:solidFill>
              <a:srgbClr val="4E94D9"/>
            </a:solidFill>
          </a:ln>
        </p:spPr>
      </p:sp>
      <p:sp>
        <p:nvSpPr>
          <p:cNvPr id="78" name="freeform-78"/>
          <p:cNvSpPr/>
          <p:nvPr/>
        </p:nvSpPr>
        <p:spPr>
          <a:xfrm>
            <a:off x="7107555" y="950595"/>
            <a:ext cx="64770" cy="80010"/>
          </a:xfrm>
          <a:custGeom>
            <a:avLst/>
            <a:gdLst/>
            <a:ahLst/>
            <a:cxnLst/>
            <a:rect l="0" t="0" r="0" b="0"/>
            <a:pathLst>
              <a:path w="64770" h="80010">
                <a:moveTo>
                  <a:pt x="0" y="0"/>
                </a:moveTo>
                <a:lnTo>
                  <a:pt x="64770" y="40005"/>
                </a:lnTo>
                <a:lnTo>
                  <a:pt x="0" y="80010"/>
                </a:lnTo>
              </a:path>
            </a:pathLst>
          </a:custGeom>
          <a:noFill/>
          <a:ln w="38100" cap="rnd">
            <a:solidFill>
              <a:srgbClr val="4E94D9"/>
            </a:solidFill>
          </a:ln>
        </p:spPr>
      </p:sp>
      <p:sp>
        <p:nvSpPr>
          <p:cNvPr id="79" name="Rounded Rectangle 78"/>
          <p:cNvSpPr/>
          <p:nvPr/>
        </p:nvSpPr>
        <p:spPr>
          <a:xfrm>
            <a:off x="7200900" y="752475"/>
            <a:ext cx="1600200" cy="476250"/>
          </a:xfrm>
          <a:prstGeom prst="roundRect">
            <a:avLst>
              <a:gd name="adj" fmla="val 20000"/>
            </a:avLst>
          </a:prstGeom>
          <a:solidFill>
            <a:srgbClr val="FF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232904" y="859155"/>
            <a:ext cx="1536192" cy="28575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Liberation Serif"/>
              </a:rPr>
              <a:t>Semantic Loss</a:t>
            </a:r>
          </a:p>
        </p:txBody>
      </p:sp>
      <p:sp>
        <p:nvSpPr>
          <p:cNvPr id="81" name="freeform-81"/>
          <p:cNvSpPr/>
          <p:nvPr/>
        </p:nvSpPr>
        <p:spPr>
          <a:xfrm>
            <a:off x="8820150" y="990600"/>
            <a:ext cx="1381125" cy="95"/>
          </a:xfrm>
          <a:custGeom>
            <a:avLst/>
            <a:gdLst/>
            <a:ahLst/>
            <a:cxnLst/>
            <a:rect l="0" t="0" r="0" b="0"/>
            <a:pathLst>
              <a:path w="1381125" h="95">
                <a:moveTo>
                  <a:pt x="1381125" y="0"/>
                </a:moveTo>
                <a:lnTo>
                  <a:pt x="0" y="0"/>
                </a:lnTo>
              </a:path>
            </a:pathLst>
          </a:custGeom>
          <a:noFill/>
          <a:ln w="38100" cap="sq">
            <a:solidFill>
              <a:srgbClr val="4E94D9"/>
            </a:solidFill>
          </a:ln>
        </p:spPr>
      </p:sp>
      <p:sp>
        <p:nvSpPr>
          <p:cNvPr id="82" name="freeform-82"/>
          <p:cNvSpPr/>
          <p:nvPr/>
        </p:nvSpPr>
        <p:spPr>
          <a:xfrm>
            <a:off x="8820150" y="950595"/>
            <a:ext cx="64770" cy="80010"/>
          </a:xfrm>
          <a:custGeom>
            <a:avLst/>
            <a:gdLst/>
            <a:ahLst/>
            <a:cxnLst/>
            <a:rect l="0" t="0" r="0" b="0"/>
            <a:pathLst>
              <a:path w="64770" h="80010">
                <a:moveTo>
                  <a:pt x="64770" y="80010"/>
                </a:moveTo>
                <a:lnTo>
                  <a:pt x="0" y="40005"/>
                </a:lnTo>
                <a:lnTo>
                  <a:pt x="64770" y="0"/>
                </a:lnTo>
              </a:path>
            </a:pathLst>
          </a:custGeom>
          <a:noFill/>
          <a:ln w="38100" cap="rnd">
            <a:solidFill>
              <a:srgbClr val="4E94D9"/>
            </a:solidFill>
          </a:ln>
        </p:spPr>
      </p:sp>
      <p:sp>
        <p:nvSpPr>
          <p:cNvPr id="83" name="TextBox 82"/>
          <p:cNvSpPr txBox="1"/>
          <p:nvPr/>
        </p:nvSpPr>
        <p:spPr>
          <a:xfrm>
            <a:off x="7230666" y="1621631"/>
            <a:ext cx="1635919" cy="29765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75">
                <a:solidFill>
                  <a:srgbClr val="000000"/>
                </a:solidFill>
                <a:latin typeface="Liberation Serif"/>
              </a:rPr>
              <a:t>Sampled Image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696295" y="1923098"/>
            <a:ext cx="704660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 i="1">
                <a:solidFill>
                  <a:srgbClr val="000000"/>
                </a:solidFill>
                <a:latin typeface="STIXGeneral"/>
              </a:rPr>
              <a:t>Î = E</a:t>
            </a:r>
            <a:r>
              <a:rPr sz="900" i="1" baseline="-25000">
                <a:solidFill>
                  <a:srgbClr val="000000"/>
                </a:solidFill>
                <a:latin typeface="STIXGeneral"/>
              </a:rPr>
              <a:t>θ</a:t>
            </a:r>
            <a:r>
              <a:rPr sz="1350" i="1">
                <a:solidFill>
                  <a:srgbClr val="000000"/>
                </a:solidFill>
                <a:latin typeface="STIXGeneral"/>
              </a:rPr>
              <a:t>(I)</a:t>
            </a:r>
          </a:p>
        </p:txBody>
      </p:sp>
      <p:pic>
        <p:nvPicPr>
          <p:cNvPr id="85" name="Picture 8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3750" y="2190750"/>
            <a:ext cx="1809750" cy="1228725"/>
          </a:xfrm>
          <a:prstGeom prst="rect">
            <a:avLst/>
          </a:prstGeom>
        </p:spPr>
      </p:pic>
      <p:sp>
        <p:nvSpPr>
          <p:cNvPr id="86" name="freeform-86"/>
          <p:cNvSpPr/>
          <p:nvPr/>
        </p:nvSpPr>
        <p:spPr>
          <a:xfrm>
            <a:off x="8953500" y="2505075"/>
            <a:ext cx="381000" cy="95"/>
          </a:xfrm>
          <a:custGeom>
            <a:avLst/>
            <a:gdLst/>
            <a:ahLst/>
            <a:cxnLst/>
            <a:rect l="0" t="0" r="0" b="0"/>
            <a:pathLst>
              <a:path w="381000" h="95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w="38100" cap="sq">
            <a:solidFill>
              <a:srgbClr val="4E94D9"/>
            </a:solidFill>
          </a:ln>
        </p:spPr>
      </p:sp>
      <p:sp>
        <p:nvSpPr>
          <p:cNvPr id="87" name="freeform-87"/>
          <p:cNvSpPr/>
          <p:nvPr/>
        </p:nvSpPr>
        <p:spPr>
          <a:xfrm>
            <a:off x="9269730" y="2465070"/>
            <a:ext cx="64770" cy="80010"/>
          </a:xfrm>
          <a:custGeom>
            <a:avLst/>
            <a:gdLst/>
            <a:ahLst/>
            <a:cxnLst/>
            <a:rect l="0" t="0" r="0" b="0"/>
            <a:pathLst>
              <a:path w="64770" h="80010">
                <a:moveTo>
                  <a:pt x="0" y="0"/>
                </a:moveTo>
                <a:lnTo>
                  <a:pt x="64770" y="40005"/>
                </a:lnTo>
                <a:lnTo>
                  <a:pt x="0" y="80010"/>
                </a:lnTo>
              </a:path>
            </a:pathLst>
          </a:custGeom>
          <a:noFill/>
          <a:ln w="38100" cap="rnd">
            <a:solidFill>
              <a:srgbClr val="4E94D9"/>
            </a:solidFill>
          </a:ln>
        </p:spPr>
      </p:sp>
      <p:sp>
        <p:nvSpPr>
          <p:cNvPr id="88" name="freeform-88"/>
          <p:cNvSpPr/>
          <p:nvPr/>
        </p:nvSpPr>
        <p:spPr>
          <a:xfrm>
            <a:off x="8048625" y="3419475"/>
            <a:ext cx="95" cy="533400"/>
          </a:xfrm>
          <a:custGeom>
            <a:avLst/>
            <a:gdLst/>
            <a:ahLst/>
            <a:cxnLst/>
            <a:rect l="0" t="0" r="0" b="0"/>
            <a:pathLst>
              <a:path w="95" h="533400">
                <a:moveTo>
                  <a:pt x="0" y="0"/>
                </a:moveTo>
                <a:lnTo>
                  <a:pt x="0" y="533400"/>
                </a:lnTo>
              </a:path>
            </a:pathLst>
          </a:custGeom>
          <a:noFill/>
          <a:ln w="38100" cap="sq">
            <a:solidFill>
              <a:srgbClr val="4E94D9"/>
            </a:solidFill>
          </a:ln>
        </p:spPr>
      </p:sp>
      <p:sp>
        <p:nvSpPr>
          <p:cNvPr id="89" name="freeform-89"/>
          <p:cNvSpPr/>
          <p:nvPr/>
        </p:nvSpPr>
        <p:spPr>
          <a:xfrm>
            <a:off x="8008620" y="3888105"/>
            <a:ext cx="80010" cy="64770"/>
          </a:xfrm>
          <a:custGeom>
            <a:avLst/>
            <a:gdLst/>
            <a:ahLst/>
            <a:cxnLst/>
            <a:rect l="0" t="0" r="0" b="0"/>
            <a:pathLst>
              <a:path w="80010" h="64770">
                <a:moveTo>
                  <a:pt x="80010" y="0"/>
                </a:moveTo>
                <a:lnTo>
                  <a:pt x="40005" y="64770"/>
                </a:lnTo>
                <a:lnTo>
                  <a:pt x="0" y="0"/>
                </a:lnTo>
              </a:path>
            </a:pathLst>
          </a:custGeom>
          <a:noFill/>
          <a:ln w="38100" cap="rnd">
            <a:solidFill>
              <a:srgbClr val="4E94D9"/>
            </a:solidFill>
          </a:ln>
        </p:spPr>
      </p:sp>
      <p:sp>
        <p:nvSpPr>
          <p:cNvPr id="90" name="Rounded Rectangle 89"/>
          <p:cNvSpPr/>
          <p:nvPr/>
        </p:nvSpPr>
        <p:spPr>
          <a:xfrm>
            <a:off x="7058025" y="3971925"/>
            <a:ext cx="1990725" cy="581025"/>
          </a:xfrm>
          <a:prstGeom prst="roundRect">
            <a:avLst>
              <a:gd name="adj" fmla="val 16393"/>
            </a:avLst>
          </a:prstGeom>
          <a:solidFill>
            <a:srgbClr val="FF8080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222426" y="4135755"/>
            <a:ext cx="1661922" cy="28575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Liberation Serif"/>
              </a:rPr>
              <a:t>Perceptual Loss</a:t>
            </a:r>
          </a:p>
        </p:txBody>
      </p:sp>
      <p:sp>
        <p:nvSpPr>
          <p:cNvPr id="92" name="freeform-92"/>
          <p:cNvSpPr/>
          <p:nvPr/>
        </p:nvSpPr>
        <p:spPr>
          <a:xfrm>
            <a:off x="6219825" y="4562475"/>
            <a:ext cx="1838325" cy="447675"/>
          </a:xfrm>
          <a:custGeom>
            <a:avLst/>
            <a:gdLst/>
            <a:ahLst/>
            <a:cxnLst/>
            <a:rect l="0" t="0" r="0" b="0"/>
            <a:pathLst>
              <a:path w="1838325" h="447675">
                <a:moveTo>
                  <a:pt x="0" y="447675"/>
                </a:moveTo>
                <a:lnTo>
                  <a:pt x="1838325" y="447675"/>
                </a:lnTo>
                <a:lnTo>
                  <a:pt x="1838325" y="0"/>
                </a:lnTo>
              </a:path>
            </a:pathLst>
          </a:custGeom>
          <a:noFill/>
          <a:ln w="38100" cap="sq">
            <a:solidFill>
              <a:srgbClr val="4E94D9"/>
            </a:solidFill>
          </a:ln>
        </p:spPr>
      </p:sp>
      <p:sp>
        <p:nvSpPr>
          <p:cNvPr id="93" name="freeform-93"/>
          <p:cNvSpPr/>
          <p:nvPr/>
        </p:nvSpPr>
        <p:spPr>
          <a:xfrm>
            <a:off x="8018145" y="4562475"/>
            <a:ext cx="80010" cy="64770"/>
          </a:xfrm>
          <a:custGeom>
            <a:avLst/>
            <a:gdLst/>
            <a:ahLst/>
            <a:cxnLst/>
            <a:rect l="0" t="0" r="0" b="0"/>
            <a:pathLst>
              <a:path w="80010" h="64770">
                <a:moveTo>
                  <a:pt x="0" y="64770"/>
                </a:moveTo>
                <a:lnTo>
                  <a:pt x="40005" y="0"/>
                </a:lnTo>
                <a:lnTo>
                  <a:pt x="80010" y="64770"/>
                </a:lnTo>
              </a:path>
            </a:pathLst>
          </a:custGeom>
          <a:noFill/>
          <a:ln w="38100" cap="rnd">
            <a:solidFill>
              <a:srgbClr val="4E94D9"/>
            </a:solidFill>
          </a:ln>
        </p:spPr>
      </p:sp>
      <p:sp>
        <p:nvSpPr>
          <p:cNvPr id="94" name="TextBox 93"/>
          <p:cNvSpPr txBox="1"/>
          <p:nvPr/>
        </p:nvSpPr>
        <p:spPr>
          <a:xfrm rot="16200000">
            <a:off x="6208395" y="3633788"/>
            <a:ext cx="441960" cy="23812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500" i="1">
                <a:solidFill>
                  <a:srgbClr val="000000"/>
                </a:solidFill>
                <a:latin typeface="STIXGeneral"/>
              </a:rPr>
              <a:t>ℒ</a:t>
            </a:r>
            <a:r>
              <a:rPr sz="975" i="1" baseline="-25000">
                <a:solidFill>
                  <a:srgbClr val="000000"/>
                </a:solidFill>
                <a:latin typeface="STIXGeneral"/>
              </a:rPr>
              <a:t>img</a:t>
            </a:r>
          </a:p>
        </p:txBody>
      </p:sp>
      <p:pic>
        <p:nvPicPr>
          <p:cNvPr id="95" name="Picture 9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0075" y="4400550"/>
            <a:ext cx="1809750" cy="1219200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4722876" y="5640705"/>
            <a:ext cx="1184148" cy="285750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800">
                <a:solidFill>
                  <a:srgbClr val="000000"/>
                </a:solidFill>
                <a:latin typeface="Liberation Serif"/>
              </a:rPr>
              <a:t>Input Image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283518" y="5935028"/>
            <a:ext cx="62865" cy="261938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650" i="1">
                <a:solidFill>
                  <a:srgbClr val="000000"/>
                </a:solidFill>
                <a:latin typeface="Liberation Serif"/>
              </a:rPr>
              <a:t>I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353550" y="1790700"/>
            <a:ext cx="3390900" cy="2181225"/>
          </a:xfrm>
          <a:prstGeom prst="roundRect">
            <a:avLst>
              <a:gd name="adj" fmla="val 9170"/>
            </a:avLst>
          </a:prstGeom>
          <a:solidFill>
            <a:srgbClr val="FFFFFF"/>
          </a:solidFill>
          <a:ln w="38100">
            <a:solidFill>
              <a:srgbClr val="C2F1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9525000" y="1924050"/>
            <a:ext cx="3057525" cy="590550"/>
          </a:xfrm>
          <a:prstGeom prst="roundRect">
            <a:avLst>
              <a:gd name="adj" fmla="val 19354"/>
            </a:avLst>
          </a:prstGeom>
          <a:solidFill>
            <a:srgbClr val="F5F9FC">
              <a:alpha val="80000"/>
            </a:srgbClr>
          </a:solidFill>
          <a:ln w="28575">
            <a:solidFill>
              <a:srgbClr val="EEFBEF">
                <a:alpha val="8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127075" y="2132648"/>
            <a:ext cx="1853374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>
                <a:solidFill>
                  <a:srgbClr val="BDBDBD"/>
                </a:solidFill>
                <a:latin typeface="Liberation Serif"/>
              </a:rPr>
              <a:t>Self and Cross Attention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525000" y="2771775"/>
            <a:ext cx="276225" cy="295275"/>
          </a:xfrm>
          <a:prstGeom prst="rect">
            <a:avLst/>
          </a:prstGeom>
          <a:solidFill>
            <a:srgbClr val="FDF7F3">
              <a:alpha val="78000"/>
            </a:srgbClr>
          </a:solidFill>
          <a:ln w="19050">
            <a:solidFill>
              <a:srgbClr val="EEFBEF">
                <a:alpha val="7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829800" y="2771775"/>
            <a:ext cx="276225" cy="295275"/>
          </a:xfrm>
          <a:prstGeom prst="rect">
            <a:avLst/>
          </a:prstGeom>
          <a:solidFill>
            <a:srgbClr val="FDF7F3">
              <a:alpha val="78000"/>
            </a:srgbClr>
          </a:solidFill>
          <a:ln w="19050">
            <a:solidFill>
              <a:srgbClr val="EEFBEF">
                <a:alpha val="7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134600" y="2771775"/>
            <a:ext cx="276225" cy="295275"/>
          </a:xfrm>
          <a:prstGeom prst="rect">
            <a:avLst/>
          </a:prstGeom>
          <a:solidFill>
            <a:srgbClr val="FDF7F3">
              <a:alpha val="78000"/>
            </a:srgbClr>
          </a:solidFill>
          <a:ln w="19050">
            <a:solidFill>
              <a:srgbClr val="EEFBEF">
                <a:alpha val="7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439400" y="2771775"/>
            <a:ext cx="276225" cy="295275"/>
          </a:xfrm>
          <a:prstGeom prst="rect">
            <a:avLst/>
          </a:prstGeom>
          <a:solidFill>
            <a:srgbClr val="FDF7F3">
              <a:alpha val="78000"/>
            </a:srgbClr>
          </a:solidFill>
          <a:ln w="19050">
            <a:solidFill>
              <a:srgbClr val="EEFBEF">
                <a:alpha val="7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744200" y="2771775"/>
            <a:ext cx="276225" cy="295275"/>
          </a:xfrm>
          <a:prstGeom prst="rect">
            <a:avLst/>
          </a:prstGeom>
          <a:solidFill>
            <a:srgbClr val="FDF7F3">
              <a:alpha val="78000"/>
            </a:srgbClr>
          </a:solidFill>
          <a:ln w="19050">
            <a:solidFill>
              <a:srgbClr val="EEFBEF">
                <a:alpha val="7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1049000" y="2771775"/>
            <a:ext cx="276225" cy="295275"/>
          </a:xfrm>
          <a:prstGeom prst="rect">
            <a:avLst/>
          </a:prstGeom>
          <a:solidFill>
            <a:srgbClr val="FDF7F3">
              <a:alpha val="78000"/>
            </a:srgbClr>
          </a:solidFill>
          <a:ln w="19050">
            <a:solidFill>
              <a:srgbClr val="EEFBEF">
                <a:alpha val="7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1353800" y="2771775"/>
            <a:ext cx="276225" cy="295275"/>
          </a:xfrm>
          <a:prstGeom prst="rect">
            <a:avLst/>
          </a:prstGeom>
          <a:solidFill>
            <a:srgbClr val="FDF7F3">
              <a:alpha val="78000"/>
            </a:srgbClr>
          </a:solidFill>
          <a:ln w="19050">
            <a:solidFill>
              <a:srgbClr val="EEFBEF">
                <a:alpha val="7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1658600" y="2771775"/>
            <a:ext cx="276225" cy="295275"/>
          </a:xfrm>
          <a:prstGeom prst="rect">
            <a:avLst/>
          </a:prstGeom>
          <a:solidFill>
            <a:srgbClr val="FDF7F3">
              <a:alpha val="78000"/>
            </a:srgbClr>
          </a:solidFill>
          <a:ln w="19050">
            <a:solidFill>
              <a:srgbClr val="EEFBEF">
                <a:alpha val="7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1963400" y="2771775"/>
            <a:ext cx="276225" cy="295275"/>
          </a:xfrm>
          <a:prstGeom prst="rect">
            <a:avLst/>
          </a:prstGeom>
          <a:solidFill>
            <a:srgbClr val="FDF7F3">
              <a:alpha val="78000"/>
            </a:srgbClr>
          </a:solidFill>
          <a:ln w="19050">
            <a:solidFill>
              <a:srgbClr val="EEFBEF">
                <a:alpha val="7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2268200" y="2771775"/>
            <a:ext cx="276225" cy="295275"/>
          </a:xfrm>
          <a:prstGeom prst="rect">
            <a:avLst/>
          </a:prstGeom>
          <a:solidFill>
            <a:srgbClr val="FDF7F3">
              <a:alpha val="78000"/>
            </a:srgbClr>
          </a:solidFill>
          <a:ln w="19050">
            <a:solidFill>
              <a:srgbClr val="EEFBEF">
                <a:alpha val="78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9486900" y="3333750"/>
            <a:ext cx="1447800" cy="485775"/>
          </a:xfrm>
          <a:prstGeom prst="roundRect">
            <a:avLst>
              <a:gd name="adj" fmla="val 19607"/>
            </a:avLst>
          </a:prstGeom>
          <a:solidFill>
            <a:srgbClr val="EAF7E5">
              <a:alpha val="92000"/>
            </a:srgbClr>
          </a:solidFill>
          <a:ln w="28575">
            <a:solidFill>
              <a:srgbClr val="EEFBEF">
                <a:alpha val="9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11163300" y="3333750"/>
            <a:ext cx="1447800" cy="485775"/>
          </a:xfrm>
          <a:prstGeom prst="roundRect">
            <a:avLst>
              <a:gd name="adj" fmla="val 19607"/>
            </a:avLst>
          </a:prstGeom>
          <a:solidFill>
            <a:srgbClr val="EAF7E5">
              <a:alpha val="92000"/>
            </a:srgbClr>
          </a:solidFill>
          <a:ln w="28575">
            <a:solidFill>
              <a:srgbClr val="EEFBEF">
                <a:alpha val="9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636442" y="3485198"/>
            <a:ext cx="1148715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>
                <a:solidFill>
                  <a:srgbClr val="BDBDBD"/>
                </a:solidFill>
                <a:latin typeface="Liberation Serif"/>
              </a:rPr>
              <a:t>Visual Encoder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377136" y="3485198"/>
            <a:ext cx="1020128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>
                <a:solidFill>
                  <a:srgbClr val="BDBDBD"/>
                </a:solidFill>
                <a:latin typeface="Liberation Serif"/>
              </a:rPr>
              <a:t>Text Encoder</a:t>
            </a:r>
          </a:p>
        </p:txBody>
      </p:sp>
      <p:sp>
        <p:nvSpPr>
          <p:cNvPr id="115" name="freeform-115"/>
          <p:cNvSpPr/>
          <p:nvPr/>
        </p:nvSpPr>
        <p:spPr>
          <a:xfrm>
            <a:off x="10210800" y="3086100"/>
            <a:ext cx="95" cy="247650"/>
          </a:xfrm>
          <a:custGeom>
            <a:avLst/>
            <a:gdLst/>
            <a:ahLst/>
            <a:cxnLst/>
            <a:rect l="0" t="0" r="0" b="0"/>
            <a:pathLst>
              <a:path w="95" h="247650">
                <a:moveTo>
                  <a:pt x="0" y="247650"/>
                </a:moveTo>
                <a:lnTo>
                  <a:pt x="0" y="0"/>
                </a:lnTo>
              </a:path>
            </a:pathLst>
          </a:custGeom>
          <a:noFill/>
          <a:ln w="23812" cap="sq">
            <a:solidFill>
              <a:srgbClr val="EEFBEF">
                <a:alpha val="95000"/>
              </a:srgbClr>
            </a:solidFill>
          </a:ln>
        </p:spPr>
      </p:sp>
      <p:sp>
        <p:nvSpPr>
          <p:cNvPr id="116" name="freeform-116"/>
          <p:cNvSpPr/>
          <p:nvPr/>
        </p:nvSpPr>
        <p:spPr>
          <a:xfrm>
            <a:off x="10180320" y="3086100"/>
            <a:ext cx="60960" cy="48578"/>
          </a:xfrm>
          <a:custGeom>
            <a:avLst/>
            <a:gdLst/>
            <a:ahLst/>
            <a:cxnLst/>
            <a:rect l="0" t="0" r="0" b="0"/>
            <a:pathLst>
              <a:path w="60960" h="48578">
                <a:moveTo>
                  <a:pt x="0" y="48578"/>
                </a:moveTo>
                <a:lnTo>
                  <a:pt x="30480" y="0"/>
                </a:lnTo>
                <a:lnTo>
                  <a:pt x="60960" y="48578"/>
                </a:lnTo>
              </a:path>
            </a:pathLst>
          </a:custGeom>
          <a:noFill/>
          <a:ln w="23812" cap="rnd">
            <a:solidFill>
              <a:srgbClr val="EEFBEF">
                <a:alpha val="95000"/>
              </a:srgbClr>
            </a:solidFill>
          </a:ln>
        </p:spPr>
      </p:sp>
      <p:sp>
        <p:nvSpPr>
          <p:cNvPr id="117" name="freeform-117"/>
          <p:cNvSpPr/>
          <p:nvPr/>
        </p:nvSpPr>
        <p:spPr>
          <a:xfrm>
            <a:off x="11887200" y="3086100"/>
            <a:ext cx="95" cy="247650"/>
          </a:xfrm>
          <a:custGeom>
            <a:avLst/>
            <a:gdLst/>
            <a:ahLst/>
            <a:cxnLst/>
            <a:rect l="0" t="0" r="0" b="0"/>
            <a:pathLst>
              <a:path w="95" h="247650">
                <a:moveTo>
                  <a:pt x="0" y="247650"/>
                </a:moveTo>
                <a:lnTo>
                  <a:pt x="0" y="0"/>
                </a:lnTo>
              </a:path>
            </a:pathLst>
          </a:custGeom>
          <a:noFill/>
          <a:ln w="23812" cap="sq">
            <a:solidFill>
              <a:srgbClr val="EEFBEF">
                <a:alpha val="95000"/>
              </a:srgbClr>
            </a:solidFill>
          </a:ln>
        </p:spPr>
      </p:sp>
      <p:sp>
        <p:nvSpPr>
          <p:cNvPr id="118" name="freeform-118"/>
          <p:cNvSpPr/>
          <p:nvPr/>
        </p:nvSpPr>
        <p:spPr>
          <a:xfrm>
            <a:off x="11856720" y="3086100"/>
            <a:ext cx="60960" cy="48578"/>
          </a:xfrm>
          <a:custGeom>
            <a:avLst/>
            <a:gdLst/>
            <a:ahLst/>
            <a:cxnLst/>
            <a:rect l="0" t="0" r="0" b="0"/>
            <a:pathLst>
              <a:path w="60960" h="48578">
                <a:moveTo>
                  <a:pt x="0" y="48578"/>
                </a:moveTo>
                <a:lnTo>
                  <a:pt x="30480" y="0"/>
                </a:lnTo>
                <a:lnTo>
                  <a:pt x="60960" y="48578"/>
                </a:lnTo>
              </a:path>
            </a:pathLst>
          </a:custGeom>
          <a:noFill/>
          <a:ln w="23812" cap="rnd">
            <a:solidFill>
              <a:srgbClr val="EEFBEF">
                <a:alpha val="95000"/>
              </a:srgbClr>
            </a:solidFill>
          </a:ln>
        </p:spPr>
      </p:sp>
      <p:sp>
        <p:nvSpPr>
          <p:cNvPr id="119" name="freeform-119"/>
          <p:cNvSpPr/>
          <p:nvPr/>
        </p:nvSpPr>
        <p:spPr>
          <a:xfrm>
            <a:off x="10210800" y="2533650"/>
            <a:ext cx="95" cy="238125"/>
          </a:xfrm>
          <a:custGeom>
            <a:avLst/>
            <a:gdLst/>
            <a:ahLst/>
            <a:cxnLst/>
            <a:rect l="0" t="0" r="0" b="0"/>
            <a:pathLst>
              <a:path w="95" h="238125">
                <a:moveTo>
                  <a:pt x="0" y="238125"/>
                </a:moveTo>
                <a:lnTo>
                  <a:pt x="0" y="0"/>
                </a:lnTo>
              </a:path>
            </a:pathLst>
          </a:custGeom>
          <a:noFill/>
          <a:ln w="23812" cap="sq">
            <a:solidFill>
              <a:srgbClr val="EEFBEF">
                <a:alpha val="95000"/>
              </a:srgbClr>
            </a:solidFill>
          </a:ln>
        </p:spPr>
      </p:sp>
      <p:sp>
        <p:nvSpPr>
          <p:cNvPr id="120" name="freeform-120"/>
          <p:cNvSpPr/>
          <p:nvPr/>
        </p:nvSpPr>
        <p:spPr>
          <a:xfrm>
            <a:off x="10180320" y="2533650"/>
            <a:ext cx="60960" cy="48578"/>
          </a:xfrm>
          <a:custGeom>
            <a:avLst/>
            <a:gdLst/>
            <a:ahLst/>
            <a:cxnLst/>
            <a:rect l="0" t="0" r="0" b="0"/>
            <a:pathLst>
              <a:path w="60960" h="48578">
                <a:moveTo>
                  <a:pt x="0" y="48578"/>
                </a:moveTo>
                <a:lnTo>
                  <a:pt x="30480" y="0"/>
                </a:lnTo>
                <a:lnTo>
                  <a:pt x="60960" y="48578"/>
                </a:lnTo>
              </a:path>
            </a:pathLst>
          </a:custGeom>
          <a:noFill/>
          <a:ln w="23812" cap="rnd">
            <a:solidFill>
              <a:srgbClr val="EEFBEF">
                <a:alpha val="95000"/>
              </a:srgbClr>
            </a:solidFill>
          </a:ln>
        </p:spPr>
      </p:sp>
      <p:sp>
        <p:nvSpPr>
          <p:cNvPr id="121" name="freeform-121"/>
          <p:cNvSpPr/>
          <p:nvPr/>
        </p:nvSpPr>
        <p:spPr>
          <a:xfrm>
            <a:off x="11887200" y="2533650"/>
            <a:ext cx="95" cy="238125"/>
          </a:xfrm>
          <a:custGeom>
            <a:avLst/>
            <a:gdLst/>
            <a:ahLst/>
            <a:cxnLst/>
            <a:rect l="0" t="0" r="0" b="0"/>
            <a:pathLst>
              <a:path w="95" h="238125">
                <a:moveTo>
                  <a:pt x="0" y="238125"/>
                </a:moveTo>
                <a:lnTo>
                  <a:pt x="0" y="0"/>
                </a:lnTo>
              </a:path>
            </a:pathLst>
          </a:custGeom>
          <a:noFill/>
          <a:ln w="23812" cap="sq">
            <a:solidFill>
              <a:srgbClr val="EEFBEF">
                <a:alpha val="95000"/>
              </a:srgbClr>
            </a:solidFill>
          </a:ln>
        </p:spPr>
      </p:sp>
      <p:sp>
        <p:nvSpPr>
          <p:cNvPr id="122" name="freeform-122"/>
          <p:cNvSpPr/>
          <p:nvPr/>
        </p:nvSpPr>
        <p:spPr>
          <a:xfrm>
            <a:off x="11856720" y="2533650"/>
            <a:ext cx="60960" cy="48578"/>
          </a:xfrm>
          <a:custGeom>
            <a:avLst/>
            <a:gdLst/>
            <a:ahLst/>
            <a:cxnLst/>
            <a:rect l="0" t="0" r="0" b="0"/>
            <a:pathLst>
              <a:path w="60960" h="48578">
                <a:moveTo>
                  <a:pt x="0" y="48578"/>
                </a:moveTo>
                <a:lnTo>
                  <a:pt x="30480" y="0"/>
                </a:lnTo>
                <a:lnTo>
                  <a:pt x="60960" y="48578"/>
                </a:lnTo>
              </a:path>
            </a:pathLst>
          </a:custGeom>
          <a:noFill/>
          <a:ln w="23812" cap="rnd">
            <a:solidFill>
              <a:srgbClr val="EEFBEF">
                <a:alpha val="95000"/>
              </a:srgbClr>
            </a:solidFill>
          </a:ln>
        </p:spPr>
      </p:sp>
      <p:cxnSp>
        <p:nvCxnSpPr>
          <p:cNvPr id="123" name="Connector 122"/>
          <p:cNvCxnSpPr/>
          <p:nvPr/>
        </p:nvCxnSpPr>
        <p:spPr>
          <a:xfrm flipV="1">
            <a:off x="11039475" y="2428875"/>
            <a:ext cx="0" cy="476250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H="1" flipV="1">
            <a:off x="10963275" y="2496502"/>
            <a:ext cx="76200" cy="84773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11039475" y="2496502"/>
            <a:ext cx="76200" cy="84773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H="1" flipV="1">
            <a:off x="10963275" y="2401252"/>
            <a:ext cx="76200" cy="84773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 flipV="1">
            <a:off x="11039475" y="2401252"/>
            <a:ext cx="76200" cy="84773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V="1">
            <a:off x="11039475" y="2667000"/>
            <a:ext cx="412433" cy="238125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11319510" y="2634615"/>
            <a:ext cx="36195" cy="108585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11319510" y="2743200"/>
            <a:ext cx="112395" cy="23812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V="1">
            <a:off x="11402378" y="2586990"/>
            <a:ext cx="35242" cy="108585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11402378" y="2695575"/>
            <a:ext cx="111442" cy="23813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11039475" y="2905125"/>
            <a:ext cx="412433" cy="238125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V="1">
            <a:off x="11319510" y="3043238"/>
            <a:ext cx="112395" cy="23812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11319510" y="3067050"/>
            <a:ext cx="36195" cy="108585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 flipV="1">
            <a:off x="11402378" y="3090862"/>
            <a:ext cx="111442" cy="23813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11402378" y="3114675"/>
            <a:ext cx="35242" cy="108585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11039475" y="2905125"/>
            <a:ext cx="0" cy="476250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11039475" y="3228975"/>
            <a:ext cx="76200" cy="84773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H="1">
            <a:off x="10963275" y="3228975"/>
            <a:ext cx="76200" cy="84773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11039475" y="3324225"/>
            <a:ext cx="76200" cy="84773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H="1">
            <a:off x="10963275" y="3324225"/>
            <a:ext cx="76200" cy="84773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H="1">
            <a:off x="10627042" y="2905125"/>
            <a:ext cx="412433" cy="238125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H="1">
            <a:off x="10723245" y="3067050"/>
            <a:ext cx="36195" cy="108585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H="1" flipV="1">
            <a:off x="10647045" y="3043238"/>
            <a:ext cx="112395" cy="23812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H="1">
            <a:off x="10641330" y="3114675"/>
            <a:ext cx="35242" cy="108585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 flipH="1" flipV="1">
            <a:off x="10565130" y="3090862"/>
            <a:ext cx="111442" cy="23813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 flipH="1" flipV="1">
            <a:off x="10627042" y="2667000"/>
            <a:ext cx="412433" cy="238125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 flipH="1">
            <a:off x="10647045" y="2743200"/>
            <a:ext cx="112395" cy="23812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Connector 149"/>
          <p:cNvCxnSpPr/>
          <p:nvPr/>
        </p:nvCxnSpPr>
        <p:spPr>
          <a:xfrm flipH="1" flipV="1">
            <a:off x="10723245" y="2634615"/>
            <a:ext cx="36195" cy="108585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 150"/>
          <p:cNvCxnSpPr/>
          <p:nvPr/>
        </p:nvCxnSpPr>
        <p:spPr>
          <a:xfrm flipH="1">
            <a:off x="10565130" y="2695575"/>
            <a:ext cx="111442" cy="23813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H="1" flipV="1">
            <a:off x="10641330" y="2586990"/>
            <a:ext cx="35242" cy="108585"/>
          </a:xfrm>
          <a:prstGeom prst="line">
            <a:avLst/>
          </a:prstGeom>
          <a:ln w="71438" cap="rnd">
            <a:solidFill>
              <a:srgbClr val="CDD6DA">
                <a:alpha val="72000"/>
              </a:srgb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11039475" y="2428875"/>
            <a:ext cx="0" cy="476250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H="1" flipV="1">
            <a:off x="10963275" y="2496502"/>
            <a:ext cx="76200" cy="84773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 154"/>
          <p:cNvCxnSpPr/>
          <p:nvPr/>
        </p:nvCxnSpPr>
        <p:spPr>
          <a:xfrm flipV="1">
            <a:off x="11039475" y="2496502"/>
            <a:ext cx="76200" cy="84773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 155"/>
          <p:cNvCxnSpPr/>
          <p:nvPr/>
        </p:nvCxnSpPr>
        <p:spPr>
          <a:xfrm flipH="1" flipV="1">
            <a:off x="10963275" y="2401252"/>
            <a:ext cx="76200" cy="84773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 flipV="1">
            <a:off x="11039475" y="2401252"/>
            <a:ext cx="76200" cy="84773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V="1">
            <a:off x="11039475" y="2667000"/>
            <a:ext cx="412433" cy="238125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 158"/>
          <p:cNvCxnSpPr/>
          <p:nvPr/>
        </p:nvCxnSpPr>
        <p:spPr>
          <a:xfrm flipV="1">
            <a:off x="11319510" y="2634615"/>
            <a:ext cx="36195" cy="108585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 159"/>
          <p:cNvCxnSpPr/>
          <p:nvPr/>
        </p:nvCxnSpPr>
        <p:spPr>
          <a:xfrm>
            <a:off x="11319510" y="2743200"/>
            <a:ext cx="112395" cy="23812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Connector 160"/>
          <p:cNvCxnSpPr/>
          <p:nvPr/>
        </p:nvCxnSpPr>
        <p:spPr>
          <a:xfrm flipV="1">
            <a:off x="11402378" y="2586990"/>
            <a:ext cx="35242" cy="108585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11402378" y="2695575"/>
            <a:ext cx="111442" cy="23813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11039475" y="2905125"/>
            <a:ext cx="412433" cy="238125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V="1">
            <a:off x="11319510" y="3043238"/>
            <a:ext cx="112395" cy="23812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11319510" y="3067050"/>
            <a:ext cx="36195" cy="108585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 flipV="1">
            <a:off x="11402378" y="3090862"/>
            <a:ext cx="111442" cy="23813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11402378" y="3114675"/>
            <a:ext cx="35242" cy="108585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 167"/>
          <p:cNvCxnSpPr/>
          <p:nvPr/>
        </p:nvCxnSpPr>
        <p:spPr>
          <a:xfrm>
            <a:off x="11039475" y="2905125"/>
            <a:ext cx="0" cy="476250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 168"/>
          <p:cNvCxnSpPr/>
          <p:nvPr/>
        </p:nvCxnSpPr>
        <p:spPr>
          <a:xfrm>
            <a:off x="11039475" y="3228975"/>
            <a:ext cx="76200" cy="84773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9"/>
          <p:cNvCxnSpPr/>
          <p:nvPr/>
        </p:nvCxnSpPr>
        <p:spPr>
          <a:xfrm flipH="1">
            <a:off x="10963275" y="3228975"/>
            <a:ext cx="76200" cy="84773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70"/>
          <p:cNvCxnSpPr/>
          <p:nvPr/>
        </p:nvCxnSpPr>
        <p:spPr>
          <a:xfrm>
            <a:off x="11039475" y="3324225"/>
            <a:ext cx="76200" cy="84773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nector 171"/>
          <p:cNvCxnSpPr/>
          <p:nvPr/>
        </p:nvCxnSpPr>
        <p:spPr>
          <a:xfrm flipH="1">
            <a:off x="10963275" y="3324225"/>
            <a:ext cx="76200" cy="84773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 flipH="1">
            <a:off x="10627042" y="2905125"/>
            <a:ext cx="412433" cy="238125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 173"/>
          <p:cNvCxnSpPr/>
          <p:nvPr/>
        </p:nvCxnSpPr>
        <p:spPr>
          <a:xfrm flipH="1">
            <a:off x="10723245" y="3067050"/>
            <a:ext cx="36195" cy="108585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4"/>
          <p:cNvCxnSpPr/>
          <p:nvPr/>
        </p:nvCxnSpPr>
        <p:spPr>
          <a:xfrm flipH="1" flipV="1">
            <a:off x="10647045" y="3043238"/>
            <a:ext cx="112395" cy="23812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5"/>
          <p:cNvCxnSpPr/>
          <p:nvPr/>
        </p:nvCxnSpPr>
        <p:spPr>
          <a:xfrm flipH="1">
            <a:off x="10641330" y="3114675"/>
            <a:ext cx="35242" cy="108585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6"/>
          <p:cNvCxnSpPr/>
          <p:nvPr/>
        </p:nvCxnSpPr>
        <p:spPr>
          <a:xfrm flipH="1" flipV="1">
            <a:off x="10565130" y="3090862"/>
            <a:ext cx="111442" cy="23813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7"/>
          <p:cNvCxnSpPr/>
          <p:nvPr/>
        </p:nvCxnSpPr>
        <p:spPr>
          <a:xfrm flipH="1" flipV="1">
            <a:off x="10627042" y="2667000"/>
            <a:ext cx="412433" cy="238125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78"/>
          <p:cNvCxnSpPr/>
          <p:nvPr/>
        </p:nvCxnSpPr>
        <p:spPr>
          <a:xfrm flipH="1">
            <a:off x="10647045" y="2743200"/>
            <a:ext cx="112395" cy="23812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79"/>
          <p:cNvCxnSpPr/>
          <p:nvPr/>
        </p:nvCxnSpPr>
        <p:spPr>
          <a:xfrm flipH="1" flipV="1">
            <a:off x="10723245" y="2634615"/>
            <a:ext cx="36195" cy="108585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0"/>
          <p:cNvCxnSpPr/>
          <p:nvPr/>
        </p:nvCxnSpPr>
        <p:spPr>
          <a:xfrm flipH="1">
            <a:off x="10565130" y="2695575"/>
            <a:ext cx="111442" cy="23813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1"/>
          <p:cNvCxnSpPr/>
          <p:nvPr/>
        </p:nvCxnSpPr>
        <p:spPr>
          <a:xfrm flipH="1" flipV="1">
            <a:off x="10641330" y="2586990"/>
            <a:ext cx="35242" cy="108585"/>
          </a:xfrm>
          <a:prstGeom prst="line">
            <a:avLst/>
          </a:prstGeom>
          <a:ln w="52388" cap="rnd">
            <a:solidFill>
              <a:srgbClr val="2BAA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3" name="Oval 182"/>
          <p:cNvSpPr/>
          <p:nvPr/>
        </p:nvSpPr>
        <p:spPr>
          <a:xfrm>
            <a:off x="10987088" y="2852738"/>
            <a:ext cx="104775" cy="104775"/>
          </a:xfrm>
          <a:prstGeom prst="ellipse">
            <a:avLst/>
          </a:prstGeom>
          <a:solidFill>
            <a:srgbClr val="CDD6DA">
              <a:alpha val="85000"/>
            </a:srgbClr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1007090" y="2872740"/>
            <a:ext cx="64770" cy="64770"/>
          </a:xfrm>
          <a:prstGeom prst="ellipse">
            <a:avLst/>
          </a:prstGeom>
          <a:solidFill>
            <a:srgbClr val="2BAAEF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freeform-185"/>
          <p:cNvSpPr/>
          <p:nvPr/>
        </p:nvSpPr>
        <p:spPr>
          <a:xfrm>
            <a:off x="11049000" y="1323975"/>
            <a:ext cx="95" cy="466725"/>
          </a:xfrm>
          <a:custGeom>
            <a:avLst/>
            <a:gdLst/>
            <a:ahLst/>
            <a:cxnLst/>
            <a:rect l="0" t="0" r="0" b="0"/>
            <a:pathLst>
              <a:path w="95" h="466725">
                <a:moveTo>
                  <a:pt x="0" y="466725"/>
                </a:moveTo>
                <a:lnTo>
                  <a:pt x="0" y="0"/>
                </a:lnTo>
              </a:path>
            </a:pathLst>
          </a:custGeom>
          <a:noFill/>
          <a:ln w="38100" cap="sq">
            <a:solidFill>
              <a:srgbClr val="4E94D9"/>
            </a:solidFill>
          </a:ln>
        </p:spPr>
      </p:sp>
      <p:sp>
        <p:nvSpPr>
          <p:cNvPr id="186" name="freeform-186"/>
          <p:cNvSpPr/>
          <p:nvPr/>
        </p:nvSpPr>
        <p:spPr>
          <a:xfrm>
            <a:off x="11008995" y="1323975"/>
            <a:ext cx="80010" cy="64770"/>
          </a:xfrm>
          <a:custGeom>
            <a:avLst/>
            <a:gdLst/>
            <a:ahLst/>
            <a:cxnLst/>
            <a:rect l="0" t="0" r="0" b="0"/>
            <a:pathLst>
              <a:path w="80010" h="64770">
                <a:moveTo>
                  <a:pt x="0" y="64770"/>
                </a:moveTo>
                <a:lnTo>
                  <a:pt x="40005" y="0"/>
                </a:lnTo>
                <a:lnTo>
                  <a:pt x="80010" y="64770"/>
                </a:lnTo>
              </a:path>
            </a:pathLst>
          </a:custGeom>
          <a:noFill/>
          <a:ln w="38100" cap="rnd">
            <a:solidFill>
              <a:srgbClr val="4E94D9"/>
            </a:solidFill>
          </a:ln>
        </p:spPr>
      </p:sp>
      <p:sp>
        <p:nvSpPr>
          <p:cNvPr id="187" name="TextBox 186"/>
          <p:cNvSpPr txBox="1"/>
          <p:nvPr/>
        </p:nvSpPr>
        <p:spPr>
          <a:xfrm>
            <a:off x="10104025" y="1429702"/>
            <a:ext cx="861250" cy="261938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650" b="1">
                <a:solidFill>
                  <a:srgbClr val="000000"/>
                </a:solidFill>
                <a:latin typeface="Liberation Serif"/>
              </a:rPr>
              <a:t>Inference</a:t>
            </a:r>
          </a:p>
        </p:txBody>
      </p:sp>
      <p:sp>
        <p:nvSpPr>
          <p:cNvPr id="188" name="Rounded Rectangle 187"/>
          <p:cNvSpPr/>
          <p:nvPr/>
        </p:nvSpPr>
        <p:spPr>
          <a:xfrm>
            <a:off x="10210800" y="676275"/>
            <a:ext cx="1685925" cy="638175"/>
          </a:xfrm>
          <a:prstGeom prst="roundRect">
            <a:avLst>
              <a:gd name="adj" fmla="val 10447"/>
            </a:avLst>
          </a:prstGeom>
          <a:solidFill>
            <a:srgbClr val="FFFFFF"/>
          </a:solidFill>
          <a:ln w="38100">
            <a:solidFill>
              <a:srgbClr val="8DD9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10336197" y="761524"/>
            <a:ext cx="1435132" cy="2262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425" i="1">
                <a:solidFill>
                  <a:srgbClr val="000000"/>
                </a:solidFill>
                <a:latin typeface="Liberation Serif"/>
              </a:rPr>
              <a:t>Predicted Outputs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844594" y="1018222"/>
            <a:ext cx="418338" cy="214312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350" i="1">
                <a:solidFill>
                  <a:srgbClr val="000000"/>
                </a:solidFill>
                <a:latin typeface="STIXGeneral"/>
              </a:rPr>
              <a:t>y</a:t>
            </a:r>
            <a:r>
              <a:rPr sz="900" i="1" baseline="-25000">
                <a:solidFill>
                  <a:srgbClr val="000000"/>
                </a:solidFill>
                <a:latin typeface="STIXGeneral"/>
              </a:rPr>
              <a:t>pred</a:t>
            </a:r>
          </a:p>
        </p:txBody>
      </p:sp>
      <p:sp>
        <p:nvSpPr>
          <p:cNvPr id="191" name="freeform-191"/>
          <p:cNvSpPr/>
          <p:nvPr/>
        </p:nvSpPr>
        <p:spPr>
          <a:xfrm>
            <a:off x="10629900" y="3990975"/>
            <a:ext cx="95" cy="390525"/>
          </a:xfrm>
          <a:custGeom>
            <a:avLst/>
            <a:gdLst/>
            <a:ahLst/>
            <a:cxnLst/>
            <a:rect l="0" t="0" r="0" b="0"/>
            <a:pathLst>
              <a:path w="95" h="390525">
                <a:moveTo>
                  <a:pt x="0" y="390525"/>
                </a:moveTo>
                <a:lnTo>
                  <a:pt x="0" y="0"/>
                </a:lnTo>
              </a:path>
            </a:pathLst>
          </a:custGeom>
          <a:noFill/>
          <a:ln w="38100" cap="sq">
            <a:solidFill>
              <a:srgbClr val="4E94D9"/>
            </a:solidFill>
          </a:ln>
        </p:spPr>
      </p:sp>
      <p:sp>
        <p:nvSpPr>
          <p:cNvPr id="192" name="freeform-192"/>
          <p:cNvSpPr/>
          <p:nvPr/>
        </p:nvSpPr>
        <p:spPr>
          <a:xfrm>
            <a:off x="10589895" y="3990975"/>
            <a:ext cx="80010" cy="64770"/>
          </a:xfrm>
          <a:custGeom>
            <a:avLst/>
            <a:gdLst/>
            <a:ahLst/>
            <a:cxnLst/>
            <a:rect l="0" t="0" r="0" b="0"/>
            <a:pathLst>
              <a:path w="80010" h="64770">
                <a:moveTo>
                  <a:pt x="0" y="64770"/>
                </a:moveTo>
                <a:lnTo>
                  <a:pt x="40005" y="0"/>
                </a:lnTo>
                <a:lnTo>
                  <a:pt x="80010" y="64770"/>
                </a:lnTo>
              </a:path>
            </a:pathLst>
          </a:custGeom>
          <a:noFill/>
          <a:ln w="38100" cap="rnd">
            <a:solidFill>
              <a:srgbClr val="4E94D9"/>
            </a:solidFill>
          </a:ln>
        </p:spPr>
      </p:sp>
      <p:sp>
        <p:nvSpPr>
          <p:cNvPr id="193" name="Rounded Rectangle 192"/>
          <p:cNvSpPr/>
          <p:nvPr/>
        </p:nvSpPr>
        <p:spPr>
          <a:xfrm>
            <a:off x="9925050" y="4381500"/>
            <a:ext cx="1400175" cy="647700"/>
          </a:xfrm>
          <a:prstGeom prst="roundRect">
            <a:avLst>
              <a:gd name="adj" fmla="val 11764"/>
            </a:avLst>
          </a:prstGeom>
          <a:solidFill>
            <a:srgbClr val="E7F7FD"/>
          </a:solidFill>
          <a:ln w="38100">
            <a:solidFill>
              <a:srgbClr val="60CB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10226992" y="4476274"/>
            <a:ext cx="796290" cy="226219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425" i="1">
                <a:solidFill>
                  <a:srgbClr val="000000"/>
                </a:solidFill>
                <a:latin typeface="Liberation Serif"/>
              </a:rPr>
              <a:t>Questions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116693" y="4751546"/>
            <a:ext cx="1016889" cy="20240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ctr"/>
            <a:r>
              <a:rPr sz="1275" i="1">
                <a:solidFill>
                  <a:srgbClr val="000000"/>
                </a:solidFill>
                <a:latin typeface="STIXGeneral"/>
              </a:rPr>
              <a:t>&lt;q</a:t>
            </a:r>
            <a:r>
              <a:rPr sz="825" i="1" baseline="-25000">
                <a:solidFill>
                  <a:srgbClr val="000000"/>
                </a:solidFill>
                <a:latin typeface="STIXGeneral"/>
              </a:rPr>
              <a:t>1</a:t>
            </a:r>
            <a:r>
              <a:rPr sz="1275" i="1">
                <a:solidFill>
                  <a:srgbClr val="000000"/>
                </a:solidFill>
                <a:latin typeface="STIXGeneral"/>
              </a:rPr>
              <a:t>, q</a:t>
            </a:r>
            <a:r>
              <a:rPr sz="825" i="1" baseline="-25000">
                <a:solidFill>
                  <a:srgbClr val="000000"/>
                </a:solidFill>
                <a:latin typeface="STIXGeneral"/>
              </a:rPr>
              <a:t>2</a:t>
            </a:r>
            <a:r>
              <a:rPr sz="1275" i="1">
                <a:solidFill>
                  <a:srgbClr val="000000"/>
                </a:solidFill>
                <a:latin typeface="STIXGeneral"/>
              </a:rPr>
              <a:t> ... q</a:t>
            </a:r>
            <a:r>
              <a:rPr sz="825" i="1" baseline="-25000">
                <a:solidFill>
                  <a:srgbClr val="000000"/>
                </a:solidFill>
                <a:latin typeface="STIXGeneral"/>
              </a:rPr>
              <a:t>n</a:t>
            </a:r>
            <a:r>
              <a:rPr sz="1275" i="1">
                <a:solidFill>
                  <a:srgbClr val="000000"/>
                </a:solidFill>
                <a:latin typeface="STIXGeneral"/>
              </a:rPr>
              <a:t>&gt;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401425" y="4021931"/>
            <a:ext cx="1328738" cy="297656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75">
                <a:solidFill>
                  <a:srgbClr val="000000"/>
                </a:solidFill>
                <a:latin typeface="Liberation Serif"/>
              </a:rPr>
              <a:t>Frozen VLM</a:t>
            </a:r>
          </a:p>
        </p:txBody>
      </p:sp>
      <p:sp>
        <p:nvSpPr>
          <p:cNvPr id="197" name="freeform-197"/>
          <p:cNvSpPr/>
          <p:nvPr/>
        </p:nvSpPr>
        <p:spPr>
          <a:xfrm>
            <a:off x="10582275" y="5581650"/>
            <a:ext cx="666750" cy="95"/>
          </a:xfrm>
          <a:custGeom>
            <a:avLst/>
            <a:gdLst/>
            <a:ahLst/>
            <a:cxnLst/>
            <a:rect l="0" t="0" r="0" b="0"/>
            <a:pathLst>
              <a:path w="666750" h="95">
                <a:moveTo>
                  <a:pt x="0" y="0"/>
                </a:moveTo>
                <a:lnTo>
                  <a:pt x="666750" y="0"/>
                </a:lnTo>
              </a:path>
            </a:pathLst>
          </a:custGeom>
          <a:noFill/>
          <a:ln w="38100" cap="sq">
            <a:solidFill>
              <a:srgbClr val="4E94D9"/>
            </a:solidFill>
          </a:ln>
        </p:spPr>
      </p:sp>
      <p:sp>
        <p:nvSpPr>
          <p:cNvPr id="198" name="freeform-198"/>
          <p:cNvSpPr/>
          <p:nvPr/>
        </p:nvSpPr>
        <p:spPr>
          <a:xfrm>
            <a:off x="11184255" y="5541645"/>
            <a:ext cx="64770" cy="80010"/>
          </a:xfrm>
          <a:custGeom>
            <a:avLst/>
            <a:gdLst/>
            <a:ahLst/>
            <a:cxnLst/>
            <a:rect l="0" t="0" r="0" b="0"/>
            <a:pathLst>
              <a:path w="64770" h="80010">
                <a:moveTo>
                  <a:pt x="0" y="0"/>
                </a:moveTo>
                <a:lnTo>
                  <a:pt x="64770" y="40005"/>
                </a:lnTo>
                <a:lnTo>
                  <a:pt x="0" y="80010"/>
                </a:lnTo>
              </a:path>
            </a:pathLst>
          </a:custGeom>
          <a:noFill/>
          <a:ln w="38100" cap="rnd">
            <a:solidFill>
              <a:srgbClr val="4E94D9"/>
            </a:solidFill>
          </a:ln>
        </p:spPr>
      </p:sp>
      <p:sp>
        <p:nvSpPr>
          <p:cNvPr id="199" name="TextBox 198"/>
          <p:cNvSpPr txBox="1"/>
          <p:nvPr/>
        </p:nvSpPr>
        <p:spPr>
          <a:xfrm>
            <a:off x="11334750" y="5449252"/>
            <a:ext cx="1311783" cy="261938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50">
                <a:solidFill>
                  <a:srgbClr val="000000"/>
                </a:solidFill>
                <a:latin typeface="Liberation Serif"/>
              </a:rPr>
              <a:t>Forward Pass</a:t>
            </a:r>
          </a:p>
        </p:txBody>
      </p:sp>
      <p:sp>
        <p:nvSpPr>
          <p:cNvPr id="200" name="freeform-200"/>
          <p:cNvSpPr/>
          <p:nvPr/>
        </p:nvSpPr>
        <p:spPr>
          <a:xfrm>
            <a:off x="10582275" y="5857875"/>
            <a:ext cx="666750" cy="95"/>
          </a:xfrm>
          <a:custGeom>
            <a:avLst/>
            <a:gdLst/>
            <a:ahLst/>
            <a:cxnLst/>
            <a:rect l="0" t="0" r="0" b="0"/>
            <a:pathLst>
              <a:path w="666750" h="95">
                <a:moveTo>
                  <a:pt x="0" y="0"/>
                </a:moveTo>
                <a:lnTo>
                  <a:pt x="666750" y="0"/>
                </a:lnTo>
              </a:path>
            </a:pathLst>
          </a:custGeom>
          <a:noFill/>
          <a:ln w="38100" cap="sq">
            <a:solidFill>
              <a:srgbClr val="FFC000"/>
            </a:solidFill>
          </a:ln>
        </p:spPr>
      </p:sp>
      <p:sp>
        <p:nvSpPr>
          <p:cNvPr id="201" name="freeform-201"/>
          <p:cNvSpPr/>
          <p:nvPr/>
        </p:nvSpPr>
        <p:spPr>
          <a:xfrm>
            <a:off x="11184255" y="5817870"/>
            <a:ext cx="64770" cy="80010"/>
          </a:xfrm>
          <a:custGeom>
            <a:avLst/>
            <a:gdLst/>
            <a:ahLst/>
            <a:cxnLst/>
            <a:rect l="0" t="0" r="0" b="0"/>
            <a:pathLst>
              <a:path w="64770" h="80010">
                <a:moveTo>
                  <a:pt x="0" y="0"/>
                </a:moveTo>
                <a:lnTo>
                  <a:pt x="64770" y="40005"/>
                </a:lnTo>
                <a:lnTo>
                  <a:pt x="0" y="80010"/>
                </a:lnTo>
              </a:path>
            </a:pathLst>
          </a:custGeom>
          <a:noFill/>
          <a:ln w="38100" cap="rnd">
            <a:solidFill>
              <a:srgbClr val="FFC000"/>
            </a:solidFill>
          </a:ln>
        </p:spPr>
      </p:sp>
      <p:sp>
        <p:nvSpPr>
          <p:cNvPr id="202" name="TextBox 201"/>
          <p:cNvSpPr txBox="1"/>
          <p:nvPr/>
        </p:nvSpPr>
        <p:spPr>
          <a:xfrm>
            <a:off x="11334750" y="5735002"/>
            <a:ext cx="1454277" cy="261938"/>
          </a:xfrm>
          <a:prstGeom prst="rect">
            <a:avLst/>
          </a:prstGeom>
          <a:noFill/>
          <a:effectLst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50">
                <a:solidFill>
                  <a:srgbClr val="000000"/>
                </a:solidFill>
                <a:latin typeface="Liberation Serif"/>
              </a:rPr>
              <a:t>Backward Pass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