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925425" cy="62484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925425" cy="6248400"/>
          </a:xfrm>
          <a:prstGeom prst="rect">
            <a:avLst/>
          </a:prstGeom>
          <a:solidFill>
            <a:srgbClr val="FFFFFF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7225" y="87154"/>
            <a:ext cx="440341" cy="273844"/>
          </a:xfrm>
          <a:prstGeom prst="rect">
            <a:avLst/>
          </a:prstGeom>
          <a:noFill/>
          <a:effectLst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725" b="1">
                <a:solidFill>
                  <a:srgbClr val="000000"/>
                </a:solidFill>
                <a:latin typeface="Liberation Serif"/>
              </a:rPr>
              <a:t>CSF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4900" y="87154"/>
            <a:ext cx="2701195" cy="273844"/>
          </a:xfrm>
          <a:prstGeom prst="rect">
            <a:avLst/>
          </a:prstGeom>
          <a:noFill/>
          <a:effectLst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725">
                <a:solidFill>
                  <a:srgbClr val="000000"/>
                </a:solidFill>
                <a:latin typeface="Liberation Serif"/>
              </a:rPr>
              <a:t>(SPSA Based Optimization)</a:t>
            </a:r>
          </a:p>
        </p:txBody>
      </p:sp>
      <p:sp>
        <p:nvSpPr>
          <p:cNvPr id="5" name="freeform-5"/>
          <p:cNvSpPr/>
          <p:nvPr/>
        </p:nvSpPr>
        <p:spPr>
          <a:xfrm>
            <a:off x="666750" y="409575"/>
            <a:ext cx="7334250" cy="1114425"/>
          </a:xfrm>
          <a:custGeom>
            <a:avLst/>
            <a:gdLst/>
            <a:ahLst/>
            <a:cxnLst/>
            <a:rect l="0" t="0" r="0" b="0"/>
            <a:pathLst>
              <a:path w="7334250" h="1114425">
                <a:moveTo>
                  <a:pt x="0" y="1114425"/>
                </a:moveTo>
                <a:lnTo>
                  <a:pt x="0" y="0"/>
                </a:lnTo>
                <a:lnTo>
                  <a:pt x="7334250" y="0"/>
                </a:lnTo>
                <a:lnTo>
                  <a:pt x="7334250" y="342900"/>
                </a:lnTo>
              </a:path>
            </a:pathLst>
          </a:custGeom>
          <a:noFill/>
          <a:ln w="38100" cap="sq">
            <a:solidFill>
              <a:srgbClr val="FFC000"/>
            </a:solidFill>
          </a:ln>
        </p:spPr>
        <p:txBody>
          <a:bodyPr/>
          <a:p/>
        </p:txBody>
      </p:sp>
      <p:sp>
        <p:nvSpPr>
          <p:cNvPr id="6" name="freeform-6"/>
          <p:cNvSpPr/>
          <p:nvPr/>
        </p:nvSpPr>
        <p:spPr>
          <a:xfrm>
            <a:off x="666750" y="1381125"/>
            <a:ext cx="95" cy="142875"/>
          </a:xfrm>
          <a:custGeom>
            <a:avLst/>
            <a:gdLst/>
            <a:ahLst/>
            <a:cxnLst/>
            <a:rect l="0" t="0" r="0" b="0"/>
            <a:pathLst>
              <a:path w="95" h="142875">
                <a:moveTo>
                  <a:pt x="0" y="0"/>
                </a:moveTo>
                <a:lnTo>
                  <a:pt x="0" y="142875"/>
                </a:lnTo>
              </a:path>
            </a:pathLst>
          </a:custGeom>
          <a:noFill/>
          <a:ln w="38100" cap="sq">
            <a:solidFill>
              <a:srgbClr val="FFC000"/>
            </a:solidFill>
          </a:ln>
        </p:spPr>
        <p:txBody>
          <a:bodyPr/>
          <a:p/>
        </p:txBody>
      </p:sp>
      <p:sp>
        <p:nvSpPr>
          <p:cNvPr id="7" name="freeform-7"/>
          <p:cNvSpPr/>
          <p:nvPr/>
        </p:nvSpPr>
        <p:spPr>
          <a:xfrm>
            <a:off x="623888" y="1455420"/>
            <a:ext cx="85725" cy="68580"/>
          </a:xfrm>
          <a:custGeom>
            <a:avLst/>
            <a:gdLst/>
            <a:ahLst/>
            <a:cxnLst/>
            <a:rect l="0" t="0" r="0" b="0"/>
            <a:pathLst>
              <a:path w="85725" h="68580">
                <a:moveTo>
                  <a:pt x="85725" y="0"/>
                </a:moveTo>
                <a:lnTo>
                  <a:pt x="42862" y="68580"/>
                </a:lnTo>
                <a:lnTo>
                  <a:pt x="0" y="0"/>
                </a:lnTo>
              </a:path>
            </a:pathLst>
          </a:custGeom>
          <a:noFill/>
          <a:ln w="38100" cap="rnd">
            <a:solidFill>
              <a:srgbClr val="FFC000"/>
            </a:solidFill>
          </a:ln>
        </p:spPr>
        <p:txBody>
          <a:bodyPr/>
          <a:p/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" name="math:001" descr="AI_AUTOFIGURE_NATIVE_MATH_V1:eyJjb250ZW50X3J1bnMiOlt7ImNhbm9uaWNhbF9sYXRleCI6IlxcbmFibGFfe1xcdGhldGF9IFxcbWF0aGNhbHtMfV97dGV4dH0iLCJmb3JtdWxhX2lkIjoiRVEwMDEiLCJraW5kIjoibWF0aCIsImxhdGV4X3NoYTI1NiI6IjM0NTVkMzY5YTAwODk2ZDUxZjI1NzNlYjIzN2ZmNjlkMWNjYzMzOThhMzg3ZTQ0ZGE0NTI2MDFiYzA0Yjg5NjAiLCJtb2RlIjoiaW5saW5lIiwib21tbF9zaGEyNTYiOiI4ZjU5NjRkNDYwZGE3NWYxZGJmYTE0MWY3ZjMxNTc2NjE4OTEyM2ExMTQ0NWMzYTU5ZDc4NTQyMTI0Nzg3MDBmIiwic2VtYW50aWNfb21tbF9wcm9maWxlIjoib2ZmaWNlLW1hdGgtc2VtYW50aWMtdjIiLCJzZW1hbnRpY19vbW1sX3NoYTI1NiI6IjY3NjhkNjcxNDllNzE5NDcxZjgyMmYwN2IxZTFlMGFiZTIyOGZiYjAzOGM4MmJhYWE0YjU1OWJlMzJjMTliNTQifV0sImZvcm11bGFzIjpbeyJjYW5vbmljYWxfbGF0ZXgiOiJcXG5hYmxhX3tcXHRoZXRhfSBcXG1hdGhjYWx7TH1fe3RleHR9IiwiZm9ybXVsYV9pZCI6IkVRMDAxIiwibGF0ZXhfc2hhMjU2IjoiMzQ1NWQzNjlhMDA4OTZkNTFmMjU3M2ViMjM3ZmY2OWQxY2NjMzM5OGEzODdlNDRkYTQ1MjYwMWJjMDRiODk2MCIsIm1vZGUiOiJpbmxpbmUiLCJvbW1sX3NoYTI1NiI6IjhmNTk2NGQ0NjBkYTc1ZjFkYmZhMTQxZjdmMzE1NzY2MTg5MTIzYTExNDQ1YzNhNTlkNzg1NDIxMjQ3ODcwMGYiLCJzZW1hbnRpY19vbW1sX3Byb2ZpbGUiOiJvZmZpY2UtbWF0aC1zZW1hbnRpYy12MiIsInNlbWFudGljX29tbWxfc2hhMjU2IjoiNjc2OGQ2NzE0OWU3MTk0NzFmODIyZjA3YjFlMWUwYWJlMjI4ZmJiMDM4YzgyYmFhYTRiNTU5YmUzMmMxOWI1NCJ9XSwia2luZCI6Im5hdGl2ZV9vZmZpY2VfbWF0aCIsInBsYWNlaG9sZGVyX25hbWUiOiJtYXRoOjAwMSIsInNjaGVtYV92ZXJzaW9uIjoiMS4wIn0="/>
              <p:cNvSpPr txBox="1"/>
              <p:nvPr/>
            </p:nvSpPr>
            <p:spPr>
              <a:xfrm rot="16200000">
                <a:off x="189976" y="1020366"/>
                <a:ext cx="667798" cy="226219"/>
              </a:xfrm>
              <a:prstGeom prst="rect">
                <a:avLst/>
              </a:prstGeom>
              <a:noFill/>
              <a:effectLst/>
            </p:spPr>
            <p:txBody>
              <a:bodyPr wrap="none" anchor="ctr" lIns="0" rIns="0" tIns="0" bIns="0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sSub>
                      <m:e>
                        <m:r>
                          <a:rPr lang="en-US" dirty="0" sz="1425">
                            <a:solidFill>
                              <a:srgbClr val="000000"/>
                            </a:solidFill>
                            <a:latin typeface="Cambria Math"/>
                          </a:rPr>
                          <m:t>∇</m:t>
                        </m:r>
                      </m:e>
                      <m:sub>
                        <m:r>
                          <a:rPr lang="en-US" dirty="0" sz="1425">
                            <a:solidFill>
                              <a:srgbClr val="000000"/>
                            </a:solidFill>
                            <a:latin typeface="Cambria Math"/>
                          </a:rPr>
                          <m:t>θ</m:t>
                        </m:r>
                      </m:sub>
                    </m:sSub>
                    <m:sSub>
                      <m:e>
                        <m:r>
                          <a:rPr lang="en-US" dirty="0" sz="1425">
                            <a:solidFill>
                              <a:srgbClr val="000000"/>
                            </a:solidFill>
                            <a:latin typeface="Cambria Math"/>
                          </a:rPr>
                          <m:t>ℒ</m:t>
                        </m:r>
                      </m:e>
                      <m:sub>
                        <m:r>
                          <a:rPr lang="en-US" dirty="0" sz="1425">
                            <a:solidFill>
                              <a:srgbClr val="000000"/>
                            </a:solidFill>
                            <a:latin typeface="Cambria Math"/>
                          </a:rPr>
                          <m:t>text</m:t>
                        </m:r>
                      </m:sub>
                    </m:sSub>
                  </m:oMath>
                </a14:m>
                <a:endParaRPr lang="en-US" dirty="0" sz="1425">
                  <a:solidFill>
                    <a:srgbClr val="000000"/>
                  </a:solidFill>
                  <a:latin typeface="Cambria Math"/>
                </a:endParaRPr>
              </a:p>
            </p:txBody>
          </p:sp>
        </mc:Choice>
        <mc:Fallback>
          <p:sp>
            <p:nvSpPr>
              <p:cNvPr id="8" name="math:001" descr="AI_AUTOFIGURE_MATH_FALLBACK_ONLY_V1:eyJjb250ZW50X3J1bnMiOlt7ImNhbm9uaWNhbF9sYXRleCI6IlxcbmFibGFfe1xcdGhldGF9IFxcbWF0aGNhbHtMfV97dGV4dH0iLCJmb3JtdWxhX2lkIjoiRVEwMDEiLCJraW5kIjoibWF0aCIsImxhdGV4X3NoYTI1NiI6IjM0NTVkMzY5YTAwODk2ZDUxZjI1NzNlYjIzN2ZmNjlkMWNjYzMzOThhMzg3ZTQ0ZGE0NTI2MDFiYzA0Yjg5NjAiLCJtb2RlIjoiaW5saW5lIiwib21tbF9zaGEyNTYiOiI4ZjU5NjRkNDYwZGE3NWYxZGJmYTE0MWY3ZjMxNTc2NjE4OTEyM2ExMTQ0NWMzYTU5ZDc4NTQyMTI0Nzg3MDBmIiwic2VtYW50aWNfb21tbF9wcm9maWxlIjoib2ZmaWNlLW1hdGgtc2VtYW50aWMtdjIiLCJzZW1hbnRpY19vbW1sX3NoYTI1NiI6IjY3NjhkNjcxNDllNzE5NDcxZjgyMmYwN2IxZTFlMGFiZTIyOGZiYjAzOGM4MmJhYWE0YjU1OWJlMzJjMTliNTQifV0sImZvcm11bGFzIjpbeyJjYW5vbmljYWxfbGF0ZXgiOiJcXG5hYmxhX3tcXHRoZXRhfSBcXG1hdGhjYWx7TH1fe3RleHR9IiwiZm9ybXVsYV9pZCI6IkVRMDAxIiwibGF0ZXhfc2hhMjU2IjoiMzQ1NWQzNjlhMDA4OTZkNTFmMjU3M2ViMjM3ZmY2OWQxY2NjMzM5OGEzODdlNDRkYTQ1MjYwMWJjMDRiODk2MCIsIm1vZGUiOiJpbmxpbmUiLCJvbW1sX3NoYTI1NiI6IjhmNTk2NGQ0NjBkYTc1ZjFkYmZhMTQxZjdmMzE1NzY2MTg5MTIzYTExNDQ1YzNhNTlkNzg1NDIxMjQ3ODcwMGYiLCJzZW1hbnRpY19vbW1sX3Byb2ZpbGUiOiJvZmZpY2UtbWF0aC1zZW1hbnRpYy12MiIsInNlbWFudGljX29tbWxfc2hhMjU2IjoiNjc2OGQ2NzE0OWU3MTk0NzFmODIyZjA3YjFlMWUwYWJlMjI4ZmJiMDM4YzgyYmFhYTRiNTU5YmUzMmMxOWI1NCJ9XSwia2luZCI6Im5hdGl2ZV9vZmZpY2VfbWF0aCIsInBsYWNlaG9sZGVyX25hbWUiOiJtYXRoOjAwMSIsInNjaGVtYV92ZXJzaW9uIjoiMS4wIn0="/>
              <p:cNvSpPr txBox="1"/>
              <p:nvPr/>
            </p:nvSpPr>
            <p:spPr>
              <a:xfrm rot="16200000">
                <a:off x="189976" y="1020366"/>
                <a:ext cx="667798" cy="226219"/>
              </a:xfrm>
              <a:prstGeom prst="rect">
                <a:avLst/>
              </a:prstGeom>
              <a:noFill/>
              <a:effectLst/>
            </p:spPr>
            <p:txBody>
              <a:bodyPr wrap="none" anchor="ctr" lIns="0" rIns="0" tIns="0" bIns="0">
                <a:spAutoFit/>
              </a:bodyPr>
              <a:lstStyle/>
              <a:p>
                <a:pPr algn="ctr"/>
                <a:r>
                  <a:rPr lang="en-US" dirty="0" sz="1425">
                    <a:solidFill>
                      <a:srgbClr val="000000"/>
                    </a:solidFill>
                  </a:rPr>
                  <a:t>\(\nabla_{\theta} \mathcal{L}_{text}\)</a:t>
                </a:r>
                <a:endParaRPr lang="en-US" dirty="0" sz="1425">
                  <a:solidFill>
                    <a:srgbClr val="000000"/>
                  </a:solidFill>
                </a:endParaRPr>
              </a:p>
            </p:txBody>
          </p:sp>
        </mc:Fallback>
      </mc:AlternateContent>
      <p:sp>
        <p:nvSpPr>
          <p:cNvPr id="9" name="Rectangle 8"/>
          <p:cNvSpPr/>
          <p:nvPr/>
        </p:nvSpPr>
        <p:spPr>
          <a:xfrm>
            <a:off x="495300" y="1562100"/>
            <a:ext cx="352425" cy="352425"/>
          </a:xfrm>
          <a:prstGeom prst="rect">
            <a:avLst/>
          </a:prstGeom>
          <a:solidFill>
            <a:srgbClr val="F2CFEE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95300" y="1943100"/>
            <a:ext cx="352425" cy="352425"/>
          </a:xfrm>
          <a:prstGeom prst="rect">
            <a:avLst/>
          </a:prstGeom>
          <a:solidFill>
            <a:srgbClr val="F2CFEE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95300" y="2324100"/>
            <a:ext cx="352425" cy="352425"/>
          </a:xfrm>
          <a:prstGeom prst="rect">
            <a:avLst/>
          </a:prstGeom>
          <a:solidFill>
            <a:srgbClr val="F2CFEE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95300" y="2705100"/>
            <a:ext cx="352425" cy="352425"/>
          </a:xfrm>
          <a:prstGeom prst="rect">
            <a:avLst/>
          </a:prstGeom>
          <a:solidFill>
            <a:srgbClr val="F2CFEE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95300" y="3095625"/>
            <a:ext cx="352425" cy="352425"/>
          </a:xfrm>
          <a:prstGeom prst="rect">
            <a:avLst/>
          </a:prstGeom>
          <a:solidFill>
            <a:srgbClr val="F2CFEE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95300" y="3476625"/>
            <a:ext cx="352425" cy="352425"/>
          </a:xfrm>
          <a:prstGeom prst="rect">
            <a:avLst/>
          </a:prstGeom>
          <a:solidFill>
            <a:srgbClr val="F2CFEE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352550" y="1171575"/>
            <a:ext cx="352425" cy="352425"/>
          </a:xfrm>
          <a:prstGeom prst="rect">
            <a:avLst/>
          </a:prstGeom>
          <a:solidFill>
            <a:srgbClr val="F6C5AC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352550" y="1562100"/>
            <a:ext cx="352425" cy="352425"/>
          </a:xfrm>
          <a:prstGeom prst="rect">
            <a:avLst/>
          </a:prstGeom>
          <a:solidFill>
            <a:srgbClr val="F6C5AC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352550" y="1943100"/>
            <a:ext cx="352425" cy="352425"/>
          </a:xfrm>
          <a:prstGeom prst="rect">
            <a:avLst/>
          </a:prstGeom>
          <a:solidFill>
            <a:srgbClr val="F6C5AC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1352550" y="2324100"/>
            <a:ext cx="352425" cy="352425"/>
          </a:xfrm>
          <a:prstGeom prst="rect">
            <a:avLst/>
          </a:prstGeom>
          <a:solidFill>
            <a:srgbClr val="F6C5AC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352550" y="2705100"/>
            <a:ext cx="352425" cy="352425"/>
          </a:xfrm>
          <a:prstGeom prst="rect">
            <a:avLst/>
          </a:prstGeom>
          <a:solidFill>
            <a:srgbClr val="F6C5AC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1352550" y="3095625"/>
            <a:ext cx="352425" cy="352425"/>
          </a:xfrm>
          <a:prstGeom prst="rect">
            <a:avLst/>
          </a:prstGeom>
          <a:solidFill>
            <a:srgbClr val="F6C5AC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1352550" y="3476625"/>
            <a:ext cx="352425" cy="333375"/>
          </a:xfrm>
          <a:prstGeom prst="rect">
            <a:avLst/>
          </a:prstGeom>
          <a:solidFill>
            <a:srgbClr val="F6C5AC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1352550" y="3838575"/>
            <a:ext cx="352425" cy="352425"/>
          </a:xfrm>
          <a:prstGeom prst="rect">
            <a:avLst/>
          </a:prstGeom>
          <a:solidFill>
            <a:srgbClr val="F6C5AC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2133600" y="1171575"/>
            <a:ext cx="352425" cy="352425"/>
          </a:xfrm>
          <a:prstGeom prst="rect">
            <a:avLst/>
          </a:prstGeom>
          <a:solidFill>
            <a:srgbClr val="F6C5AC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2133600" y="1562100"/>
            <a:ext cx="352425" cy="352425"/>
          </a:xfrm>
          <a:prstGeom prst="rect">
            <a:avLst/>
          </a:prstGeom>
          <a:solidFill>
            <a:srgbClr val="F6C5AC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2133600" y="1943100"/>
            <a:ext cx="352425" cy="352425"/>
          </a:xfrm>
          <a:prstGeom prst="rect">
            <a:avLst/>
          </a:prstGeom>
          <a:solidFill>
            <a:srgbClr val="F6C5AC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2133600" y="2324100"/>
            <a:ext cx="352425" cy="352425"/>
          </a:xfrm>
          <a:prstGeom prst="rect">
            <a:avLst/>
          </a:prstGeom>
          <a:solidFill>
            <a:srgbClr val="F6C5AC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2133600" y="2705100"/>
            <a:ext cx="352425" cy="352425"/>
          </a:xfrm>
          <a:prstGeom prst="rect">
            <a:avLst/>
          </a:prstGeom>
          <a:solidFill>
            <a:srgbClr val="F6C5AC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2133600" y="3095625"/>
            <a:ext cx="352425" cy="352425"/>
          </a:xfrm>
          <a:prstGeom prst="rect">
            <a:avLst/>
          </a:prstGeom>
          <a:solidFill>
            <a:srgbClr val="F6C5AC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2133600" y="3476625"/>
            <a:ext cx="352425" cy="333375"/>
          </a:xfrm>
          <a:prstGeom prst="rect">
            <a:avLst/>
          </a:prstGeom>
          <a:solidFill>
            <a:srgbClr val="F6C5AC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2133600" y="3838575"/>
            <a:ext cx="352425" cy="352425"/>
          </a:xfrm>
          <a:prstGeom prst="rect">
            <a:avLst/>
          </a:prstGeom>
          <a:solidFill>
            <a:srgbClr val="F6C5AC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2962275" y="1943100"/>
            <a:ext cx="352425" cy="352425"/>
          </a:xfrm>
          <a:prstGeom prst="rect">
            <a:avLst/>
          </a:prstGeom>
          <a:solidFill>
            <a:srgbClr val="D9F2D0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2962275" y="2324100"/>
            <a:ext cx="352425" cy="352425"/>
          </a:xfrm>
          <a:prstGeom prst="rect">
            <a:avLst/>
          </a:prstGeom>
          <a:solidFill>
            <a:srgbClr val="D9F2D0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2962275" y="2714625"/>
            <a:ext cx="352425" cy="352425"/>
          </a:xfrm>
          <a:prstGeom prst="rect">
            <a:avLst/>
          </a:prstGeom>
          <a:solidFill>
            <a:srgbClr val="D9F2D0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2962275" y="3095625"/>
            <a:ext cx="352425" cy="352425"/>
          </a:xfrm>
          <a:prstGeom prst="rect">
            <a:avLst/>
          </a:prstGeom>
          <a:solidFill>
            <a:srgbClr val="D9F2D0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freeform-35"/>
          <p:cNvSpPr/>
          <p:nvPr/>
        </p:nvSpPr>
        <p:spPr>
          <a:xfrm>
            <a:off x="866775" y="2505075"/>
            <a:ext cx="457200" cy="95"/>
          </a:xfrm>
          <a:custGeom>
            <a:avLst/>
            <a:gdLst/>
            <a:ahLst/>
            <a:cxnLst/>
            <a:rect l="0" t="0" r="0" b="0"/>
            <a:pathLst>
              <a:path w="457200" h="95">
                <a:moveTo>
                  <a:pt x="0" y="0"/>
                </a:moveTo>
                <a:lnTo>
                  <a:pt x="457200" y="0"/>
                </a:lnTo>
              </a:path>
            </a:pathLst>
          </a:custGeom>
          <a:noFill/>
          <a:ln w="38100" cap="sq">
            <a:solidFill>
              <a:srgbClr val="4E94D9"/>
            </a:solidFill>
          </a:ln>
        </p:spPr>
        <p:txBody>
          <a:bodyPr/>
          <a:p/>
        </p:txBody>
      </p:sp>
      <p:sp>
        <p:nvSpPr>
          <p:cNvPr id="36" name="freeform-36"/>
          <p:cNvSpPr/>
          <p:nvPr/>
        </p:nvSpPr>
        <p:spPr>
          <a:xfrm>
            <a:off x="1259205" y="2465070"/>
            <a:ext cx="64770" cy="80010"/>
          </a:xfrm>
          <a:custGeom>
            <a:avLst/>
            <a:gdLst/>
            <a:ahLst/>
            <a:cxnLst/>
            <a:rect l="0" t="0" r="0" b="0"/>
            <a:pathLst>
              <a:path w="64770" h="80010">
                <a:moveTo>
                  <a:pt x="0" y="0"/>
                </a:moveTo>
                <a:lnTo>
                  <a:pt x="64770" y="40005"/>
                </a:lnTo>
                <a:lnTo>
                  <a:pt x="0" y="80010"/>
                </a:lnTo>
              </a:path>
            </a:pathLst>
          </a:custGeom>
          <a:noFill/>
          <a:ln w="38100" cap="rnd">
            <a:solidFill>
              <a:srgbClr val="4E94D9"/>
            </a:solidFill>
          </a:ln>
        </p:spPr>
        <p:txBody>
          <a:bodyPr/>
          <a:p/>
        </p:txBody>
      </p:sp>
      <p:sp>
        <p:nvSpPr>
          <p:cNvPr id="37" name="freeform-37"/>
          <p:cNvSpPr/>
          <p:nvPr/>
        </p:nvSpPr>
        <p:spPr>
          <a:xfrm>
            <a:off x="1724025" y="2505075"/>
            <a:ext cx="381000" cy="95"/>
          </a:xfrm>
          <a:custGeom>
            <a:avLst/>
            <a:gdLst/>
            <a:ahLst/>
            <a:cxnLst/>
            <a:rect l="0" t="0" r="0" b="0"/>
            <a:pathLst>
              <a:path w="381000" h="95">
                <a:moveTo>
                  <a:pt x="0" y="0"/>
                </a:moveTo>
                <a:lnTo>
                  <a:pt x="381000" y="0"/>
                </a:lnTo>
              </a:path>
            </a:pathLst>
          </a:custGeom>
          <a:noFill/>
          <a:ln w="38100" cap="sq">
            <a:solidFill>
              <a:srgbClr val="4E94D9"/>
            </a:solidFill>
          </a:ln>
        </p:spPr>
        <p:txBody>
          <a:bodyPr/>
          <a:p/>
        </p:txBody>
      </p:sp>
      <p:sp>
        <p:nvSpPr>
          <p:cNvPr id="38" name="freeform-38"/>
          <p:cNvSpPr/>
          <p:nvPr/>
        </p:nvSpPr>
        <p:spPr>
          <a:xfrm>
            <a:off x="2040255" y="2465070"/>
            <a:ext cx="64770" cy="80010"/>
          </a:xfrm>
          <a:custGeom>
            <a:avLst/>
            <a:gdLst/>
            <a:ahLst/>
            <a:cxnLst/>
            <a:rect l="0" t="0" r="0" b="0"/>
            <a:pathLst>
              <a:path w="64770" h="80010">
                <a:moveTo>
                  <a:pt x="0" y="0"/>
                </a:moveTo>
                <a:lnTo>
                  <a:pt x="64770" y="40005"/>
                </a:lnTo>
                <a:lnTo>
                  <a:pt x="0" y="80010"/>
                </a:lnTo>
              </a:path>
            </a:pathLst>
          </a:custGeom>
          <a:noFill/>
          <a:ln w="38100" cap="rnd">
            <a:solidFill>
              <a:srgbClr val="4E94D9"/>
            </a:solidFill>
          </a:ln>
        </p:spPr>
        <p:txBody>
          <a:bodyPr/>
          <a:p/>
        </p:txBody>
      </p:sp>
      <p:sp>
        <p:nvSpPr>
          <p:cNvPr id="39" name="freeform-39"/>
          <p:cNvSpPr/>
          <p:nvPr/>
        </p:nvSpPr>
        <p:spPr>
          <a:xfrm>
            <a:off x="2505075" y="2505075"/>
            <a:ext cx="419100" cy="95"/>
          </a:xfrm>
          <a:custGeom>
            <a:avLst/>
            <a:gdLst/>
            <a:ahLst/>
            <a:cxnLst/>
            <a:rect l="0" t="0" r="0" b="0"/>
            <a:pathLst>
              <a:path w="419100" h="95">
                <a:moveTo>
                  <a:pt x="0" y="0"/>
                </a:moveTo>
                <a:lnTo>
                  <a:pt x="419100" y="0"/>
                </a:lnTo>
              </a:path>
            </a:pathLst>
          </a:custGeom>
          <a:noFill/>
          <a:ln w="38100" cap="sq">
            <a:solidFill>
              <a:srgbClr val="4E94D9"/>
            </a:solidFill>
          </a:ln>
        </p:spPr>
        <p:txBody>
          <a:bodyPr/>
          <a:p/>
        </p:txBody>
      </p:sp>
      <p:sp>
        <p:nvSpPr>
          <p:cNvPr id="40" name="freeform-40"/>
          <p:cNvSpPr/>
          <p:nvPr/>
        </p:nvSpPr>
        <p:spPr>
          <a:xfrm>
            <a:off x="2859405" y="2465070"/>
            <a:ext cx="64770" cy="80010"/>
          </a:xfrm>
          <a:custGeom>
            <a:avLst/>
            <a:gdLst/>
            <a:ahLst/>
            <a:cxnLst/>
            <a:rect l="0" t="0" r="0" b="0"/>
            <a:pathLst>
              <a:path w="64770" h="80010">
                <a:moveTo>
                  <a:pt x="0" y="0"/>
                </a:moveTo>
                <a:lnTo>
                  <a:pt x="64770" y="40005"/>
                </a:lnTo>
                <a:lnTo>
                  <a:pt x="0" y="80010"/>
                </a:lnTo>
              </a:path>
            </a:pathLst>
          </a:custGeom>
          <a:noFill/>
          <a:ln w="38100" cap="rnd">
            <a:solidFill>
              <a:srgbClr val="4E94D9"/>
            </a:solidFill>
          </a:ln>
        </p:spPr>
        <p:txBody>
          <a:bodyPr/>
          <a:p/>
        </p:txBody>
      </p:sp>
      <p:sp>
        <p:nvSpPr>
          <p:cNvPr id="41" name="freeform-41"/>
          <p:cNvSpPr/>
          <p:nvPr/>
        </p:nvSpPr>
        <p:spPr>
          <a:xfrm>
            <a:off x="3333750" y="2505075"/>
            <a:ext cx="514350" cy="95"/>
          </a:xfrm>
          <a:custGeom>
            <a:avLst/>
            <a:gdLst/>
            <a:ahLst/>
            <a:cxnLst/>
            <a:rect l="0" t="0" r="0" b="0"/>
            <a:pathLst>
              <a:path w="514350" h="95">
                <a:moveTo>
                  <a:pt x="0" y="0"/>
                </a:moveTo>
                <a:lnTo>
                  <a:pt x="514350" y="0"/>
                </a:lnTo>
              </a:path>
            </a:pathLst>
          </a:custGeom>
          <a:noFill/>
          <a:ln w="38100" cap="sq">
            <a:solidFill>
              <a:srgbClr val="4E94D9"/>
            </a:solidFill>
          </a:ln>
        </p:spPr>
        <p:txBody>
          <a:bodyPr/>
          <a:p/>
        </p:txBody>
      </p:sp>
      <p:sp>
        <p:nvSpPr>
          <p:cNvPr id="42" name="freeform-42"/>
          <p:cNvSpPr/>
          <p:nvPr/>
        </p:nvSpPr>
        <p:spPr>
          <a:xfrm>
            <a:off x="3783330" y="2465070"/>
            <a:ext cx="64770" cy="80010"/>
          </a:xfrm>
          <a:custGeom>
            <a:avLst/>
            <a:gdLst/>
            <a:ahLst/>
            <a:cxnLst/>
            <a:rect l="0" t="0" r="0" b="0"/>
            <a:pathLst>
              <a:path w="64770" h="80010">
                <a:moveTo>
                  <a:pt x="0" y="0"/>
                </a:moveTo>
                <a:lnTo>
                  <a:pt x="64770" y="40005"/>
                </a:lnTo>
                <a:lnTo>
                  <a:pt x="0" y="80010"/>
                </a:lnTo>
              </a:path>
            </a:pathLst>
          </a:custGeom>
          <a:noFill/>
          <a:ln w="38100" cap="rnd">
            <a:solidFill>
              <a:srgbClr val="4E94D9"/>
            </a:solidFill>
          </a:ln>
        </p:spPr>
        <p:txBody>
          <a:bodyPr/>
          <a:p/>
        </p:txBody>
      </p:sp>
      <p:sp>
        <p:nvSpPr>
          <p:cNvPr id="43" name="freeform-43"/>
          <p:cNvSpPr/>
          <p:nvPr/>
        </p:nvSpPr>
        <p:spPr>
          <a:xfrm>
            <a:off x="876300" y="2886075"/>
            <a:ext cx="457200" cy="95"/>
          </a:xfrm>
          <a:custGeom>
            <a:avLst/>
            <a:gdLst/>
            <a:ahLst/>
            <a:cxnLst/>
            <a:rect l="0" t="0" r="0" b="0"/>
            <a:pathLst>
              <a:path w="457200" h="95">
                <a:moveTo>
                  <a:pt x="457200" y="0"/>
                </a:moveTo>
                <a:lnTo>
                  <a:pt x="0" y="0"/>
                </a:lnTo>
              </a:path>
            </a:pathLst>
          </a:custGeom>
          <a:noFill/>
          <a:ln w="38100" cap="sq">
            <a:solidFill>
              <a:srgbClr val="FFC000"/>
            </a:solidFill>
          </a:ln>
        </p:spPr>
        <p:txBody>
          <a:bodyPr/>
          <a:p/>
        </p:txBody>
      </p:sp>
      <p:sp>
        <p:nvSpPr>
          <p:cNvPr id="44" name="freeform-44"/>
          <p:cNvSpPr/>
          <p:nvPr/>
        </p:nvSpPr>
        <p:spPr>
          <a:xfrm>
            <a:off x="876300" y="2846070"/>
            <a:ext cx="64770" cy="80010"/>
          </a:xfrm>
          <a:custGeom>
            <a:avLst/>
            <a:gdLst/>
            <a:ahLst/>
            <a:cxnLst/>
            <a:rect l="0" t="0" r="0" b="0"/>
            <a:pathLst>
              <a:path w="64770" h="80010">
                <a:moveTo>
                  <a:pt x="64770" y="80010"/>
                </a:moveTo>
                <a:lnTo>
                  <a:pt x="0" y="40005"/>
                </a:lnTo>
                <a:lnTo>
                  <a:pt x="64770" y="0"/>
                </a:lnTo>
              </a:path>
            </a:pathLst>
          </a:custGeom>
          <a:noFill/>
          <a:ln w="38100" cap="rnd">
            <a:solidFill>
              <a:srgbClr val="FFC000"/>
            </a:solidFill>
          </a:ln>
        </p:spPr>
        <p:txBody>
          <a:bodyPr/>
          <a:p/>
        </p:txBody>
      </p:sp>
      <p:sp>
        <p:nvSpPr>
          <p:cNvPr id="45" name="freeform-45"/>
          <p:cNvSpPr/>
          <p:nvPr/>
        </p:nvSpPr>
        <p:spPr>
          <a:xfrm>
            <a:off x="1733550" y="2886075"/>
            <a:ext cx="381000" cy="95"/>
          </a:xfrm>
          <a:custGeom>
            <a:avLst/>
            <a:gdLst/>
            <a:ahLst/>
            <a:cxnLst/>
            <a:rect l="0" t="0" r="0" b="0"/>
            <a:pathLst>
              <a:path w="381000" h="95">
                <a:moveTo>
                  <a:pt x="381000" y="0"/>
                </a:moveTo>
                <a:lnTo>
                  <a:pt x="0" y="0"/>
                </a:lnTo>
              </a:path>
            </a:pathLst>
          </a:custGeom>
          <a:noFill/>
          <a:ln w="38100" cap="sq">
            <a:solidFill>
              <a:srgbClr val="FFC000"/>
            </a:solidFill>
          </a:ln>
        </p:spPr>
        <p:txBody>
          <a:bodyPr/>
          <a:p/>
        </p:txBody>
      </p:sp>
      <p:sp>
        <p:nvSpPr>
          <p:cNvPr id="46" name="freeform-46"/>
          <p:cNvSpPr/>
          <p:nvPr/>
        </p:nvSpPr>
        <p:spPr>
          <a:xfrm>
            <a:off x="1733550" y="2846070"/>
            <a:ext cx="64770" cy="80010"/>
          </a:xfrm>
          <a:custGeom>
            <a:avLst/>
            <a:gdLst/>
            <a:ahLst/>
            <a:cxnLst/>
            <a:rect l="0" t="0" r="0" b="0"/>
            <a:pathLst>
              <a:path w="64770" h="80010">
                <a:moveTo>
                  <a:pt x="64770" y="80010"/>
                </a:moveTo>
                <a:lnTo>
                  <a:pt x="0" y="40005"/>
                </a:lnTo>
                <a:lnTo>
                  <a:pt x="64770" y="0"/>
                </a:lnTo>
              </a:path>
            </a:pathLst>
          </a:custGeom>
          <a:noFill/>
          <a:ln w="38100" cap="rnd">
            <a:solidFill>
              <a:srgbClr val="FFC000"/>
            </a:solidFill>
          </a:ln>
        </p:spPr>
        <p:txBody>
          <a:bodyPr/>
          <a:p/>
        </p:txBody>
      </p:sp>
      <p:sp>
        <p:nvSpPr>
          <p:cNvPr id="47" name="freeform-47"/>
          <p:cNvSpPr/>
          <p:nvPr/>
        </p:nvSpPr>
        <p:spPr>
          <a:xfrm>
            <a:off x="2514600" y="2886075"/>
            <a:ext cx="428625" cy="95"/>
          </a:xfrm>
          <a:custGeom>
            <a:avLst/>
            <a:gdLst/>
            <a:ahLst/>
            <a:cxnLst/>
            <a:rect l="0" t="0" r="0" b="0"/>
            <a:pathLst>
              <a:path w="428625" h="95">
                <a:moveTo>
                  <a:pt x="428625" y="0"/>
                </a:moveTo>
                <a:lnTo>
                  <a:pt x="0" y="0"/>
                </a:lnTo>
              </a:path>
            </a:pathLst>
          </a:custGeom>
          <a:noFill/>
          <a:ln w="38100" cap="sq">
            <a:solidFill>
              <a:srgbClr val="FFC000"/>
            </a:solidFill>
          </a:ln>
        </p:spPr>
        <p:txBody>
          <a:bodyPr/>
          <a:p/>
        </p:txBody>
      </p:sp>
      <p:sp>
        <p:nvSpPr>
          <p:cNvPr id="48" name="freeform-48"/>
          <p:cNvSpPr/>
          <p:nvPr/>
        </p:nvSpPr>
        <p:spPr>
          <a:xfrm>
            <a:off x="2514600" y="2846070"/>
            <a:ext cx="64770" cy="80010"/>
          </a:xfrm>
          <a:custGeom>
            <a:avLst/>
            <a:gdLst/>
            <a:ahLst/>
            <a:cxnLst/>
            <a:rect l="0" t="0" r="0" b="0"/>
            <a:pathLst>
              <a:path w="64770" h="80010">
                <a:moveTo>
                  <a:pt x="64770" y="80010"/>
                </a:moveTo>
                <a:lnTo>
                  <a:pt x="0" y="40005"/>
                </a:lnTo>
                <a:lnTo>
                  <a:pt x="64770" y="0"/>
                </a:lnTo>
              </a:path>
            </a:pathLst>
          </a:custGeom>
          <a:noFill/>
          <a:ln w="38100" cap="rnd">
            <a:solidFill>
              <a:srgbClr val="FFC000"/>
            </a:solidFill>
          </a:ln>
        </p:spPr>
        <p:txBody>
          <a:bodyPr/>
          <a:p/>
        </p:txBody>
      </p:sp>
      <p:sp>
        <p:nvSpPr>
          <p:cNvPr id="49" name="freeform-49"/>
          <p:cNvSpPr/>
          <p:nvPr/>
        </p:nvSpPr>
        <p:spPr>
          <a:xfrm>
            <a:off x="3343275" y="2886075"/>
            <a:ext cx="504825" cy="95"/>
          </a:xfrm>
          <a:custGeom>
            <a:avLst/>
            <a:gdLst/>
            <a:ahLst/>
            <a:cxnLst/>
            <a:rect l="0" t="0" r="0" b="0"/>
            <a:pathLst>
              <a:path w="504825" h="95">
                <a:moveTo>
                  <a:pt x="504825" y="0"/>
                </a:moveTo>
                <a:lnTo>
                  <a:pt x="0" y="0"/>
                </a:lnTo>
              </a:path>
            </a:pathLst>
          </a:custGeom>
          <a:noFill/>
          <a:ln w="38100" cap="sq">
            <a:solidFill>
              <a:srgbClr val="FFC000"/>
            </a:solidFill>
          </a:ln>
        </p:spPr>
        <p:txBody>
          <a:bodyPr/>
          <a:p/>
        </p:txBody>
      </p:sp>
      <p:sp>
        <p:nvSpPr>
          <p:cNvPr id="50" name="freeform-50"/>
          <p:cNvSpPr/>
          <p:nvPr/>
        </p:nvSpPr>
        <p:spPr>
          <a:xfrm>
            <a:off x="3343275" y="2846070"/>
            <a:ext cx="64770" cy="80010"/>
          </a:xfrm>
          <a:custGeom>
            <a:avLst/>
            <a:gdLst/>
            <a:ahLst/>
            <a:cxnLst/>
            <a:rect l="0" t="0" r="0" b="0"/>
            <a:pathLst>
              <a:path w="64770" h="80010">
                <a:moveTo>
                  <a:pt x="64770" y="80010"/>
                </a:moveTo>
                <a:lnTo>
                  <a:pt x="0" y="40005"/>
                </a:lnTo>
                <a:lnTo>
                  <a:pt x="64770" y="0"/>
                </a:lnTo>
              </a:path>
            </a:pathLst>
          </a:custGeom>
          <a:noFill/>
          <a:ln w="38100" cap="rnd">
            <a:solidFill>
              <a:srgbClr val="FFC000"/>
            </a:solidFill>
          </a:ln>
        </p:spPr>
        <p:txBody>
          <a:bodyPr/>
          <a:p/>
        </p:txBody>
      </p:sp>
      <p:sp>
        <p:nvSpPr>
          <p:cNvPr id="51" name="Rounded Rectangle 50"/>
          <p:cNvSpPr/>
          <p:nvPr/>
        </p:nvSpPr>
        <p:spPr>
          <a:xfrm>
            <a:off x="3876675" y="2181225"/>
            <a:ext cx="2200275" cy="1028700"/>
          </a:xfrm>
          <a:prstGeom prst="roundRect">
            <a:avLst>
              <a:gd name="adj" fmla="val 16666"/>
            </a:avLst>
          </a:prstGeom>
          <a:solidFill>
            <a:srgbClr val="FFFFFF"/>
          </a:solidFill>
          <a:ln w="38100">
            <a:solidFill>
              <a:srgbClr val="D86D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4390787" y="2296954"/>
            <a:ext cx="1172051" cy="273844"/>
          </a:xfrm>
          <a:prstGeom prst="rect">
            <a:avLst/>
          </a:prstGeom>
          <a:noFill/>
          <a:effectLst/>
        </p:spPr>
        <p:txBody>
          <a:bodyPr wrap="none" anchor="t" lIns="0" rIns="0" tIns="0" bIns="0">
            <a:spAutoFit/>
          </a:bodyPr>
          <a:lstStyle/>
          <a:p>
            <a:pPr algn="ctr"/>
            <a:r>
              <a:rPr sz="1725" b="1">
                <a:solidFill>
                  <a:srgbClr val="000000"/>
                </a:solidFill>
                <a:latin typeface="Liberation Serif"/>
              </a:rPr>
              <a:t>Bio-inspired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065461" y="2573179"/>
            <a:ext cx="1822704" cy="273844"/>
          </a:xfrm>
          <a:prstGeom prst="rect">
            <a:avLst/>
          </a:prstGeom>
          <a:noFill/>
          <a:effectLst/>
        </p:spPr>
        <p:txBody>
          <a:bodyPr wrap="none" anchor="t" lIns="0" rIns="0" tIns="0" bIns="0">
            <a:spAutoFit/>
          </a:bodyPr>
          <a:lstStyle/>
          <a:p>
            <a:pPr algn="ctr"/>
            <a:r>
              <a:rPr sz="1725" b="1">
                <a:solidFill>
                  <a:srgbClr val="000000"/>
                </a:solidFill>
                <a:latin typeface="Liberation Serif"/>
              </a:rPr>
              <a:t>Adaptive Sampling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4604385" y="2858929"/>
            <a:ext cx="744855" cy="273844"/>
          </a:xfrm>
          <a:prstGeom prst="rect">
            <a:avLst/>
          </a:prstGeom>
          <a:noFill/>
          <a:effectLst/>
        </p:spPr>
        <p:txBody>
          <a:bodyPr wrap="none" anchor="t" lIns="0" rIns="0" tIns="0" bIns="0">
            <a:spAutoFit/>
          </a:bodyPr>
          <a:lstStyle/>
          <a:p>
            <a:pPr algn="ctr"/>
            <a:r>
              <a:rPr sz="1725" b="1">
                <a:solidFill>
                  <a:srgbClr val="000000"/>
                </a:solidFill>
                <a:latin typeface="Liberation Serif"/>
              </a:rPr>
              <a:t>(BASS)</a:t>
            </a:r>
          </a:p>
        </p:txBody>
      </p:sp>
      <p:sp>
        <p:nvSpPr>
          <p:cNvPr id="55" name="freeform-55"/>
          <p:cNvSpPr/>
          <p:nvPr/>
        </p:nvSpPr>
        <p:spPr>
          <a:xfrm>
            <a:off x="6096000" y="2505075"/>
            <a:ext cx="1028700" cy="95"/>
          </a:xfrm>
          <a:custGeom>
            <a:avLst/>
            <a:gdLst/>
            <a:ahLst/>
            <a:cxnLst/>
            <a:rect l="0" t="0" r="0" b="0"/>
            <a:pathLst>
              <a:path w="1028700" h="95">
                <a:moveTo>
                  <a:pt x="0" y="0"/>
                </a:moveTo>
                <a:lnTo>
                  <a:pt x="1028700" y="0"/>
                </a:lnTo>
              </a:path>
            </a:pathLst>
          </a:custGeom>
          <a:noFill/>
          <a:ln w="38100" cap="sq">
            <a:solidFill>
              <a:srgbClr val="4E94D9"/>
            </a:solidFill>
          </a:ln>
        </p:spPr>
        <p:txBody>
          <a:bodyPr/>
          <a:p/>
        </p:txBody>
      </p:sp>
      <p:sp>
        <p:nvSpPr>
          <p:cNvPr id="56" name="freeform-56"/>
          <p:cNvSpPr/>
          <p:nvPr/>
        </p:nvSpPr>
        <p:spPr>
          <a:xfrm>
            <a:off x="7059930" y="2465070"/>
            <a:ext cx="64770" cy="80010"/>
          </a:xfrm>
          <a:custGeom>
            <a:avLst/>
            <a:gdLst/>
            <a:ahLst/>
            <a:cxnLst/>
            <a:rect l="0" t="0" r="0" b="0"/>
            <a:pathLst>
              <a:path w="64770" h="80010">
                <a:moveTo>
                  <a:pt x="0" y="0"/>
                </a:moveTo>
                <a:lnTo>
                  <a:pt x="64770" y="40005"/>
                </a:lnTo>
                <a:lnTo>
                  <a:pt x="0" y="80010"/>
                </a:lnTo>
              </a:path>
            </a:pathLst>
          </a:custGeom>
          <a:noFill/>
          <a:ln w="38100" cap="rnd">
            <a:solidFill>
              <a:srgbClr val="4E94D9"/>
            </a:solidFill>
          </a:ln>
        </p:spPr>
        <p:txBody>
          <a:bodyPr/>
          <a:p/>
        </p:txBody>
      </p:sp>
      <p:sp>
        <p:nvSpPr>
          <p:cNvPr id="57" name="freeform-57"/>
          <p:cNvSpPr/>
          <p:nvPr/>
        </p:nvSpPr>
        <p:spPr>
          <a:xfrm>
            <a:off x="6115050" y="2886075"/>
            <a:ext cx="942975" cy="1371600"/>
          </a:xfrm>
          <a:custGeom>
            <a:avLst/>
            <a:gdLst/>
            <a:ahLst/>
            <a:cxnLst/>
            <a:rect l="0" t="0" r="0" b="0"/>
            <a:pathLst>
              <a:path w="942975" h="1371600">
                <a:moveTo>
                  <a:pt x="942975" y="1371600"/>
                </a:moveTo>
                <a:lnTo>
                  <a:pt x="457200" y="1371600"/>
                </a:lnTo>
                <a:lnTo>
                  <a:pt x="457200" y="0"/>
                </a:lnTo>
                <a:lnTo>
                  <a:pt x="0" y="0"/>
                </a:lnTo>
              </a:path>
            </a:pathLst>
          </a:custGeom>
          <a:noFill/>
          <a:ln w="38100" cap="sq">
            <a:solidFill>
              <a:srgbClr val="FFC000"/>
            </a:solidFill>
          </a:ln>
        </p:spPr>
        <p:txBody>
          <a:bodyPr/>
          <a:p/>
        </p:txBody>
      </p:sp>
      <p:sp>
        <p:nvSpPr>
          <p:cNvPr id="58" name="freeform-58"/>
          <p:cNvSpPr/>
          <p:nvPr/>
        </p:nvSpPr>
        <p:spPr>
          <a:xfrm>
            <a:off x="6115050" y="2846070"/>
            <a:ext cx="64770" cy="80010"/>
          </a:xfrm>
          <a:custGeom>
            <a:avLst/>
            <a:gdLst/>
            <a:ahLst/>
            <a:cxnLst/>
            <a:rect l="0" t="0" r="0" b="0"/>
            <a:pathLst>
              <a:path w="64770" h="80010">
                <a:moveTo>
                  <a:pt x="64770" y="80010"/>
                </a:moveTo>
                <a:lnTo>
                  <a:pt x="0" y="40005"/>
                </a:lnTo>
                <a:lnTo>
                  <a:pt x="64770" y="0"/>
                </a:lnTo>
              </a:path>
            </a:pathLst>
          </a:custGeom>
          <a:noFill/>
          <a:ln w="38100" cap="rnd">
            <a:solidFill>
              <a:srgbClr val="FFC000"/>
            </a:solidFill>
          </a:ln>
        </p:spPr>
        <p:txBody>
          <a:bodyPr/>
          <a:p/>
        </p:txBody>
      </p:sp>
      <p:sp>
        <p:nvSpPr>
          <p:cNvPr id="59" name="freeform-59"/>
          <p:cNvSpPr/>
          <p:nvPr/>
        </p:nvSpPr>
        <p:spPr>
          <a:xfrm>
            <a:off x="4419600" y="3238500"/>
            <a:ext cx="95" cy="428625"/>
          </a:xfrm>
          <a:custGeom>
            <a:avLst/>
            <a:gdLst/>
            <a:ahLst/>
            <a:cxnLst/>
            <a:rect l="0" t="0" r="0" b="0"/>
            <a:pathLst>
              <a:path w="95" h="428625">
                <a:moveTo>
                  <a:pt x="0" y="428625"/>
                </a:moveTo>
                <a:lnTo>
                  <a:pt x="0" y="0"/>
                </a:lnTo>
              </a:path>
            </a:pathLst>
          </a:custGeom>
          <a:noFill/>
          <a:ln w="38100" cap="sq">
            <a:solidFill>
              <a:srgbClr val="4E94D9"/>
            </a:solidFill>
          </a:ln>
        </p:spPr>
        <p:txBody>
          <a:bodyPr/>
          <a:p/>
        </p:txBody>
      </p:sp>
      <p:sp>
        <p:nvSpPr>
          <p:cNvPr id="60" name="freeform-60"/>
          <p:cNvSpPr/>
          <p:nvPr/>
        </p:nvSpPr>
        <p:spPr>
          <a:xfrm>
            <a:off x="4379595" y="3238500"/>
            <a:ext cx="80010" cy="64770"/>
          </a:xfrm>
          <a:custGeom>
            <a:avLst/>
            <a:gdLst/>
            <a:ahLst/>
            <a:cxnLst/>
            <a:rect l="0" t="0" r="0" b="0"/>
            <a:pathLst>
              <a:path w="80010" h="64770">
                <a:moveTo>
                  <a:pt x="0" y="64770"/>
                </a:moveTo>
                <a:lnTo>
                  <a:pt x="40005" y="0"/>
                </a:lnTo>
                <a:lnTo>
                  <a:pt x="80010" y="64770"/>
                </a:lnTo>
              </a:path>
            </a:pathLst>
          </a:custGeom>
          <a:noFill/>
          <a:ln w="38100" cap="rnd">
            <a:solidFill>
              <a:srgbClr val="4E94D9"/>
            </a:solidFill>
          </a:ln>
        </p:spPr>
        <p:txBody>
          <a:bodyPr/>
          <a:p/>
        </p:txBody>
      </p:sp>
      <p:sp>
        <p:nvSpPr>
          <p:cNvPr id="61" name="freeform-61"/>
          <p:cNvSpPr/>
          <p:nvPr/>
        </p:nvSpPr>
        <p:spPr>
          <a:xfrm>
            <a:off x="5314950" y="3238500"/>
            <a:ext cx="95" cy="1162050"/>
          </a:xfrm>
          <a:custGeom>
            <a:avLst/>
            <a:gdLst/>
            <a:ahLst/>
            <a:cxnLst/>
            <a:rect l="0" t="0" r="0" b="0"/>
            <a:pathLst>
              <a:path w="95" h="1162050">
                <a:moveTo>
                  <a:pt x="0" y="1162050"/>
                </a:moveTo>
                <a:lnTo>
                  <a:pt x="0" y="0"/>
                </a:lnTo>
              </a:path>
            </a:pathLst>
          </a:custGeom>
          <a:noFill/>
          <a:ln w="38100" cap="sq">
            <a:solidFill>
              <a:srgbClr val="4E94D9"/>
            </a:solidFill>
          </a:ln>
        </p:spPr>
        <p:txBody>
          <a:bodyPr/>
          <a:p/>
        </p:txBody>
      </p:sp>
      <p:sp>
        <p:nvSpPr>
          <p:cNvPr id="62" name="freeform-62"/>
          <p:cNvSpPr/>
          <p:nvPr/>
        </p:nvSpPr>
        <p:spPr>
          <a:xfrm>
            <a:off x="5274945" y="3238500"/>
            <a:ext cx="80010" cy="64770"/>
          </a:xfrm>
          <a:custGeom>
            <a:avLst/>
            <a:gdLst/>
            <a:ahLst/>
            <a:cxnLst/>
            <a:rect l="0" t="0" r="0" b="0"/>
            <a:pathLst>
              <a:path w="80010" h="64770">
                <a:moveTo>
                  <a:pt x="0" y="64770"/>
                </a:moveTo>
                <a:lnTo>
                  <a:pt x="40005" y="0"/>
                </a:lnTo>
                <a:lnTo>
                  <a:pt x="80010" y="64770"/>
                </a:lnTo>
              </a:path>
            </a:pathLst>
          </a:custGeom>
          <a:noFill/>
          <a:ln w="38100" cap="rnd">
            <a:solidFill>
              <a:srgbClr val="4E94D9"/>
            </a:solidFill>
          </a:ln>
        </p:spPr>
        <p:txBody>
          <a:bodyPr/>
          <a:p/>
        </p:txBody>
      </p:sp>
      <p:sp>
        <p:nvSpPr>
          <p:cNvPr id="63" name="TextBox 62"/>
          <p:cNvSpPr txBox="1"/>
          <p:nvPr/>
        </p:nvSpPr>
        <p:spPr>
          <a:xfrm>
            <a:off x="3793379" y="3706654"/>
            <a:ext cx="1233392" cy="273844"/>
          </a:xfrm>
          <a:prstGeom prst="rect">
            <a:avLst/>
          </a:prstGeom>
          <a:noFill/>
          <a:effectLst/>
        </p:spPr>
        <p:txBody>
          <a:bodyPr wrap="none" anchor="t" lIns="0" rIns="0" tIns="0" bIns="0">
            <a:spAutoFit/>
          </a:bodyPr>
          <a:lstStyle/>
          <a:p>
            <a:pPr algn="ctr"/>
            <a:r>
              <a:rPr sz="1725">
                <a:solidFill>
                  <a:srgbClr val="000000"/>
                </a:solidFill>
                <a:latin typeface="Liberation Serif"/>
              </a:rPr>
              <a:t>Pixel Budget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4336685" y="3973354"/>
            <a:ext cx="146780" cy="273844"/>
          </a:xfrm>
          <a:prstGeom prst="rect">
            <a:avLst/>
          </a:prstGeom>
          <a:noFill/>
          <a:effectLst/>
        </p:spPr>
        <p:txBody>
          <a:bodyPr wrap="none" anchor="t" lIns="0" rIns="0" tIns="0" bIns="0">
            <a:spAutoFit/>
          </a:bodyPr>
          <a:lstStyle/>
          <a:p>
            <a:pPr algn="ctr"/>
            <a:r>
              <a:rPr sz="1725" i="1">
                <a:solidFill>
                  <a:srgbClr val="000000"/>
                </a:solidFill>
                <a:latin typeface="Liberation Serif"/>
              </a:rPr>
              <a:t>B</a:t>
            </a:r>
          </a:p>
        </p:txBody>
      </p:sp>
      <p:sp>
        <p:nvSpPr>
          <p:cNvPr id="65" name="TextBox 64"/>
          <p:cNvSpPr txBox="1"/>
          <p:nvPr/>
        </p:nvSpPr>
        <p:spPr>
          <a:xfrm rot="16200000">
            <a:off x="-831723" y="2514600"/>
            <a:ext cx="2311146" cy="285750"/>
          </a:xfrm>
          <a:prstGeom prst="rect">
            <a:avLst/>
          </a:prstGeom>
          <a:noFill/>
          <a:effectLst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800">
                <a:solidFill>
                  <a:srgbClr val="000000"/>
                </a:solidFill>
                <a:latin typeface="Liberation Serif"/>
              </a:rPr>
              <a:t>Latent Encoding Layer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1167479" y="4230529"/>
            <a:ext cx="1494092" cy="273844"/>
          </a:xfrm>
          <a:prstGeom prst="rect">
            <a:avLst/>
          </a:prstGeom>
          <a:noFill/>
          <a:effectLst/>
        </p:spPr>
        <p:txBody>
          <a:bodyPr wrap="none" anchor="t" lIns="0" rIns="0" tIns="0" bIns="0">
            <a:spAutoFit/>
          </a:bodyPr>
          <a:lstStyle/>
          <a:p>
            <a:pPr algn="ctr"/>
            <a:r>
              <a:rPr sz="1725">
                <a:solidFill>
                  <a:srgbClr val="000000"/>
                </a:solidFill>
                <a:latin typeface="Liberation Serif"/>
              </a:rPr>
              <a:t>Transformation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1573863" y="4516279"/>
            <a:ext cx="681323" cy="273844"/>
          </a:xfrm>
          <a:prstGeom prst="rect">
            <a:avLst/>
          </a:prstGeom>
          <a:noFill/>
          <a:effectLst/>
        </p:spPr>
        <p:txBody>
          <a:bodyPr wrap="none" anchor="t" lIns="0" rIns="0" tIns="0" bIns="0">
            <a:spAutoFit/>
          </a:bodyPr>
          <a:lstStyle/>
          <a:p>
            <a:pPr algn="ctr"/>
            <a:r>
              <a:rPr sz="1725">
                <a:solidFill>
                  <a:srgbClr val="000000"/>
                </a:solidFill>
                <a:latin typeface="Liberation Serif"/>
              </a:rPr>
              <a:t>Layers</a:t>
            </a:r>
          </a:p>
        </p:txBody>
      </p:sp>
      <p:sp>
        <p:nvSpPr>
          <p:cNvPr id="68" name="TextBox 67"/>
          <p:cNvSpPr txBox="1"/>
          <p:nvPr/>
        </p:nvSpPr>
        <p:spPr>
          <a:xfrm rot="16200000">
            <a:off x="2732722" y="4014788"/>
            <a:ext cx="611505" cy="238125"/>
          </a:xfrm>
          <a:prstGeom prst="rect">
            <a:avLst/>
          </a:prstGeom>
          <a:noFill/>
          <a:effectLst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500">
                <a:solidFill>
                  <a:srgbClr val="000000"/>
                </a:solidFill>
                <a:latin typeface="Liberation Serif"/>
              </a:rPr>
              <a:t>Möbius</a:t>
            </a:r>
          </a:p>
        </p:txBody>
      </p:sp>
      <p:sp>
        <p:nvSpPr>
          <p:cNvPr id="69" name="TextBox 68"/>
          <p:cNvSpPr txBox="1"/>
          <p:nvPr/>
        </p:nvSpPr>
        <p:spPr>
          <a:xfrm rot="16200000">
            <a:off x="2803208" y="4014788"/>
            <a:ext cx="984885" cy="238125"/>
          </a:xfrm>
          <a:prstGeom prst="rect">
            <a:avLst/>
          </a:prstGeom>
          <a:noFill/>
          <a:effectLst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500">
                <a:solidFill>
                  <a:srgbClr val="000000"/>
                </a:solidFill>
                <a:latin typeface="Liberation Serif"/>
              </a:rPr>
              <a:t>Parameters</a:t>
            </a:r>
          </a:p>
        </p:txBody>
      </p:sp>
      <p:sp>
        <p:nvSpPr>
          <p:cNvPr id="70" name="freeform-70"/>
          <p:cNvSpPr/>
          <p:nvPr/>
        </p:nvSpPr>
        <p:spPr>
          <a:xfrm>
            <a:off x="447675" y="4276725"/>
            <a:ext cx="95" cy="1028700"/>
          </a:xfrm>
          <a:custGeom>
            <a:avLst/>
            <a:gdLst/>
            <a:ahLst/>
            <a:cxnLst/>
            <a:rect l="0" t="0" r="0" b="0"/>
            <a:pathLst>
              <a:path w="95" h="1028700">
                <a:moveTo>
                  <a:pt x="0" y="0"/>
                </a:moveTo>
                <a:lnTo>
                  <a:pt x="0" y="1028700"/>
                </a:lnTo>
              </a:path>
            </a:pathLst>
          </a:custGeom>
          <a:noFill/>
          <a:ln w="38100">
            <a:solidFill>
              <a:srgbClr val="DADADA"/>
            </a:solidFill>
            <a:prstDash val="sysDash"/>
          </a:ln>
        </p:spPr>
        <p:txBody>
          <a:bodyPr/>
          <a:p/>
        </p:txBody>
      </p:sp>
      <p:sp>
        <p:nvSpPr>
          <p:cNvPr id="71" name="freeform-71"/>
          <p:cNvSpPr/>
          <p:nvPr/>
        </p:nvSpPr>
        <p:spPr>
          <a:xfrm>
            <a:off x="3629025" y="4276725"/>
            <a:ext cx="95" cy="1028700"/>
          </a:xfrm>
          <a:custGeom>
            <a:avLst/>
            <a:gdLst/>
            <a:ahLst/>
            <a:cxnLst/>
            <a:rect l="0" t="0" r="0" b="0"/>
            <a:pathLst>
              <a:path w="95" h="1028700">
                <a:moveTo>
                  <a:pt x="0" y="0"/>
                </a:moveTo>
                <a:lnTo>
                  <a:pt x="0" y="1028700"/>
                </a:lnTo>
              </a:path>
            </a:pathLst>
          </a:custGeom>
          <a:noFill/>
          <a:ln w="38100">
            <a:solidFill>
              <a:srgbClr val="DADADA"/>
            </a:solidFill>
            <a:prstDash val="sysDash"/>
          </a:ln>
        </p:spPr>
        <p:txBody>
          <a:bodyPr/>
          <a:p/>
        </p:txBody>
      </p:sp>
      <p:sp>
        <p:nvSpPr>
          <p:cNvPr id="72" name="freeform-72"/>
          <p:cNvSpPr/>
          <p:nvPr/>
        </p:nvSpPr>
        <p:spPr>
          <a:xfrm>
            <a:off x="447675" y="5305425"/>
            <a:ext cx="3181350" cy="390525"/>
          </a:xfrm>
          <a:custGeom>
            <a:avLst/>
            <a:gdLst/>
            <a:ahLst/>
            <a:cxnLst/>
            <a:rect l="0" t="0" r="0" b="0"/>
            <a:pathLst>
              <a:path w="3181350" h="390525">
                <a:moveTo>
                  <a:pt x="0" y="0"/>
                </a:moveTo>
                <a:cubicBezTo>
                  <a:pt x="0" y="139700"/>
                  <a:pt x="19050" y="209550"/>
                  <a:pt x="57150" y="209550"/>
                </a:cubicBezTo>
                <a:lnTo>
                  <a:pt x="1524000" y="209550"/>
                </a:lnTo>
                <a:cubicBezTo>
                  <a:pt x="1562100" y="209550"/>
                  <a:pt x="1581150" y="269875"/>
                  <a:pt x="1581150" y="390525"/>
                </a:cubicBezTo>
                <a:cubicBezTo>
                  <a:pt x="1581150" y="269875"/>
                  <a:pt x="1600200" y="209550"/>
                  <a:pt x="1638300" y="209550"/>
                </a:cubicBezTo>
                <a:lnTo>
                  <a:pt x="3124200" y="209550"/>
                </a:lnTo>
                <a:cubicBezTo>
                  <a:pt x="3162300" y="209550"/>
                  <a:pt x="3181350" y="139700"/>
                  <a:pt x="3181350" y="0"/>
                </a:cubicBezTo>
              </a:path>
            </a:pathLst>
          </a:custGeom>
          <a:noFill/>
          <a:ln w="38100" cap="rnd">
            <a:solidFill>
              <a:srgbClr val="7E7F7E"/>
            </a:solidFill>
          </a:ln>
        </p:spPr>
        <p:txBody>
          <a:bodyPr/>
          <a:p/>
        </p:txBody>
      </p:sp>
      <p:sp>
        <p:nvSpPr>
          <p:cNvPr id="73" name="TextBox 72"/>
          <p:cNvSpPr txBox="1"/>
          <p:nvPr/>
        </p:nvSpPr>
        <p:spPr>
          <a:xfrm>
            <a:off x="1330833" y="5812155"/>
            <a:ext cx="1415034" cy="285750"/>
          </a:xfrm>
          <a:prstGeom prst="rect">
            <a:avLst/>
          </a:prstGeom>
          <a:noFill/>
          <a:effectLst/>
        </p:spPr>
        <p:txBody>
          <a:bodyPr wrap="none" anchor="t" lIns="0" rIns="0" tIns="0" bIns="0">
            <a:spAutoFit/>
          </a:bodyPr>
          <a:lstStyle/>
          <a:p>
            <a:pPr algn="ctr"/>
            <a:r>
              <a:rPr sz="1800">
                <a:solidFill>
                  <a:srgbClr val="000000"/>
                </a:solidFill>
                <a:latin typeface="Liberation Serif"/>
              </a:rPr>
              <a:t>MLP Network</a:t>
            </a:r>
          </a:p>
        </p:txBody>
      </p:sp>
      <p:sp>
        <p:nvSpPr>
          <p:cNvPr id="74" name="Rounded Rectangle 73"/>
          <p:cNvSpPr/>
          <p:nvPr/>
        </p:nvSpPr>
        <p:spPr>
          <a:xfrm>
            <a:off x="4514850" y="676275"/>
            <a:ext cx="1381125" cy="638175"/>
          </a:xfrm>
          <a:prstGeom prst="roundRect">
            <a:avLst>
              <a:gd name="adj" fmla="val 11940"/>
            </a:avLst>
          </a:prstGeom>
          <a:solidFill>
            <a:srgbClr val="E7F7FD"/>
          </a:solidFill>
          <a:ln w="38100">
            <a:solidFill>
              <a:srgbClr val="60CB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4705017" y="761524"/>
            <a:ext cx="1000792" cy="226219"/>
          </a:xfrm>
          <a:prstGeom prst="rect">
            <a:avLst/>
          </a:prstGeom>
          <a:noFill/>
          <a:effectLst/>
        </p:spPr>
        <p:txBody>
          <a:bodyPr wrap="none" anchor="t" lIns="0" rIns="0" tIns="0" bIns="0">
            <a:spAutoFit/>
          </a:bodyPr>
          <a:lstStyle/>
          <a:p>
            <a:pPr algn="ctr"/>
            <a:r>
              <a:rPr sz="1425" i="1">
                <a:solidFill>
                  <a:srgbClr val="000000"/>
                </a:solidFill>
                <a:latin typeface="Liberation Serif"/>
              </a:rPr>
              <a:t>GT Answers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6" name="math:002" descr="AI_AUTOFIGURE_NATIVE_MATH_V1:eyJjb250ZW50X3J1bnMiOlt7ImNhbm9uaWNhbF9sYXRleCI6Inlfe2d0fSIsImZvcm11bGFfaWQiOiJFUTAwMiIsImtpbmQiOiJtYXRoIiwibGF0ZXhfc2hhMjU2IjoiNjUzZDhmMmEzM2VkMGNkOTYxNmQ5ZGI3MTc1YTAwMTg0MDI5Y2E5ZDU3NzVjY2E3YTE0ZjJkY2RiODMyZGVjMiIsIm1vZGUiOiJpbmxpbmUiLCJvbW1sX3NoYTI1NiI6IjcwZWMyYzkyOTAwMGIyMTE4NTViZjc1MWVjNTMwNmM2ODZkNWZlMDJhNTQxMWNkYmE5ZjE0Yzk2MjkwYjg0OWEiLCJzZW1hbnRpY19vbW1sX3Byb2ZpbGUiOiJvZmZpY2UtbWF0aC1zZW1hbnRpYy12MiIsInNlbWFudGljX29tbWxfc2hhMjU2IjoiM2M0YjBjNDU4NWUxMGQzZDhlMzY3YjQ4MzJjNTA2MzNhMWU0NThlODRjZWRiOWJjMzJhNjUxNDc1MDY4ZTcxNyJ9XSwiZm9ybXVsYXMiOlt7ImNhbm9uaWNhbF9sYXRleCI6Inlfe2d0fSIsImZvcm11bGFfaWQiOiJFUTAwMiIsImxhdGV4X3NoYTI1NiI6IjY1M2Q4ZjJhMzNlZDBjZDk2MTZkOWRiNzE3NWEwMDE4NDAyOWNhOWQ1Nzc1Y2NhN2ExNGYyZGNkYjgzMmRlYzIiLCJtb2RlIjoiaW5saW5lIiwib21tbF9zaGEyNTYiOiI3MGVjMmM5MjkwMDBiMjExODU1YmY3NTFlYzUzMDZjNjg2ZDVmZTAyYTU0MTFjZGJhOWYxNGM5NjI5MGI4NDlhIiwic2VtYW50aWNfb21tbF9wcm9maWxlIjoib2ZmaWNlLW1hdGgtc2VtYW50aWMtdjIiLCJzZW1hbnRpY19vbW1sX3NoYTI1NiI6IjNjNGIwYzQ1ODVlMTBkM2Q4ZTM2N2I0ODMyYzUwNjMzYTFlNDU4ZTg0Y2VkYjliYzMyYTY1MTQ3NTA2OGU3MTcifV0sImtpbmQiOiJuYXRpdmVfb2ZmaWNlX21hdGgiLCJwbGFjZWhvbGRlcl9uYW1lIjoibWF0aDowMDIiLCJzY2hlbWFfdmVyc2lvbiI6IjEuMCJ9"/>
              <p:cNvSpPr txBox="1"/>
              <p:nvPr/>
            </p:nvSpPr>
            <p:spPr>
              <a:xfrm>
                <a:off x="5087969" y="1018222"/>
                <a:ext cx="234887" cy="214312"/>
              </a:xfrm>
              <a:prstGeom prst="rect">
                <a:avLst/>
              </a:prstGeom>
              <a:noFill/>
              <a:effectLst/>
            </p:spPr>
            <p:txBody>
              <a:bodyPr wrap="none" anchor="t" lIns="0" rIns="0" tIns="0" bIns="0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sSub>
                      <m:e>
                        <m:r>
                          <a:rPr lang="en-US" dirty="0" sz="1350">
                            <a:solidFill>
                              <a:srgbClr val="000000"/>
                            </a:solidFill>
                            <a:latin typeface="Cambria Math"/>
                          </a:rPr>
                          <m:t>y</m:t>
                        </m:r>
                      </m:e>
                      <m:sub>
                        <m:r>
                          <a:rPr lang="en-US" dirty="0" sz="1350">
                            <a:solidFill>
                              <a:srgbClr val="000000"/>
                            </a:solidFill>
                            <a:latin typeface="Cambria Math"/>
                          </a:rPr>
                          <m:t>gt</m:t>
                        </m:r>
                      </m:sub>
                    </m:sSub>
                  </m:oMath>
                </a14:m>
                <a:endParaRPr lang="en-US" dirty="0" sz="1350">
                  <a:solidFill>
                    <a:srgbClr val="000000"/>
                  </a:solidFill>
                  <a:latin typeface="Cambria Math"/>
                </a:endParaRPr>
              </a:p>
            </p:txBody>
          </p:sp>
        </mc:Choice>
        <mc:Fallback>
          <p:sp>
            <p:nvSpPr>
              <p:cNvPr id="76" name="math:002" descr="AI_AUTOFIGURE_MATH_FALLBACK_ONLY_V1:eyJjb250ZW50X3J1bnMiOlt7ImNhbm9uaWNhbF9sYXRleCI6Inlfe2d0fSIsImZvcm11bGFfaWQiOiJFUTAwMiIsImtpbmQiOiJtYXRoIiwibGF0ZXhfc2hhMjU2IjoiNjUzZDhmMmEzM2VkMGNkOTYxNmQ5ZGI3MTc1YTAwMTg0MDI5Y2E5ZDU3NzVjY2E3YTE0ZjJkY2RiODMyZGVjMiIsIm1vZGUiOiJpbmxpbmUiLCJvbW1sX3NoYTI1NiI6IjcwZWMyYzkyOTAwMGIyMTE4NTViZjc1MWVjNTMwNmM2ODZkNWZlMDJhNTQxMWNkYmE5ZjE0Yzk2MjkwYjg0OWEiLCJzZW1hbnRpY19vbW1sX3Byb2ZpbGUiOiJvZmZpY2UtbWF0aC1zZW1hbnRpYy12MiIsInNlbWFudGljX29tbWxfc2hhMjU2IjoiM2M0YjBjNDU4NWUxMGQzZDhlMzY3YjQ4MzJjNTA2MzNhMWU0NThlODRjZWRiOWJjMzJhNjUxNDc1MDY4ZTcxNyJ9XSwiZm9ybXVsYXMiOlt7ImNhbm9uaWNhbF9sYXRleCI6Inlfe2d0fSIsImZvcm11bGFfaWQiOiJFUTAwMiIsImxhdGV4X3NoYTI1NiI6IjY1M2Q4ZjJhMzNlZDBjZDk2MTZkOWRiNzE3NWEwMDE4NDAyOWNhOWQ1Nzc1Y2NhN2ExNGYyZGNkYjgzMmRlYzIiLCJtb2RlIjoiaW5saW5lIiwib21tbF9zaGEyNTYiOiI3MGVjMmM5MjkwMDBiMjExODU1YmY3NTFlYzUzMDZjNjg2ZDVmZTAyYTU0MTFjZGJhOWYxNGM5NjI5MGI4NDlhIiwic2VtYW50aWNfb21tbF9wcm9maWxlIjoib2ZmaWNlLW1hdGgtc2VtYW50aWMtdjIiLCJzZW1hbnRpY19vbW1sX3NoYTI1NiI6IjNjNGIwYzQ1ODVlMTBkM2Q4ZTM2N2I0ODMyYzUwNjMzYTFlNDU4ZTg0Y2VkYjliYzMyYTY1MTQ3NTA2OGU3MTcifV0sImtpbmQiOiJuYXRpdmVfb2ZmaWNlX21hdGgiLCJwbGFjZWhvbGRlcl9uYW1lIjoibWF0aDowMDIiLCJzY2hlbWFfdmVyc2lvbiI6IjEuMCJ9"/>
              <p:cNvSpPr txBox="1"/>
              <p:nvPr/>
            </p:nvSpPr>
            <p:spPr>
              <a:xfrm>
                <a:off x="5087969" y="1018222"/>
                <a:ext cx="234887" cy="214312"/>
              </a:xfrm>
              <a:prstGeom prst="rect">
                <a:avLst/>
              </a:prstGeom>
              <a:noFill/>
              <a:effectLst/>
            </p:spPr>
            <p:txBody>
              <a:bodyPr wrap="none" anchor="t" lIns="0" rIns="0" tIns="0" bIns="0">
                <a:spAutoFit/>
              </a:bodyPr>
              <a:lstStyle/>
              <a:p>
                <a:pPr algn="ctr"/>
                <a:r>
                  <a:rPr lang="en-US" dirty="0" sz="1350">
                    <a:solidFill>
                      <a:srgbClr val="000000"/>
                    </a:solidFill>
                  </a:rPr>
                  <a:t>\(y_{gt}\)</a:t>
                </a:r>
                <a:endParaRPr lang="en-US" dirty="0" sz="1350">
                  <a:solidFill>
                    <a:srgbClr val="000000"/>
                  </a:solidFill>
                </a:endParaRPr>
              </a:p>
            </p:txBody>
          </p:sp>
        </mc:Fallback>
      </mc:AlternateContent>
      <p:sp>
        <p:nvSpPr>
          <p:cNvPr id="77" name="freeform-77"/>
          <p:cNvSpPr/>
          <p:nvPr/>
        </p:nvSpPr>
        <p:spPr>
          <a:xfrm>
            <a:off x="5895975" y="990600"/>
            <a:ext cx="1276350" cy="95"/>
          </a:xfrm>
          <a:custGeom>
            <a:avLst/>
            <a:gdLst/>
            <a:ahLst/>
            <a:cxnLst/>
            <a:rect l="0" t="0" r="0" b="0"/>
            <a:pathLst>
              <a:path w="1276350" h="95">
                <a:moveTo>
                  <a:pt x="0" y="0"/>
                </a:moveTo>
                <a:lnTo>
                  <a:pt x="1276350" y="0"/>
                </a:lnTo>
              </a:path>
            </a:pathLst>
          </a:custGeom>
          <a:noFill/>
          <a:ln w="38100" cap="sq">
            <a:solidFill>
              <a:srgbClr val="4E94D9"/>
            </a:solidFill>
          </a:ln>
        </p:spPr>
        <p:txBody>
          <a:bodyPr/>
          <a:p/>
        </p:txBody>
      </p:sp>
      <p:sp>
        <p:nvSpPr>
          <p:cNvPr id="78" name="freeform-78"/>
          <p:cNvSpPr/>
          <p:nvPr/>
        </p:nvSpPr>
        <p:spPr>
          <a:xfrm>
            <a:off x="7107555" y="950595"/>
            <a:ext cx="64770" cy="80010"/>
          </a:xfrm>
          <a:custGeom>
            <a:avLst/>
            <a:gdLst/>
            <a:ahLst/>
            <a:cxnLst/>
            <a:rect l="0" t="0" r="0" b="0"/>
            <a:pathLst>
              <a:path w="64770" h="80010">
                <a:moveTo>
                  <a:pt x="0" y="0"/>
                </a:moveTo>
                <a:lnTo>
                  <a:pt x="64770" y="40005"/>
                </a:lnTo>
                <a:lnTo>
                  <a:pt x="0" y="80010"/>
                </a:lnTo>
              </a:path>
            </a:pathLst>
          </a:custGeom>
          <a:noFill/>
          <a:ln w="38100" cap="rnd">
            <a:solidFill>
              <a:srgbClr val="4E94D9"/>
            </a:solidFill>
          </a:ln>
        </p:spPr>
        <p:txBody>
          <a:bodyPr/>
          <a:p/>
        </p:txBody>
      </p:sp>
      <p:sp>
        <p:nvSpPr>
          <p:cNvPr id="79" name="Rounded Rectangle 78"/>
          <p:cNvSpPr/>
          <p:nvPr/>
        </p:nvSpPr>
        <p:spPr>
          <a:xfrm>
            <a:off x="7200900" y="752475"/>
            <a:ext cx="1600200" cy="476250"/>
          </a:xfrm>
          <a:prstGeom prst="roundRect">
            <a:avLst>
              <a:gd name="adj" fmla="val 20000"/>
            </a:avLst>
          </a:prstGeom>
          <a:solidFill>
            <a:srgbClr val="FF8080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7232904" y="859155"/>
            <a:ext cx="1536192" cy="285750"/>
          </a:xfrm>
          <a:prstGeom prst="rect">
            <a:avLst/>
          </a:prstGeom>
          <a:noFill/>
          <a:effectLst/>
        </p:spPr>
        <p:txBody>
          <a:bodyPr wrap="none" anchor="t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Liberation Serif"/>
              </a:rPr>
              <a:t>Semantic Loss</a:t>
            </a:r>
          </a:p>
        </p:txBody>
      </p:sp>
      <p:sp>
        <p:nvSpPr>
          <p:cNvPr id="81" name="freeform-81"/>
          <p:cNvSpPr/>
          <p:nvPr/>
        </p:nvSpPr>
        <p:spPr>
          <a:xfrm>
            <a:off x="8820150" y="990600"/>
            <a:ext cx="1381125" cy="95"/>
          </a:xfrm>
          <a:custGeom>
            <a:avLst/>
            <a:gdLst/>
            <a:ahLst/>
            <a:cxnLst/>
            <a:rect l="0" t="0" r="0" b="0"/>
            <a:pathLst>
              <a:path w="1381125" h="95">
                <a:moveTo>
                  <a:pt x="1381125" y="0"/>
                </a:moveTo>
                <a:lnTo>
                  <a:pt x="0" y="0"/>
                </a:lnTo>
              </a:path>
            </a:pathLst>
          </a:custGeom>
          <a:noFill/>
          <a:ln w="38100" cap="sq">
            <a:solidFill>
              <a:srgbClr val="4E94D9"/>
            </a:solidFill>
          </a:ln>
        </p:spPr>
        <p:txBody>
          <a:bodyPr/>
          <a:p/>
        </p:txBody>
      </p:sp>
      <p:sp>
        <p:nvSpPr>
          <p:cNvPr id="82" name="freeform-82"/>
          <p:cNvSpPr/>
          <p:nvPr/>
        </p:nvSpPr>
        <p:spPr>
          <a:xfrm>
            <a:off x="8820150" y="950595"/>
            <a:ext cx="64770" cy="80010"/>
          </a:xfrm>
          <a:custGeom>
            <a:avLst/>
            <a:gdLst/>
            <a:ahLst/>
            <a:cxnLst/>
            <a:rect l="0" t="0" r="0" b="0"/>
            <a:pathLst>
              <a:path w="64770" h="80010">
                <a:moveTo>
                  <a:pt x="64770" y="80010"/>
                </a:moveTo>
                <a:lnTo>
                  <a:pt x="0" y="40005"/>
                </a:lnTo>
                <a:lnTo>
                  <a:pt x="64770" y="0"/>
                </a:lnTo>
              </a:path>
            </a:pathLst>
          </a:custGeom>
          <a:noFill/>
          <a:ln w="38100" cap="rnd">
            <a:solidFill>
              <a:srgbClr val="4E94D9"/>
            </a:solidFill>
          </a:ln>
        </p:spPr>
        <p:txBody>
          <a:bodyPr/>
          <a:p/>
        </p:txBody>
      </p:sp>
      <p:sp>
        <p:nvSpPr>
          <p:cNvPr id="83" name="TextBox 82"/>
          <p:cNvSpPr txBox="1"/>
          <p:nvPr/>
        </p:nvSpPr>
        <p:spPr>
          <a:xfrm>
            <a:off x="7230666" y="1621631"/>
            <a:ext cx="1635919" cy="297656"/>
          </a:xfrm>
          <a:prstGeom prst="rect">
            <a:avLst/>
          </a:prstGeom>
          <a:noFill/>
          <a:effectLst/>
        </p:spPr>
        <p:txBody>
          <a:bodyPr wrap="none" anchor="t" lIns="0" rIns="0" tIns="0" bIns="0">
            <a:spAutoFit/>
          </a:bodyPr>
          <a:lstStyle/>
          <a:p>
            <a:pPr algn="ctr"/>
            <a:r>
              <a:rPr sz="1875">
                <a:solidFill>
                  <a:srgbClr val="000000"/>
                </a:solidFill>
                <a:latin typeface="Liberation Serif"/>
              </a:rPr>
              <a:t>Sampled Image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4" name="math:003" descr="AI_AUTOFIGURE_NATIVE_MATH_V1:eyJjb250ZW50X3J1bnMiOlt7ImNhbm9uaWNhbF9sYXRleCI6IknMgiA9IFxcbWF0aGJie0V9X3tcXHRoZXRhfShJKSIsImZvcm11bGFfaWQiOiJFUTAwMyIsImtpbmQiOiJtYXRoIiwibGF0ZXhfc2hhMjU2IjoiYzBkMzQ1ZGI5ZTFjZWY1NTg0NTU3YjUzMzZlMzFhNmU3YmQyOWQ1NzJmMjMwMjJlYjJhZTJhOWQ3Y2VkNjhkZCIsIm1vZGUiOiJpbmxpbmUiLCJvbW1sX3NoYTI1NiI6ImE2OWY0MTM1YzUxOTExNTIyMzIzMjYwMzEyYTVlMTc5OTEzMjczZTAzZTEwNWFiY2Y4MDFiMzk5ZjcyODk3YWQiLCJzZW1hbnRpY19vbW1sX3Byb2ZpbGUiOiJvZmZpY2UtbWF0aC1zZW1hbnRpYy12MiIsInNlbWFudGljX29tbWxfc2hhMjU2IjoiMDg4OTczOWQyZGEwMDgyMzc4NDVkZjA4ODBjNTg5YzllZTM0ZDYyMjYyYzhhYTNjZTgyODZiODgyMjMyOTliZSJ9XSwiZm9ybXVsYXMiOlt7ImNhbm9uaWNhbF9sYXRleCI6IknMgiA9IFxcbWF0aGJie0V9X3tcXHRoZXRhfShJKSIsImZvcm11bGFfaWQiOiJFUTAwMyIsImxhdGV4X3NoYTI1NiI6ImMwZDM0NWRiOWUxY2VmNTU4NDU1N2I1MzM2ZTMxYTZlN2JkMjlkNTcyZjIzMDIyZWIyYWUyYTlkN2NlZDY4ZGQiLCJtb2RlIjoiaW5saW5lIiwib21tbF9zaGEyNTYiOiJhNjlmNDEzNWM1MTkxMTUyMjMyMzI2MDMxMmE1ZTE3OTkxMzI3M2UwM2UxMDVhYmNmODAxYjM5OWY3Mjg5N2FkIiwic2VtYW50aWNfb21tbF9wcm9maWxlIjoib2ZmaWNlLW1hdGgtc2VtYW50aWMtdjIiLCJzZW1hbnRpY19vbW1sX3NoYTI1NiI6IjA4ODk3MzlkMmRhMDA4MjM3ODQ1ZGYwODgwYzU4OWM5ZWUzNGQ2MjI2MmM4YWEzY2U4Mjg2Yjg4MjIzMjk5YmUifV0sImtpbmQiOiJuYXRpdmVfb2ZmaWNlX21hdGgiLCJwbGFjZWhvbGRlcl9uYW1lIjoibWF0aDowMDMiLCJzY2hlbWFfdmVyc2lvbiI6IjEuMCJ9"/>
              <p:cNvSpPr txBox="1"/>
              <p:nvPr/>
            </p:nvSpPr>
            <p:spPr>
              <a:xfrm>
                <a:off x="7696295" y="1923098"/>
                <a:ext cx="704660" cy="214312"/>
              </a:xfrm>
              <a:prstGeom prst="rect">
                <a:avLst/>
              </a:prstGeom>
              <a:noFill/>
              <a:effectLst/>
            </p:spPr>
            <p:txBody>
              <a:bodyPr wrap="none" anchor="t" lIns="0" rIns="0" tIns="0" bIns="0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r>
                      <a:rPr lang="en-US" dirty="0" sz="1350">
                        <a:solidFill>
                          <a:srgbClr val="000000"/>
                        </a:solidFill>
                        <a:latin typeface="Cambria Math"/>
                      </a:rPr>
                      <m:t>Î=</m:t>
                    </m:r>
                    <m:sSub>
                      <m:e>
                        <m:r>
                          <a:rPr lang="en-US" dirty="0" sz="1350">
                            <a:solidFill>
                              <a:srgbClr val="000000"/>
                            </a:solidFill>
                            <a:latin typeface="Cambria Math"/>
                          </a:rPr>
                          <m:t>𝔼</m:t>
                        </m:r>
                      </m:e>
                      <m:sub>
                        <m:r>
                          <a:rPr lang="en-US" dirty="0" sz="1350">
                            <a:solidFill>
                              <a:srgbClr val="000000"/>
                            </a:solidFill>
                            <a:latin typeface="Cambria Math"/>
                          </a:rPr>
                          <m:t>θ</m:t>
                        </m:r>
                      </m:sub>
                    </m:sSub>
                    <m:r>
                      <a:rPr lang="en-US" dirty="0" sz="1350">
                        <a:solidFill>
                          <a:srgbClr val="000000"/>
                        </a:solidFill>
                        <a:latin typeface="Cambria Math"/>
                      </a:rPr>
                      <m:t>(I)</m:t>
                    </m:r>
                  </m:oMath>
                </a14:m>
                <a:endParaRPr lang="en-US" dirty="0" sz="1350">
                  <a:solidFill>
                    <a:srgbClr val="000000"/>
                  </a:solidFill>
                  <a:latin typeface="Cambria Math"/>
                </a:endParaRPr>
              </a:p>
            </p:txBody>
          </p:sp>
        </mc:Choice>
        <mc:Fallback>
          <p:sp>
            <p:nvSpPr>
              <p:cNvPr id="84" name="math:003" descr="AI_AUTOFIGURE_MATH_FALLBACK_ONLY_V1:eyJjb250ZW50X3J1bnMiOlt7ImNhbm9uaWNhbF9sYXRleCI6IknMgiA9IFxcbWF0aGJie0V9X3tcXHRoZXRhfShJKSIsImZvcm11bGFfaWQiOiJFUTAwMyIsImtpbmQiOiJtYXRoIiwibGF0ZXhfc2hhMjU2IjoiYzBkMzQ1ZGI5ZTFjZWY1NTg0NTU3YjUzMzZlMzFhNmU3YmQyOWQ1NzJmMjMwMjJlYjJhZTJhOWQ3Y2VkNjhkZCIsIm1vZGUiOiJpbmxpbmUiLCJvbW1sX3NoYTI1NiI6ImE2OWY0MTM1YzUxOTExNTIyMzIzMjYwMzEyYTVlMTc5OTEzMjczZTAzZTEwNWFiY2Y4MDFiMzk5ZjcyODk3YWQiLCJzZW1hbnRpY19vbW1sX3Byb2ZpbGUiOiJvZmZpY2UtbWF0aC1zZW1hbnRpYy12MiIsInNlbWFudGljX29tbWxfc2hhMjU2IjoiMDg4OTczOWQyZGEwMDgyMzc4NDVkZjA4ODBjNTg5YzllZTM0ZDYyMjYyYzhhYTNjZTgyODZiODgyMjMyOTliZSJ9XSwiZm9ybXVsYXMiOlt7ImNhbm9uaWNhbF9sYXRleCI6IknMgiA9IFxcbWF0aGJie0V9X3tcXHRoZXRhfShJKSIsImZvcm11bGFfaWQiOiJFUTAwMyIsImxhdGV4X3NoYTI1NiI6ImMwZDM0NWRiOWUxY2VmNTU4NDU1N2I1MzM2ZTMxYTZlN2JkMjlkNTcyZjIzMDIyZWIyYWUyYTlkN2NlZDY4ZGQiLCJtb2RlIjoiaW5saW5lIiwib21tbF9zaGEyNTYiOiJhNjlmNDEzNWM1MTkxMTUyMjMyMzI2MDMxMmE1ZTE3OTkxMzI3M2UwM2UxMDVhYmNmODAxYjM5OWY3Mjg5N2FkIiwic2VtYW50aWNfb21tbF9wcm9maWxlIjoib2ZmaWNlLW1hdGgtc2VtYW50aWMtdjIiLCJzZW1hbnRpY19vbW1sX3NoYTI1NiI6IjA4ODk3MzlkMmRhMDA4MjM3ODQ1ZGYwODgwYzU4OWM5ZWUzNGQ2MjI2MmM4YWEzY2U4Mjg2Yjg4MjIzMjk5YmUifV0sImtpbmQiOiJuYXRpdmVfb2ZmaWNlX21hdGgiLCJwbGFjZWhvbGRlcl9uYW1lIjoibWF0aDowMDMiLCJzY2hlbWFfdmVyc2lvbiI6IjEuMCJ9"/>
              <p:cNvSpPr txBox="1"/>
              <p:nvPr/>
            </p:nvSpPr>
            <p:spPr>
              <a:xfrm>
                <a:off x="7696295" y="1923098"/>
                <a:ext cx="704660" cy="214312"/>
              </a:xfrm>
              <a:prstGeom prst="rect">
                <a:avLst/>
              </a:prstGeom>
              <a:noFill/>
              <a:effectLst/>
            </p:spPr>
            <p:txBody>
              <a:bodyPr wrap="none" anchor="t" lIns="0" rIns="0" tIns="0" bIns="0">
                <a:spAutoFit/>
              </a:bodyPr>
              <a:lstStyle/>
              <a:p>
                <a:pPr algn="ctr"/>
                <a:r>
                  <a:rPr lang="en-US" dirty="0" sz="1350">
                    <a:solidFill>
                      <a:srgbClr val="000000"/>
                    </a:solidFill>
                  </a:rPr>
                  <a:t>\(Î = \mathbb{E}_{\theta}(I)\)</a:t>
                </a:r>
                <a:endParaRPr lang="en-US" dirty="0" sz="1350">
                  <a:solidFill>
                    <a:srgbClr val="000000"/>
                  </a:solidFill>
                </a:endParaRPr>
              </a:p>
            </p:txBody>
          </p:sp>
        </mc:Fallback>
      </mc:AlternateContent>
      <p:pic>
        <p:nvPicPr>
          <p:cNvPr id="85" name="Picture 8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43750" y="2190750"/>
            <a:ext cx="1809750" cy="1228725"/>
          </a:xfrm>
          <a:prstGeom prst="rect">
            <a:avLst/>
          </a:prstGeom>
        </p:spPr>
      </p:pic>
      <p:sp>
        <p:nvSpPr>
          <p:cNvPr id="86" name="freeform-86"/>
          <p:cNvSpPr/>
          <p:nvPr/>
        </p:nvSpPr>
        <p:spPr>
          <a:xfrm>
            <a:off x="8953500" y="2505075"/>
            <a:ext cx="381000" cy="95"/>
          </a:xfrm>
          <a:custGeom>
            <a:avLst/>
            <a:gdLst/>
            <a:ahLst/>
            <a:cxnLst/>
            <a:rect l="0" t="0" r="0" b="0"/>
            <a:pathLst>
              <a:path w="381000" h="95">
                <a:moveTo>
                  <a:pt x="0" y="0"/>
                </a:moveTo>
                <a:lnTo>
                  <a:pt x="381000" y="0"/>
                </a:lnTo>
              </a:path>
            </a:pathLst>
          </a:custGeom>
          <a:noFill/>
          <a:ln w="38100" cap="sq">
            <a:solidFill>
              <a:srgbClr val="4E94D9"/>
            </a:solidFill>
          </a:ln>
        </p:spPr>
        <p:txBody>
          <a:bodyPr/>
          <a:p/>
        </p:txBody>
      </p:sp>
      <p:sp>
        <p:nvSpPr>
          <p:cNvPr id="87" name="freeform-87"/>
          <p:cNvSpPr/>
          <p:nvPr/>
        </p:nvSpPr>
        <p:spPr>
          <a:xfrm>
            <a:off x="9269730" y="2465070"/>
            <a:ext cx="64770" cy="80010"/>
          </a:xfrm>
          <a:custGeom>
            <a:avLst/>
            <a:gdLst/>
            <a:ahLst/>
            <a:cxnLst/>
            <a:rect l="0" t="0" r="0" b="0"/>
            <a:pathLst>
              <a:path w="64770" h="80010">
                <a:moveTo>
                  <a:pt x="0" y="0"/>
                </a:moveTo>
                <a:lnTo>
                  <a:pt x="64770" y="40005"/>
                </a:lnTo>
                <a:lnTo>
                  <a:pt x="0" y="80010"/>
                </a:lnTo>
              </a:path>
            </a:pathLst>
          </a:custGeom>
          <a:noFill/>
          <a:ln w="38100" cap="rnd">
            <a:solidFill>
              <a:srgbClr val="4E94D9"/>
            </a:solidFill>
          </a:ln>
        </p:spPr>
        <p:txBody>
          <a:bodyPr/>
          <a:p/>
        </p:txBody>
      </p:sp>
      <p:sp>
        <p:nvSpPr>
          <p:cNvPr id="88" name="freeform-88"/>
          <p:cNvSpPr/>
          <p:nvPr/>
        </p:nvSpPr>
        <p:spPr>
          <a:xfrm>
            <a:off x="8048625" y="3419475"/>
            <a:ext cx="95" cy="533400"/>
          </a:xfrm>
          <a:custGeom>
            <a:avLst/>
            <a:gdLst/>
            <a:ahLst/>
            <a:cxnLst/>
            <a:rect l="0" t="0" r="0" b="0"/>
            <a:pathLst>
              <a:path w="95" h="533400">
                <a:moveTo>
                  <a:pt x="0" y="0"/>
                </a:moveTo>
                <a:lnTo>
                  <a:pt x="0" y="533400"/>
                </a:lnTo>
              </a:path>
            </a:pathLst>
          </a:custGeom>
          <a:noFill/>
          <a:ln w="38100" cap="sq">
            <a:solidFill>
              <a:srgbClr val="4E94D9"/>
            </a:solidFill>
          </a:ln>
        </p:spPr>
        <p:txBody>
          <a:bodyPr/>
          <a:p/>
        </p:txBody>
      </p:sp>
      <p:sp>
        <p:nvSpPr>
          <p:cNvPr id="89" name="freeform-89"/>
          <p:cNvSpPr/>
          <p:nvPr/>
        </p:nvSpPr>
        <p:spPr>
          <a:xfrm>
            <a:off x="8008620" y="3888105"/>
            <a:ext cx="80010" cy="64770"/>
          </a:xfrm>
          <a:custGeom>
            <a:avLst/>
            <a:gdLst/>
            <a:ahLst/>
            <a:cxnLst/>
            <a:rect l="0" t="0" r="0" b="0"/>
            <a:pathLst>
              <a:path w="80010" h="64770">
                <a:moveTo>
                  <a:pt x="80010" y="0"/>
                </a:moveTo>
                <a:lnTo>
                  <a:pt x="40005" y="64770"/>
                </a:lnTo>
                <a:lnTo>
                  <a:pt x="0" y="0"/>
                </a:lnTo>
              </a:path>
            </a:pathLst>
          </a:custGeom>
          <a:noFill/>
          <a:ln w="38100" cap="rnd">
            <a:solidFill>
              <a:srgbClr val="4E94D9"/>
            </a:solidFill>
          </a:ln>
        </p:spPr>
        <p:txBody>
          <a:bodyPr/>
          <a:p/>
        </p:txBody>
      </p:sp>
      <p:sp>
        <p:nvSpPr>
          <p:cNvPr id="90" name="Rounded Rectangle 89"/>
          <p:cNvSpPr/>
          <p:nvPr/>
        </p:nvSpPr>
        <p:spPr>
          <a:xfrm>
            <a:off x="7058025" y="3971925"/>
            <a:ext cx="1990725" cy="581025"/>
          </a:xfrm>
          <a:prstGeom prst="roundRect">
            <a:avLst>
              <a:gd name="adj" fmla="val 16393"/>
            </a:avLst>
          </a:prstGeom>
          <a:solidFill>
            <a:srgbClr val="FF8080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7222426" y="4135755"/>
            <a:ext cx="1661922" cy="285750"/>
          </a:xfrm>
          <a:prstGeom prst="rect">
            <a:avLst/>
          </a:prstGeom>
          <a:noFill/>
          <a:effectLst/>
        </p:spPr>
        <p:txBody>
          <a:bodyPr wrap="none" anchor="t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Liberation Serif"/>
              </a:rPr>
              <a:t>Perceptual Loss</a:t>
            </a:r>
          </a:p>
        </p:txBody>
      </p:sp>
      <p:sp>
        <p:nvSpPr>
          <p:cNvPr id="92" name="freeform-92"/>
          <p:cNvSpPr/>
          <p:nvPr/>
        </p:nvSpPr>
        <p:spPr>
          <a:xfrm>
            <a:off x="6219825" y="4562475"/>
            <a:ext cx="1838325" cy="447675"/>
          </a:xfrm>
          <a:custGeom>
            <a:avLst/>
            <a:gdLst/>
            <a:ahLst/>
            <a:cxnLst/>
            <a:rect l="0" t="0" r="0" b="0"/>
            <a:pathLst>
              <a:path w="1838325" h="447675">
                <a:moveTo>
                  <a:pt x="0" y="447675"/>
                </a:moveTo>
                <a:lnTo>
                  <a:pt x="1838325" y="447675"/>
                </a:lnTo>
                <a:lnTo>
                  <a:pt x="1838325" y="0"/>
                </a:lnTo>
              </a:path>
            </a:pathLst>
          </a:custGeom>
          <a:noFill/>
          <a:ln w="38100" cap="sq">
            <a:solidFill>
              <a:srgbClr val="4E94D9"/>
            </a:solidFill>
          </a:ln>
        </p:spPr>
        <p:txBody>
          <a:bodyPr/>
          <a:p/>
        </p:txBody>
      </p:sp>
      <p:sp>
        <p:nvSpPr>
          <p:cNvPr id="93" name="freeform-93"/>
          <p:cNvSpPr/>
          <p:nvPr/>
        </p:nvSpPr>
        <p:spPr>
          <a:xfrm>
            <a:off x="8018145" y="4562475"/>
            <a:ext cx="80010" cy="64770"/>
          </a:xfrm>
          <a:custGeom>
            <a:avLst/>
            <a:gdLst/>
            <a:ahLst/>
            <a:cxnLst/>
            <a:rect l="0" t="0" r="0" b="0"/>
            <a:pathLst>
              <a:path w="80010" h="64770">
                <a:moveTo>
                  <a:pt x="0" y="64770"/>
                </a:moveTo>
                <a:lnTo>
                  <a:pt x="40005" y="0"/>
                </a:lnTo>
                <a:lnTo>
                  <a:pt x="80010" y="64770"/>
                </a:lnTo>
              </a:path>
            </a:pathLst>
          </a:custGeom>
          <a:noFill/>
          <a:ln w="38100" cap="rnd">
            <a:solidFill>
              <a:srgbClr val="4E94D9"/>
            </a:solidFill>
          </a:ln>
        </p:spPr>
        <p:txBody>
          <a:bodyPr/>
          <a:p/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94" name="math:004" descr="AI_AUTOFIGURE_NATIVE_MATH_V1:eyJjb250ZW50X3J1bnMiOlt7ImNhbm9uaWNhbF9sYXRleCI6IlxcbWF0aGNhbHtMfV97aW1nfSIsImZvcm11bGFfaWQiOiJFUTAwNCIsImtpbmQiOiJtYXRoIiwibGF0ZXhfc2hhMjU2IjoiODk5ZTFhMDRjM2VjNjA4NzEyODRkZTFjMzZlZTM4OWE0NGQ4YmY2NDQyMzcwNDdhMzc4YzYwYTg5MWJiMTk1MyIsIm1vZGUiOiJpbmxpbmUiLCJvbW1sX3NoYTI1NiI6IjUxMTk3OGJmYWUzYWE4NzAxYjM5MTZhN2ExODE0MWJlZjFmMmFmYWEyYTFhMGE2NmY0MzlkMWYzZWQ3MjgyY2YiLCJzZW1hbnRpY19vbW1sX3Byb2ZpbGUiOiJvZmZpY2UtbWF0aC1zZW1hbnRpYy12MiIsInNlbWFudGljX29tbWxfc2hhMjU2IjoiZDMwNmRlY2JiOTZhMDA2MGFjYmY0YWJiMDE1ZDU4YzIxOGMyMzA5MDU1MzFlOTVmNTUxMTkxNmU3ZGE2NGRjMSJ9XSwiZm9ybXVsYXMiOlt7ImNhbm9uaWNhbF9sYXRleCI6IlxcbWF0aGNhbHtMfV97aW1nfSIsImZvcm11bGFfaWQiOiJFUTAwNCIsImxhdGV4X3NoYTI1NiI6Ijg5OWUxYTA0YzNlYzYwODcxMjg0ZGUxYzM2ZWUzODlhNDRkOGJmNjQ0MjM3MDQ3YTM3OGM2MGE4OTFiYjE5NTMiLCJtb2RlIjoiaW5saW5lIiwib21tbF9zaGEyNTYiOiI1MTE5NzhiZmFlM2FhODcwMWIzOTE2YTdhMTgxNDFiZWYxZjJhZmFhMmExYTBhNjZmNDM5ZDFmM2VkNzI4MmNmIiwic2VtYW50aWNfb21tbF9wcm9maWxlIjoib2ZmaWNlLW1hdGgtc2VtYW50aWMtdjIiLCJzZW1hbnRpY19vbW1sX3NoYTI1NiI6ImQzMDZkZWNiYjk2YTAwNjBhY2JmNGFiYjAxNWQ1OGMyMThjMjMwOTA1NTMxZTk1ZjU1MTE5MTZlN2RhNjRkYzEifV0sImtpbmQiOiJuYXRpdmVfb2ZmaWNlX21hdGgiLCJwbGFjZWhvbGRlcl9uYW1lIjoibWF0aDowMDQiLCJzY2hlbWFfdmVyc2lvbiI6IjEuMCJ9"/>
              <p:cNvSpPr txBox="1"/>
              <p:nvPr/>
            </p:nvSpPr>
            <p:spPr>
              <a:xfrm rot="16200000">
                <a:off x="6208395" y="3633788"/>
                <a:ext cx="441960" cy="238125"/>
              </a:xfrm>
              <a:prstGeom prst="rect">
                <a:avLst/>
              </a:prstGeom>
              <a:noFill/>
              <a:effectLst/>
            </p:spPr>
            <p:txBody>
              <a:bodyPr wrap="none" anchor="ctr" lIns="0" rIns="0" tIns="0" bIns="0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sSub>
                      <m:e>
                        <m:r>
                          <a:rPr lang="en-US" dirty="0" sz="1500">
                            <a:solidFill>
                              <a:srgbClr val="000000"/>
                            </a:solidFill>
                            <a:latin typeface="Cambria Math"/>
                          </a:rPr>
                          <m:t>ℒ</m:t>
                        </m:r>
                      </m:e>
                      <m:sub>
                        <m:r>
                          <a:rPr lang="en-US" dirty="0" sz="1500">
                            <a:solidFill>
                              <a:srgbClr val="000000"/>
                            </a:solidFill>
                            <a:latin typeface="Cambria Math"/>
                          </a:rPr>
                          <m:t>img</m:t>
                        </m:r>
                      </m:sub>
                    </m:sSub>
                  </m:oMath>
                </a14:m>
                <a:endParaRPr lang="en-US" dirty="0" sz="1500">
                  <a:solidFill>
                    <a:srgbClr val="000000"/>
                  </a:solidFill>
                  <a:latin typeface="Cambria Math"/>
                </a:endParaRPr>
              </a:p>
            </p:txBody>
          </p:sp>
        </mc:Choice>
        <mc:Fallback>
          <p:sp>
            <p:nvSpPr>
              <p:cNvPr id="94" name="math:004" descr="AI_AUTOFIGURE_MATH_FALLBACK_ONLY_V1:eyJjb250ZW50X3J1bnMiOlt7ImNhbm9uaWNhbF9sYXRleCI6IlxcbWF0aGNhbHtMfV97aW1nfSIsImZvcm11bGFfaWQiOiJFUTAwNCIsImtpbmQiOiJtYXRoIiwibGF0ZXhfc2hhMjU2IjoiODk5ZTFhMDRjM2VjNjA4NzEyODRkZTFjMzZlZTM4OWE0NGQ4YmY2NDQyMzcwNDdhMzc4YzYwYTg5MWJiMTk1MyIsIm1vZGUiOiJpbmxpbmUiLCJvbW1sX3NoYTI1NiI6IjUxMTk3OGJmYWUzYWE4NzAxYjM5MTZhN2ExODE0MWJlZjFmMmFmYWEyYTFhMGE2NmY0MzlkMWYzZWQ3MjgyY2YiLCJzZW1hbnRpY19vbW1sX3Byb2ZpbGUiOiJvZmZpY2UtbWF0aC1zZW1hbnRpYy12MiIsInNlbWFudGljX29tbWxfc2hhMjU2IjoiZDMwNmRlY2JiOTZhMDA2MGFjYmY0YWJiMDE1ZDU4YzIxOGMyMzA5MDU1MzFlOTVmNTUxMTkxNmU3ZGE2NGRjMSJ9XSwiZm9ybXVsYXMiOlt7ImNhbm9uaWNhbF9sYXRleCI6IlxcbWF0aGNhbHtMfV97aW1nfSIsImZvcm11bGFfaWQiOiJFUTAwNCIsImxhdGV4X3NoYTI1NiI6Ijg5OWUxYTA0YzNlYzYwODcxMjg0ZGUxYzM2ZWUzODlhNDRkOGJmNjQ0MjM3MDQ3YTM3OGM2MGE4OTFiYjE5NTMiLCJtb2RlIjoiaW5saW5lIiwib21tbF9zaGEyNTYiOiI1MTE5NzhiZmFlM2FhODcwMWIzOTE2YTdhMTgxNDFiZWYxZjJhZmFhMmExYTBhNjZmNDM5ZDFmM2VkNzI4MmNmIiwic2VtYW50aWNfb21tbF9wcm9maWxlIjoib2ZmaWNlLW1hdGgtc2VtYW50aWMtdjIiLCJzZW1hbnRpY19vbW1sX3NoYTI1NiI6ImQzMDZkZWNiYjk2YTAwNjBhY2JmNGFiYjAxNWQ1OGMyMThjMjMwOTA1NTMxZTk1ZjU1MTE5MTZlN2RhNjRkYzEifV0sImtpbmQiOiJuYXRpdmVfb2ZmaWNlX21hdGgiLCJwbGFjZWhvbGRlcl9uYW1lIjoibWF0aDowMDQiLCJzY2hlbWFfdmVyc2lvbiI6IjEuMCJ9"/>
              <p:cNvSpPr txBox="1"/>
              <p:nvPr/>
            </p:nvSpPr>
            <p:spPr>
              <a:xfrm rot="16200000">
                <a:off x="6208395" y="3633788"/>
                <a:ext cx="441960" cy="238125"/>
              </a:xfrm>
              <a:prstGeom prst="rect">
                <a:avLst/>
              </a:prstGeom>
              <a:noFill/>
              <a:effectLst/>
            </p:spPr>
            <p:txBody>
              <a:bodyPr wrap="none" anchor="ctr" lIns="0" rIns="0" tIns="0" bIns="0">
                <a:spAutoFit/>
              </a:bodyPr>
              <a:lstStyle/>
              <a:p>
                <a:pPr algn="ctr"/>
                <a:r>
                  <a:rPr lang="en-US" dirty="0" sz="1500">
                    <a:solidFill>
                      <a:srgbClr val="000000"/>
                    </a:solidFill>
                  </a:rPr>
                  <a:t>\(\mathcal{L}_{img}\)</a:t>
                </a:r>
                <a:endParaRPr lang="en-US" dirty="0" sz="1500">
                  <a:solidFill>
                    <a:srgbClr val="000000"/>
                  </a:solidFill>
                </a:endParaRPr>
              </a:p>
            </p:txBody>
          </p:sp>
        </mc:Fallback>
      </mc:AlternateContent>
      <p:pic>
        <p:nvPicPr>
          <p:cNvPr id="95" name="Picture 9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10075" y="4400550"/>
            <a:ext cx="1809750" cy="1219200"/>
          </a:xfrm>
          <a:prstGeom prst="rect">
            <a:avLst/>
          </a:prstGeom>
        </p:spPr>
      </p:pic>
      <p:sp>
        <p:nvSpPr>
          <p:cNvPr id="96" name="TextBox 95"/>
          <p:cNvSpPr txBox="1"/>
          <p:nvPr/>
        </p:nvSpPr>
        <p:spPr>
          <a:xfrm>
            <a:off x="4722876" y="5640705"/>
            <a:ext cx="1184148" cy="285750"/>
          </a:xfrm>
          <a:prstGeom prst="rect">
            <a:avLst/>
          </a:prstGeom>
          <a:noFill/>
          <a:effectLst/>
        </p:spPr>
        <p:txBody>
          <a:bodyPr wrap="none" anchor="t" lIns="0" rIns="0" tIns="0" bIns="0">
            <a:spAutoFit/>
          </a:bodyPr>
          <a:lstStyle/>
          <a:p>
            <a:pPr algn="ctr"/>
            <a:r>
              <a:rPr sz="1800">
                <a:solidFill>
                  <a:srgbClr val="000000"/>
                </a:solidFill>
                <a:latin typeface="Liberation Serif"/>
              </a:rPr>
              <a:t>Input Image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5283518" y="5935028"/>
            <a:ext cx="62865" cy="261938"/>
          </a:xfrm>
          <a:prstGeom prst="rect">
            <a:avLst/>
          </a:prstGeom>
          <a:noFill/>
          <a:effectLst/>
        </p:spPr>
        <p:txBody>
          <a:bodyPr wrap="none" anchor="t" lIns="0" rIns="0" tIns="0" bIns="0">
            <a:spAutoFit/>
          </a:bodyPr>
          <a:lstStyle/>
          <a:p>
            <a:pPr algn="ctr"/>
            <a:r>
              <a:rPr sz="1650" i="1">
                <a:solidFill>
                  <a:srgbClr val="000000"/>
                </a:solidFill>
                <a:latin typeface="Liberation Serif"/>
              </a:rPr>
              <a:t>I</a:t>
            </a:r>
          </a:p>
        </p:txBody>
      </p:sp>
      <p:sp>
        <p:nvSpPr>
          <p:cNvPr id="98" name="Rounded Rectangle 97"/>
          <p:cNvSpPr/>
          <p:nvPr/>
        </p:nvSpPr>
        <p:spPr>
          <a:xfrm>
            <a:off x="9353550" y="1790700"/>
            <a:ext cx="3390900" cy="2181225"/>
          </a:xfrm>
          <a:prstGeom prst="roundRect">
            <a:avLst>
              <a:gd name="adj" fmla="val 9170"/>
            </a:avLst>
          </a:prstGeom>
          <a:solidFill>
            <a:srgbClr val="FFFFFF"/>
          </a:solidFill>
          <a:ln w="38100">
            <a:solidFill>
              <a:srgbClr val="C2F1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Rounded Rectangle 98"/>
          <p:cNvSpPr/>
          <p:nvPr/>
        </p:nvSpPr>
        <p:spPr>
          <a:xfrm>
            <a:off x="9525000" y="1924050"/>
            <a:ext cx="3057525" cy="590550"/>
          </a:xfrm>
          <a:prstGeom prst="roundRect">
            <a:avLst>
              <a:gd name="adj" fmla="val 19354"/>
            </a:avLst>
          </a:prstGeom>
          <a:solidFill>
            <a:srgbClr val="F5F9FC">
              <a:alpha val="80000"/>
            </a:srgbClr>
          </a:solidFill>
          <a:ln w="28575">
            <a:solidFill>
              <a:srgbClr val="EEFBEF">
                <a:alpha val="8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TextBox 99"/>
          <p:cNvSpPr txBox="1"/>
          <p:nvPr/>
        </p:nvSpPr>
        <p:spPr>
          <a:xfrm>
            <a:off x="10127075" y="2132648"/>
            <a:ext cx="1853374" cy="214312"/>
          </a:xfrm>
          <a:prstGeom prst="rect">
            <a:avLst/>
          </a:prstGeom>
          <a:noFill/>
          <a:effectLst/>
        </p:spPr>
        <p:txBody>
          <a:bodyPr wrap="none" anchor="t" lIns="0" rIns="0" tIns="0" bIns="0">
            <a:spAutoFit/>
          </a:bodyPr>
          <a:lstStyle/>
          <a:p>
            <a:pPr algn="ctr"/>
            <a:r>
              <a:rPr sz="1350">
                <a:solidFill>
                  <a:srgbClr val="BDBDBD"/>
                </a:solidFill>
                <a:latin typeface="Liberation Serif"/>
              </a:rPr>
              <a:t>Self and Cross Attention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9525000" y="2771775"/>
            <a:ext cx="276225" cy="295275"/>
          </a:xfrm>
          <a:prstGeom prst="rect">
            <a:avLst/>
          </a:prstGeom>
          <a:solidFill>
            <a:srgbClr val="FDF7F3">
              <a:alpha val="78000"/>
            </a:srgbClr>
          </a:solidFill>
          <a:ln w="19050">
            <a:solidFill>
              <a:srgbClr val="EEFBEF">
                <a:alpha val="78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Rectangle 101"/>
          <p:cNvSpPr/>
          <p:nvPr/>
        </p:nvSpPr>
        <p:spPr>
          <a:xfrm>
            <a:off x="9829800" y="2771775"/>
            <a:ext cx="276225" cy="295275"/>
          </a:xfrm>
          <a:prstGeom prst="rect">
            <a:avLst/>
          </a:prstGeom>
          <a:solidFill>
            <a:srgbClr val="FDF7F3">
              <a:alpha val="78000"/>
            </a:srgbClr>
          </a:solidFill>
          <a:ln w="19050">
            <a:solidFill>
              <a:srgbClr val="EEFBEF">
                <a:alpha val="78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Rectangle 102"/>
          <p:cNvSpPr/>
          <p:nvPr/>
        </p:nvSpPr>
        <p:spPr>
          <a:xfrm>
            <a:off x="10134600" y="2771775"/>
            <a:ext cx="276225" cy="295275"/>
          </a:xfrm>
          <a:prstGeom prst="rect">
            <a:avLst/>
          </a:prstGeom>
          <a:solidFill>
            <a:srgbClr val="FDF7F3">
              <a:alpha val="78000"/>
            </a:srgbClr>
          </a:solidFill>
          <a:ln w="19050">
            <a:solidFill>
              <a:srgbClr val="EEFBEF">
                <a:alpha val="78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Rectangle 103"/>
          <p:cNvSpPr/>
          <p:nvPr/>
        </p:nvSpPr>
        <p:spPr>
          <a:xfrm>
            <a:off x="10439400" y="2771775"/>
            <a:ext cx="276225" cy="295275"/>
          </a:xfrm>
          <a:prstGeom prst="rect">
            <a:avLst/>
          </a:prstGeom>
          <a:solidFill>
            <a:srgbClr val="FDF7F3">
              <a:alpha val="78000"/>
            </a:srgbClr>
          </a:solidFill>
          <a:ln w="19050">
            <a:solidFill>
              <a:srgbClr val="EEFBEF">
                <a:alpha val="78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Rectangle 104"/>
          <p:cNvSpPr/>
          <p:nvPr/>
        </p:nvSpPr>
        <p:spPr>
          <a:xfrm>
            <a:off x="10744200" y="2771775"/>
            <a:ext cx="276225" cy="295275"/>
          </a:xfrm>
          <a:prstGeom prst="rect">
            <a:avLst/>
          </a:prstGeom>
          <a:solidFill>
            <a:srgbClr val="FDF7F3">
              <a:alpha val="78000"/>
            </a:srgbClr>
          </a:solidFill>
          <a:ln w="19050">
            <a:solidFill>
              <a:srgbClr val="EEFBEF">
                <a:alpha val="78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Rectangle 105"/>
          <p:cNvSpPr/>
          <p:nvPr/>
        </p:nvSpPr>
        <p:spPr>
          <a:xfrm>
            <a:off x="11049000" y="2771775"/>
            <a:ext cx="276225" cy="295275"/>
          </a:xfrm>
          <a:prstGeom prst="rect">
            <a:avLst/>
          </a:prstGeom>
          <a:solidFill>
            <a:srgbClr val="FDF7F3">
              <a:alpha val="78000"/>
            </a:srgbClr>
          </a:solidFill>
          <a:ln w="19050">
            <a:solidFill>
              <a:srgbClr val="EEFBEF">
                <a:alpha val="78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Rectangle 106"/>
          <p:cNvSpPr/>
          <p:nvPr/>
        </p:nvSpPr>
        <p:spPr>
          <a:xfrm>
            <a:off x="11353800" y="2771775"/>
            <a:ext cx="276225" cy="295275"/>
          </a:xfrm>
          <a:prstGeom prst="rect">
            <a:avLst/>
          </a:prstGeom>
          <a:solidFill>
            <a:srgbClr val="FDF7F3">
              <a:alpha val="78000"/>
            </a:srgbClr>
          </a:solidFill>
          <a:ln w="19050">
            <a:solidFill>
              <a:srgbClr val="EEFBEF">
                <a:alpha val="78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Rectangle 107"/>
          <p:cNvSpPr/>
          <p:nvPr/>
        </p:nvSpPr>
        <p:spPr>
          <a:xfrm>
            <a:off x="11658600" y="2771775"/>
            <a:ext cx="276225" cy="295275"/>
          </a:xfrm>
          <a:prstGeom prst="rect">
            <a:avLst/>
          </a:prstGeom>
          <a:solidFill>
            <a:srgbClr val="FDF7F3">
              <a:alpha val="78000"/>
            </a:srgbClr>
          </a:solidFill>
          <a:ln w="19050">
            <a:solidFill>
              <a:srgbClr val="EEFBEF">
                <a:alpha val="78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Rectangle 108"/>
          <p:cNvSpPr/>
          <p:nvPr/>
        </p:nvSpPr>
        <p:spPr>
          <a:xfrm>
            <a:off x="11963400" y="2771775"/>
            <a:ext cx="276225" cy="295275"/>
          </a:xfrm>
          <a:prstGeom prst="rect">
            <a:avLst/>
          </a:prstGeom>
          <a:solidFill>
            <a:srgbClr val="FDF7F3">
              <a:alpha val="78000"/>
            </a:srgbClr>
          </a:solidFill>
          <a:ln w="19050">
            <a:solidFill>
              <a:srgbClr val="EEFBEF">
                <a:alpha val="78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Rectangle 109"/>
          <p:cNvSpPr/>
          <p:nvPr/>
        </p:nvSpPr>
        <p:spPr>
          <a:xfrm>
            <a:off x="12268200" y="2771775"/>
            <a:ext cx="276225" cy="295275"/>
          </a:xfrm>
          <a:prstGeom prst="rect">
            <a:avLst/>
          </a:prstGeom>
          <a:solidFill>
            <a:srgbClr val="FDF7F3">
              <a:alpha val="78000"/>
            </a:srgbClr>
          </a:solidFill>
          <a:ln w="19050">
            <a:solidFill>
              <a:srgbClr val="EEFBEF">
                <a:alpha val="78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Rounded Rectangle 110"/>
          <p:cNvSpPr/>
          <p:nvPr/>
        </p:nvSpPr>
        <p:spPr>
          <a:xfrm>
            <a:off x="9486900" y="3333750"/>
            <a:ext cx="1447800" cy="485775"/>
          </a:xfrm>
          <a:prstGeom prst="roundRect">
            <a:avLst>
              <a:gd name="adj" fmla="val 19607"/>
            </a:avLst>
          </a:prstGeom>
          <a:solidFill>
            <a:srgbClr val="EAF7E5">
              <a:alpha val="92000"/>
            </a:srgbClr>
          </a:solidFill>
          <a:ln w="28575">
            <a:solidFill>
              <a:srgbClr val="EEFBEF">
                <a:alpha val="92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Rounded Rectangle 111"/>
          <p:cNvSpPr/>
          <p:nvPr/>
        </p:nvSpPr>
        <p:spPr>
          <a:xfrm>
            <a:off x="11163300" y="3333750"/>
            <a:ext cx="1447800" cy="485775"/>
          </a:xfrm>
          <a:prstGeom prst="roundRect">
            <a:avLst>
              <a:gd name="adj" fmla="val 19607"/>
            </a:avLst>
          </a:prstGeom>
          <a:solidFill>
            <a:srgbClr val="EAF7E5">
              <a:alpha val="92000"/>
            </a:srgbClr>
          </a:solidFill>
          <a:ln w="28575">
            <a:solidFill>
              <a:srgbClr val="EEFBEF">
                <a:alpha val="92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TextBox 112"/>
          <p:cNvSpPr txBox="1"/>
          <p:nvPr/>
        </p:nvSpPr>
        <p:spPr>
          <a:xfrm>
            <a:off x="9636442" y="3485198"/>
            <a:ext cx="1148715" cy="214312"/>
          </a:xfrm>
          <a:prstGeom prst="rect">
            <a:avLst/>
          </a:prstGeom>
          <a:noFill/>
          <a:effectLst/>
        </p:spPr>
        <p:txBody>
          <a:bodyPr wrap="none" anchor="t" lIns="0" rIns="0" tIns="0" bIns="0">
            <a:spAutoFit/>
          </a:bodyPr>
          <a:lstStyle/>
          <a:p>
            <a:pPr algn="ctr"/>
            <a:r>
              <a:rPr sz="1350">
                <a:solidFill>
                  <a:srgbClr val="BDBDBD"/>
                </a:solidFill>
                <a:latin typeface="Liberation Serif"/>
              </a:rPr>
              <a:t>Visual Encoder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11377136" y="3485198"/>
            <a:ext cx="1020128" cy="214312"/>
          </a:xfrm>
          <a:prstGeom prst="rect">
            <a:avLst/>
          </a:prstGeom>
          <a:noFill/>
          <a:effectLst/>
        </p:spPr>
        <p:txBody>
          <a:bodyPr wrap="none" anchor="t" lIns="0" rIns="0" tIns="0" bIns="0">
            <a:spAutoFit/>
          </a:bodyPr>
          <a:lstStyle/>
          <a:p>
            <a:pPr algn="ctr"/>
            <a:r>
              <a:rPr sz="1350">
                <a:solidFill>
                  <a:srgbClr val="BDBDBD"/>
                </a:solidFill>
                <a:latin typeface="Liberation Serif"/>
              </a:rPr>
              <a:t>Text Encoder</a:t>
            </a:r>
          </a:p>
        </p:txBody>
      </p:sp>
      <p:sp>
        <p:nvSpPr>
          <p:cNvPr id="115" name="freeform-115"/>
          <p:cNvSpPr/>
          <p:nvPr/>
        </p:nvSpPr>
        <p:spPr>
          <a:xfrm>
            <a:off x="10210800" y="3086100"/>
            <a:ext cx="95" cy="247650"/>
          </a:xfrm>
          <a:custGeom>
            <a:avLst/>
            <a:gdLst/>
            <a:ahLst/>
            <a:cxnLst/>
            <a:rect l="0" t="0" r="0" b="0"/>
            <a:pathLst>
              <a:path w="95" h="247650">
                <a:moveTo>
                  <a:pt x="0" y="247650"/>
                </a:moveTo>
                <a:lnTo>
                  <a:pt x="0" y="0"/>
                </a:lnTo>
              </a:path>
            </a:pathLst>
          </a:custGeom>
          <a:noFill/>
          <a:ln w="23812" cap="sq">
            <a:solidFill>
              <a:srgbClr val="EEFBEF">
                <a:alpha val="95000"/>
              </a:srgbClr>
            </a:solidFill>
          </a:ln>
        </p:spPr>
        <p:txBody>
          <a:bodyPr/>
          <a:p/>
        </p:txBody>
      </p:sp>
      <p:sp>
        <p:nvSpPr>
          <p:cNvPr id="116" name="freeform-116"/>
          <p:cNvSpPr/>
          <p:nvPr/>
        </p:nvSpPr>
        <p:spPr>
          <a:xfrm>
            <a:off x="10180320" y="3086100"/>
            <a:ext cx="60960" cy="48578"/>
          </a:xfrm>
          <a:custGeom>
            <a:avLst/>
            <a:gdLst/>
            <a:ahLst/>
            <a:cxnLst/>
            <a:rect l="0" t="0" r="0" b="0"/>
            <a:pathLst>
              <a:path w="60960" h="48578">
                <a:moveTo>
                  <a:pt x="0" y="48578"/>
                </a:moveTo>
                <a:lnTo>
                  <a:pt x="30480" y="0"/>
                </a:lnTo>
                <a:lnTo>
                  <a:pt x="60960" y="48578"/>
                </a:lnTo>
              </a:path>
            </a:pathLst>
          </a:custGeom>
          <a:noFill/>
          <a:ln w="23812" cap="rnd">
            <a:solidFill>
              <a:srgbClr val="EEFBEF">
                <a:alpha val="95000"/>
              </a:srgbClr>
            </a:solidFill>
          </a:ln>
        </p:spPr>
        <p:txBody>
          <a:bodyPr/>
          <a:p/>
        </p:txBody>
      </p:sp>
      <p:sp>
        <p:nvSpPr>
          <p:cNvPr id="117" name="freeform-117"/>
          <p:cNvSpPr/>
          <p:nvPr/>
        </p:nvSpPr>
        <p:spPr>
          <a:xfrm>
            <a:off x="11887200" y="3086100"/>
            <a:ext cx="95" cy="247650"/>
          </a:xfrm>
          <a:custGeom>
            <a:avLst/>
            <a:gdLst/>
            <a:ahLst/>
            <a:cxnLst/>
            <a:rect l="0" t="0" r="0" b="0"/>
            <a:pathLst>
              <a:path w="95" h="247650">
                <a:moveTo>
                  <a:pt x="0" y="247650"/>
                </a:moveTo>
                <a:lnTo>
                  <a:pt x="0" y="0"/>
                </a:lnTo>
              </a:path>
            </a:pathLst>
          </a:custGeom>
          <a:noFill/>
          <a:ln w="23812" cap="sq">
            <a:solidFill>
              <a:srgbClr val="EEFBEF">
                <a:alpha val="95000"/>
              </a:srgbClr>
            </a:solidFill>
          </a:ln>
        </p:spPr>
        <p:txBody>
          <a:bodyPr/>
          <a:p/>
        </p:txBody>
      </p:sp>
      <p:sp>
        <p:nvSpPr>
          <p:cNvPr id="118" name="freeform-118"/>
          <p:cNvSpPr/>
          <p:nvPr/>
        </p:nvSpPr>
        <p:spPr>
          <a:xfrm>
            <a:off x="11856720" y="3086100"/>
            <a:ext cx="60960" cy="48578"/>
          </a:xfrm>
          <a:custGeom>
            <a:avLst/>
            <a:gdLst/>
            <a:ahLst/>
            <a:cxnLst/>
            <a:rect l="0" t="0" r="0" b="0"/>
            <a:pathLst>
              <a:path w="60960" h="48578">
                <a:moveTo>
                  <a:pt x="0" y="48578"/>
                </a:moveTo>
                <a:lnTo>
                  <a:pt x="30480" y="0"/>
                </a:lnTo>
                <a:lnTo>
                  <a:pt x="60960" y="48578"/>
                </a:lnTo>
              </a:path>
            </a:pathLst>
          </a:custGeom>
          <a:noFill/>
          <a:ln w="23812" cap="rnd">
            <a:solidFill>
              <a:srgbClr val="EEFBEF">
                <a:alpha val="95000"/>
              </a:srgbClr>
            </a:solidFill>
          </a:ln>
        </p:spPr>
        <p:txBody>
          <a:bodyPr/>
          <a:p/>
        </p:txBody>
      </p:sp>
      <p:sp>
        <p:nvSpPr>
          <p:cNvPr id="119" name="freeform-119"/>
          <p:cNvSpPr/>
          <p:nvPr/>
        </p:nvSpPr>
        <p:spPr>
          <a:xfrm>
            <a:off x="10210800" y="2533650"/>
            <a:ext cx="95" cy="238125"/>
          </a:xfrm>
          <a:custGeom>
            <a:avLst/>
            <a:gdLst/>
            <a:ahLst/>
            <a:cxnLst/>
            <a:rect l="0" t="0" r="0" b="0"/>
            <a:pathLst>
              <a:path w="95" h="238125">
                <a:moveTo>
                  <a:pt x="0" y="238125"/>
                </a:moveTo>
                <a:lnTo>
                  <a:pt x="0" y="0"/>
                </a:lnTo>
              </a:path>
            </a:pathLst>
          </a:custGeom>
          <a:noFill/>
          <a:ln w="23812" cap="sq">
            <a:solidFill>
              <a:srgbClr val="EEFBEF">
                <a:alpha val="95000"/>
              </a:srgbClr>
            </a:solidFill>
          </a:ln>
        </p:spPr>
        <p:txBody>
          <a:bodyPr/>
          <a:p/>
        </p:txBody>
      </p:sp>
      <p:sp>
        <p:nvSpPr>
          <p:cNvPr id="120" name="freeform-120"/>
          <p:cNvSpPr/>
          <p:nvPr/>
        </p:nvSpPr>
        <p:spPr>
          <a:xfrm>
            <a:off x="10180320" y="2533650"/>
            <a:ext cx="60960" cy="48578"/>
          </a:xfrm>
          <a:custGeom>
            <a:avLst/>
            <a:gdLst/>
            <a:ahLst/>
            <a:cxnLst/>
            <a:rect l="0" t="0" r="0" b="0"/>
            <a:pathLst>
              <a:path w="60960" h="48578">
                <a:moveTo>
                  <a:pt x="0" y="48578"/>
                </a:moveTo>
                <a:lnTo>
                  <a:pt x="30480" y="0"/>
                </a:lnTo>
                <a:lnTo>
                  <a:pt x="60960" y="48578"/>
                </a:lnTo>
              </a:path>
            </a:pathLst>
          </a:custGeom>
          <a:noFill/>
          <a:ln w="23812" cap="rnd">
            <a:solidFill>
              <a:srgbClr val="EEFBEF">
                <a:alpha val="95000"/>
              </a:srgbClr>
            </a:solidFill>
          </a:ln>
        </p:spPr>
        <p:txBody>
          <a:bodyPr/>
          <a:p/>
        </p:txBody>
      </p:sp>
      <p:sp>
        <p:nvSpPr>
          <p:cNvPr id="121" name="freeform-121"/>
          <p:cNvSpPr/>
          <p:nvPr/>
        </p:nvSpPr>
        <p:spPr>
          <a:xfrm>
            <a:off x="11887200" y="2533650"/>
            <a:ext cx="95" cy="238125"/>
          </a:xfrm>
          <a:custGeom>
            <a:avLst/>
            <a:gdLst/>
            <a:ahLst/>
            <a:cxnLst/>
            <a:rect l="0" t="0" r="0" b="0"/>
            <a:pathLst>
              <a:path w="95" h="238125">
                <a:moveTo>
                  <a:pt x="0" y="238125"/>
                </a:moveTo>
                <a:lnTo>
                  <a:pt x="0" y="0"/>
                </a:lnTo>
              </a:path>
            </a:pathLst>
          </a:custGeom>
          <a:noFill/>
          <a:ln w="23812" cap="sq">
            <a:solidFill>
              <a:srgbClr val="EEFBEF">
                <a:alpha val="95000"/>
              </a:srgbClr>
            </a:solidFill>
          </a:ln>
        </p:spPr>
        <p:txBody>
          <a:bodyPr/>
          <a:p/>
        </p:txBody>
      </p:sp>
      <p:sp>
        <p:nvSpPr>
          <p:cNvPr id="122" name="freeform-122"/>
          <p:cNvSpPr/>
          <p:nvPr/>
        </p:nvSpPr>
        <p:spPr>
          <a:xfrm>
            <a:off x="11856720" y="2533650"/>
            <a:ext cx="60960" cy="48578"/>
          </a:xfrm>
          <a:custGeom>
            <a:avLst/>
            <a:gdLst/>
            <a:ahLst/>
            <a:cxnLst/>
            <a:rect l="0" t="0" r="0" b="0"/>
            <a:pathLst>
              <a:path w="60960" h="48578">
                <a:moveTo>
                  <a:pt x="0" y="48578"/>
                </a:moveTo>
                <a:lnTo>
                  <a:pt x="30480" y="0"/>
                </a:lnTo>
                <a:lnTo>
                  <a:pt x="60960" y="48578"/>
                </a:lnTo>
              </a:path>
            </a:pathLst>
          </a:custGeom>
          <a:noFill/>
          <a:ln w="23812" cap="rnd">
            <a:solidFill>
              <a:srgbClr val="EEFBEF">
                <a:alpha val="95000"/>
              </a:srgbClr>
            </a:solidFill>
          </a:ln>
        </p:spPr>
        <p:txBody>
          <a:bodyPr/>
          <a:p/>
        </p:txBody>
      </p:sp>
      <p:cxnSp>
        <p:nvCxnSpPr>
          <p:cNvPr id="123" name="Connector 122"/>
          <p:cNvCxnSpPr/>
          <p:nvPr/>
        </p:nvCxnSpPr>
        <p:spPr>
          <a:xfrm flipV="1">
            <a:off x="11039475" y="2428875"/>
            <a:ext cx="0" cy="476250"/>
          </a:xfrm>
          <a:prstGeom prst="line">
            <a:avLst/>
          </a:prstGeom>
          <a:ln w="71438" cap="rnd">
            <a:solidFill>
              <a:srgbClr val="CDD6DA">
                <a:alpha val="72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4" name="Connector 123"/>
          <p:cNvCxnSpPr/>
          <p:nvPr/>
        </p:nvCxnSpPr>
        <p:spPr>
          <a:xfrm flipH="1" flipV="1">
            <a:off x="10963275" y="2496502"/>
            <a:ext cx="76200" cy="84773"/>
          </a:xfrm>
          <a:prstGeom prst="line">
            <a:avLst/>
          </a:prstGeom>
          <a:ln w="71438" cap="rnd">
            <a:solidFill>
              <a:srgbClr val="CDD6DA">
                <a:alpha val="72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5" name="Connector 124"/>
          <p:cNvCxnSpPr/>
          <p:nvPr/>
        </p:nvCxnSpPr>
        <p:spPr>
          <a:xfrm flipV="1">
            <a:off x="11039475" y="2496502"/>
            <a:ext cx="76200" cy="84773"/>
          </a:xfrm>
          <a:prstGeom prst="line">
            <a:avLst/>
          </a:prstGeom>
          <a:ln w="71438" cap="rnd">
            <a:solidFill>
              <a:srgbClr val="CDD6DA">
                <a:alpha val="72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6" name="Connector 125"/>
          <p:cNvCxnSpPr/>
          <p:nvPr/>
        </p:nvCxnSpPr>
        <p:spPr>
          <a:xfrm flipH="1" flipV="1">
            <a:off x="10963275" y="2401252"/>
            <a:ext cx="76200" cy="84773"/>
          </a:xfrm>
          <a:prstGeom prst="line">
            <a:avLst/>
          </a:prstGeom>
          <a:ln w="71438" cap="rnd">
            <a:solidFill>
              <a:srgbClr val="CDD6DA">
                <a:alpha val="72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7" name="Connector 126"/>
          <p:cNvCxnSpPr/>
          <p:nvPr/>
        </p:nvCxnSpPr>
        <p:spPr>
          <a:xfrm flipV="1">
            <a:off x="11039475" y="2401252"/>
            <a:ext cx="76200" cy="84773"/>
          </a:xfrm>
          <a:prstGeom prst="line">
            <a:avLst/>
          </a:prstGeom>
          <a:ln w="71438" cap="rnd">
            <a:solidFill>
              <a:srgbClr val="CDD6DA">
                <a:alpha val="72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8" name="Connector 127"/>
          <p:cNvCxnSpPr/>
          <p:nvPr/>
        </p:nvCxnSpPr>
        <p:spPr>
          <a:xfrm flipV="1">
            <a:off x="11039475" y="2667000"/>
            <a:ext cx="412433" cy="238125"/>
          </a:xfrm>
          <a:prstGeom prst="line">
            <a:avLst/>
          </a:prstGeom>
          <a:ln w="71438" cap="rnd">
            <a:solidFill>
              <a:srgbClr val="CDD6DA">
                <a:alpha val="72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9" name="Connector 128"/>
          <p:cNvCxnSpPr/>
          <p:nvPr/>
        </p:nvCxnSpPr>
        <p:spPr>
          <a:xfrm flipV="1">
            <a:off x="11319510" y="2634615"/>
            <a:ext cx="36195" cy="108585"/>
          </a:xfrm>
          <a:prstGeom prst="line">
            <a:avLst/>
          </a:prstGeom>
          <a:ln w="71438" cap="rnd">
            <a:solidFill>
              <a:srgbClr val="CDD6DA">
                <a:alpha val="72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0" name="Connector 129"/>
          <p:cNvCxnSpPr/>
          <p:nvPr/>
        </p:nvCxnSpPr>
        <p:spPr>
          <a:xfrm>
            <a:off x="11319510" y="2743200"/>
            <a:ext cx="112395" cy="23812"/>
          </a:xfrm>
          <a:prstGeom prst="line">
            <a:avLst/>
          </a:prstGeom>
          <a:ln w="71438" cap="rnd">
            <a:solidFill>
              <a:srgbClr val="CDD6DA">
                <a:alpha val="72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1" name="Connector 130"/>
          <p:cNvCxnSpPr/>
          <p:nvPr/>
        </p:nvCxnSpPr>
        <p:spPr>
          <a:xfrm flipV="1">
            <a:off x="11402378" y="2586990"/>
            <a:ext cx="35242" cy="108585"/>
          </a:xfrm>
          <a:prstGeom prst="line">
            <a:avLst/>
          </a:prstGeom>
          <a:ln w="71438" cap="rnd">
            <a:solidFill>
              <a:srgbClr val="CDD6DA">
                <a:alpha val="72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2" name="Connector 131"/>
          <p:cNvCxnSpPr/>
          <p:nvPr/>
        </p:nvCxnSpPr>
        <p:spPr>
          <a:xfrm>
            <a:off x="11402378" y="2695575"/>
            <a:ext cx="111442" cy="23813"/>
          </a:xfrm>
          <a:prstGeom prst="line">
            <a:avLst/>
          </a:prstGeom>
          <a:ln w="71438" cap="rnd">
            <a:solidFill>
              <a:srgbClr val="CDD6DA">
                <a:alpha val="72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3" name="Connector 132"/>
          <p:cNvCxnSpPr/>
          <p:nvPr/>
        </p:nvCxnSpPr>
        <p:spPr>
          <a:xfrm>
            <a:off x="11039475" y="2905125"/>
            <a:ext cx="412433" cy="238125"/>
          </a:xfrm>
          <a:prstGeom prst="line">
            <a:avLst/>
          </a:prstGeom>
          <a:ln w="71438" cap="rnd">
            <a:solidFill>
              <a:srgbClr val="CDD6DA">
                <a:alpha val="72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4" name="Connector 133"/>
          <p:cNvCxnSpPr/>
          <p:nvPr/>
        </p:nvCxnSpPr>
        <p:spPr>
          <a:xfrm flipV="1">
            <a:off x="11319510" y="3043238"/>
            <a:ext cx="112395" cy="23812"/>
          </a:xfrm>
          <a:prstGeom prst="line">
            <a:avLst/>
          </a:prstGeom>
          <a:ln w="71438" cap="rnd">
            <a:solidFill>
              <a:srgbClr val="CDD6DA">
                <a:alpha val="72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5" name="Connector 134"/>
          <p:cNvCxnSpPr/>
          <p:nvPr/>
        </p:nvCxnSpPr>
        <p:spPr>
          <a:xfrm>
            <a:off x="11319510" y="3067050"/>
            <a:ext cx="36195" cy="108585"/>
          </a:xfrm>
          <a:prstGeom prst="line">
            <a:avLst/>
          </a:prstGeom>
          <a:ln w="71438" cap="rnd">
            <a:solidFill>
              <a:srgbClr val="CDD6DA">
                <a:alpha val="72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6" name="Connector 135"/>
          <p:cNvCxnSpPr/>
          <p:nvPr/>
        </p:nvCxnSpPr>
        <p:spPr>
          <a:xfrm flipV="1">
            <a:off x="11402378" y="3090862"/>
            <a:ext cx="111442" cy="23813"/>
          </a:xfrm>
          <a:prstGeom prst="line">
            <a:avLst/>
          </a:prstGeom>
          <a:ln w="71438" cap="rnd">
            <a:solidFill>
              <a:srgbClr val="CDD6DA">
                <a:alpha val="72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7" name="Connector 136"/>
          <p:cNvCxnSpPr/>
          <p:nvPr/>
        </p:nvCxnSpPr>
        <p:spPr>
          <a:xfrm>
            <a:off x="11402378" y="3114675"/>
            <a:ext cx="35242" cy="108585"/>
          </a:xfrm>
          <a:prstGeom prst="line">
            <a:avLst/>
          </a:prstGeom>
          <a:ln w="71438" cap="rnd">
            <a:solidFill>
              <a:srgbClr val="CDD6DA">
                <a:alpha val="72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8" name="Connector 137"/>
          <p:cNvCxnSpPr/>
          <p:nvPr/>
        </p:nvCxnSpPr>
        <p:spPr>
          <a:xfrm>
            <a:off x="11039475" y="2905125"/>
            <a:ext cx="0" cy="476250"/>
          </a:xfrm>
          <a:prstGeom prst="line">
            <a:avLst/>
          </a:prstGeom>
          <a:ln w="71438" cap="rnd">
            <a:solidFill>
              <a:srgbClr val="CDD6DA">
                <a:alpha val="72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9" name="Connector 138"/>
          <p:cNvCxnSpPr/>
          <p:nvPr/>
        </p:nvCxnSpPr>
        <p:spPr>
          <a:xfrm>
            <a:off x="11039475" y="3228975"/>
            <a:ext cx="76200" cy="84773"/>
          </a:xfrm>
          <a:prstGeom prst="line">
            <a:avLst/>
          </a:prstGeom>
          <a:ln w="71438" cap="rnd">
            <a:solidFill>
              <a:srgbClr val="CDD6DA">
                <a:alpha val="72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0" name="Connector 139"/>
          <p:cNvCxnSpPr/>
          <p:nvPr/>
        </p:nvCxnSpPr>
        <p:spPr>
          <a:xfrm flipH="1">
            <a:off x="10963275" y="3228975"/>
            <a:ext cx="76200" cy="84773"/>
          </a:xfrm>
          <a:prstGeom prst="line">
            <a:avLst/>
          </a:prstGeom>
          <a:ln w="71438" cap="rnd">
            <a:solidFill>
              <a:srgbClr val="CDD6DA">
                <a:alpha val="72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1" name="Connector 140"/>
          <p:cNvCxnSpPr/>
          <p:nvPr/>
        </p:nvCxnSpPr>
        <p:spPr>
          <a:xfrm>
            <a:off x="11039475" y="3324225"/>
            <a:ext cx="76200" cy="84773"/>
          </a:xfrm>
          <a:prstGeom prst="line">
            <a:avLst/>
          </a:prstGeom>
          <a:ln w="71438" cap="rnd">
            <a:solidFill>
              <a:srgbClr val="CDD6DA">
                <a:alpha val="72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2" name="Connector 141"/>
          <p:cNvCxnSpPr/>
          <p:nvPr/>
        </p:nvCxnSpPr>
        <p:spPr>
          <a:xfrm flipH="1">
            <a:off x="10963275" y="3324225"/>
            <a:ext cx="76200" cy="84773"/>
          </a:xfrm>
          <a:prstGeom prst="line">
            <a:avLst/>
          </a:prstGeom>
          <a:ln w="71438" cap="rnd">
            <a:solidFill>
              <a:srgbClr val="CDD6DA">
                <a:alpha val="72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3" name="Connector 142"/>
          <p:cNvCxnSpPr/>
          <p:nvPr/>
        </p:nvCxnSpPr>
        <p:spPr>
          <a:xfrm flipH="1">
            <a:off x="10627042" y="2905125"/>
            <a:ext cx="412433" cy="238125"/>
          </a:xfrm>
          <a:prstGeom prst="line">
            <a:avLst/>
          </a:prstGeom>
          <a:ln w="71438" cap="rnd">
            <a:solidFill>
              <a:srgbClr val="CDD6DA">
                <a:alpha val="72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4" name="Connector 143"/>
          <p:cNvCxnSpPr/>
          <p:nvPr/>
        </p:nvCxnSpPr>
        <p:spPr>
          <a:xfrm flipH="1">
            <a:off x="10723245" y="3067050"/>
            <a:ext cx="36195" cy="108585"/>
          </a:xfrm>
          <a:prstGeom prst="line">
            <a:avLst/>
          </a:prstGeom>
          <a:ln w="71438" cap="rnd">
            <a:solidFill>
              <a:srgbClr val="CDD6DA">
                <a:alpha val="72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5" name="Connector 144"/>
          <p:cNvCxnSpPr/>
          <p:nvPr/>
        </p:nvCxnSpPr>
        <p:spPr>
          <a:xfrm flipH="1" flipV="1">
            <a:off x="10647045" y="3043238"/>
            <a:ext cx="112395" cy="23812"/>
          </a:xfrm>
          <a:prstGeom prst="line">
            <a:avLst/>
          </a:prstGeom>
          <a:ln w="71438" cap="rnd">
            <a:solidFill>
              <a:srgbClr val="CDD6DA">
                <a:alpha val="72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6" name="Connector 145"/>
          <p:cNvCxnSpPr/>
          <p:nvPr/>
        </p:nvCxnSpPr>
        <p:spPr>
          <a:xfrm flipH="1">
            <a:off x="10641330" y="3114675"/>
            <a:ext cx="35242" cy="108585"/>
          </a:xfrm>
          <a:prstGeom prst="line">
            <a:avLst/>
          </a:prstGeom>
          <a:ln w="71438" cap="rnd">
            <a:solidFill>
              <a:srgbClr val="CDD6DA">
                <a:alpha val="72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7" name="Connector 146"/>
          <p:cNvCxnSpPr/>
          <p:nvPr/>
        </p:nvCxnSpPr>
        <p:spPr>
          <a:xfrm flipH="1" flipV="1">
            <a:off x="10565130" y="3090862"/>
            <a:ext cx="111442" cy="23813"/>
          </a:xfrm>
          <a:prstGeom prst="line">
            <a:avLst/>
          </a:prstGeom>
          <a:ln w="71438" cap="rnd">
            <a:solidFill>
              <a:srgbClr val="CDD6DA">
                <a:alpha val="72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8" name="Connector 147"/>
          <p:cNvCxnSpPr/>
          <p:nvPr/>
        </p:nvCxnSpPr>
        <p:spPr>
          <a:xfrm flipH="1" flipV="1">
            <a:off x="10627042" y="2667000"/>
            <a:ext cx="412433" cy="238125"/>
          </a:xfrm>
          <a:prstGeom prst="line">
            <a:avLst/>
          </a:prstGeom>
          <a:ln w="71438" cap="rnd">
            <a:solidFill>
              <a:srgbClr val="CDD6DA">
                <a:alpha val="72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9" name="Connector 148"/>
          <p:cNvCxnSpPr/>
          <p:nvPr/>
        </p:nvCxnSpPr>
        <p:spPr>
          <a:xfrm flipH="1">
            <a:off x="10647045" y="2743200"/>
            <a:ext cx="112395" cy="23812"/>
          </a:xfrm>
          <a:prstGeom prst="line">
            <a:avLst/>
          </a:prstGeom>
          <a:ln w="71438" cap="rnd">
            <a:solidFill>
              <a:srgbClr val="CDD6DA">
                <a:alpha val="72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0" name="Connector 149"/>
          <p:cNvCxnSpPr/>
          <p:nvPr/>
        </p:nvCxnSpPr>
        <p:spPr>
          <a:xfrm flipH="1" flipV="1">
            <a:off x="10723245" y="2634615"/>
            <a:ext cx="36195" cy="108585"/>
          </a:xfrm>
          <a:prstGeom prst="line">
            <a:avLst/>
          </a:prstGeom>
          <a:ln w="71438" cap="rnd">
            <a:solidFill>
              <a:srgbClr val="CDD6DA">
                <a:alpha val="72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1" name="Connector 150"/>
          <p:cNvCxnSpPr/>
          <p:nvPr/>
        </p:nvCxnSpPr>
        <p:spPr>
          <a:xfrm flipH="1">
            <a:off x="10565130" y="2695575"/>
            <a:ext cx="111442" cy="23813"/>
          </a:xfrm>
          <a:prstGeom prst="line">
            <a:avLst/>
          </a:prstGeom>
          <a:ln w="71438" cap="rnd">
            <a:solidFill>
              <a:srgbClr val="CDD6DA">
                <a:alpha val="72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2" name="Connector 151"/>
          <p:cNvCxnSpPr/>
          <p:nvPr/>
        </p:nvCxnSpPr>
        <p:spPr>
          <a:xfrm flipH="1" flipV="1">
            <a:off x="10641330" y="2586990"/>
            <a:ext cx="35242" cy="108585"/>
          </a:xfrm>
          <a:prstGeom prst="line">
            <a:avLst/>
          </a:prstGeom>
          <a:ln w="71438" cap="rnd">
            <a:solidFill>
              <a:srgbClr val="CDD6DA">
                <a:alpha val="72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3" name="Connector 152"/>
          <p:cNvCxnSpPr/>
          <p:nvPr/>
        </p:nvCxnSpPr>
        <p:spPr>
          <a:xfrm flipV="1">
            <a:off x="11039475" y="2428875"/>
            <a:ext cx="0" cy="476250"/>
          </a:xfrm>
          <a:prstGeom prst="line">
            <a:avLst/>
          </a:prstGeom>
          <a:ln w="52388" cap="rnd">
            <a:solidFill>
              <a:srgbClr val="2BAAE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4" name="Connector 153"/>
          <p:cNvCxnSpPr/>
          <p:nvPr/>
        </p:nvCxnSpPr>
        <p:spPr>
          <a:xfrm flipH="1" flipV="1">
            <a:off x="10963275" y="2496502"/>
            <a:ext cx="76200" cy="84773"/>
          </a:xfrm>
          <a:prstGeom prst="line">
            <a:avLst/>
          </a:prstGeom>
          <a:ln w="52388" cap="rnd">
            <a:solidFill>
              <a:srgbClr val="2BAAE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5" name="Connector 154"/>
          <p:cNvCxnSpPr/>
          <p:nvPr/>
        </p:nvCxnSpPr>
        <p:spPr>
          <a:xfrm flipV="1">
            <a:off x="11039475" y="2496502"/>
            <a:ext cx="76200" cy="84773"/>
          </a:xfrm>
          <a:prstGeom prst="line">
            <a:avLst/>
          </a:prstGeom>
          <a:ln w="52388" cap="rnd">
            <a:solidFill>
              <a:srgbClr val="2BAAE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6" name="Connector 155"/>
          <p:cNvCxnSpPr/>
          <p:nvPr/>
        </p:nvCxnSpPr>
        <p:spPr>
          <a:xfrm flipH="1" flipV="1">
            <a:off x="10963275" y="2401252"/>
            <a:ext cx="76200" cy="84773"/>
          </a:xfrm>
          <a:prstGeom prst="line">
            <a:avLst/>
          </a:prstGeom>
          <a:ln w="52388" cap="rnd">
            <a:solidFill>
              <a:srgbClr val="2BAAE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7" name="Connector 156"/>
          <p:cNvCxnSpPr/>
          <p:nvPr/>
        </p:nvCxnSpPr>
        <p:spPr>
          <a:xfrm flipV="1">
            <a:off x="11039475" y="2401252"/>
            <a:ext cx="76200" cy="84773"/>
          </a:xfrm>
          <a:prstGeom prst="line">
            <a:avLst/>
          </a:prstGeom>
          <a:ln w="52388" cap="rnd">
            <a:solidFill>
              <a:srgbClr val="2BAAE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8" name="Connector 157"/>
          <p:cNvCxnSpPr/>
          <p:nvPr/>
        </p:nvCxnSpPr>
        <p:spPr>
          <a:xfrm flipV="1">
            <a:off x="11039475" y="2667000"/>
            <a:ext cx="412433" cy="238125"/>
          </a:xfrm>
          <a:prstGeom prst="line">
            <a:avLst/>
          </a:prstGeom>
          <a:ln w="52388" cap="rnd">
            <a:solidFill>
              <a:srgbClr val="2BAAE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9" name="Connector 158"/>
          <p:cNvCxnSpPr/>
          <p:nvPr/>
        </p:nvCxnSpPr>
        <p:spPr>
          <a:xfrm flipV="1">
            <a:off x="11319510" y="2634615"/>
            <a:ext cx="36195" cy="108585"/>
          </a:xfrm>
          <a:prstGeom prst="line">
            <a:avLst/>
          </a:prstGeom>
          <a:ln w="52388" cap="rnd">
            <a:solidFill>
              <a:srgbClr val="2BAAE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0" name="Connector 159"/>
          <p:cNvCxnSpPr/>
          <p:nvPr/>
        </p:nvCxnSpPr>
        <p:spPr>
          <a:xfrm>
            <a:off x="11319510" y="2743200"/>
            <a:ext cx="112395" cy="23812"/>
          </a:xfrm>
          <a:prstGeom prst="line">
            <a:avLst/>
          </a:prstGeom>
          <a:ln w="52388" cap="rnd">
            <a:solidFill>
              <a:srgbClr val="2BAAE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1" name="Connector 160"/>
          <p:cNvCxnSpPr/>
          <p:nvPr/>
        </p:nvCxnSpPr>
        <p:spPr>
          <a:xfrm flipV="1">
            <a:off x="11402378" y="2586990"/>
            <a:ext cx="35242" cy="108585"/>
          </a:xfrm>
          <a:prstGeom prst="line">
            <a:avLst/>
          </a:prstGeom>
          <a:ln w="52388" cap="rnd">
            <a:solidFill>
              <a:srgbClr val="2BAAE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2" name="Connector 161"/>
          <p:cNvCxnSpPr/>
          <p:nvPr/>
        </p:nvCxnSpPr>
        <p:spPr>
          <a:xfrm>
            <a:off x="11402378" y="2695575"/>
            <a:ext cx="111442" cy="23813"/>
          </a:xfrm>
          <a:prstGeom prst="line">
            <a:avLst/>
          </a:prstGeom>
          <a:ln w="52388" cap="rnd">
            <a:solidFill>
              <a:srgbClr val="2BAAE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3" name="Connector 162"/>
          <p:cNvCxnSpPr/>
          <p:nvPr/>
        </p:nvCxnSpPr>
        <p:spPr>
          <a:xfrm>
            <a:off x="11039475" y="2905125"/>
            <a:ext cx="412433" cy="238125"/>
          </a:xfrm>
          <a:prstGeom prst="line">
            <a:avLst/>
          </a:prstGeom>
          <a:ln w="52388" cap="rnd">
            <a:solidFill>
              <a:srgbClr val="2BAAE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4" name="Connector 163"/>
          <p:cNvCxnSpPr/>
          <p:nvPr/>
        </p:nvCxnSpPr>
        <p:spPr>
          <a:xfrm flipV="1">
            <a:off x="11319510" y="3043238"/>
            <a:ext cx="112395" cy="23812"/>
          </a:xfrm>
          <a:prstGeom prst="line">
            <a:avLst/>
          </a:prstGeom>
          <a:ln w="52388" cap="rnd">
            <a:solidFill>
              <a:srgbClr val="2BAAE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5" name="Connector 164"/>
          <p:cNvCxnSpPr/>
          <p:nvPr/>
        </p:nvCxnSpPr>
        <p:spPr>
          <a:xfrm>
            <a:off x="11319510" y="3067050"/>
            <a:ext cx="36195" cy="108585"/>
          </a:xfrm>
          <a:prstGeom prst="line">
            <a:avLst/>
          </a:prstGeom>
          <a:ln w="52388" cap="rnd">
            <a:solidFill>
              <a:srgbClr val="2BAAE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6" name="Connector 165"/>
          <p:cNvCxnSpPr/>
          <p:nvPr/>
        </p:nvCxnSpPr>
        <p:spPr>
          <a:xfrm flipV="1">
            <a:off x="11402378" y="3090862"/>
            <a:ext cx="111442" cy="23813"/>
          </a:xfrm>
          <a:prstGeom prst="line">
            <a:avLst/>
          </a:prstGeom>
          <a:ln w="52388" cap="rnd">
            <a:solidFill>
              <a:srgbClr val="2BAAE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7" name="Connector 166"/>
          <p:cNvCxnSpPr/>
          <p:nvPr/>
        </p:nvCxnSpPr>
        <p:spPr>
          <a:xfrm>
            <a:off x="11402378" y="3114675"/>
            <a:ext cx="35242" cy="108585"/>
          </a:xfrm>
          <a:prstGeom prst="line">
            <a:avLst/>
          </a:prstGeom>
          <a:ln w="52388" cap="rnd">
            <a:solidFill>
              <a:srgbClr val="2BAAE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8" name="Connector 167"/>
          <p:cNvCxnSpPr/>
          <p:nvPr/>
        </p:nvCxnSpPr>
        <p:spPr>
          <a:xfrm>
            <a:off x="11039475" y="2905125"/>
            <a:ext cx="0" cy="476250"/>
          </a:xfrm>
          <a:prstGeom prst="line">
            <a:avLst/>
          </a:prstGeom>
          <a:ln w="52388" cap="rnd">
            <a:solidFill>
              <a:srgbClr val="2BAAE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9" name="Connector 168"/>
          <p:cNvCxnSpPr/>
          <p:nvPr/>
        </p:nvCxnSpPr>
        <p:spPr>
          <a:xfrm>
            <a:off x="11039475" y="3228975"/>
            <a:ext cx="76200" cy="84773"/>
          </a:xfrm>
          <a:prstGeom prst="line">
            <a:avLst/>
          </a:prstGeom>
          <a:ln w="52388" cap="rnd">
            <a:solidFill>
              <a:srgbClr val="2BAAE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0" name="Connector 169"/>
          <p:cNvCxnSpPr/>
          <p:nvPr/>
        </p:nvCxnSpPr>
        <p:spPr>
          <a:xfrm flipH="1">
            <a:off x="10963275" y="3228975"/>
            <a:ext cx="76200" cy="84773"/>
          </a:xfrm>
          <a:prstGeom prst="line">
            <a:avLst/>
          </a:prstGeom>
          <a:ln w="52388" cap="rnd">
            <a:solidFill>
              <a:srgbClr val="2BAAE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1" name="Connector 170"/>
          <p:cNvCxnSpPr/>
          <p:nvPr/>
        </p:nvCxnSpPr>
        <p:spPr>
          <a:xfrm>
            <a:off x="11039475" y="3324225"/>
            <a:ext cx="76200" cy="84773"/>
          </a:xfrm>
          <a:prstGeom prst="line">
            <a:avLst/>
          </a:prstGeom>
          <a:ln w="52388" cap="rnd">
            <a:solidFill>
              <a:srgbClr val="2BAAE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2" name="Connector 171"/>
          <p:cNvCxnSpPr/>
          <p:nvPr/>
        </p:nvCxnSpPr>
        <p:spPr>
          <a:xfrm flipH="1">
            <a:off x="10963275" y="3324225"/>
            <a:ext cx="76200" cy="84773"/>
          </a:xfrm>
          <a:prstGeom prst="line">
            <a:avLst/>
          </a:prstGeom>
          <a:ln w="52388" cap="rnd">
            <a:solidFill>
              <a:srgbClr val="2BAAE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3" name="Connector 172"/>
          <p:cNvCxnSpPr/>
          <p:nvPr/>
        </p:nvCxnSpPr>
        <p:spPr>
          <a:xfrm flipH="1">
            <a:off x="10627042" y="2905125"/>
            <a:ext cx="412433" cy="238125"/>
          </a:xfrm>
          <a:prstGeom prst="line">
            <a:avLst/>
          </a:prstGeom>
          <a:ln w="52388" cap="rnd">
            <a:solidFill>
              <a:srgbClr val="2BAAE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4" name="Connector 173"/>
          <p:cNvCxnSpPr/>
          <p:nvPr/>
        </p:nvCxnSpPr>
        <p:spPr>
          <a:xfrm flipH="1">
            <a:off x="10723245" y="3067050"/>
            <a:ext cx="36195" cy="108585"/>
          </a:xfrm>
          <a:prstGeom prst="line">
            <a:avLst/>
          </a:prstGeom>
          <a:ln w="52388" cap="rnd">
            <a:solidFill>
              <a:srgbClr val="2BAAE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5" name="Connector 174"/>
          <p:cNvCxnSpPr/>
          <p:nvPr/>
        </p:nvCxnSpPr>
        <p:spPr>
          <a:xfrm flipH="1" flipV="1">
            <a:off x="10647045" y="3043238"/>
            <a:ext cx="112395" cy="23812"/>
          </a:xfrm>
          <a:prstGeom prst="line">
            <a:avLst/>
          </a:prstGeom>
          <a:ln w="52388" cap="rnd">
            <a:solidFill>
              <a:srgbClr val="2BAAE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6" name="Connector 175"/>
          <p:cNvCxnSpPr/>
          <p:nvPr/>
        </p:nvCxnSpPr>
        <p:spPr>
          <a:xfrm flipH="1">
            <a:off x="10641330" y="3114675"/>
            <a:ext cx="35242" cy="108585"/>
          </a:xfrm>
          <a:prstGeom prst="line">
            <a:avLst/>
          </a:prstGeom>
          <a:ln w="52388" cap="rnd">
            <a:solidFill>
              <a:srgbClr val="2BAAE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7" name="Connector 176"/>
          <p:cNvCxnSpPr/>
          <p:nvPr/>
        </p:nvCxnSpPr>
        <p:spPr>
          <a:xfrm flipH="1" flipV="1">
            <a:off x="10565130" y="3090862"/>
            <a:ext cx="111442" cy="23813"/>
          </a:xfrm>
          <a:prstGeom prst="line">
            <a:avLst/>
          </a:prstGeom>
          <a:ln w="52388" cap="rnd">
            <a:solidFill>
              <a:srgbClr val="2BAAE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8" name="Connector 177"/>
          <p:cNvCxnSpPr/>
          <p:nvPr/>
        </p:nvCxnSpPr>
        <p:spPr>
          <a:xfrm flipH="1" flipV="1">
            <a:off x="10627042" y="2667000"/>
            <a:ext cx="412433" cy="238125"/>
          </a:xfrm>
          <a:prstGeom prst="line">
            <a:avLst/>
          </a:prstGeom>
          <a:ln w="52388" cap="rnd">
            <a:solidFill>
              <a:srgbClr val="2BAAE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9" name="Connector 178"/>
          <p:cNvCxnSpPr/>
          <p:nvPr/>
        </p:nvCxnSpPr>
        <p:spPr>
          <a:xfrm flipH="1">
            <a:off x="10647045" y="2743200"/>
            <a:ext cx="112395" cy="23812"/>
          </a:xfrm>
          <a:prstGeom prst="line">
            <a:avLst/>
          </a:prstGeom>
          <a:ln w="52388" cap="rnd">
            <a:solidFill>
              <a:srgbClr val="2BAAE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0" name="Connector 179"/>
          <p:cNvCxnSpPr/>
          <p:nvPr/>
        </p:nvCxnSpPr>
        <p:spPr>
          <a:xfrm flipH="1" flipV="1">
            <a:off x="10723245" y="2634615"/>
            <a:ext cx="36195" cy="108585"/>
          </a:xfrm>
          <a:prstGeom prst="line">
            <a:avLst/>
          </a:prstGeom>
          <a:ln w="52388" cap="rnd">
            <a:solidFill>
              <a:srgbClr val="2BAAE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1" name="Connector 180"/>
          <p:cNvCxnSpPr/>
          <p:nvPr/>
        </p:nvCxnSpPr>
        <p:spPr>
          <a:xfrm flipH="1">
            <a:off x="10565130" y="2695575"/>
            <a:ext cx="111442" cy="23813"/>
          </a:xfrm>
          <a:prstGeom prst="line">
            <a:avLst/>
          </a:prstGeom>
          <a:ln w="52388" cap="rnd">
            <a:solidFill>
              <a:srgbClr val="2BAAE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2" name="Connector 181"/>
          <p:cNvCxnSpPr/>
          <p:nvPr/>
        </p:nvCxnSpPr>
        <p:spPr>
          <a:xfrm flipH="1" flipV="1">
            <a:off x="10641330" y="2586990"/>
            <a:ext cx="35242" cy="108585"/>
          </a:xfrm>
          <a:prstGeom prst="line">
            <a:avLst/>
          </a:prstGeom>
          <a:ln w="52388" cap="rnd">
            <a:solidFill>
              <a:srgbClr val="2BAAE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3" name="Oval 182"/>
          <p:cNvSpPr/>
          <p:nvPr/>
        </p:nvSpPr>
        <p:spPr>
          <a:xfrm>
            <a:off x="10987088" y="2852738"/>
            <a:ext cx="104775" cy="104775"/>
          </a:xfrm>
          <a:prstGeom prst="ellipse">
            <a:avLst/>
          </a:prstGeom>
          <a:solidFill>
            <a:srgbClr val="CDD6DA">
              <a:alpha val="85000"/>
            </a:srgbClr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4" name="Oval 183"/>
          <p:cNvSpPr/>
          <p:nvPr/>
        </p:nvSpPr>
        <p:spPr>
          <a:xfrm>
            <a:off x="11007090" y="2872740"/>
            <a:ext cx="64770" cy="64770"/>
          </a:xfrm>
          <a:prstGeom prst="ellipse">
            <a:avLst/>
          </a:prstGeom>
          <a:solidFill>
            <a:srgbClr val="2BAAEF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5" name="freeform-185"/>
          <p:cNvSpPr/>
          <p:nvPr/>
        </p:nvSpPr>
        <p:spPr>
          <a:xfrm>
            <a:off x="11049000" y="1323975"/>
            <a:ext cx="95" cy="466725"/>
          </a:xfrm>
          <a:custGeom>
            <a:avLst/>
            <a:gdLst/>
            <a:ahLst/>
            <a:cxnLst/>
            <a:rect l="0" t="0" r="0" b="0"/>
            <a:pathLst>
              <a:path w="95" h="466725">
                <a:moveTo>
                  <a:pt x="0" y="466725"/>
                </a:moveTo>
                <a:lnTo>
                  <a:pt x="0" y="0"/>
                </a:lnTo>
              </a:path>
            </a:pathLst>
          </a:custGeom>
          <a:noFill/>
          <a:ln w="38100" cap="sq">
            <a:solidFill>
              <a:srgbClr val="4E94D9"/>
            </a:solidFill>
          </a:ln>
        </p:spPr>
        <p:txBody>
          <a:bodyPr/>
          <a:p/>
        </p:txBody>
      </p:sp>
      <p:sp>
        <p:nvSpPr>
          <p:cNvPr id="186" name="freeform-186"/>
          <p:cNvSpPr/>
          <p:nvPr/>
        </p:nvSpPr>
        <p:spPr>
          <a:xfrm>
            <a:off x="11008995" y="1323975"/>
            <a:ext cx="80010" cy="64770"/>
          </a:xfrm>
          <a:custGeom>
            <a:avLst/>
            <a:gdLst/>
            <a:ahLst/>
            <a:cxnLst/>
            <a:rect l="0" t="0" r="0" b="0"/>
            <a:pathLst>
              <a:path w="80010" h="64770">
                <a:moveTo>
                  <a:pt x="0" y="64770"/>
                </a:moveTo>
                <a:lnTo>
                  <a:pt x="40005" y="0"/>
                </a:lnTo>
                <a:lnTo>
                  <a:pt x="80010" y="64770"/>
                </a:lnTo>
              </a:path>
            </a:pathLst>
          </a:custGeom>
          <a:noFill/>
          <a:ln w="38100" cap="rnd">
            <a:solidFill>
              <a:srgbClr val="4E94D9"/>
            </a:solidFill>
          </a:ln>
        </p:spPr>
        <p:txBody>
          <a:bodyPr/>
          <a:p/>
        </p:txBody>
      </p:sp>
      <p:sp>
        <p:nvSpPr>
          <p:cNvPr id="187" name="TextBox 186"/>
          <p:cNvSpPr txBox="1"/>
          <p:nvPr/>
        </p:nvSpPr>
        <p:spPr>
          <a:xfrm>
            <a:off x="10104025" y="1429702"/>
            <a:ext cx="861250" cy="261938"/>
          </a:xfrm>
          <a:prstGeom prst="rect">
            <a:avLst/>
          </a:prstGeom>
          <a:noFill/>
          <a:effectLst/>
        </p:spPr>
        <p:txBody>
          <a:bodyPr wrap="none" anchor="t" lIns="0" rIns="0" tIns="0" bIns="0">
            <a:spAutoFit/>
          </a:bodyPr>
          <a:lstStyle/>
          <a:p>
            <a:pPr algn="ctr"/>
            <a:r>
              <a:rPr sz="1650" b="1">
                <a:solidFill>
                  <a:srgbClr val="000000"/>
                </a:solidFill>
                <a:latin typeface="Liberation Serif"/>
              </a:rPr>
              <a:t>Inference</a:t>
            </a:r>
          </a:p>
        </p:txBody>
      </p:sp>
      <p:sp>
        <p:nvSpPr>
          <p:cNvPr id="188" name="Rounded Rectangle 187"/>
          <p:cNvSpPr/>
          <p:nvPr/>
        </p:nvSpPr>
        <p:spPr>
          <a:xfrm>
            <a:off x="10210800" y="676275"/>
            <a:ext cx="1685925" cy="638175"/>
          </a:xfrm>
          <a:prstGeom prst="roundRect">
            <a:avLst>
              <a:gd name="adj" fmla="val 10447"/>
            </a:avLst>
          </a:prstGeom>
          <a:solidFill>
            <a:srgbClr val="FFFFFF"/>
          </a:solidFill>
          <a:ln w="38100">
            <a:solidFill>
              <a:srgbClr val="8DD97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9" name="TextBox 188"/>
          <p:cNvSpPr txBox="1"/>
          <p:nvPr/>
        </p:nvSpPr>
        <p:spPr>
          <a:xfrm>
            <a:off x="10336197" y="761524"/>
            <a:ext cx="1435132" cy="226219"/>
          </a:xfrm>
          <a:prstGeom prst="rect">
            <a:avLst/>
          </a:prstGeom>
          <a:noFill/>
          <a:effectLst/>
        </p:spPr>
        <p:txBody>
          <a:bodyPr wrap="none" anchor="t" lIns="0" rIns="0" tIns="0" bIns="0">
            <a:spAutoFit/>
          </a:bodyPr>
          <a:lstStyle/>
          <a:p>
            <a:pPr algn="ctr"/>
            <a:r>
              <a:rPr sz="1425" i="1">
                <a:solidFill>
                  <a:srgbClr val="000000"/>
                </a:solidFill>
                <a:latin typeface="Liberation Serif"/>
              </a:rPr>
              <a:t>Predicted Outputs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90" name="math:005" descr="AI_AUTOFIGURE_NATIVE_MATH_V1:eyJjb250ZW50X3J1bnMiOlt7ImNhbm9uaWNhbF9sYXRleCI6Inlfe3ByZWR9IiwiZm9ybXVsYV9pZCI6IkVRMDA1Iiwia2luZCI6Im1hdGgiLCJsYXRleF9zaGEyNTYiOiIwNDI0ZWE1ZjM0YWYxMjEwZTI4MDgxOGNiMTc1OTBkZGFmMmRkODljZTQxMTU3NGVhNTU2Mzk0YzI3NTIxNjUzIiwibW9kZSI6ImlubGluZSIsIm9tbWxfc2hhMjU2IjoiOThmZmI5M2YzNTZmYTJkN2Y0MTQyYTczNjQ5Mjk3NWIwMjIxOTVlZDE2ZDMyMDg5YjgxNGRjZjU2OGRmMjliZSIsInNlbWFudGljX29tbWxfcHJvZmlsZSI6Im9mZmljZS1tYXRoLXNlbWFudGljLXYyIiwic2VtYW50aWNfb21tbF9zaGEyNTYiOiIxMTk5Yjg1ZTk1YmZmNmMwNTI5ZmNiZGJjOWNiYWY4ZDUwNjA2ZWY0YmQ4NTgxMzhmYzlkNzkwNzFmOTdmZjMyIn1dLCJmb3JtdWxhcyI6W3siY2Fub25pY2FsX2xhdGV4IjoieV97cHJlZH0iLCJmb3JtdWxhX2lkIjoiRVEwMDUiLCJsYXRleF9zaGEyNTYiOiIwNDI0ZWE1ZjM0YWYxMjEwZTI4MDgxOGNiMTc1OTBkZGFmMmRkODljZTQxMTU3NGVhNTU2Mzk0YzI3NTIxNjUzIiwibW9kZSI6ImlubGluZSIsIm9tbWxfc2hhMjU2IjoiOThmZmI5M2YzNTZmYTJkN2Y0MTQyYTczNjQ5Mjk3NWIwMjIxOTVlZDE2ZDMyMDg5YjgxNGRjZjU2OGRmMjliZSIsInNlbWFudGljX29tbWxfcHJvZmlsZSI6Im9mZmljZS1tYXRoLXNlbWFudGljLXYyIiwic2VtYW50aWNfb21tbF9zaGEyNTYiOiIxMTk5Yjg1ZTk1YmZmNmMwNTI5ZmNiZGJjOWNiYWY4ZDUwNjA2ZWY0YmQ4NTgxMzhmYzlkNzkwNzFmOTdmZjMyIn1dLCJraW5kIjoibmF0aXZlX29mZmljZV9tYXRoIiwicGxhY2Vob2xkZXJfbmFtZSI6Im1hdGg6MDA1Iiwic2NoZW1hX3ZlcnNpb24iOiIxLjAifQ=="/>
              <p:cNvSpPr txBox="1"/>
              <p:nvPr/>
            </p:nvSpPr>
            <p:spPr>
              <a:xfrm>
                <a:off x="10844594" y="1018222"/>
                <a:ext cx="418338" cy="214312"/>
              </a:xfrm>
              <a:prstGeom prst="rect">
                <a:avLst/>
              </a:prstGeom>
              <a:noFill/>
              <a:effectLst/>
            </p:spPr>
            <p:txBody>
              <a:bodyPr wrap="none" anchor="t" lIns="0" rIns="0" tIns="0" bIns="0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sSub>
                      <m:e>
                        <m:r>
                          <a:rPr lang="en-US" dirty="0" sz="1350">
                            <a:solidFill>
                              <a:srgbClr val="000000"/>
                            </a:solidFill>
                            <a:latin typeface="Cambria Math"/>
                          </a:rPr>
                          <m:t>y</m:t>
                        </m:r>
                      </m:e>
                      <m:sub>
                        <m:r>
                          <a:rPr lang="en-US" dirty="0" sz="1350">
                            <a:solidFill>
                              <a:srgbClr val="000000"/>
                            </a:solidFill>
                            <a:latin typeface="Cambria Math"/>
                          </a:rPr>
                          <m:t>pred</m:t>
                        </m:r>
                      </m:sub>
                    </m:sSub>
                  </m:oMath>
                </a14:m>
                <a:endParaRPr lang="en-US" dirty="0" sz="1350">
                  <a:solidFill>
                    <a:srgbClr val="000000"/>
                  </a:solidFill>
                  <a:latin typeface="Cambria Math"/>
                </a:endParaRPr>
              </a:p>
            </p:txBody>
          </p:sp>
        </mc:Choice>
        <mc:Fallback>
          <p:sp>
            <p:nvSpPr>
              <p:cNvPr id="190" name="math:005" descr="AI_AUTOFIGURE_MATH_FALLBACK_ONLY_V1:eyJjb250ZW50X3J1bnMiOlt7ImNhbm9uaWNhbF9sYXRleCI6Inlfe3ByZWR9IiwiZm9ybXVsYV9pZCI6IkVRMDA1Iiwia2luZCI6Im1hdGgiLCJsYXRleF9zaGEyNTYiOiIwNDI0ZWE1ZjM0YWYxMjEwZTI4MDgxOGNiMTc1OTBkZGFmMmRkODljZTQxMTU3NGVhNTU2Mzk0YzI3NTIxNjUzIiwibW9kZSI6ImlubGluZSIsIm9tbWxfc2hhMjU2IjoiOThmZmI5M2YzNTZmYTJkN2Y0MTQyYTczNjQ5Mjk3NWIwMjIxOTVlZDE2ZDMyMDg5YjgxNGRjZjU2OGRmMjliZSIsInNlbWFudGljX29tbWxfcHJvZmlsZSI6Im9mZmljZS1tYXRoLXNlbWFudGljLXYyIiwic2VtYW50aWNfb21tbF9zaGEyNTYiOiIxMTk5Yjg1ZTk1YmZmNmMwNTI5ZmNiZGJjOWNiYWY4ZDUwNjA2ZWY0YmQ4NTgxMzhmYzlkNzkwNzFmOTdmZjMyIn1dLCJmb3JtdWxhcyI6W3siY2Fub25pY2FsX2xhdGV4IjoieV97cHJlZH0iLCJmb3JtdWxhX2lkIjoiRVEwMDUiLCJsYXRleF9zaGEyNTYiOiIwNDI0ZWE1ZjM0YWYxMjEwZTI4MDgxOGNiMTc1OTBkZGFmMmRkODljZTQxMTU3NGVhNTU2Mzk0YzI3NTIxNjUzIiwibW9kZSI6ImlubGluZSIsIm9tbWxfc2hhMjU2IjoiOThmZmI5M2YzNTZmYTJkN2Y0MTQyYTczNjQ5Mjk3NWIwMjIxOTVlZDE2ZDMyMDg5YjgxNGRjZjU2OGRmMjliZSIsInNlbWFudGljX29tbWxfcHJvZmlsZSI6Im9mZmljZS1tYXRoLXNlbWFudGljLXYyIiwic2VtYW50aWNfb21tbF9zaGEyNTYiOiIxMTk5Yjg1ZTk1YmZmNmMwNTI5ZmNiZGJjOWNiYWY4ZDUwNjA2ZWY0YmQ4NTgxMzhmYzlkNzkwNzFmOTdmZjMyIn1dLCJraW5kIjoibmF0aXZlX29mZmljZV9tYXRoIiwicGxhY2Vob2xkZXJfbmFtZSI6Im1hdGg6MDA1Iiwic2NoZW1hX3ZlcnNpb24iOiIxLjAifQ=="/>
              <p:cNvSpPr txBox="1"/>
              <p:nvPr/>
            </p:nvSpPr>
            <p:spPr>
              <a:xfrm>
                <a:off x="10844594" y="1018222"/>
                <a:ext cx="418338" cy="214312"/>
              </a:xfrm>
              <a:prstGeom prst="rect">
                <a:avLst/>
              </a:prstGeom>
              <a:noFill/>
              <a:effectLst/>
            </p:spPr>
            <p:txBody>
              <a:bodyPr wrap="none" anchor="t" lIns="0" rIns="0" tIns="0" bIns="0">
                <a:spAutoFit/>
              </a:bodyPr>
              <a:lstStyle/>
              <a:p>
                <a:pPr algn="ctr"/>
                <a:r>
                  <a:rPr lang="en-US" dirty="0" sz="1350">
                    <a:solidFill>
                      <a:srgbClr val="000000"/>
                    </a:solidFill>
                  </a:rPr>
                  <a:t>\(y_{pred}\)</a:t>
                </a:r>
                <a:endParaRPr lang="en-US" dirty="0" sz="1350">
                  <a:solidFill>
                    <a:srgbClr val="000000"/>
                  </a:solidFill>
                </a:endParaRPr>
              </a:p>
            </p:txBody>
          </p:sp>
        </mc:Fallback>
      </mc:AlternateContent>
      <p:sp>
        <p:nvSpPr>
          <p:cNvPr id="191" name="freeform-191"/>
          <p:cNvSpPr/>
          <p:nvPr/>
        </p:nvSpPr>
        <p:spPr>
          <a:xfrm>
            <a:off x="10629900" y="3990975"/>
            <a:ext cx="95" cy="390525"/>
          </a:xfrm>
          <a:custGeom>
            <a:avLst/>
            <a:gdLst/>
            <a:ahLst/>
            <a:cxnLst/>
            <a:rect l="0" t="0" r="0" b="0"/>
            <a:pathLst>
              <a:path w="95" h="390525">
                <a:moveTo>
                  <a:pt x="0" y="390525"/>
                </a:moveTo>
                <a:lnTo>
                  <a:pt x="0" y="0"/>
                </a:lnTo>
              </a:path>
            </a:pathLst>
          </a:custGeom>
          <a:noFill/>
          <a:ln w="38100" cap="sq">
            <a:solidFill>
              <a:srgbClr val="4E94D9"/>
            </a:solidFill>
          </a:ln>
        </p:spPr>
        <p:txBody>
          <a:bodyPr/>
          <a:p/>
        </p:txBody>
      </p:sp>
      <p:sp>
        <p:nvSpPr>
          <p:cNvPr id="192" name="freeform-192"/>
          <p:cNvSpPr/>
          <p:nvPr/>
        </p:nvSpPr>
        <p:spPr>
          <a:xfrm>
            <a:off x="10589895" y="3990975"/>
            <a:ext cx="80010" cy="64770"/>
          </a:xfrm>
          <a:custGeom>
            <a:avLst/>
            <a:gdLst/>
            <a:ahLst/>
            <a:cxnLst/>
            <a:rect l="0" t="0" r="0" b="0"/>
            <a:pathLst>
              <a:path w="80010" h="64770">
                <a:moveTo>
                  <a:pt x="0" y="64770"/>
                </a:moveTo>
                <a:lnTo>
                  <a:pt x="40005" y="0"/>
                </a:lnTo>
                <a:lnTo>
                  <a:pt x="80010" y="64770"/>
                </a:lnTo>
              </a:path>
            </a:pathLst>
          </a:custGeom>
          <a:noFill/>
          <a:ln w="38100" cap="rnd">
            <a:solidFill>
              <a:srgbClr val="4E94D9"/>
            </a:solidFill>
          </a:ln>
        </p:spPr>
        <p:txBody>
          <a:bodyPr/>
          <a:p/>
        </p:txBody>
      </p:sp>
      <p:sp>
        <p:nvSpPr>
          <p:cNvPr id="193" name="Rounded Rectangle 192"/>
          <p:cNvSpPr/>
          <p:nvPr/>
        </p:nvSpPr>
        <p:spPr>
          <a:xfrm>
            <a:off x="9925050" y="4381500"/>
            <a:ext cx="1400175" cy="647700"/>
          </a:xfrm>
          <a:prstGeom prst="roundRect">
            <a:avLst>
              <a:gd name="adj" fmla="val 11764"/>
            </a:avLst>
          </a:prstGeom>
          <a:solidFill>
            <a:srgbClr val="E7F7FD"/>
          </a:solidFill>
          <a:ln w="38100">
            <a:solidFill>
              <a:srgbClr val="60CB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4" name="TextBox 193"/>
          <p:cNvSpPr txBox="1"/>
          <p:nvPr/>
        </p:nvSpPr>
        <p:spPr>
          <a:xfrm>
            <a:off x="10226992" y="4476274"/>
            <a:ext cx="796290" cy="226219"/>
          </a:xfrm>
          <a:prstGeom prst="rect">
            <a:avLst/>
          </a:prstGeom>
          <a:noFill/>
          <a:effectLst/>
        </p:spPr>
        <p:txBody>
          <a:bodyPr wrap="none" anchor="t" lIns="0" rIns="0" tIns="0" bIns="0">
            <a:spAutoFit/>
          </a:bodyPr>
          <a:lstStyle/>
          <a:p>
            <a:pPr algn="ctr"/>
            <a:r>
              <a:rPr sz="1425" i="1">
                <a:solidFill>
                  <a:srgbClr val="000000"/>
                </a:solidFill>
                <a:latin typeface="Liberation Serif"/>
              </a:rPr>
              <a:t>Questions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95" name="math:006" descr="AI_AUTOFIGURE_NATIVE_MATH_V1:eyJjb250ZW50X3J1bnMiOlt7ImNhbm9uaWNhbF9sYXRleCI6IjxxX3sxfSwgcV97Mn0gLi4uIHFfe259PiIsImZvcm11bGFfaWQiOiJFUTAwNiIsImtpbmQiOiJtYXRoIiwibGF0ZXhfc2hhMjU2IjoiNzU3NDczYWYwODA2ZDEyYjY4NGQ1YzZiN2ZmYzMxMWIwYjI5ZTMzOTI0MDE2YjYyNmVlZmNkZGIyYWQ3Y2E3YyIsIm1vZGUiOiJpbmxpbmUiLCJvbW1sX3NoYTI1NiI6IjFmMjhjNDhhMDVhMzk0MWYyNGNhYjk2YWJlNDJlYTI3NDhjYzM5ZjBjYmM5NjA0ZGQwYTE5NGQyMjJmM2E4MjYiLCJzZW1hbnRpY19vbW1sX3Byb2ZpbGUiOiJvZmZpY2UtbWF0aC1zZW1hbnRpYy12MiIsInNlbWFudGljX29tbWxfc2hhMjU2IjoiYTA2MWY5OTI2ODY1YzlmOTRlMWI0Mzg5Mzc2Zjc3ODhlZGZlZDkzNTI2MzE5ZGE1OGQzZGIyM2U3NDFkYTY5ZSJ9XSwiZm9ybXVsYXMiOlt7ImNhbm9uaWNhbF9sYXRleCI6IjxxX3sxfSwgcV97Mn0gLi4uIHFfe259PiIsImZvcm11bGFfaWQiOiJFUTAwNiIsImxhdGV4X3NoYTI1NiI6Ijc1NzQ3M2FmMDgwNmQxMmI2ODRkNWM2YjdmZmMzMTFiMGIyOWUzMzkyNDAxNmI2MjZlZWZjZGRiMmFkN2NhN2MiLCJtb2RlIjoiaW5saW5lIiwib21tbF9zaGEyNTYiOiIxZjI4YzQ4YTA1YTM5NDFmMjRjYWI5NmFiZTQyZWEyNzQ4Y2MzOWYwY2JjOTYwNGRkMGExOTRkMjIyZjNhODI2Iiwic2VtYW50aWNfb21tbF9wcm9maWxlIjoib2ZmaWNlLW1hdGgtc2VtYW50aWMtdjIiLCJzZW1hbnRpY19vbW1sX3NoYTI1NiI6ImEwNjFmOTkyNjg2NWM5Zjk0ZTFiNDM4OTM3NmY3Nzg4ZWRmZWQ5MzUyNjMxOWRhNThkM2RiMjNlNzQxZGE2OWUifV0sImtpbmQiOiJuYXRpdmVfb2ZmaWNlX21hdGgiLCJwbGFjZWhvbGRlcl9uYW1lIjoibWF0aDowMDYiLCJzY2hlbWFfdmVyc2lvbiI6IjEuMCJ9"/>
              <p:cNvSpPr txBox="1"/>
              <p:nvPr/>
            </p:nvSpPr>
            <p:spPr>
              <a:xfrm>
                <a:off x="10116693" y="4751546"/>
                <a:ext cx="1016889" cy="202406"/>
              </a:xfrm>
              <a:prstGeom prst="rect">
                <a:avLst/>
              </a:prstGeom>
              <a:noFill/>
              <a:effectLst/>
            </p:spPr>
            <p:txBody>
              <a:bodyPr wrap="none" anchor="t" lIns="0" rIns="0" tIns="0" bIns="0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d>
                      <m:dPr>
                        <m:begChr m:val="&lt;"/>
                        <m:sepChr m:val=""/>
                        <m:endChr m:val="&gt;"/>
                      </m:dPr>
                      <m:e>
                        <m:sSub>
                          <m:e>
                            <m:r>
                              <a:rPr lang="en-US" dirty="0" sz="1275">
                                <a:solidFill>
                                  <a:srgbClr val="000000"/>
                                </a:solidFill>
                                <a:latin typeface="Cambria Math"/>
                              </a:rPr>
                              <m:t>q</m:t>
                            </m:r>
                          </m:e>
                          <m:sub>
                            <m:r>
                              <a:rPr lang="en-US" dirty="0" sz="1275">
                                <a:solidFill>
                                  <a:srgbClr val="000000"/>
                                </a:solidFill>
                                <a:latin typeface="Cambria Math"/>
                              </a:rPr>
                              <m:t>1</m:t>
                            </m:r>
                          </m:sub>
                        </m:sSub>
                        <m:r>
                          <a:rPr lang="en-US" dirty="0" sz="1275">
                            <a:solidFill>
                              <a:srgbClr val="000000"/>
                            </a:solidFill>
                            <a:latin typeface="Cambria Math"/>
                          </a:rPr>
                          <m:t>,</m:t>
                        </m:r>
                        <m:sSub>
                          <m:e>
                            <m:r>
                              <a:rPr lang="en-US" dirty="0" sz="1275">
                                <a:solidFill>
                                  <a:srgbClr val="000000"/>
                                </a:solidFill>
                                <a:latin typeface="Cambria Math"/>
                              </a:rPr>
                              <m:t>q</m:t>
                            </m:r>
                          </m:e>
                          <m:sub>
                            <m:r>
                              <a:rPr lang="en-US" dirty="0" sz="1275">
                                <a:solidFill>
                                  <a:srgbClr val="000000"/>
                                </a:solidFill>
                                <a:latin typeface="Cambria Math"/>
                              </a:rPr>
                              <m:t>2</m:t>
                            </m:r>
                          </m:sub>
                        </m:sSub>
                        <m:r>
                          <a:rPr lang="en-US" dirty="0" sz="1275">
                            <a:solidFill>
                              <a:srgbClr val="000000"/>
                            </a:solidFill>
                            <a:latin typeface="Cambria Math"/>
                          </a:rPr>
                          <m:t>.</m:t>
                        </m:r>
                        <m:r>
                          <a:rPr lang="en-US" dirty="0" sz="1275">
                            <a:solidFill>
                              <a:srgbClr val="000000"/>
                            </a:solidFill>
                            <a:latin typeface="Cambria Math"/>
                          </a:rPr>
                          <m:t>.</m:t>
                        </m:r>
                        <m:r>
                          <a:rPr lang="en-US" dirty="0" sz="1275">
                            <a:solidFill>
                              <a:srgbClr val="000000"/>
                            </a:solidFill>
                            <a:latin typeface="Cambria Math"/>
                          </a:rPr>
                          <m:t>.</m:t>
                        </m:r>
                        <m:sSub>
                          <m:e>
                            <m:r>
                              <a:rPr lang="en-US" dirty="0" sz="1275">
                                <a:solidFill>
                                  <a:srgbClr val="000000"/>
                                </a:solidFill>
                                <a:latin typeface="Cambria Math"/>
                              </a:rPr>
                              <m:t>q</m:t>
                            </m:r>
                          </m:e>
                          <m:sub>
                            <m:r>
                              <a:rPr lang="en-US" dirty="0" sz="1275">
                                <a:solidFill>
                                  <a:srgbClr val="000000"/>
                                </a:solidFill>
                                <a:latin typeface="Cambria Math"/>
                              </a:rPr>
                              <m:t>n</m:t>
                            </m:r>
                          </m:sub>
                        </m:sSub>
                      </m:e>
                    </m:d>
                  </m:oMath>
                </a14:m>
                <a:endParaRPr lang="en-US" dirty="0" sz="1275">
                  <a:solidFill>
                    <a:srgbClr val="000000"/>
                  </a:solidFill>
                  <a:latin typeface="Cambria Math"/>
                </a:endParaRPr>
              </a:p>
            </p:txBody>
          </p:sp>
        </mc:Choice>
        <mc:Fallback>
          <p:sp>
            <p:nvSpPr>
              <p:cNvPr id="195" name="math:006" descr="AI_AUTOFIGURE_MATH_FALLBACK_ONLY_V1:eyJjb250ZW50X3J1bnMiOlt7ImNhbm9uaWNhbF9sYXRleCI6IjxxX3sxfSwgcV97Mn0gLi4uIHFfe259PiIsImZvcm11bGFfaWQiOiJFUTAwNiIsImtpbmQiOiJtYXRoIiwibGF0ZXhfc2hhMjU2IjoiNzU3NDczYWYwODA2ZDEyYjY4NGQ1YzZiN2ZmYzMxMWIwYjI5ZTMzOTI0MDE2YjYyNmVlZmNkZGIyYWQ3Y2E3YyIsIm1vZGUiOiJpbmxpbmUiLCJvbW1sX3NoYTI1NiI6IjFmMjhjNDhhMDVhMzk0MWYyNGNhYjk2YWJlNDJlYTI3NDhjYzM5ZjBjYmM5NjA0ZGQwYTE5NGQyMjJmM2E4MjYiLCJzZW1hbnRpY19vbW1sX3Byb2ZpbGUiOiJvZmZpY2UtbWF0aC1zZW1hbnRpYy12MiIsInNlbWFudGljX29tbWxfc2hhMjU2IjoiYTA2MWY5OTI2ODY1YzlmOTRlMWI0Mzg5Mzc2Zjc3ODhlZGZlZDkzNTI2MzE5ZGE1OGQzZGIyM2U3NDFkYTY5ZSJ9XSwiZm9ybXVsYXMiOlt7ImNhbm9uaWNhbF9sYXRleCI6IjxxX3sxfSwgcV97Mn0gLi4uIHFfe259PiIsImZvcm11bGFfaWQiOiJFUTAwNiIsImxhdGV4X3NoYTI1NiI6Ijc1NzQ3M2FmMDgwNmQxMmI2ODRkNWM2YjdmZmMzMTFiMGIyOWUzMzkyNDAxNmI2MjZlZWZjZGRiMmFkN2NhN2MiLCJtb2RlIjoiaW5saW5lIiwib21tbF9zaGEyNTYiOiIxZjI4YzQ4YTA1YTM5NDFmMjRjYWI5NmFiZTQyZWEyNzQ4Y2MzOWYwY2JjOTYwNGRkMGExOTRkMjIyZjNhODI2Iiwic2VtYW50aWNfb21tbF9wcm9maWxlIjoib2ZmaWNlLW1hdGgtc2VtYW50aWMtdjIiLCJzZW1hbnRpY19vbW1sX3NoYTI1NiI6ImEwNjFmOTkyNjg2NWM5Zjk0ZTFiNDM4OTM3NmY3Nzg4ZWRmZWQ5MzUyNjMxOWRhNThkM2RiMjNlNzQxZGE2OWUifV0sImtpbmQiOiJuYXRpdmVfb2ZmaWNlX21hdGgiLCJwbGFjZWhvbGRlcl9uYW1lIjoibWF0aDowMDYiLCJzY2hlbWFfdmVyc2lvbiI6IjEuMCJ9"/>
              <p:cNvSpPr txBox="1"/>
              <p:nvPr/>
            </p:nvSpPr>
            <p:spPr>
              <a:xfrm>
                <a:off x="10116693" y="4751546"/>
                <a:ext cx="1016889" cy="202406"/>
              </a:xfrm>
              <a:prstGeom prst="rect">
                <a:avLst/>
              </a:prstGeom>
              <a:noFill/>
              <a:effectLst/>
            </p:spPr>
            <p:txBody>
              <a:bodyPr wrap="none" anchor="t" lIns="0" rIns="0" tIns="0" bIns="0">
                <a:spAutoFit/>
              </a:bodyPr>
              <a:lstStyle/>
              <a:p>
                <a:pPr algn="ctr"/>
                <a:r>
                  <a:rPr lang="en-US" dirty="0" sz="1275">
                    <a:solidFill>
                      <a:srgbClr val="000000"/>
                    </a:solidFill>
                  </a:rPr>
                  <a:t>\(&lt;q_{1}, q_{2} ... q_{n}&gt;\)</a:t>
                </a:r>
                <a:endParaRPr lang="en-US" dirty="0" sz="1275">
                  <a:solidFill>
                    <a:srgbClr val="000000"/>
                  </a:solidFill>
                </a:endParaRPr>
              </a:p>
            </p:txBody>
          </p:sp>
        </mc:Fallback>
      </mc:AlternateContent>
      <p:sp>
        <p:nvSpPr>
          <p:cNvPr id="196" name="TextBox 195"/>
          <p:cNvSpPr txBox="1"/>
          <p:nvPr/>
        </p:nvSpPr>
        <p:spPr>
          <a:xfrm>
            <a:off x="11401425" y="4021931"/>
            <a:ext cx="1328738" cy="297656"/>
          </a:xfrm>
          <a:prstGeom prst="rect">
            <a:avLst/>
          </a:prstGeom>
          <a:noFill/>
          <a:effectLst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875">
                <a:solidFill>
                  <a:srgbClr val="000000"/>
                </a:solidFill>
                <a:latin typeface="Liberation Serif"/>
              </a:rPr>
              <a:t>Frozen VLM</a:t>
            </a:r>
          </a:p>
        </p:txBody>
      </p:sp>
      <p:sp>
        <p:nvSpPr>
          <p:cNvPr id="197" name="freeform-197"/>
          <p:cNvSpPr/>
          <p:nvPr/>
        </p:nvSpPr>
        <p:spPr>
          <a:xfrm>
            <a:off x="10582275" y="5581650"/>
            <a:ext cx="666750" cy="95"/>
          </a:xfrm>
          <a:custGeom>
            <a:avLst/>
            <a:gdLst/>
            <a:ahLst/>
            <a:cxnLst/>
            <a:rect l="0" t="0" r="0" b="0"/>
            <a:pathLst>
              <a:path w="666750" h="95">
                <a:moveTo>
                  <a:pt x="0" y="0"/>
                </a:moveTo>
                <a:lnTo>
                  <a:pt x="666750" y="0"/>
                </a:lnTo>
              </a:path>
            </a:pathLst>
          </a:custGeom>
          <a:noFill/>
          <a:ln w="38100" cap="sq">
            <a:solidFill>
              <a:srgbClr val="4E94D9"/>
            </a:solidFill>
          </a:ln>
        </p:spPr>
        <p:txBody>
          <a:bodyPr/>
          <a:p/>
        </p:txBody>
      </p:sp>
      <p:sp>
        <p:nvSpPr>
          <p:cNvPr id="198" name="freeform-198"/>
          <p:cNvSpPr/>
          <p:nvPr/>
        </p:nvSpPr>
        <p:spPr>
          <a:xfrm>
            <a:off x="11184255" y="5541645"/>
            <a:ext cx="64770" cy="80010"/>
          </a:xfrm>
          <a:custGeom>
            <a:avLst/>
            <a:gdLst/>
            <a:ahLst/>
            <a:cxnLst/>
            <a:rect l="0" t="0" r="0" b="0"/>
            <a:pathLst>
              <a:path w="64770" h="80010">
                <a:moveTo>
                  <a:pt x="0" y="0"/>
                </a:moveTo>
                <a:lnTo>
                  <a:pt x="64770" y="40005"/>
                </a:lnTo>
                <a:lnTo>
                  <a:pt x="0" y="80010"/>
                </a:lnTo>
              </a:path>
            </a:pathLst>
          </a:custGeom>
          <a:noFill/>
          <a:ln w="38100" cap="rnd">
            <a:solidFill>
              <a:srgbClr val="4E94D9"/>
            </a:solidFill>
          </a:ln>
        </p:spPr>
        <p:txBody>
          <a:bodyPr/>
          <a:p/>
        </p:txBody>
      </p:sp>
      <p:sp>
        <p:nvSpPr>
          <p:cNvPr id="199" name="TextBox 198"/>
          <p:cNvSpPr txBox="1"/>
          <p:nvPr/>
        </p:nvSpPr>
        <p:spPr>
          <a:xfrm>
            <a:off x="11334750" y="5449252"/>
            <a:ext cx="1311783" cy="261938"/>
          </a:xfrm>
          <a:prstGeom prst="rect">
            <a:avLst/>
          </a:prstGeom>
          <a:noFill/>
          <a:effectLst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650">
                <a:solidFill>
                  <a:srgbClr val="000000"/>
                </a:solidFill>
                <a:latin typeface="Liberation Serif"/>
              </a:rPr>
              <a:t>Forward Pass</a:t>
            </a:r>
          </a:p>
        </p:txBody>
      </p:sp>
      <p:sp>
        <p:nvSpPr>
          <p:cNvPr id="200" name="freeform-200"/>
          <p:cNvSpPr/>
          <p:nvPr/>
        </p:nvSpPr>
        <p:spPr>
          <a:xfrm>
            <a:off x="10582275" y="5857875"/>
            <a:ext cx="666750" cy="95"/>
          </a:xfrm>
          <a:custGeom>
            <a:avLst/>
            <a:gdLst/>
            <a:ahLst/>
            <a:cxnLst/>
            <a:rect l="0" t="0" r="0" b="0"/>
            <a:pathLst>
              <a:path w="666750" h="95">
                <a:moveTo>
                  <a:pt x="0" y="0"/>
                </a:moveTo>
                <a:lnTo>
                  <a:pt x="666750" y="0"/>
                </a:lnTo>
              </a:path>
            </a:pathLst>
          </a:custGeom>
          <a:noFill/>
          <a:ln w="38100" cap="sq">
            <a:solidFill>
              <a:srgbClr val="FFC000"/>
            </a:solidFill>
          </a:ln>
        </p:spPr>
        <p:txBody>
          <a:bodyPr/>
          <a:p/>
        </p:txBody>
      </p:sp>
      <p:sp>
        <p:nvSpPr>
          <p:cNvPr id="201" name="freeform-201"/>
          <p:cNvSpPr/>
          <p:nvPr/>
        </p:nvSpPr>
        <p:spPr>
          <a:xfrm>
            <a:off x="11184255" y="5817870"/>
            <a:ext cx="64770" cy="80010"/>
          </a:xfrm>
          <a:custGeom>
            <a:avLst/>
            <a:gdLst/>
            <a:ahLst/>
            <a:cxnLst/>
            <a:rect l="0" t="0" r="0" b="0"/>
            <a:pathLst>
              <a:path w="64770" h="80010">
                <a:moveTo>
                  <a:pt x="0" y="0"/>
                </a:moveTo>
                <a:lnTo>
                  <a:pt x="64770" y="40005"/>
                </a:lnTo>
                <a:lnTo>
                  <a:pt x="0" y="80010"/>
                </a:lnTo>
              </a:path>
            </a:pathLst>
          </a:custGeom>
          <a:noFill/>
          <a:ln w="38100" cap="rnd">
            <a:solidFill>
              <a:srgbClr val="FFC000"/>
            </a:solidFill>
          </a:ln>
        </p:spPr>
        <p:txBody>
          <a:bodyPr/>
          <a:p/>
        </p:txBody>
      </p:sp>
      <p:sp>
        <p:nvSpPr>
          <p:cNvPr id="202" name="TextBox 201"/>
          <p:cNvSpPr txBox="1"/>
          <p:nvPr/>
        </p:nvSpPr>
        <p:spPr>
          <a:xfrm>
            <a:off x="11334750" y="5735002"/>
            <a:ext cx="1454277" cy="261938"/>
          </a:xfrm>
          <a:prstGeom prst="rect">
            <a:avLst/>
          </a:prstGeom>
          <a:noFill/>
          <a:effectLst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650">
                <a:solidFill>
                  <a:srgbClr val="000000"/>
                </a:solidFill>
                <a:latin typeface="Liberation Serif"/>
              </a:rPr>
              <a:t>Backward Pass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