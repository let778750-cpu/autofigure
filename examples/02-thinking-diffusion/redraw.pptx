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11325" cy="5276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6304" y="94774"/>
            <a:ext cx="49044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8091" y="94774"/>
            <a:ext cx="588169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8674" y="94774"/>
            <a:ext cx="78000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5" name="freeform-5"/>
          <p:cNvSpPr/>
          <p:nvPr/>
        </p:nvSpPr>
        <p:spPr>
          <a:xfrm>
            <a:off x="190500" y="333375"/>
            <a:ext cx="1162050" cy="123825"/>
          </a:xfrm>
          <a:custGeom>
            <a:avLst/>
            <a:gdLst/>
            <a:ahLst/>
            <a:cxnLst/>
            <a:rect l="0" t="0" r="0" b="0"/>
            <a:pathLst>
              <a:path w="116205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495300" y="47625"/>
                </a:lnTo>
                <a:cubicBezTo>
                  <a:pt x="508000" y="15875"/>
                  <a:pt x="536575" y="0"/>
                  <a:pt x="581025" y="0"/>
                </a:cubicBezTo>
                <a:cubicBezTo>
                  <a:pt x="625475" y="0"/>
                  <a:pt x="654050" y="15875"/>
                  <a:pt x="666750" y="47625"/>
                </a:cubicBezTo>
                <a:lnTo>
                  <a:pt x="1095375" y="47625"/>
                </a:lnTo>
                <a:cubicBezTo>
                  <a:pt x="1143000" y="47625"/>
                  <a:pt x="1162050" y="57150"/>
                  <a:pt x="116205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6" name="freeform-6"/>
          <p:cNvSpPr/>
          <p:nvPr/>
        </p:nvSpPr>
        <p:spPr>
          <a:xfrm>
            <a:off x="1533525" y="333375"/>
            <a:ext cx="1181100" cy="123825"/>
          </a:xfrm>
          <a:custGeom>
            <a:avLst/>
            <a:gdLst/>
            <a:ahLst/>
            <a:cxnLst/>
            <a:rect l="0" t="0" r="0" b="0"/>
            <a:pathLst>
              <a:path w="118110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542925" y="47625"/>
                </a:lnTo>
                <a:cubicBezTo>
                  <a:pt x="555625" y="15875"/>
                  <a:pt x="584200" y="0"/>
                  <a:pt x="628650" y="0"/>
                </a:cubicBezTo>
                <a:cubicBezTo>
                  <a:pt x="673100" y="0"/>
                  <a:pt x="701675" y="15875"/>
                  <a:pt x="714375" y="47625"/>
                </a:cubicBezTo>
                <a:lnTo>
                  <a:pt x="1114425" y="47625"/>
                </a:lnTo>
                <a:cubicBezTo>
                  <a:pt x="1162050" y="47625"/>
                  <a:pt x="1181100" y="57150"/>
                  <a:pt x="118110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7" name="freeform-7"/>
          <p:cNvSpPr/>
          <p:nvPr/>
        </p:nvSpPr>
        <p:spPr>
          <a:xfrm>
            <a:off x="2857500" y="333375"/>
            <a:ext cx="3524250" cy="123825"/>
          </a:xfrm>
          <a:custGeom>
            <a:avLst/>
            <a:gdLst/>
            <a:ahLst/>
            <a:cxnLst/>
            <a:rect l="0" t="0" r="0" b="0"/>
            <a:pathLst>
              <a:path w="352425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1695450" y="47625"/>
                </a:lnTo>
                <a:cubicBezTo>
                  <a:pt x="1708150" y="15875"/>
                  <a:pt x="1736725" y="0"/>
                  <a:pt x="1781175" y="0"/>
                </a:cubicBezTo>
                <a:cubicBezTo>
                  <a:pt x="1825625" y="0"/>
                  <a:pt x="1854200" y="15875"/>
                  <a:pt x="1866900" y="47625"/>
                </a:cubicBezTo>
                <a:lnTo>
                  <a:pt x="3457575" y="47625"/>
                </a:lnTo>
                <a:cubicBezTo>
                  <a:pt x="3505200" y="47625"/>
                  <a:pt x="3524250" y="57150"/>
                  <a:pt x="352425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8" name="Rounded Rectangle 7"/>
          <p:cNvSpPr/>
          <p:nvPr/>
        </p:nvSpPr>
        <p:spPr>
          <a:xfrm>
            <a:off x="19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9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3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4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26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5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6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7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862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1995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08195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4395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1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88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638675" y="904875"/>
            <a:ext cx="0" cy="219075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-26"/>
          <p:cNvSpPr/>
          <p:nvPr/>
        </p:nvSpPr>
        <p:spPr>
          <a:xfrm>
            <a:off x="4600575" y="10858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27" name="Rounded Rectangle 26"/>
          <p:cNvSpPr/>
          <p:nvPr/>
        </p:nvSpPr>
        <p:spPr>
          <a:xfrm>
            <a:off x="142875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49146" y="1220152"/>
            <a:ext cx="3512058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38675" y="1581150"/>
            <a:ext cx="0" cy="32385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-30"/>
          <p:cNvSpPr/>
          <p:nvPr/>
        </p:nvSpPr>
        <p:spPr>
          <a:xfrm>
            <a:off x="4600575" y="1866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31" name="TextBox 30"/>
          <p:cNvSpPr txBox="1"/>
          <p:nvPr/>
        </p:nvSpPr>
        <p:spPr>
          <a:xfrm>
            <a:off x="4664392" y="1819275"/>
            <a:ext cx="42481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Base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575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670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766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862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1995" y="22936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08195" y="22936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84395" y="22936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291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2387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483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579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8742" y="2455069"/>
            <a:ext cx="462915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2625" y="2455069"/>
            <a:ext cx="114300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487" y="2455069"/>
            <a:ext cx="95726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46" name="freeform-46"/>
          <p:cNvSpPr/>
          <p:nvPr/>
        </p:nvSpPr>
        <p:spPr>
          <a:xfrm>
            <a:off x="5286375" y="2733675"/>
            <a:ext cx="1076325" cy="123825"/>
          </a:xfrm>
          <a:custGeom>
            <a:avLst/>
            <a:gdLst/>
            <a:ahLst/>
            <a:cxnLst/>
            <a:rect l="0" t="0" r="0" b="0"/>
            <a:pathLst>
              <a:path w="1076325" h="123825">
                <a:moveTo>
                  <a:pt x="0" y="0"/>
                </a:moveTo>
                <a:cubicBezTo>
                  <a:pt x="0" y="66675"/>
                  <a:pt x="19050" y="76200"/>
                  <a:pt x="66675" y="76200"/>
                </a:cubicBezTo>
                <a:lnTo>
                  <a:pt x="447675" y="76200"/>
                </a:lnTo>
                <a:cubicBezTo>
                  <a:pt x="460375" y="107950"/>
                  <a:pt x="488950" y="123825"/>
                  <a:pt x="533400" y="123825"/>
                </a:cubicBezTo>
                <a:cubicBezTo>
                  <a:pt x="577850" y="123825"/>
                  <a:pt x="606425" y="107950"/>
                  <a:pt x="619125" y="76200"/>
                </a:cubicBezTo>
                <a:lnTo>
                  <a:pt x="1009650" y="76200"/>
                </a:lnTo>
                <a:cubicBezTo>
                  <a:pt x="1057275" y="76200"/>
                  <a:pt x="1076325" y="66675"/>
                  <a:pt x="1076325" y="0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47" name="TextBox 46"/>
          <p:cNvSpPr txBox="1"/>
          <p:nvPr/>
        </p:nvSpPr>
        <p:spPr>
          <a:xfrm rot="16200000">
            <a:off x="6403705" y="2337197"/>
            <a:ext cx="756190" cy="20240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48" name="freeform-48"/>
          <p:cNvSpPr/>
          <p:nvPr/>
        </p:nvSpPr>
        <p:spPr>
          <a:xfrm>
            <a:off x="6496050" y="1952625"/>
            <a:ext cx="123825" cy="733425"/>
          </a:xfrm>
          <a:custGeom>
            <a:avLst/>
            <a:gdLst/>
            <a:ahLst/>
            <a:cxnLst/>
            <a:rect l="0" t="0" r="0" b="0"/>
            <a:pathLst>
              <a:path w="123825" h="733425">
                <a:moveTo>
                  <a:pt x="0" y="0"/>
                </a:moveTo>
                <a:cubicBezTo>
                  <a:pt x="66675" y="0"/>
                  <a:pt x="76200" y="19050"/>
                  <a:pt x="76200" y="66675"/>
                </a:cubicBezTo>
                <a:lnTo>
                  <a:pt x="76200" y="295275"/>
                </a:lnTo>
                <a:cubicBezTo>
                  <a:pt x="107950" y="307975"/>
                  <a:pt x="123825" y="333375"/>
                  <a:pt x="123825" y="371475"/>
                </a:cubicBezTo>
                <a:cubicBezTo>
                  <a:pt x="123825" y="409575"/>
                  <a:pt x="107950" y="434975"/>
                  <a:pt x="76200" y="447675"/>
                </a:cubicBezTo>
                <a:lnTo>
                  <a:pt x="76200" y="666750"/>
                </a:lnTo>
                <a:cubicBezTo>
                  <a:pt x="76200" y="714375"/>
                  <a:pt x="66675" y="733425"/>
                  <a:pt x="0" y="7334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49" name="TextBox 48"/>
          <p:cNvSpPr txBox="1"/>
          <p:nvPr/>
        </p:nvSpPr>
        <p:spPr>
          <a:xfrm>
            <a:off x="4288536" y="2811780"/>
            <a:ext cx="1709928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00000"/>
                </a:solidFill>
                <a:latin typeface="Times New Roman"/>
              </a:rPr>
              <a:t>Generate answer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7106" y="3097530"/>
            <a:ext cx="1675638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00000"/>
                </a:solidFill>
                <a:latin typeface="Times New Roman"/>
              </a:rPr>
              <a:t>before reasoning</a:t>
            </a:r>
          </a:p>
        </p:txBody>
      </p:sp>
      <p:sp>
        <p:nvSpPr>
          <p:cNvPr id="51" name="Oval 50"/>
          <p:cNvSpPr/>
          <p:nvPr/>
        </p:nvSpPr>
        <p:spPr>
          <a:xfrm>
            <a:off x="4608195" y="31222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08195" y="321754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08195" y="33127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4638675" y="3448050"/>
            <a:ext cx="0" cy="20955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-55"/>
          <p:cNvSpPr/>
          <p:nvPr/>
        </p:nvSpPr>
        <p:spPr>
          <a:xfrm>
            <a:off x="4600575" y="36195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56" name="Rounded Rectangle 55"/>
          <p:cNvSpPr/>
          <p:nvPr/>
        </p:nvSpPr>
        <p:spPr>
          <a:xfrm>
            <a:off x="28575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2670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6766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0862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31995" y="3798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08195" y="3798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684395" y="3798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8291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2387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6483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0579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06792" y="3912394"/>
            <a:ext cx="244316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66361" y="3912394"/>
            <a:ext cx="344329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912394"/>
            <a:ext cx="422910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broken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78742" y="3960019"/>
            <a:ext cx="462915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2625" y="3960019"/>
            <a:ext cx="114300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81487" y="3960019"/>
            <a:ext cx="95726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73" name="freeform-73"/>
          <p:cNvSpPr/>
          <p:nvPr/>
        </p:nvSpPr>
        <p:spPr>
          <a:xfrm>
            <a:off x="2905125" y="4238625"/>
            <a:ext cx="1524000" cy="123825"/>
          </a:xfrm>
          <a:custGeom>
            <a:avLst/>
            <a:gdLst/>
            <a:ahLst/>
            <a:cxnLst/>
            <a:rect l="0" t="0" r="0" b="0"/>
            <a:pathLst>
              <a:path w="1524000" h="123825">
                <a:moveTo>
                  <a:pt x="0" y="0"/>
                </a:moveTo>
                <a:cubicBezTo>
                  <a:pt x="0" y="66675"/>
                  <a:pt x="19050" y="76200"/>
                  <a:pt x="66675" y="76200"/>
                </a:cubicBezTo>
                <a:lnTo>
                  <a:pt x="676275" y="76200"/>
                </a:lnTo>
                <a:cubicBezTo>
                  <a:pt x="688975" y="107950"/>
                  <a:pt x="717550" y="123825"/>
                  <a:pt x="762000" y="123825"/>
                </a:cubicBezTo>
                <a:cubicBezTo>
                  <a:pt x="806450" y="123825"/>
                  <a:pt x="835025" y="107950"/>
                  <a:pt x="847725" y="76200"/>
                </a:cubicBezTo>
                <a:lnTo>
                  <a:pt x="1457325" y="76200"/>
                </a:lnTo>
                <a:cubicBezTo>
                  <a:pt x="1504950" y="76200"/>
                  <a:pt x="1524000" y="66675"/>
                  <a:pt x="1524000" y="0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74" name="TextBox 73"/>
          <p:cNvSpPr txBox="1"/>
          <p:nvPr/>
        </p:nvSpPr>
        <p:spPr>
          <a:xfrm rot="16200000">
            <a:off x="6399657" y="3842147"/>
            <a:ext cx="764286" cy="20240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75" name="freeform-75"/>
          <p:cNvSpPr/>
          <p:nvPr/>
        </p:nvSpPr>
        <p:spPr>
          <a:xfrm>
            <a:off x="6496050" y="3457575"/>
            <a:ext cx="123825" cy="733425"/>
          </a:xfrm>
          <a:custGeom>
            <a:avLst/>
            <a:gdLst/>
            <a:ahLst/>
            <a:cxnLst/>
            <a:rect l="0" t="0" r="0" b="0"/>
            <a:pathLst>
              <a:path w="123825" h="733425">
                <a:moveTo>
                  <a:pt x="0" y="0"/>
                </a:moveTo>
                <a:cubicBezTo>
                  <a:pt x="66675" y="0"/>
                  <a:pt x="76200" y="19050"/>
                  <a:pt x="76200" y="66675"/>
                </a:cubicBezTo>
                <a:lnTo>
                  <a:pt x="76200" y="295275"/>
                </a:lnTo>
                <a:cubicBezTo>
                  <a:pt x="107950" y="307975"/>
                  <a:pt x="123825" y="333375"/>
                  <a:pt x="123825" y="371475"/>
                </a:cubicBezTo>
                <a:cubicBezTo>
                  <a:pt x="123825" y="409575"/>
                  <a:pt x="107950" y="434975"/>
                  <a:pt x="76200" y="447675"/>
                </a:cubicBezTo>
                <a:lnTo>
                  <a:pt x="76200" y="666750"/>
                </a:lnTo>
                <a:cubicBezTo>
                  <a:pt x="76200" y="714375"/>
                  <a:pt x="66675" y="733425"/>
                  <a:pt x="0" y="7334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76" name="TextBox 75"/>
          <p:cNvSpPr txBox="1"/>
          <p:nvPr/>
        </p:nvSpPr>
        <p:spPr>
          <a:xfrm>
            <a:off x="2047113" y="4240530"/>
            <a:ext cx="1849374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00000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11705" y="4526280"/>
            <a:ext cx="1577340" cy="285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00000"/>
                </a:solidFill>
                <a:latin typeface="Times New Roman"/>
              </a:rPr>
              <a:t>after answering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57175" y="2238375"/>
            <a:ext cx="2409825" cy="1714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81000" y="24479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625" y="2475071"/>
            <a:ext cx="880872" cy="2024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Mask Token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1000" y="29051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9625" y="2913221"/>
            <a:ext cx="1564195" cy="2024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Less Visual-grounded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9625" y="3122771"/>
            <a:ext cx="958596" cy="2024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81000" y="33813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9625" y="3389471"/>
            <a:ext cx="1567434" cy="2024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More Visual-grounded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9625" y="3599021"/>
            <a:ext cx="958596" cy="2024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35430" y="5010150"/>
            <a:ext cx="264414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(a) Baseline dMLLM Inference.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36729" y="94774"/>
            <a:ext cx="49044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0891" y="94774"/>
            <a:ext cx="588169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459099" y="94774"/>
            <a:ext cx="780002" cy="2262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91" name="freeform-91"/>
          <p:cNvSpPr/>
          <p:nvPr/>
        </p:nvSpPr>
        <p:spPr>
          <a:xfrm>
            <a:off x="7400925" y="333375"/>
            <a:ext cx="1162050" cy="123825"/>
          </a:xfrm>
          <a:custGeom>
            <a:avLst/>
            <a:gdLst/>
            <a:ahLst/>
            <a:cxnLst/>
            <a:rect l="0" t="0" r="0" b="0"/>
            <a:pathLst>
              <a:path w="116205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495300" y="47625"/>
                </a:lnTo>
                <a:cubicBezTo>
                  <a:pt x="508000" y="15875"/>
                  <a:pt x="536575" y="0"/>
                  <a:pt x="581025" y="0"/>
                </a:cubicBezTo>
                <a:cubicBezTo>
                  <a:pt x="625475" y="0"/>
                  <a:pt x="654050" y="15875"/>
                  <a:pt x="666750" y="47625"/>
                </a:cubicBezTo>
                <a:lnTo>
                  <a:pt x="1095375" y="47625"/>
                </a:lnTo>
                <a:cubicBezTo>
                  <a:pt x="1143000" y="47625"/>
                  <a:pt x="1162050" y="57150"/>
                  <a:pt x="116205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92" name="freeform-92"/>
          <p:cNvSpPr/>
          <p:nvPr/>
        </p:nvSpPr>
        <p:spPr>
          <a:xfrm>
            <a:off x="8743950" y="333375"/>
            <a:ext cx="1162050" cy="123825"/>
          </a:xfrm>
          <a:custGeom>
            <a:avLst/>
            <a:gdLst/>
            <a:ahLst/>
            <a:cxnLst/>
            <a:rect l="0" t="0" r="0" b="0"/>
            <a:pathLst>
              <a:path w="116205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495300" y="47625"/>
                </a:lnTo>
                <a:cubicBezTo>
                  <a:pt x="508000" y="15875"/>
                  <a:pt x="536575" y="0"/>
                  <a:pt x="581025" y="0"/>
                </a:cubicBezTo>
                <a:cubicBezTo>
                  <a:pt x="625475" y="0"/>
                  <a:pt x="654050" y="15875"/>
                  <a:pt x="666750" y="47625"/>
                </a:cubicBezTo>
                <a:lnTo>
                  <a:pt x="1095375" y="47625"/>
                </a:lnTo>
                <a:cubicBezTo>
                  <a:pt x="1143000" y="47625"/>
                  <a:pt x="1162050" y="57150"/>
                  <a:pt x="116205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93" name="freeform-93"/>
          <p:cNvSpPr/>
          <p:nvPr/>
        </p:nvSpPr>
        <p:spPr>
          <a:xfrm>
            <a:off x="10067925" y="333375"/>
            <a:ext cx="3524250" cy="123825"/>
          </a:xfrm>
          <a:custGeom>
            <a:avLst/>
            <a:gdLst/>
            <a:ahLst/>
            <a:cxnLst/>
            <a:rect l="0" t="0" r="0" b="0"/>
            <a:pathLst>
              <a:path w="3524250" h="123825">
                <a:moveTo>
                  <a:pt x="0" y="123825"/>
                </a:moveTo>
                <a:cubicBezTo>
                  <a:pt x="0" y="57150"/>
                  <a:pt x="19050" y="47625"/>
                  <a:pt x="66675" y="47625"/>
                </a:cubicBezTo>
                <a:lnTo>
                  <a:pt x="1695450" y="47625"/>
                </a:lnTo>
                <a:cubicBezTo>
                  <a:pt x="1708150" y="15875"/>
                  <a:pt x="1736725" y="0"/>
                  <a:pt x="1781175" y="0"/>
                </a:cubicBezTo>
                <a:cubicBezTo>
                  <a:pt x="1825625" y="0"/>
                  <a:pt x="1854200" y="15875"/>
                  <a:pt x="1866900" y="47625"/>
                </a:cubicBezTo>
                <a:lnTo>
                  <a:pt x="3457575" y="47625"/>
                </a:lnTo>
                <a:cubicBezTo>
                  <a:pt x="3505200" y="47625"/>
                  <a:pt x="3524250" y="57150"/>
                  <a:pt x="3524250" y="12382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94" name="Rounded Rectangle 93"/>
          <p:cNvSpPr/>
          <p:nvPr/>
        </p:nvSpPr>
        <p:spPr>
          <a:xfrm>
            <a:off x="7400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81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22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7439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5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56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067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47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88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129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742420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818620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894820" y="6838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20205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243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283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324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1849100" y="904875"/>
            <a:ext cx="0" cy="219075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-112"/>
          <p:cNvSpPr/>
          <p:nvPr/>
        </p:nvSpPr>
        <p:spPr>
          <a:xfrm>
            <a:off x="11811000" y="10858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13" name="Rounded Rectangle 112"/>
          <p:cNvSpPr/>
          <p:nvPr/>
        </p:nvSpPr>
        <p:spPr>
          <a:xfrm>
            <a:off x="7353300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12071" y="1220152"/>
            <a:ext cx="3512058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1972925" y="1581150"/>
            <a:ext cx="0" cy="30480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-116"/>
          <p:cNvSpPr/>
          <p:nvPr/>
        </p:nvSpPr>
        <p:spPr>
          <a:xfrm>
            <a:off x="11934825" y="18478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17" name="TextBox 116"/>
          <p:cNvSpPr txBox="1"/>
          <p:nvPr/>
        </p:nvSpPr>
        <p:spPr>
          <a:xfrm>
            <a:off x="12156758" y="1790700"/>
            <a:ext cx="1556385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Ours (PSP &amp; VRG)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02108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06203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10299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114395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885295" y="2274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1961495" y="2274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2037695" y="227457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21634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25730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29825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133921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629186" y="2407444"/>
            <a:ext cx="344329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526202" y="2407444"/>
            <a:ext cx="188595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31" name="freeform-131"/>
          <p:cNvSpPr/>
          <p:nvPr/>
        </p:nvSpPr>
        <p:spPr>
          <a:xfrm>
            <a:off x="10687050" y="2733675"/>
            <a:ext cx="1076325" cy="123825"/>
          </a:xfrm>
          <a:custGeom>
            <a:avLst/>
            <a:gdLst/>
            <a:ahLst/>
            <a:cxnLst/>
            <a:rect l="0" t="0" r="0" b="0"/>
            <a:pathLst>
              <a:path w="1076325" h="123825">
                <a:moveTo>
                  <a:pt x="0" y="0"/>
                </a:moveTo>
                <a:cubicBezTo>
                  <a:pt x="0" y="66675"/>
                  <a:pt x="19050" y="76200"/>
                  <a:pt x="66675" y="76200"/>
                </a:cubicBezTo>
                <a:lnTo>
                  <a:pt x="447675" y="76200"/>
                </a:lnTo>
                <a:cubicBezTo>
                  <a:pt x="460375" y="107950"/>
                  <a:pt x="488950" y="123825"/>
                  <a:pt x="533400" y="123825"/>
                </a:cubicBezTo>
                <a:cubicBezTo>
                  <a:pt x="577850" y="123825"/>
                  <a:pt x="606425" y="107950"/>
                  <a:pt x="619125" y="76200"/>
                </a:cubicBezTo>
                <a:lnTo>
                  <a:pt x="1009650" y="76200"/>
                </a:lnTo>
                <a:cubicBezTo>
                  <a:pt x="1057275" y="76200"/>
                  <a:pt x="1076325" y="66675"/>
                  <a:pt x="1076325" y="0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32" name="TextBox 131"/>
          <p:cNvSpPr txBox="1"/>
          <p:nvPr/>
        </p:nvSpPr>
        <p:spPr>
          <a:xfrm rot="16200000">
            <a:off x="13804630" y="2184797"/>
            <a:ext cx="756190" cy="20240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133" name="freeform-133"/>
          <p:cNvSpPr/>
          <p:nvPr/>
        </p:nvSpPr>
        <p:spPr>
          <a:xfrm>
            <a:off x="13906500" y="1952625"/>
            <a:ext cx="123825" cy="714375"/>
          </a:xfrm>
          <a:custGeom>
            <a:avLst/>
            <a:gdLst/>
            <a:ahLst/>
            <a:cxnLst/>
            <a:rect l="0" t="0" r="0" b="0"/>
            <a:pathLst>
              <a:path w="123825" h="714375">
                <a:moveTo>
                  <a:pt x="0" y="0"/>
                </a:moveTo>
                <a:cubicBezTo>
                  <a:pt x="66675" y="0"/>
                  <a:pt x="76200" y="19050"/>
                  <a:pt x="76200" y="66675"/>
                </a:cubicBezTo>
                <a:lnTo>
                  <a:pt x="76200" y="257175"/>
                </a:lnTo>
                <a:cubicBezTo>
                  <a:pt x="107950" y="269875"/>
                  <a:pt x="123825" y="295275"/>
                  <a:pt x="123825" y="333375"/>
                </a:cubicBezTo>
                <a:cubicBezTo>
                  <a:pt x="123825" y="371475"/>
                  <a:pt x="107950" y="396875"/>
                  <a:pt x="76200" y="409575"/>
                </a:cubicBezTo>
                <a:lnTo>
                  <a:pt x="76200" y="647700"/>
                </a:lnTo>
                <a:cubicBezTo>
                  <a:pt x="76200" y="695325"/>
                  <a:pt x="66675" y="714375"/>
                  <a:pt x="0" y="71437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34" name="TextBox 133"/>
          <p:cNvSpPr txBox="1"/>
          <p:nvPr/>
        </p:nvSpPr>
        <p:spPr>
          <a:xfrm>
            <a:off x="10372820" y="2801302"/>
            <a:ext cx="1695260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A651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423112" y="3068002"/>
            <a:ext cx="1594675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A651"/>
                </a:solidFill>
                <a:latin typeface="Times New Roman"/>
              </a:rPr>
              <a:t>before answering</a:t>
            </a:r>
          </a:p>
        </p:txBody>
      </p:sp>
      <p:sp>
        <p:nvSpPr>
          <p:cNvPr id="136" name="Oval 135"/>
          <p:cNvSpPr/>
          <p:nvPr/>
        </p:nvSpPr>
        <p:spPr>
          <a:xfrm>
            <a:off x="11951970" y="314134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1951970" y="323659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1951970" y="3331845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1972925" y="3409950"/>
            <a:ext cx="0" cy="209550"/>
          </a:xfrm>
          <a:prstGeom prst="line">
            <a:avLst/>
          </a:prstGeom>
          <a:ln w="190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freeform-140"/>
          <p:cNvSpPr/>
          <p:nvPr/>
        </p:nvSpPr>
        <p:spPr>
          <a:xfrm>
            <a:off x="11934825" y="3581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</p:sp>
      <p:sp>
        <p:nvSpPr>
          <p:cNvPr id="141" name="Rounded Rectangle 140"/>
          <p:cNvSpPr/>
          <p:nvPr/>
        </p:nvSpPr>
        <p:spPr>
          <a:xfrm>
            <a:off x="101917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6013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10109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14204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885295" y="37795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961495" y="37795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2037695" y="3779520"/>
            <a:ext cx="41910" cy="41910"/>
          </a:xfrm>
          <a:prstGeom prst="ellipse">
            <a:avLst/>
          </a:prstGeom>
          <a:solidFill>
            <a:srgbClr val="666666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22110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26206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30302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34397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250567" y="3912394"/>
            <a:ext cx="244316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610136" y="3912394"/>
            <a:ext cx="344329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134725" y="3912394"/>
            <a:ext cx="114300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507152" y="3912394"/>
            <a:ext cx="188595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570142" y="3912394"/>
            <a:ext cx="462915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572887" y="3912394"/>
            <a:ext cx="95726" cy="17859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0A651"/>
                </a:solidFill>
                <a:latin typeface="Times New Roman"/>
              </a:rPr>
              <a:t>C</a:t>
            </a:r>
          </a:p>
        </p:txBody>
      </p:sp>
      <p:sp>
        <p:nvSpPr>
          <p:cNvPr id="158" name="freeform-158"/>
          <p:cNvSpPr/>
          <p:nvPr/>
        </p:nvSpPr>
        <p:spPr>
          <a:xfrm>
            <a:off x="12639675" y="4210050"/>
            <a:ext cx="1076325" cy="123825"/>
          </a:xfrm>
          <a:custGeom>
            <a:avLst/>
            <a:gdLst/>
            <a:ahLst/>
            <a:cxnLst/>
            <a:rect l="0" t="0" r="0" b="0"/>
            <a:pathLst>
              <a:path w="1076325" h="123825">
                <a:moveTo>
                  <a:pt x="0" y="0"/>
                </a:moveTo>
                <a:cubicBezTo>
                  <a:pt x="0" y="66675"/>
                  <a:pt x="19050" y="76200"/>
                  <a:pt x="66675" y="76200"/>
                </a:cubicBezTo>
                <a:lnTo>
                  <a:pt x="447675" y="76200"/>
                </a:lnTo>
                <a:cubicBezTo>
                  <a:pt x="460375" y="107950"/>
                  <a:pt x="488950" y="123825"/>
                  <a:pt x="533400" y="123825"/>
                </a:cubicBezTo>
                <a:cubicBezTo>
                  <a:pt x="577850" y="123825"/>
                  <a:pt x="606425" y="107950"/>
                  <a:pt x="619125" y="76200"/>
                </a:cubicBezTo>
                <a:lnTo>
                  <a:pt x="1009650" y="76200"/>
                </a:lnTo>
                <a:cubicBezTo>
                  <a:pt x="1057275" y="76200"/>
                  <a:pt x="1076325" y="66675"/>
                  <a:pt x="1076325" y="0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59" name="TextBox 158"/>
          <p:cNvSpPr txBox="1"/>
          <p:nvPr/>
        </p:nvSpPr>
        <p:spPr>
          <a:xfrm rot="16200000">
            <a:off x="13800582" y="3689747"/>
            <a:ext cx="764286" cy="202406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160" name="freeform-160"/>
          <p:cNvSpPr/>
          <p:nvPr/>
        </p:nvSpPr>
        <p:spPr>
          <a:xfrm>
            <a:off x="13906500" y="3457575"/>
            <a:ext cx="123825" cy="714375"/>
          </a:xfrm>
          <a:custGeom>
            <a:avLst/>
            <a:gdLst/>
            <a:ahLst/>
            <a:cxnLst/>
            <a:rect l="0" t="0" r="0" b="0"/>
            <a:pathLst>
              <a:path w="123825" h="714375">
                <a:moveTo>
                  <a:pt x="0" y="0"/>
                </a:moveTo>
                <a:cubicBezTo>
                  <a:pt x="66675" y="0"/>
                  <a:pt x="76200" y="19050"/>
                  <a:pt x="76200" y="66675"/>
                </a:cubicBezTo>
                <a:lnTo>
                  <a:pt x="76200" y="257175"/>
                </a:lnTo>
                <a:cubicBezTo>
                  <a:pt x="107950" y="269875"/>
                  <a:pt x="123825" y="295275"/>
                  <a:pt x="123825" y="333375"/>
                </a:cubicBezTo>
                <a:cubicBezTo>
                  <a:pt x="123825" y="371475"/>
                  <a:pt x="107950" y="396875"/>
                  <a:pt x="76200" y="409575"/>
                </a:cubicBezTo>
                <a:lnTo>
                  <a:pt x="76200" y="647700"/>
                </a:lnTo>
                <a:cubicBezTo>
                  <a:pt x="76200" y="695325"/>
                  <a:pt x="66675" y="714375"/>
                  <a:pt x="0" y="714375"/>
                </a:cubicBez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>
        <p:nvSpPr>
          <p:cNvPr id="161" name="TextBox 160"/>
          <p:cNvSpPr txBox="1"/>
          <p:nvPr/>
        </p:nvSpPr>
        <p:spPr>
          <a:xfrm>
            <a:off x="12379833" y="4325302"/>
            <a:ext cx="1567434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A651"/>
                </a:solidFill>
                <a:latin typeface="Times New Roman"/>
              </a:rPr>
              <a:t>Generate answer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469940" y="4592002"/>
            <a:ext cx="1387221" cy="2619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00A651"/>
                </a:solidFill>
                <a:latin typeface="Times New Roman"/>
              </a:rPr>
              <a:t>after reasoning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490585" y="5010150"/>
            <a:ext cx="3021330" cy="2381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(b) Our proposed dMLLM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