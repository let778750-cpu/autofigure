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-6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</a:ln>
        </p:spPr>
        <p:txBody>
          <a:bodyPr/>
          <a:p/>
        </p:txBody>
      </p:sp>
      <p:sp>
        <p:nvSpPr>
          <p:cNvPr id="7" name="TextBox 6"/>
          <p:cNvSpPr txBox="1"/>
          <p:nvPr/>
        </p:nvSpPr>
        <p:spPr>
          <a:xfrm>
            <a:off x="1076325" y="285750"/>
            <a:ext cx="18135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552450"/>
            <a:ext cx="235839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-10"/>
          <p:cNvSpPr/>
          <p:nvPr/>
        </p:nvSpPr>
        <p:spPr>
          <a:xfrm>
            <a:off x="390525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11" name="Rounded Rectangle 10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378" y="295275"/>
            <a:ext cx="36004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8642" y="561975"/>
            <a:ext cx="69151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-15"/>
          <p:cNvSpPr/>
          <p:nvPr/>
        </p:nvSpPr>
        <p:spPr>
          <a:xfrm>
            <a:off x="5495925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16" name="Rectangle 15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math:001" descr="AI_AUTOFIGURE_NATIVE_MATH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243638" y="58103"/>
                <a:ext cx="104775" cy="2619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650">
                        <a:solidFill>
                          <a:srgbClr val="111111"/>
                        </a:solidFill>
                        <a:latin typeface="Cambria Math"/>
                      </a:rPr>
                      <m:t>τ</m:t>
                    </m:r>
                  </m:oMath>
                </a14:m>
                <a:endParaRPr lang="en-US" dirty="0" sz="16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0" name="math:001" descr="AI_AUTOFIGURE_MATH_FALLBACK_ONLY_V1:eyJjb250ZW50X3J1bnMiOlt7ImNhbm9uaWNhbF9sYXRleCI6IlxcdGF1IiwiZm9ybXVsYV9pZCI6IkVRMDAxIiwia2luZCI6Im1hdGg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mb3JtdWxhcyI6W3siY2Fub25pY2FsX2xhdGV4IjoiXFx0YXUiLCJmb3JtdWxhX2lkIjoiRVEwMDEiLCJsYXRleF9zaGEyNTYiOiI1NWQxODIzNTQ1YjViNGMzY2JjNDJiNzg0YzVlODQ2MDVmZmJlOGU1OWQxZGVlOTc4MmNkODc3NDFlZWY5ZGMzIiwibW9kZSI6ImlubGluZSIsIm9tbWxfc2hhMjU2IjoiNjI3NThjYWJiNjU4Yjc3NjgxYmFhNjE0ZmE0MDA1M2M0NDliNWZjZTkzMmYxYzlhNGQxZTNhMTBlZjI2MWFiMiIsInNlbWFudGljX29tbWxfcHJvZmlsZSI6Im9mZmljZS1tYXRoLXNlbWFudGljLXYyIiwic2VtYW50aWNfb21tbF9zaGEyNTYiOiIxZjMyN2Q3M2RkZGIzMWY1YWJjZmZiY2QwODNlMWJmOGIwNWEzMGY2ZGZkMDk2ZWFjZjdlYjljYTBlMTBhMzY4In1dLCJraW5kIjoibmF0aXZlX29mZmljZV9tYXRoIiwicGxhY2Vob2xkZXJfbmFtZSI6Im1hdGg6MDAxIiwic2NoZW1hX3ZlcnNpb24iOiIxLjAifQ=="/>
              <p:cNvSpPr txBox="1"/>
              <p:nvPr/>
            </p:nvSpPr>
            <p:spPr>
              <a:xfrm>
                <a:off x="6243638" y="58103"/>
                <a:ext cx="104775" cy="261938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650">
                    <a:solidFill>
                      <a:srgbClr val="111111"/>
                    </a:solidFill>
                  </a:rPr>
                  <a:t>\(\tau\)</a:t>
                </a:r>
                <a:endParaRPr lang="en-US" dirty="0" sz="1650">
                  <a:solidFill>
                    <a:srgbClr val="111111"/>
                  </a:solidFill>
                </a:endParaRPr>
              </a:p>
            </p:txBody>
          </p:sp>
        </mc:Fallback>
      </mc:AlternateContent>
      <p:cxnSp>
        <p:nvCxnSpPr>
          <p:cNvPr id="21" name="Connector 20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-22"/>
          <p:cNvSpPr/>
          <p:nvPr/>
        </p:nvSpPr>
        <p:spPr>
          <a:xfrm>
            <a:off x="710565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" name="Rounded Rectangle 22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1450" y="447199"/>
            <a:ext cx="675037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math:002" descr="AI_AUTOFIGURE_NATIVE_MATH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629650" y="456248"/>
                <a:ext cx="380619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f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map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25" name="math:002" descr="AI_AUTOFIGURE_MATH_FALLBACK_ONLY_V1:eyJjb250ZW50X3J1bnMiOlt7ImNhbm9uaWNhbF9sYXRleCI6ImZfe21hcH0iLCJmb3JtdWxhX2lkIjoiRVEwMDIiLCJraW5kIjoibWF0aCIsImxhdGV4X3NoYTI1NiI6IjU3MWIwZGZjYzU5NDUzMDFiMDU2Y2I1Mzc2YzZhYzQ1MDM5ODY0ZTYxYjU0OGQ2ZWM2NDhhNGQ2NzgxZTAyZmQiLCJtb2RlIjoiaW5saW5lIiwib21tbF9zaGEyNTYiOiIwYjY0N2UwMjhhZjI2MTk5NjIyNDYwZjhhNGFkYzNkN2I1M2U3MGMxZTRlM2RjYjcyN2IwZjlmOWMzODc3OGJjIiwic2VtYW50aWNfb21tbF9wcm9maWxlIjoib2ZmaWNlLW1hdGgtc2VtYW50aWMtdjIiLCJzZW1hbnRpY19vbW1sX3NoYTI1NiI6ImI4Yzg4NzY2ZWQ2NDRiZGVlYTJkZThkMTUyOWYyYzg5N2U5NzM4ODYyMTllOTI1ODBmODExZjAyOGVhNmRjYzcifV0sImZvcm11bGFzIjpbeyJjYW5vbmljYWxfbGF0ZXgiOiJmX3ttYXB9IiwiZm9ybXVsYV9pZCI6IkVRMDAyIiwibGF0ZXhfc2hhMjU2IjoiNTcxYjBkZmNjNTk0NTMwMWIwNTZjYjUzNzZjNmFjNDUwMzk4NjRlNjFiNTQ4ZDZlYzY0OGE0ZDY3ODFlMDJmZCIsIm1vZGUiOiJpbmxpbmUiLCJvbW1sX3NoYTI1NiI6IjBiNjQ3ZTAyOGFmMjYxOTk2MjI0NjBmOGE0YWRjM2Q3YjUzZTcwYzFlNGUzZGNiNzI3YjBmOWY5YzM4Nzc4YmMiLCJzZW1hbnRpY19vbW1sX3Byb2ZpbGUiOiJvZmZpY2UtbWF0aC1zZW1hbnRpYy12MiIsInNlbWFudGljX29tbWxfc2hhMjU2IjoiYjhjODg3NjZlZDY0NGJkZWVhMmRlOGQxNTI5ZjJjODk3ZTk3Mzg4NjIxOWU5MjU4MGY4MTFmMDI4ZWE2ZGNjNyJ9XSwia2luZCI6Im5hdGl2ZV9vZmZpY2VfbWF0aCIsInBsYWNlaG9sZGVyX25hbWUiOiJtYXRoOjAwMiIsInNjaGVtYV92ZXJzaW9uIjoiMS4wIn0="/>
              <p:cNvSpPr txBox="1"/>
              <p:nvPr/>
            </p:nvSpPr>
            <p:spPr>
              <a:xfrm>
                <a:off x="8629650" y="456248"/>
                <a:ext cx="380619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l"/>
                <a:r>
                  <a:rPr lang="en-US" dirty="0" sz="1350">
                    <a:solidFill>
                      <a:srgbClr val="111111"/>
                    </a:solidFill>
                  </a:rPr>
                  <a:t>\(f_{map}\)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26" name="freeform-26"/>
          <p:cNvSpPr/>
          <p:nvPr/>
        </p:nvSpPr>
        <p:spPr>
          <a:xfrm>
            <a:off x="9105900" y="590550"/>
            <a:ext cx="676275" cy="790575"/>
          </a:xfrm>
          <a:custGeom>
            <a:avLst/>
            <a:gdLst/>
            <a:ahLst/>
            <a:cxnLst/>
            <a:rect l="0" t="0" r="0" b="0"/>
            <a:pathLst>
              <a:path w="676275" h="790575">
                <a:moveTo>
                  <a:pt x="0" y="0"/>
                </a:moveTo>
                <a:lnTo>
                  <a:pt x="676275" y="790575"/>
                </a:lnTo>
              </a:path>
            </a:pathLst>
          </a:custGeom>
          <a:noFill/>
          <a:ln w="57150" cap="rnd">
            <a:solidFill>
              <a:srgbClr val="777777"/>
            </a:solidFill>
          </a:ln>
        </p:spPr>
        <p:txBody>
          <a:bodyPr/>
          <a:p/>
        </p:txBody>
      </p:sp>
      <p:sp>
        <p:nvSpPr>
          <p:cNvPr id="27" name="freeform-27"/>
          <p:cNvSpPr/>
          <p:nvPr/>
        </p:nvSpPr>
        <p:spPr>
          <a:xfrm>
            <a:off x="9664447" y="1257119"/>
            <a:ext cx="117728" cy="124006"/>
          </a:xfrm>
          <a:custGeom>
            <a:avLst/>
            <a:gdLst/>
            <a:ahLst/>
            <a:cxnLst/>
            <a:rect l="0" t="0" r="0" b="0"/>
            <a:pathLst>
              <a:path w="117728" h="124006">
                <a:moveTo>
                  <a:pt x="86857" y="0"/>
                </a:moveTo>
                <a:lnTo>
                  <a:pt x="117728" y="124006"/>
                </a:lnTo>
                <a:lnTo>
                  <a:pt x="0" y="74299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cxnSp>
        <p:nvCxnSpPr>
          <p:cNvPr id="28" name="Connector 27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-29"/>
          <p:cNvSpPr/>
          <p:nvPr/>
        </p:nvSpPr>
        <p:spPr>
          <a:xfrm>
            <a:off x="6254115" y="1106805"/>
            <a:ext cx="83820" cy="83820"/>
          </a:xfrm>
          <a:custGeom>
            <a:avLst/>
            <a:gdLst/>
            <a:ahLst/>
            <a:cxnLst/>
            <a:rect l="0" t="0" r="0" b="0"/>
            <a:pathLst>
              <a:path w="83820" h="83820">
                <a:moveTo>
                  <a:pt x="83820" y="0"/>
                </a:moveTo>
                <a:lnTo>
                  <a:pt x="41910" y="83820"/>
                </a:lnTo>
                <a:lnTo>
                  <a:pt x="0" y="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30" name="Rounded Rectangle 29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97971" y="237173"/>
            <a:ext cx="34975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20525" y="246698"/>
            <a:ext cx="121901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26260" y="637222"/>
            <a:ext cx="29318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20525" y="637222"/>
            <a:ext cx="125158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525" y="1298258"/>
            <a:ext cx="2949511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8250" y="1371600"/>
            <a:ext cx="249555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41" name="freeform-41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80000"/>
                </a:srgbClr>
              </a:gs>
              <a:gs pos="100000">
                <a:srgbClr val="9DBCE9">
                  <a:alpha val="20000"/>
                </a:srgbClr>
              </a:gs>
            </a:gsLst>
            <a:lin ang="5400000" scaled="1"/>
          </a:gradFill>
        </p:spPr>
        <p:txBody>
          <a:bodyPr/>
          <a:p/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14325" y="3392329"/>
            <a:ext cx="197168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" y="3668554"/>
            <a:ext cx="1123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sp>
        <p:nvSpPr>
          <p:cNvPr id="45" name="freeform-45"/>
          <p:cNvSpPr/>
          <p:nvPr/>
        </p:nvSpPr>
        <p:spPr>
          <a:xfrm>
            <a:off x="1362075" y="2819400"/>
            <a:ext cx="342900" cy="200025"/>
          </a:xfrm>
          <a:custGeom>
            <a:avLst/>
            <a:gdLst/>
            <a:ahLst/>
            <a:cxnLst/>
            <a:rect l="0" t="0" r="0" b="0"/>
            <a:pathLst>
              <a:path w="342900" h="200025">
                <a:moveTo>
                  <a:pt x="0" y="200025"/>
                </a:moveTo>
                <a:lnTo>
                  <a:pt x="342900" y="0"/>
                </a:lnTo>
              </a:path>
            </a:pathLst>
          </a:custGeom>
          <a:noFill/>
          <a:ln w="57150" cap="rnd">
            <a:solidFill>
              <a:srgbClr val="EF7D2B"/>
            </a:solidFill>
          </a:ln>
        </p:spPr>
        <p:txBody>
          <a:bodyPr/>
          <a:p/>
        </p:txBody>
      </p:sp>
      <p:sp>
        <p:nvSpPr>
          <p:cNvPr id="46" name="freeform-46"/>
          <p:cNvSpPr/>
          <p:nvPr/>
        </p:nvSpPr>
        <p:spPr>
          <a:xfrm>
            <a:off x="1556194" y="2819400"/>
            <a:ext cx="148781" cy="124784"/>
          </a:xfrm>
          <a:custGeom>
            <a:avLst/>
            <a:gdLst/>
            <a:ahLst/>
            <a:cxnLst/>
            <a:rect l="0" t="0" r="0" b="0"/>
            <a:pathLst>
              <a:path w="148781" h="124784">
                <a:moveTo>
                  <a:pt x="0" y="9599"/>
                </a:moveTo>
                <a:lnTo>
                  <a:pt x="148781" y="0"/>
                </a:lnTo>
                <a:lnTo>
                  <a:pt x="67191" y="124784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sp>
        <p:nvSpPr>
          <p:cNvPr id="47" name="freeform-47"/>
          <p:cNvSpPr/>
          <p:nvPr/>
        </p:nvSpPr>
        <p:spPr>
          <a:xfrm>
            <a:off x="1362075" y="3581400"/>
            <a:ext cx="342900" cy="219075"/>
          </a:xfrm>
          <a:custGeom>
            <a:avLst/>
            <a:gdLst/>
            <a:ahLst/>
            <a:cxnLst/>
            <a:rect l="0" t="0" r="0" b="0"/>
            <a:pathLst>
              <a:path w="342900" h="219075">
                <a:moveTo>
                  <a:pt x="0" y="0"/>
                </a:moveTo>
                <a:lnTo>
                  <a:pt x="342900" y="219075"/>
                </a:lnTo>
              </a:path>
            </a:pathLst>
          </a:custGeom>
          <a:noFill/>
          <a:ln w="57150" cap="rnd">
            <a:solidFill>
              <a:srgbClr val="3567B7"/>
            </a:solidFill>
          </a:ln>
        </p:spPr>
        <p:txBody>
          <a:bodyPr/>
          <a:p/>
        </p:txBody>
      </p:sp>
      <p:sp>
        <p:nvSpPr>
          <p:cNvPr id="48" name="freeform-48"/>
          <p:cNvSpPr/>
          <p:nvPr/>
        </p:nvSpPr>
        <p:spPr>
          <a:xfrm>
            <a:off x="1556704" y="3672494"/>
            <a:ext cx="148271" cy="127981"/>
          </a:xfrm>
          <a:custGeom>
            <a:avLst/>
            <a:gdLst/>
            <a:ahLst/>
            <a:cxnLst/>
            <a:rect l="0" t="0" r="0" b="0"/>
            <a:pathLst>
              <a:path w="148271" h="127981">
                <a:moveTo>
                  <a:pt x="71794" y="0"/>
                </a:moveTo>
                <a:lnTo>
                  <a:pt x="148271" y="127981"/>
                </a:lnTo>
                <a:lnTo>
                  <a:pt x="0" y="112374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49" name="Rounded Rectangle 48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67687" y="2429351"/>
            <a:ext cx="608076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08680" y="2705576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06228" y="3972401"/>
            <a:ext cx="350044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8205" y="4239101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-56"/>
          <p:cNvSpPr/>
          <p:nvPr/>
        </p:nvSpPr>
        <p:spPr>
          <a:xfrm>
            <a:off x="311467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cxnSp>
        <p:nvCxnSpPr>
          <p:cNvPr id="57" name="Connector 56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-58"/>
          <p:cNvSpPr/>
          <p:nvPr/>
        </p:nvSpPr>
        <p:spPr>
          <a:xfrm>
            <a:off x="311467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59" name="Rectangle 58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math:003" descr="AI_AUTOFIGURE_NATIVE_MATH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401568" y="1742599"/>
                <a:ext cx="188214" cy="22621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425">
                            <a:solidFill>
                              <a:srgbClr val="111111"/>
                            </a:solidFill>
                            <a:latin typeface="Cambria Math"/>
                          </a:rPr>
                          <m:t>e</m:t>
                        </m:r>
                      </m:e>
                      <m:sub>
                        <m:r>
                          <a:rPr lang="en-US" dirty="0" sz="1425">
                            <a:solidFill>
                              <a:srgbClr val="111111"/>
                            </a:solidFill>
                            <a:latin typeface="Cambria Math"/>
                          </a:rPr>
                          <m:t>v</m:t>
                        </m:r>
                      </m:sub>
                    </m:sSub>
                  </m:oMath>
                </a14:m>
                <a:endParaRPr lang="en-US" dirty="0" sz="1425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60" name="math:003" descr="AI_AUTOFIGURE_MATH_FALLBACK_ONLY_V1:eyJjb250ZW50X3J1bnMiOlt7ImNhbm9uaWNhbF9sYXRleCI6ImVfe3Z9IiwiZm9ybXVsYV9pZCI6IkVRMDAzIiwia2luZCI6Im1hdGg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mb3JtdWxhcyI6W3siY2Fub25pY2FsX2xhdGV4IjoiZV97dn0iLCJmb3JtdWxhX2lkIjoiRVEwMDMiLCJsYXRleF9zaGEyNTYiOiIyZWZkODE5ZTcyNTZiNTkwYTRmNTFkMTVkMWIzZjdmYzgwODhhMGE0Mzc3ZWQyZTExMWUwZmQ5NDAyNjc5YzhkIiwibW9kZSI6ImlubGluZSIsIm9tbWxfc2hhMjU2IjoiNjM1YTA1MmI0MjllMzI3Y2I5ZmZlNTI5MTI0YjJjOGRlMDBlYzlkMmRiZDI3ZjE1MWJmZTM4ZmIwZjhjNzc3MiIsInNlbWFudGljX29tbWxfcHJvZmlsZSI6Im9mZmljZS1tYXRoLXNlbWFudGljLXYyIiwic2VtYW50aWNfb21tbF9zaGEyNTYiOiIyZjRlZjJkZTQ0NjBlNTJiN2I5NjdlNWFiZjRmZGI5OTQ5NzIzYWVlNmNkMzc5MTlkNGNlOTY2NmVmZTAyN2E4In1dLCJraW5kIjoibmF0aXZlX29mZmljZV9tYXRoIiwicGxhY2Vob2xkZXJfbmFtZSI6Im1hdGg6MDAzIiwic2NoZW1hX3ZlcnNpb24iOiIxLjAifQ=="/>
              <p:cNvSpPr txBox="1"/>
              <p:nvPr/>
            </p:nvSpPr>
            <p:spPr>
              <a:xfrm>
                <a:off x="3401568" y="1742599"/>
                <a:ext cx="188214" cy="226219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425">
                    <a:solidFill>
                      <a:srgbClr val="111111"/>
                    </a:solidFill>
                  </a:rPr>
                  <a:t>\(e_{v}\)</a:t>
                </a:r>
                <a:endParaRPr lang="en-US" dirty="0" sz="1425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61" name="Oval 60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33750" y="25527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33750" y="28956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-65"/>
          <p:cNvSpPr/>
          <p:nvPr/>
        </p:nvSpPr>
        <p:spPr>
          <a:xfrm>
            <a:off x="387667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  <p:txBody>
          <a:bodyPr/>
          <a:p/>
        </p:txBody>
      </p:sp>
      <p:sp>
        <p:nvSpPr>
          <p:cNvPr id="66" name="Rectangle 65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math:004" descr="AI_AUTOFIGURE_NATIVE_MATH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432334" y="32946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s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67" name="math:004" descr="AI_AUTOFIGURE_MATH_FALLBACK_ONLY_V1:eyJjb250ZW50X3J1bnMiOlt7ImNhbm9uaWNhbF9sYXRleCI6InNfe3R9IiwiZm9ybXVsYV9pZCI6IkVRMDA0Iiwia2luZCI6Im1hdGg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mb3JtdWxhcyI6W3siY2Fub25pY2FsX2xhdGV4Ijoic197dH0iLCJmb3JtdWxhX2lkIjoiRVEwMDQiLCJsYXRleF9zaGEyNTYiOiIwMDE3ZmQ1YjUxNmM2YTU5ZjUxZTM3MWJlZTBmMjQ5ODI4ZWIzZDhlOTNhYTc0NzM3Y2M4ZWYxNTY5YzM1ZTIyIiwibW9kZSI6ImlubGluZSIsIm9tbWxfc2hhMjU2IjoiMWJhZjE4MDU3OTA4OTQ0ZmQxZmFiYzgwMzBhN2RiMWFmMjY1MmUxOGQ1Y2U3YjlhMGJiMWU2MWMzYTU3ZTg3NyIsInNlbWFudGljX29tbWxfcHJvZmlsZSI6Im9mZmljZS1tYXRoLXNlbWFudGljLXYyIiwic2VtYW50aWNfb21tbF9zaGEyNTYiOiI2OWRhZTcyNmY2OTRlNTQ3MDhmYjQ2Y2IxZjRjYTM5NzhhODhjOWIxZmJmMDc2ZjE2MWIxODVlZThhNDdiYzBkIn1dLCJraW5kIjoibmF0aXZlX29mZmljZV9tYXRoIiwicGxhY2Vob2xkZXJfbmFtZSI6Im1hdGg6MDA0Iiwic2NoZW1hX3ZlcnNpb24iOiIxLjAifQ=="/>
              <p:cNvSpPr txBox="1"/>
              <p:nvPr/>
            </p:nvSpPr>
            <p:spPr>
              <a:xfrm>
                <a:off x="3432334" y="32946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\(s_{t}\)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68" name="Oval 67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43275" y="434340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-72"/>
          <p:cNvSpPr/>
          <p:nvPr/>
        </p:nvSpPr>
        <p:spPr>
          <a:xfrm>
            <a:off x="387667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  <p:txBody>
          <a:bodyPr/>
          <a:p/>
        </p:txBody>
      </p:sp>
      <p:sp>
        <p:nvSpPr>
          <p:cNvPr id="73" name="Rounded Rectangle 72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4358" y="265747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4358" y="381952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 rot="5400000">
            <a:off x="53400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2" name="TextBox 81"/>
          <p:cNvSpPr txBox="1"/>
          <p:nvPr/>
        </p:nvSpPr>
        <p:spPr>
          <a:xfrm rot="5400000">
            <a:off x="53683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669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 rot="5400000">
            <a:off x="60639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8" name="TextBox 87"/>
          <p:cNvSpPr txBox="1"/>
          <p:nvPr/>
        </p:nvSpPr>
        <p:spPr>
          <a:xfrm rot="5400000">
            <a:off x="60922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908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 rot="5400000">
            <a:off x="680694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94" name="TextBox 93"/>
          <p:cNvSpPr txBox="1"/>
          <p:nvPr/>
        </p:nvSpPr>
        <p:spPr>
          <a:xfrm rot="5400000">
            <a:off x="683523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381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 rot="5400000">
            <a:off x="7711821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0" name="TextBox 99"/>
          <p:cNvSpPr txBox="1"/>
          <p:nvPr/>
        </p:nvSpPr>
        <p:spPr>
          <a:xfrm rot="5400000">
            <a:off x="7740110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62697" y="4466272"/>
            <a:ext cx="48006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73302" y="3877628"/>
            <a:ext cx="18859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03" name="freeform-103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</a:ln>
        </p:spPr>
        <p:txBody>
          <a:bodyPr/>
          <a:p/>
        </p:txBody>
      </p:sp>
      <p:sp>
        <p:nvSpPr>
          <p:cNvPr id="104" name="freeform-104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</a:ln>
        </p:spPr>
        <p:txBody>
          <a:bodyPr/>
          <a:p/>
        </p:txBody>
      </p:sp>
      <p:sp>
        <p:nvSpPr>
          <p:cNvPr id="105" name="freeform-105"/>
          <p:cNvSpPr/>
          <p:nvPr/>
        </p:nvSpPr>
        <p:spPr>
          <a:xfrm>
            <a:off x="5772150" y="3009900"/>
            <a:ext cx="152400" cy="209550"/>
          </a:xfrm>
          <a:custGeom>
            <a:avLst/>
            <a:gdLst/>
            <a:ahLst/>
            <a:cxnLst/>
            <a:rect l="0" t="0" r="0" b="0"/>
            <a:pathLst>
              <a:path w="152400" h="209550">
                <a:moveTo>
                  <a:pt x="0" y="0"/>
                </a:moveTo>
                <a:lnTo>
                  <a:pt x="152400" y="2095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06" name="freeform-106"/>
          <p:cNvSpPr/>
          <p:nvPr/>
        </p:nvSpPr>
        <p:spPr>
          <a:xfrm>
            <a:off x="5848918" y="3135415"/>
            <a:ext cx="75632" cy="84035"/>
          </a:xfrm>
          <a:custGeom>
            <a:avLst/>
            <a:gdLst/>
            <a:ahLst/>
            <a:cxnLst/>
            <a:rect l="0" t="0" r="0" b="0"/>
            <a:pathLst>
              <a:path w="75632" h="84035">
                <a:moveTo>
                  <a:pt x="61626" y="0"/>
                </a:moveTo>
                <a:lnTo>
                  <a:pt x="75632" y="84035"/>
                </a:lnTo>
                <a:lnTo>
                  <a:pt x="0" y="44819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p:sp>
        <p:nvSpPr>
          <p:cNvPr id="107" name="freeform-107"/>
          <p:cNvSpPr/>
          <p:nvPr/>
        </p:nvSpPr>
        <p:spPr>
          <a:xfrm>
            <a:off x="6515100" y="3028950"/>
            <a:ext cx="152400" cy="171450"/>
          </a:xfrm>
          <a:custGeom>
            <a:avLst/>
            <a:gdLst/>
            <a:ahLst/>
            <a:cxnLst/>
            <a:rect l="0" t="0" r="0" b="0"/>
            <a:pathLst>
              <a:path w="152400" h="171450">
                <a:moveTo>
                  <a:pt x="0" y="0"/>
                </a:moveTo>
                <a:lnTo>
                  <a:pt x="152400" y="1714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08" name="freeform-108"/>
          <p:cNvSpPr/>
          <p:nvPr/>
        </p:nvSpPr>
        <p:spPr>
          <a:xfrm>
            <a:off x="6588399" y="3118135"/>
            <a:ext cx="79101" cy="82265"/>
          </a:xfrm>
          <a:custGeom>
            <a:avLst/>
            <a:gdLst/>
            <a:ahLst/>
            <a:cxnLst/>
            <a:rect l="0" t="0" r="0" b="0"/>
            <a:pathLst>
              <a:path w="79101" h="82265">
                <a:moveTo>
                  <a:pt x="56953" y="0"/>
                </a:moveTo>
                <a:lnTo>
                  <a:pt x="79101" y="82265"/>
                </a:lnTo>
                <a:lnTo>
                  <a:pt x="0" y="50625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p:sp>
        <p:nvSpPr>
          <p:cNvPr id="109" name="freeform-109"/>
          <p:cNvSpPr/>
          <p:nvPr/>
        </p:nvSpPr>
        <p:spPr>
          <a:xfrm>
            <a:off x="7258050" y="3886200"/>
            <a:ext cx="314325" cy="28575"/>
          </a:xfrm>
          <a:custGeom>
            <a:avLst/>
            <a:gdLst/>
            <a:ahLst/>
            <a:cxnLst/>
            <a:rect l="0" t="0" r="0" b="0"/>
            <a:pathLst>
              <a:path w="314325" h="28575">
                <a:moveTo>
                  <a:pt x="0" y="0"/>
                </a:moveTo>
                <a:lnTo>
                  <a:pt x="314325" y="28575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110" name="freeform-110"/>
          <p:cNvSpPr/>
          <p:nvPr/>
        </p:nvSpPr>
        <p:spPr>
          <a:xfrm>
            <a:off x="7493039" y="3869933"/>
            <a:ext cx="79336" cy="75887"/>
          </a:xfrm>
          <a:custGeom>
            <a:avLst/>
            <a:gdLst/>
            <a:ahLst/>
            <a:cxnLst/>
            <a:rect l="0" t="0" r="0" b="0"/>
            <a:pathLst>
              <a:path w="79336" h="75887">
                <a:moveTo>
                  <a:pt x="6899" y="0"/>
                </a:moveTo>
                <a:lnTo>
                  <a:pt x="79336" y="44842"/>
                </a:lnTo>
                <a:lnTo>
                  <a:pt x="0" y="75887"/>
                </a:lnTo>
                <a:close/>
              </a:path>
            </a:pathLst>
          </a:custGeom>
          <a:solidFill>
            <a:srgbClr val="111111"/>
          </a:solidFill>
        </p:spPr>
        <p:txBody>
          <a:bodyPr/>
          <a:p/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math:005" descr="AI_AUTOFIGURE_NATIVE_MATH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709184" y="17325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350">
                            <a:solidFill>
                              <a:srgbClr val="111111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350">
                  <a:solidFill>
                    <a:srgbClr val="111111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11" name="math:005" descr="AI_AUTOFIGURE_MATH_FALLBACK_ONLY_V1:eyJjb250ZW50X3J1bnMiOlt7ImNhbm9uaWNhbF9sYXRleCI6Inpfe3R9IiwiZm9ybXVsYV9pZCI6IkVRMDA1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DU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A1Iiwic2NoZW1hX3ZlcnNpb24iOiIxLjAifQ=="/>
              <p:cNvSpPr txBox="1"/>
              <p:nvPr/>
            </p:nvSpPr>
            <p:spPr>
              <a:xfrm>
                <a:off x="8709184" y="1732598"/>
                <a:ext cx="145732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111111"/>
                    </a:solidFill>
                  </a:rPr>
                  <a:t>\(z_{t}\)</a:t>
                </a:r>
                <a:endParaRPr lang="en-US" dirty="0" sz="1350">
                  <a:solidFill>
                    <a:srgbClr val="111111"/>
                  </a:solidFill>
                </a:endParaRPr>
              </a:p>
            </p:txBody>
          </p:sp>
        </mc:Fallback>
      </mc:AlternateContent>
      <p:sp>
        <p:nvSpPr>
          <p:cNvPr id="112" name="Rectangle 111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-120"/>
          <p:cNvSpPr/>
          <p:nvPr/>
        </p:nvSpPr>
        <p:spPr>
          <a:xfrm>
            <a:off x="9001125" y="2590800"/>
            <a:ext cx="581025" cy="381000"/>
          </a:xfrm>
          <a:custGeom>
            <a:avLst/>
            <a:gdLst/>
            <a:ahLst/>
            <a:cxnLst/>
            <a:rect l="0" t="0" r="0" b="0"/>
            <a:pathLst>
              <a:path w="581025" h="381000">
                <a:moveTo>
                  <a:pt x="0" y="0"/>
                </a:moveTo>
                <a:lnTo>
                  <a:pt x="581025" y="38100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21" name="freeform-121"/>
          <p:cNvSpPr/>
          <p:nvPr/>
        </p:nvSpPr>
        <p:spPr>
          <a:xfrm>
            <a:off x="9510228" y="2909201"/>
            <a:ext cx="71922" cy="62599"/>
          </a:xfrm>
          <a:custGeom>
            <a:avLst/>
            <a:gdLst/>
            <a:ahLst/>
            <a:cxnLst/>
            <a:rect l="0" t="0" r="0" b="0"/>
            <a:pathLst>
              <a:path w="71922" h="62599">
                <a:moveTo>
                  <a:pt x="35517" y="0"/>
                </a:moveTo>
                <a:lnTo>
                  <a:pt x="71922" y="62599"/>
                </a:lnTo>
                <a:lnTo>
                  <a:pt x="0" y="54164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22" name="freeform-122"/>
          <p:cNvSpPr/>
          <p:nvPr/>
        </p:nvSpPr>
        <p:spPr>
          <a:xfrm>
            <a:off x="9001125" y="3076575"/>
            <a:ext cx="571500" cy="904875"/>
          </a:xfrm>
          <a:custGeom>
            <a:avLst/>
            <a:gdLst/>
            <a:ahLst/>
            <a:cxnLst/>
            <a:rect l="0" t="0" r="0" b="0"/>
            <a:pathLst>
              <a:path w="571500" h="904875">
                <a:moveTo>
                  <a:pt x="0" y="904875"/>
                </a:moveTo>
                <a:lnTo>
                  <a:pt x="571500" y="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23" name="freeform-123"/>
          <p:cNvSpPr/>
          <p:nvPr/>
        </p:nvSpPr>
        <p:spPr>
          <a:xfrm>
            <a:off x="9510657" y="3076575"/>
            <a:ext cx="61968" cy="72056"/>
          </a:xfrm>
          <a:custGeom>
            <a:avLst/>
            <a:gdLst/>
            <a:ahLst/>
            <a:cxnLst/>
            <a:rect l="0" t="0" r="0" b="0"/>
            <a:pathLst>
              <a:path w="61968" h="72056">
                <a:moveTo>
                  <a:pt x="0" y="37469"/>
                </a:moveTo>
                <a:lnTo>
                  <a:pt x="61968" y="0"/>
                </a:lnTo>
                <a:lnTo>
                  <a:pt x="54762" y="72056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24" name="Rounded Rectangle 123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70795" y="1276350"/>
            <a:ext cx="24231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math:006" descr="AI_AUTOFIGURE_NATIVE_MATH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720501" y="1646396"/>
                <a:ext cx="218599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7" name="math:006" descr="AI_AUTOFIGURE_MATH_FALLBACK_ONLY_V1:eyJjb250ZW50X3J1bnMiOlt7ImNhbm9uaWNhbF9sYXRleCI6Inpee1xcdGF1fV97dH0iLCJmb3JtdWxhX2lkIjoiRVEwMDYiLCJraW5kIjoibWF0aCIsImxhdGV4X3NoYTI1NiI6IjgxMmI1YjFjOGFmZDdhYzI0Nzc5YTQxYzhmMmE0ZDNiNzZlODAyYzNlNDk5NDc3MjdlM2Q4OTZhYmI3MmQ3ZjEiLCJtb2RlIjoiaW5saW5lIiwib21tbF9zaGEyNTYiOiIwYjA5Y2ZlY2EzYmZiNzFlMzRjMGY1ZmI2ZTY2NDUzZTMwMWFlZGI1Nzc5YmE1MTFhMGZiZDc0MDljMWZlN2M1Iiwic2VtYW50aWNfb21tbF9wcm9maWxlIjoib2ZmaWNlLW1hdGgtc2VtYW50aWMtdjIiLCJzZW1hbnRpY19vbW1sX3NoYTI1NiI6IjdiMDU0ZTcxNjkxNGEwYjY5OGE4N2NmZWM0NTQ3ZWYwYjY2NTA0YzFhYTU3YmI0NDkwN2Q0NGE0YzQ3NDgxZWQifV0sImZvcm11bGFzIjpbeyJjYW5vbmljYWxfbGF0ZXgiOiJ6XntcXHRhdX1fe3R9IiwiZm9ybXVsYV9pZCI6IkVRMDA2IiwibGF0ZXhfc2hhMjU2IjoiODEyYjViMWM4YWZkN2FjMjQ3NzlhNDFjOGYyYTRkM2I3NmU4MDJjM2U0OTk0NzcyN2UzZDg5NmFiYjcyZDdmMSIsIm1vZGUiOiJpbmxpbmUiLCJvbW1sX3NoYTI1NiI6IjBiMDljZmVjYTNiZmI3MWUzNGMwZjVmYjZlNjY0NTNlMzAxYWVkYjU3NzliYTUxMWEwZmJkNzQwOWMxZmU3YzUiLCJzZW1hbnRpY19vbW1sX3Byb2ZpbGUiOiJvZmZpY2UtbWF0aC1zZW1hbnRpYy12MiIsInNlbWFudGljX29tbWxfc2hhMjU2IjoiN2IwNTRlNzE2OTE0YTBiNjk4YTg3Y2ZlYzQ1NDdlZjBiNjY1MDRjMWFhNTdiYjQ0OTA3ZDQ0YTRjNDc0ODFlZCJ9XSwia2luZCI6Im5hdGl2ZV9vZmZpY2VfbWF0aCIsInBsYWNlaG9sZGVyX25hbWUiOiJtYXRoOjAwNiIsInNjaGVtYV92ZXJzaW9uIjoiMS4wIn0="/>
              <p:cNvSpPr txBox="1"/>
              <p:nvPr/>
            </p:nvSpPr>
            <p:spPr>
              <a:xfrm>
                <a:off x="9720501" y="1646396"/>
                <a:ext cx="218599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28" name="Rounded Rectangle 127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math:007" descr="AI_AUTOFIGURE_NATIVE_MATH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5698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29" name="math:007" descr="AI_AUTOFIGURE_MATH_FALLBACK_ONLY_V1:eyJjb250ZW50X3J1bnMiOlt7ImNhbm9uaWNhbF9sYXRleCI6Inpee1xcdGF1fV97dCsxfSIsImZvcm11bGFfaWQiOiJFUTAwNyIsImtpbmQiOiJtYXRoIiwibGF0ZXhfc2hhMjU2IjoiMmM1ZTJlMzU3Mzg2MTFkZDE4YzEwNzBlZTQ2YjQ1MGU5YjE0ZGViZDFmYmU3ZDJlYzI0OWQ4OWMxZThmODU5MSIsIm1vZGUiOiJpbmxpbmUiLCJvbW1sX3NoYTI1NiI6IjY2YmY1ZjM0M2NjY2YwNTI1M2NjZGI5ODYxM2Y4NTFjZTYzMmVkOWNmMjBhMjE3MDc5MDUyYWE2NjRlYWQ3ZTkiLCJzZW1hbnRpY19vbW1sX3Byb2ZpbGUiOiJvZmZpY2UtbWF0aC1zZW1hbnRpYy12MiIsInNlbWFudGljX29tbWxfc2hhMjU2IjoiMjMzM2NjYjhkM2RjMTg3N2JiNDFkYzBkMmJlM2NmY2MxMjJjMGZjNDQyMzk3Mzk4YmI0MzlkMWMwNzdhMjY5OCJ9XSwiZm9ybXVsYXMiOlt7ImNhbm9uaWNhbF9sYXRleCI6Inpee1xcdGF1fV97dCsxfSIsImZvcm11bGFfaWQiOiJFUTAwNyIsImxhdGV4X3NoYTI1NiI6IjJjNWUyZTM1NzM4NjExZGQxOGMxMDcwZWU0NmI0NTBlOWIxNGRlYmQxZmJlN2QyZWMyNDlkODljMWU4Zjg1OTEiLCJtb2RlIjoiaW5saW5lIiwib21tbF9zaGEyNTYiOiI2NmJmNWYzNDNjY2NmMDUyNTNjY2RiOTg2MTNmODUxY2U2MzJlZDljZjIwYTIxNzA3OTA1MmFhNjY0ZWFkN2U5Iiwic2VtYW50aWNfb21tbF9wcm9maWxlIjoib2ZmaWNlLW1hdGgtc2VtYW50aWMtdjIiLCJzZW1hbnRpY19vbW1sX3NoYTI1NiI6IjIzMzNjY2I4ZDNkYzE4NzdiYjQxZGMwZDJiZTNjZmNjMTIyYzBmYzQ0MjM5NzM5OGJiNDM5ZDFjMDc3YTI2OTgifV0sImtpbmQiOiJuYXRpdmVfb2ZmaWNlX21hdGgiLCJwbGFjZWhvbGRlcl9uYW1lIjoibWF0aDowMDciLCJzY2hlbWFfdmVyc2lvbiI6IjEuMCJ9"/>
              <p:cNvSpPr txBox="1"/>
              <p:nvPr/>
            </p:nvSpPr>
            <p:spPr>
              <a:xfrm>
                <a:off x="1055698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0" name="Rounded Rectangle 129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math:008" descr="AI_AUTOFIGURE_NATIVE_MATH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49043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1" name="math:008" descr="AI_AUTOFIGURE_MATH_FALLBACK_ONLY_V1:eyJjb250ZW50X3J1bnMiOlt7ImNhbm9uaWNhbF9sYXRleCI6Inpee1xcdGF1fV97dCsyfSIsImZvcm11bGFfaWQiOiJFUTAwOCIsImtpbmQiOiJtYXRoIiwibGF0ZXhfc2hhMjU2IjoiZjE3MjkyMTZjNmIzNGI3ODc1N2JhN2I1NThmZTBlZjUzN2Q5YjM2ZTg1ZmY4NmE0ZTA0NjQ5ZmI5OTFmMWE0ZiIsIm1vZGUiOiJpbmxpbmUiLCJvbW1sX3NoYTI1NiI6IjU4YTU0YjQ2NDc2NGExYWVlOWMxNDQ1NTdjNjRhMjAxYjBjOGY5Zjk2MDE0ZjVlNDkwNmJhOTM4NDEzZjFmNDUiLCJzZW1hbnRpY19vbW1sX3Byb2ZpbGUiOiJvZmZpY2UtbWF0aC1zZW1hbnRpYy12MiIsInNlbWFudGljX29tbWxfc2hhMjU2IjoiMTc4YzVhMDM3MDY3NGFjYzc2NGI3OGYxNWExMGU0MmM5ZTNlZTRjZmZlY2Y5NjU5ZjgzMzViMjZlNzMyZmZmZSJ9XSwiZm9ybXVsYXMiOlt7ImNhbm9uaWNhbF9sYXRleCI6Inpee1xcdGF1fV97dCsyfSIsImZvcm11bGFfaWQiOiJFUTAwOCIsImxhdGV4X3NoYTI1NiI6ImYxNzI5MjE2YzZiMzRiNzg3NTdiYTdiNTU4ZmUwZWY1MzdkOWIzNmU4NWZmODZhNGUwNDY0OWZiOTkxZjFhNGYiLCJtb2RlIjoiaW5saW5lIiwib21tbF9zaGEyNTYiOiI1OGE1NGI0NjQ3NjRhMWFlZTljMTQ0NTU3YzY0YTIwMWIwYzhmOWY5NjAxNGY1ZTQ5MDZiYTkzODQxM2YxZjQ1Iiwic2VtYW50aWNfb21tbF9wcm9maWxlIjoib2ZmaWNlLW1hdGgtc2VtYW50aWMtdjIiLCJzZW1hbnRpY19vbW1sX3NoYTI1NiI6IjE3OGM1YTAzNzA2NzRhY2M3NjRiNzhmMTVhMTBlNDJjOWUzZWU0Y2ZmZWNmOTY1OWY4MzM1YjI2ZTczMmZmZmUifV0sImtpbmQiOiJuYXRpdmVfb2ZmaWNlX21hdGgiLCJwbGFjZWhvbGRlcl9uYW1lIjoibWF0aDowMDgiLCJzY2hlbWFfdmVyc2lvbiI6IjEuMCJ9"/>
              <p:cNvSpPr txBox="1"/>
              <p:nvPr/>
            </p:nvSpPr>
            <p:spPr>
              <a:xfrm>
                <a:off x="11490436" y="1646396"/>
                <a:ext cx="39347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32" name="Rounded Rectangle 131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math:009" descr="AI_AUTOFIGURE_NATIVE_MATH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50975" y="1646396"/>
                <a:ext cx="387001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Sup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  <m:sup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τ</m:t>
                        </m:r>
                      </m:sup>
                    </m:sSubSup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33" name="math:009" descr="AI_AUTOFIGURE_MATH_FALLBACK_ONLY_V1:eyJjb250ZW50X3J1bnMiOlt7ImNhbm9uaWNhbF9sYXRleCI6Inpee1xcdGF1fV97dCtofSIsImZvcm11bGFfaWQiOiJFUTAwOSIsImtpbmQiOiJtYXRoIiwibGF0ZXhfc2hhMjU2IjoiMTQ0MmExOTZjN2U5OWJhNTk2OTVjZTY3YzMyNTcyMjgzYjAyZmZlYjg4NDZhMDIxOTY0MDdiY2JiMjQzZjJkYSIsIm1vZGUiOiJpbmxpbmUiLCJvbW1sX3NoYTI1NiI6IjFkMGY2MzMyZDYwMTgwZTEwZTI4MDg1NDA1YmI5ZDc0Y2E2Mzg2NDllNmExOTBiOGE2Mjc1MzZmZmMxMjU4NzEiLCJzZW1hbnRpY19vbW1sX3Byb2ZpbGUiOiJvZmZpY2UtbWF0aC1zZW1hbnRpYy12MiIsInNlbWFudGljX29tbWxfc2hhMjU2IjoiMDM1YjgxMTU3MDY0NWY2YWY4ZGZhYTViMGM3Yzk4N2I2N2E3YmE0OWUxOGE4NWU5MDRjMzhiY2RjODViYWRlOCJ9XSwiZm9ybXVsYXMiOlt7ImNhbm9uaWNhbF9sYXRleCI6Inpee1xcdGF1fV97dCtofSIsImZvcm11bGFfaWQiOiJFUTAwOSIsImxhdGV4X3NoYTI1NiI6IjE0NDJhMTk2YzdlOTliYTU5Njk1Y2U2N2MzMjU3MjI4M2IwMmZmZWI4ODQ2YTAyMTk2NDA3YmNiYjI0M2YyZGEiLCJtb2RlIjoiaW5saW5lIiwib21tbF9zaGEyNTYiOiIxZDBmNjMzMmQ2MDE4MGUxMGUyODA4NTQwNWJiOWQ3NGNhNjM4NjQ5ZTZhMTkwYjhhNjI3NTM2ZmZjMTI1ODcxIiwic2VtYW50aWNfb21tbF9wcm9maWxlIjoib2ZmaWNlLW1hdGgtc2VtYW50aWMtdjIiLCJzZW1hbnRpY19vbW1sX3NoYTI1NiI6IjAzNWI4MTE1NzA2NDVmNmFmOGRmYWE1YjBjN2M5ODdiNjdhN2JhNDllMThhODVlOTA0YzM4YmNkYzg1YmFkZTgifV0sImtpbmQiOiJuYXRpdmVfb2ZmaWNlX21hdGgiLCJwbGFjZWhvbGRlcl9uYW1lIjoibWF0aDowMDkiLCJzY2hlbWFfdmVyc2lvbiI6IjEuMCJ9"/>
              <p:cNvSpPr txBox="1"/>
              <p:nvPr/>
            </p:nvSpPr>
            <p:spPr>
              <a:xfrm>
                <a:off x="12750975" y="1646396"/>
                <a:ext cx="387001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\(z^{\tau}_{t+h}\)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34" name="Connector 133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-135"/>
          <p:cNvSpPr/>
          <p:nvPr/>
        </p:nvSpPr>
        <p:spPr>
          <a:xfrm>
            <a:off x="10450830" y="17011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36" name="Connector 135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-137"/>
          <p:cNvSpPr/>
          <p:nvPr/>
        </p:nvSpPr>
        <p:spPr>
          <a:xfrm>
            <a:off x="11384280" y="17011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38" name="Connector 137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-139"/>
          <p:cNvSpPr/>
          <p:nvPr/>
        </p:nvSpPr>
        <p:spPr>
          <a:xfrm>
            <a:off x="12641580" y="17011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40" name="TextBox 139"/>
          <p:cNvSpPr txBox="1"/>
          <p:nvPr/>
        </p:nvSpPr>
        <p:spPr>
          <a:xfrm>
            <a:off x="12000548" y="16278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reeform-142"/>
          <p:cNvSpPr/>
          <p:nvPr/>
        </p:nvSpPr>
        <p:spPr>
          <a:xfrm>
            <a:off x="9797415" y="208788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43" name="Connector 142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freeform-144"/>
          <p:cNvSpPr/>
          <p:nvPr/>
        </p:nvSpPr>
        <p:spPr>
          <a:xfrm>
            <a:off x="10721340" y="208788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45" name="Connector 144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-146"/>
          <p:cNvSpPr/>
          <p:nvPr/>
        </p:nvSpPr>
        <p:spPr>
          <a:xfrm>
            <a:off x="11654790" y="208788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47" name="Oval 146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math:010" descr="AI_AUTOFIGURE_NATIVE_MATH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773936" y="2255996"/>
                <a:ext cx="11172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0" name="math:010" descr="AI_AUTOFIGURE_MATH_FALLBACK_ONLY_V1:eyJjb250ZW50X3J1bnMiOlt7ImNhbm9uaWNhbF9sYXRleCI6InJfe3R9IiwiZm9ybXVsYV9pZCI6IkVRMDEwIiwia2luZCI6Im1hdGg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mb3JtdWxhcyI6W3siY2Fub25pY2FsX2xhdGV4Ijoicl97dH0iLCJmb3JtdWxhX2lkIjoiRVEwMTAiLCJsYXRleF9zaGEyNTYiOiI1YTFlMDA1ZTIwZWQ3NDgxZDU1YmNlODQwNzVhN2NhYzMxOTNkYTI0NDYxYjYzMDE5NzM4OWJlMTkxMmUwZWVhIiwibW9kZSI6ImlubGluZSIsIm9tbWxfc2hhMjU2IjoiMDJhYmViNjg3YzViYzMyOTZiZTYxOWM5NjY5YzQzZDExZDBjN2UyZmVjNmM2NDIyZmQyM2RmOWZjMjQ0MmRhOCIsInNlbWFudGljX29tbWxfcHJvZmlsZSI6Im9mZmljZS1tYXRoLXNlbWFudGljLXYyIiwic2VtYW50aWNfb21tbF9zaGEyNTYiOiI3NzM1OWY2MmNhZDNkODE2MGY5YmQxNTE3ZjkxNjdmNTcxODdlM2EyOTE2N2E2ZmQ1MzEyMmFkMjczYmZiODJlIn1dLCJraW5kIjoibmF0aXZlX29mZmljZV9tYXRoIiwicGxhY2Vob2xkZXJfbmFtZSI6Im1hdGg6MDEwIiwic2NoZW1hX3ZlcnNpb24iOiIxLjAifQ=="/>
              <p:cNvSpPr txBox="1"/>
              <p:nvPr/>
            </p:nvSpPr>
            <p:spPr>
              <a:xfrm>
                <a:off x="9773936" y="2255996"/>
                <a:ext cx="11172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math:011" descr="AI_AUTOFIGURE_NATIVE_MATH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61042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1" name="math:011" descr="AI_AUTOFIGURE_MATH_FALLBACK_ONLY_V1:eyJjb250ZW50X3J1bnMiOlt7ImNhbm9uaWNhbF9sYXRleCI6InJfe3QrMX0iLCJmb3JtdWxhX2lkIjoiRVEwMTEiLCJraW5kIjoibWF0aCIsImxhdGV4X3NoYTI1NiI6ImM1ZDA3NDRiNjJjYTM4ZGQ1MDgwMGUyN2Y0MjAwMTVjYTdiMWM3ZTJlM2E5M2M4OTFkYjhlYzU1YTc3MTBiMzEiLCJtb2RlIjoiaW5saW5lIiwib21tbF9zaGEyNTYiOiJlY2NiNGI3MzliOTVkNWI2MmIwNmIzOGI1YjQ5N2E2YjkyOWZlYzUzMmQ1NTdiNmRlN2NjNTM5OTVkMmNmNDZkIiwic2VtYW50aWNfb21tbF9wcm9maWxlIjoib2ZmaWNlLW1hdGgtc2VtYW50aWMtdjIiLCJzZW1hbnRpY19vbW1sX3NoYTI1NiI6ImQwYWY1NTkxZWM4Y2Q5ZDgzYzA4ZDRhMmYxMzk0NDNkNDUxODc3MGRkODQxZmQ2YTIzYjY5Zjk1N2UwYTIxY2IifV0sImZvcm11bGFzIjpbeyJjYW5vbmljYWxfbGF0ZXgiOiJyX3t0KzF9IiwiZm9ybXVsYV9pZCI6IkVRMDExIiwibGF0ZXhfc2hhMjU2IjoiYzVkMDc0NGI2MmNhMzhkZDUwODAwZTI3ZjQyMDAxNWNhN2IxYzdlMmUzYTkzYzg5MWRiOGVjNTVhNzcxMGIzMSIsIm1vZGUiOiJpbmxpbmUiLCJvbW1sX3NoYTI1NiI6ImVjY2I0YjczOWI5NWQ1YjYyYjA2YjM4YjViNDk3YTZiOTI5ZmVjNTMyZDU1N2I2ZGU3Y2M1Mzk5NWQyY2Y0NmQiLCJzZW1hbnRpY19vbW1sX3Byb2ZpbGUiOiJvZmZpY2UtbWF0aC1zZW1hbnRpYy12MiIsInNlbWFudGljX29tbWxfc2hhMjU2IjoiZDBhZjU1OTFlYzhjZDlkODNjMDhkNGEyZjEzOTQ0M2Q0NTE4NzcwZGQ4NDFmZDZhMjNiNjlmOTU3ZTBhMjFjYiJ9XSwia2luZCI6Im5hdGl2ZV9vZmZpY2VfbWF0aCIsInBsYWNlaG9sZGVyX25hbWUiOiJtYXRoOjAxMSIsInNjaGVtYV92ZXJzaW9uIjoiMS4wIn0="/>
              <p:cNvSpPr txBox="1"/>
              <p:nvPr/>
            </p:nvSpPr>
            <p:spPr>
              <a:xfrm>
                <a:off x="1061042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math:012" descr="AI_AUTOFIGURE_NATIVE_MATH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54387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r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52" name="math:012" descr="AI_AUTOFIGURE_MATH_FALLBACK_ONLY_V1:eyJjb250ZW50X3J1bnMiOlt7ImNhbm9uaWNhbF9sYXRleCI6InJfe3QrMn0iLCJmb3JtdWxhX2lkIjoiRVEwMTIiLCJraW5kIjoibWF0aCIsImxhdGV4X3NoYTI1NiI6IjgyOTM1MTI4YTcxYzJiYWQ5ZGI1NTU3OGUwOWNiMmUwMjA4ODRjZDQyNDlmYmUwZTIyMTBmZGY5NThhYTFmZGYiLCJtb2RlIjoiaW5saW5lIiwib21tbF9zaGEyNTYiOiJmZDdjNmJjOTUyNjFhOGU1OTg0NmQ1ZGJjYTU0OGRlNTIyMzQ2NDllMTJkYjE5N2MxMTE4NTM1YjRhMDVkNWU0Iiwic2VtYW50aWNfb21tbF9wcm9maWxlIjoib2ZmaWNlLW1hdGgtc2VtYW50aWMtdjIiLCJzZW1hbnRpY19vbW1sX3NoYTI1NiI6ImE1MjM0OTZiOTI1NmNkODU1NDQxOTlhMzY0OGExMzY5YWJjYTI2YjdiYWIyYmI0YTM1YTI5NTM1YWQzNDI3ZTYifV0sImZvcm11bGFzIjpbeyJjYW5vbmljYWxfbGF0ZXgiOiJyX3t0KzJ9IiwiZm9ybXVsYV9pZCI6IkVRMDEyIiwibGF0ZXhfc2hhMjU2IjoiODI5MzUxMjhhNzFjMmJhZDlkYjU1NTc4ZTA5Y2IyZTAyMDg4NGNkNDI0OWZiZTBlMjIxMGZkZjk1OGFhMWZkZiIsIm1vZGUiOiJpbmxpbmUiLCJvbW1sX3NoYTI1NiI6ImZkN2M2YmM5NTI2MWE4ZTU5ODQ2ZDVkYmNhNTQ4ZGU1MjIzNDY0OWUxMmRiMTk3YzExMTg1MzViNGEwNWQ1ZTQiLCJzZW1hbnRpY19vbW1sX3Byb2ZpbGUiOiJvZmZpY2UtbWF0aC1zZW1hbnRpYy12MiIsInNlbWFudGljX29tbWxfc2hhMjU2IjoiYTUyMzQ5NmI5MjU2Y2Q4NTU0NDE5OWEzNjQ4YTEzNjlhYmNhMjZiN2JhYjJiYjRhMzVhMjk1MzVhZDM0MjdlNiJ9XSwia2luZCI6Im5hdGl2ZV9vZmZpY2VfbWF0aCIsInBsYWNlaG9sZGVyX25hbWUiOiJtYXRoOjAxMiIsInNjaGVtYV92ZXJzaW9uIjoiMS4wIn0="/>
              <p:cNvSpPr txBox="1"/>
              <p:nvPr/>
            </p:nvSpPr>
            <p:spPr>
              <a:xfrm>
                <a:off x="11543871" y="2255996"/>
                <a:ext cx="286607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\(r_{t+2}\)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53" name="freeform-153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sp>
        <p:nvSpPr>
          <p:cNvPr id="154" name="freeform-154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sp>
        <p:nvSpPr>
          <p:cNvPr id="155" name="freeform-155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  <p:txBody>
          <a:bodyPr/>
          <a:p/>
        </p:txBody>
      </p:sp>
      <p:cxnSp>
        <p:nvCxnSpPr>
          <p:cNvPr id="156" name="Connector 155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12611100" y="2152174"/>
            <a:ext cx="470535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611100" y="2323624"/>
            <a:ext cx="557403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2" name="math:013" descr="AI_AUTOFIGURE_NATIVE_MATH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765744" y="2903696"/>
                <a:ext cx="137636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2" name="math:013" descr="AI_AUTOFIGURE_MATH_FALLBACK_ONLY_V1:eyJjb250ZW50X3J1bnMiOlt7ImNhbm9uaWNhbF9sYXRleCI6Inpfe3R9IiwiZm9ybXVsYV9pZCI6IkVRMDEzIiwia2luZCI6Im1hdGg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mb3JtdWxhcyI6W3siY2Fub25pY2FsX2xhdGV4Ijoiel97dH0iLCJmb3JtdWxhX2lkIjoiRVEwMTMiLCJsYXRleF9zaGEyNTYiOiI1MTFhZDkzYjNmYWU5ZDczZDU2MzY1NmZlYjNiZTY5M2Y0MjBjM2FkNDNmNjBkY2QzNWRiNjMxYWIwZTUwY2EzIiwibW9kZSI6ImlubGluZSIsIm9tbWxfc2hhMjU2IjoiOWNjMjA3NmY3N2U5ZDBlODdiOWE5Y2ZjYWFmZmRjNTBiNzU4ZDZiYmM1MTBjZWY4ZjNiYTU3NDhmODUyMmM1ZSIsInNlbWFudGljX29tbWxfcHJvZmlsZSI6Im9mZmljZS1tYXRoLXNlbWFudGljLXYyIiwic2VtYW50aWNfb21tbF9zaGEyNTYiOiI3MGQyYWI5NmM3NjkwMTQ0MjFhOGZjMTk5ZjQ0MzE0YjFhYWNlZjVkN2RhZGNiZjU2ZDI3MzJjMWJhMjU0MzI4In1dLCJraW5kIjoibmF0aXZlX29mZmljZV9tYXRoIiwicGxhY2Vob2xkZXJfbmFtZSI6Im1hdGg6MDEzIiwic2NoZW1hX3ZlcnNpb24iOiIxLjAifQ=="/>
              <p:cNvSpPr txBox="1"/>
              <p:nvPr/>
            </p:nvSpPr>
            <p:spPr>
              <a:xfrm>
                <a:off x="9765744" y="2903696"/>
                <a:ext cx="137636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3" name="Rounded Rectangle 162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4" name="math:014" descr="AI_AUTOFIGURE_NATIVE_MATH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602230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4" name="math:014" descr="AI_AUTOFIGURE_MATH_FALLBACK_ONLY_V1:eyJjb250ZW50X3J1bnMiOlt7ImNhbm9uaWNhbF9sYXRleCI6Inpfe3QrMX0iLCJmb3JtdWxhX2lkIjoiRVEwMTQiLCJraW5kIjoibWF0aCIsImxhdGV4X3NoYTI1NiI6IjhlNWQwMDAwYWJiOWNmMDc3M2U3OGZiNTMwMjc1MjMwYjhlZGZiOGNkOTYyYjMyNjM1ZGRlN2NjMjg0NjkwOTEiLCJtb2RlIjoiaW5saW5lIiwib21tbF9zaGEyNTYiOiJhOTVmOTI4NDdlYzgwMmEyMzkyZDQ5YWYwYTZlMTU3NzMxZTdkYzdjMjM4YzEwMGI2ZTlhZDY2NDVhMjhmZTQyIiwic2VtYW50aWNfb21tbF9wcm9maWxlIjoib2ZmaWNlLW1hdGgtc2VtYW50aWMtdjIiLCJzZW1hbnRpY19vbW1sX3NoYTI1NiI6IjY5OTJiMGQ0ODlkYWEyM2Y3ZWViMjgxMjc3NjIyNGU5NDRhNjc1MjQxNGNjYmQ5ZTIzYjQ0OTMyODM3ZjMzZTYifV0sImZvcm11bGFzIjpbeyJjYW5vbmljYWxfbGF0ZXgiOiJ6X3t0KzF9IiwiZm9ybXVsYV9pZCI6IkVRMDE0IiwibGF0ZXhfc2hhMjU2IjoiOGU1ZDAwMDBhYmI5Y2YwNzczZTc4ZmI1MzAyNzUyMzBiOGVkZmI4Y2Q5NjJiMzI2MzVkZGU3Y2MyODQ2OTA5MSIsIm1vZGUiOiJpbmxpbmUiLCJvbW1sX3NoYTI1NiI6ImE5NWY5Mjg0N2VjODAyYTIzOTJkNDlhZjBhNmUxNTc3MzFlN2RjN2MyMzhjMTAwYjZlOWFkNjY0NWEyOGZlNDIiLCJzZW1hbnRpY19vbW1sX3Byb2ZpbGUiOiJvZmZpY2UtbWF0aC1zZW1hbnRpYy12MiIsInNlbWFudGljX29tbWxfc2hhMjU2IjoiNjk5MmIwZDQ4OWRhYTIzZjdlZWIyODEyNzc2MjI0ZTk0NGE2NzUyNDE0Y2NiZDllMjNiNDQ5MzI4MzdmMzNlNiJ9XSwia2luZCI6Im5hdGl2ZV9vZmZpY2VfbWF0aCIsInBsYWNlaG9sZGVyX25hbWUiOiJtYXRoOjAxNCIsInNjaGVtYV92ZXJzaW9uIjoiMS4wIn0="/>
              <p:cNvSpPr txBox="1"/>
              <p:nvPr/>
            </p:nvSpPr>
            <p:spPr>
              <a:xfrm>
                <a:off x="10602230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\(z_{t+1}\)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5" name="Rounded Rectangle 164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6" name="math:015" descr="AI_AUTOFIGURE_NATIVE_MATH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526155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6" name="math:015" descr="AI_AUTOFIGURE_MATH_FALLBACK_ONLY_V1:eyJjb250ZW50X3J1bnMiOlt7ImNhbm9uaWNhbF9sYXRleCI6Inpfe3QrMn0iLCJmb3JtdWxhX2lkIjoiRVEwMTUiLCJraW5kIjoibWF0aCIsImxhdGV4X3NoYTI1NiI6ImVkN2EzM2FmMDZiOTY1M2Y4Mzk2MmMyN2IyMGRkOWI4NDZjYjJlZTBlMDAzMDY1MGNhMTQ0MzZiMzg5NzA5M2EiLCJtb2RlIjoiaW5saW5lIiwib21tbF9zaGEyNTYiOiI2NDc0MzYwMTY3NzVjMGViNTYwYWIzNjYzNDJjNjUxZTVkY2ZhMzBkZWE3ZjU3NTcyNDMxZDEzNjNlYmI3ZDBkIiwic2VtYW50aWNfb21tbF9wcm9maWxlIjoib2ZmaWNlLW1hdGgtc2VtYW50aWMtdjIiLCJzZW1hbnRpY19vbW1sX3NoYTI1NiI6ImE1ZTA0ZjFhNzZiNzc4MjQ5NzY0MzBlYzg4MmNmOGNjMWE4ZTk5YmYzN2FlYTFlMWVlNWI3ODA5MmM4ZTQ4MTMifV0sImZvcm11bGFzIjpbeyJjYW5vbmljYWxfbGF0ZXgiOiJ6X3t0KzJ9IiwiZm9ybXVsYV9pZCI6IkVRMDE1IiwibGF0ZXhfc2hhMjU2IjoiZWQ3YTMzYWYwNmI5NjUzZjgzOTYyYzI3YjIwZGQ5Yjg0NmNiMmVlMGUwMDMwNjUwY2ExNDQzNmIzODk3MDkzYSIsIm1vZGUiOiJpbmxpbmUiLCJvbW1sX3NoYTI1NiI6IjY0NzQzNjAxNjc3NWMwZWI1NjBhYjM2NjM0MmM2NTFlNWRjZmEzMGRlYTdmNTc1NzI0MzFkMTM2M2ViYjdkMGQiLCJzZW1hbnRpY19vbW1sX3Byb2ZpbGUiOiJvZmZpY2UtbWF0aC1zZW1hbnRpYy12MiIsInNlbWFudGljX29tbWxfc2hhMjU2IjoiYTVlMDRmMWE3NmI3NzgyNDk3NjQzMGVjODgyY2Y4Y2MxYThlOTliZjM3YWVhMWUxZWU1Yjc4MDkyYzhlNDgxMyJ9XSwia2luZCI6Im5hdGl2ZV9vZmZpY2VfbWF0aCIsInBsYWNlaG9sZGVyX25hbWUiOiJtYXRoOjAxNSIsInNjaGVtYV92ZXJzaW9uIjoiMS4wIn0="/>
              <p:cNvSpPr txBox="1"/>
              <p:nvPr/>
            </p:nvSpPr>
            <p:spPr>
              <a:xfrm>
                <a:off x="11526155" y="2903696"/>
                <a:ext cx="312515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\(z_{t+2}\)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67" name="Rounded Rectangle 166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math:016" descr="AI_AUTOFIGURE_NATIVE_MATH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777168" y="2903696"/>
                <a:ext cx="30603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z</m:t>
                        </m:r>
                      </m:e>
                      <m:sub>
                        <m:r>
                          <a:rPr lang="en-US" dirty="0" sz="1275">
                            <a:solidFill>
                              <a:srgbClr val="FFFFFF"/>
                            </a:solidFill>
                            <a:latin typeface="Cambria Math"/>
                          </a:rPr>
                          <m:t>t+h</m:t>
                        </m:r>
                      </m:sub>
                    </m:sSub>
                  </m:oMath>
                </a14:m>
                <a:endParaRPr lang="en-US" dirty="0" sz="1275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68" name="math:016" descr="AI_AUTOFIGURE_MATH_FALLBACK_ONLY_V1:eyJjb250ZW50X3J1bnMiOlt7ImNhbm9uaWNhbF9sYXRleCI6Inpfe3QraH0iLCJmb3JtdWxhX2lkIjoiRVEwMTYiLCJraW5kIjoibWF0aCIsImxhdGV4X3NoYTI1NiI6IjA0ZWYyNTM3NWI3NzI4NDJjNzhlMjkxMGQwZWIyZTkzMTUwZTkzNmRlNGJlMjZiNDI4YTk5MGQwMWZiNDU2ZTAiLCJtb2RlIjoiaW5saW5lIiwib21tbF9zaGEyNTYiOiI2MTJkY2M3MzFjMWJmOWMzNDhmOWQxYmIwNWI5NDVjYzEwNzBlNDVkMzI0ZDJlODVlNDRiNTNkZTIwZjdmZjE0Iiwic2VtYW50aWNfb21tbF9wcm9maWxlIjoib2ZmaWNlLW1hdGgtc2VtYW50aWMtdjIiLCJzZW1hbnRpY19vbW1sX3NoYTI1NiI6IjgxYWM2YzQxYWZmNmFiZWM1NWJhOWFkMzRiNTdkM2U4MDZjYzY0YzUzMjEyYzRkODQ0ZDE5YzgyYjRiZjU0NDAifV0sImZvcm11bGFzIjpbeyJjYW5vbmljYWxfbGF0ZXgiOiJ6X3t0K2h9IiwiZm9ybXVsYV9pZCI6IkVRMDE2IiwibGF0ZXhfc2hhMjU2IjoiMDRlZjI1Mzc1Yjc3Mjg0MmM3OGUyOTEwZDBlYjJlOTMxNTBlOTM2ZGU0YmUyNmI0MjhhOTkwZDAxZmI0NTZlMCIsIm1vZGUiOiJpbmxpbmUiLCJvbW1sX3NoYTI1NiI6IjYxMmRjYzczMWMxYmY5YzM0OGY5ZDFiYjA1Yjk0NWNjMTA3MGU0NWQzMjRkMmU4NWU0NGI1M2RlMjBmN2ZmMTQiLCJzZW1hbnRpY19vbW1sX3Byb2ZpbGUiOiJvZmZpY2UtbWF0aC1zZW1hbnRpYy12MiIsInNlbWFudGljX29tbWxfc2hhMjU2IjoiODFhYzZjNDFhZmY2YWJlYzU1YmE5YWQzNGI1N2QzZTgwNmNjNjRjNTMyMTJjNGQ4NDRkMTljODJiNGJmNTQ0MCJ9XSwia2luZCI6Im5hdGl2ZV9vZmZpY2VfbWF0aCIsInBsYWNlaG9sZGVyX25hbWUiOiJtYXRoOjAxNiIsInNjaGVtYV92ZXJzaW9uIjoiMS4wIn0="/>
              <p:cNvSpPr txBox="1"/>
              <p:nvPr/>
            </p:nvSpPr>
            <p:spPr>
              <a:xfrm>
                <a:off x="12777168" y="2903696"/>
                <a:ext cx="306038" cy="202406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75">
                    <a:solidFill>
                      <a:srgbClr val="FFFFFF"/>
                    </a:solidFill>
                  </a:rPr>
                  <a:t>\(z_{t+h}\)</a:t>
                </a:r>
                <a:endParaRPr lang="en-US" dirty="0" sz="1275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69" name="Connector 168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freeform-170"/>
          <p:cNvSpPr/>
          <p:nvPr/>
        </p:nvSpPr>
        <p:spPr>
          <a:xfrm>
            <a:off x="10460355" y="29584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71" name="Connector 170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-172"/>
          <p:cNvSpPr/>
          <p:nvPr/>
        </p:nvSpPr>
        <p:spPr>
          <a:xfrm>
            <a:off x="11384280" y="29584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73" name="Connector 172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freeform-174"/>
          <p:cNvSpPr/>
          <p:nvPr/>
        </p:nvSpPr>
        <p:spPr>
          <a:xfrm>
            <a:off x="12632055" y="295846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0"/>
                </a:moveTo>
                <a:lnTo>
                  <a:pt x="64770" y="32385"/>
                </a:lnTo>
                <a:lnTo>
                  <a:pt x="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75" name="TextBox 174"/>
          <p:cNvSpPr txBox="1"/>
          <p:nvPr/>
        </p:nvSpPr>
        <p:spPr>
          <a:xfrm>
            <a:off x="12114848" y="28851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76" name="Oval 175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7" name="math:017" descr="AI_AUTOFIGURE_NATIVE_MATH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79217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77" name="math:017" descr="AI_AUTOFIGURE_MATH_FALLBACK_ONLY_V1:eyJjb250ZW50X3J1bnMiOlt7ImNhbm9uaWNhbF9sYXRleCI6IlxccGkiLCJmb3JtdWxhX2lkIjoiRVEwMTc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3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NyIsInNjaGVtYV92ZXJzaW9uIjoiMS4wIn0="/>
              <p:cNvSpPr txBox="1"/>
              <p:nvPr/>
            </p:nvSpPr>
            <p:spPr>
              <a:xfrm>
                <a:off x="979217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78" name="Oval 177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9" name="math:018" descr="AI_AUTOFIGURE_NATIVE_MATH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72562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79" name="math:018" descr="AI_AUTOFIGURE_MATH_FALLBACK_ONLY_V1:eyJjb250ZW50X3J1bnMiOlt7ImNhbm9uaWNhbF9sYXRleCI6IlxccGkiLCJmb3JtdWxhX2lkIjoiRVEwMTg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4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CIsInNjaGVtYV92ZXJzaW9uIjoiMS4wIn0="/>
              <p:cNvSpPr txBox="1"/>
              <p:nvPr/>
            </p:nvSpPr>
            <p:spPr>
              <a:xfrm>
                <a:off x="10725626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0" name="Oval 179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math:019" descr="AI_AUTOFIGURE_NATIVE_MATH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668601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dirty="0" sz="1350">
                        <a:solidFill>
                          <a:srgbClr val="FFFFFF"/>
                        </a:solidFill>
                        <a:latin typeface="Cambria Math"/>
                      </a:rPr>
                      <m:t>π</m:t>
                    </m:r>
                  </m:oMath>
                </a14:m>
                <a:endParaRPr lang="en-US" dirty="0" sz="135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1" name="math:019" descr="AI_AUTOFIGURE_MATH_FALLBACK_ONLY_V1:eyJjb250ZW50X3J1bnMiOlt7ImNhbm9uaWNhbF9sYXRleCI6IlxccGkiLCJmb3JtdWxhX2lkIjoiRVEwMTkiLCJraW5kIjoibWF0aCIsImxhdGV4X3NoYTI1NiI6ImYxY2YwNDA5M2QwOGI2ZGMwZDU4YTg3Mzk2NDA1Y2I5MDkzYTIyZTllZDYyYTk1YmI5NWVkNDZlNWRhOTcwOTciLCJtb2RlIjoiaW5saW5lIiwib21tbF9zaGEyNTYiOiI4MGIzNzkwZWVkMDMxOWQ1MWJmZDZkZDA4MmQ2YTU3YTNjOTllNjU4Njc3MTA3ZDQyMTYyN2MxZjc0OGY3NjU5Iiwic2VtYW50aWNfb21tbF9wcm9maWxlIjoib2ZmaWNlLW1hdGgtc2VtYW50aWMtdjIiLCJzZW1hbnRpY19vbW1sX3NoYTI1NiI6ImU4OWQxNDFjNDBjNmI1MjM0M2IwNjM4ZWY3ZjUyODE2ZTg0ODU4NWY2MjU1MWFhYzMwNThjZWQwNGY3NjllYjYifV0sImZvcm11bGFzIjpbeyJjYW5vbmljYWxfbGF0ZXgiOiJcXHBpIiwiZm9ybXVsYV9pZCI6IkVRMDE5IiwibGF0ZXhfc2hhMjU2IjoiZjFjZjA0MDkzZDA4YjZkYzBkNThhODczOTY0MDVjYjkwOTNhMjJlOWVkNjJhOTViYjk1ZWQ0NmU1ZGE5NzA5NyIsIm1vZGUiOiJpbmxpbmUiLCJvbW1sX3NoYTI1NiI6IjgwYjM3OTBlZWQwMzE5ZDUxYmZkNmRkMDgyZDZhNTdhM2M5OWU2NTg2NzcxMDdkNDIxNjI3YzFmNzQ4Zjc2NTkiLCJzZW1hbnRpY19vbW1sX3Byb2ZpbGUiOiJvZmZpY2UtbWF0aC1zZW1hbnRpYy12MiIsInNlbWFudGljX29tbWxfc2hhMjU2IjoiZTg5ZDE0MWM0MGM2YjUyMzQzYjA2MzhlZjdmNTI4MTZlODQ4NTg1ZjYyNTUxYWFjMzA1OGNlZDA0Zjc2OWViNiJ9XSwia2luZCI6Im5hdGl2ZV9vZmZpY2VfbWF0aCIsInBsYWNlaG9sZGVyX25hbWUiOiJtYXRoOjAxOSIsInNjaGVtYV92ZXJzaW9uIjoiMS4wIn0="/>
              <p:cNvSpPr txBox="1"/>
              <p:nvPr/>
            </p:nvSpPr>
            <p:spPr>
              <a:xfrm>
                <a:off x="11668601" y="3961448"/>
                <a:ext cx="94298" cy="214312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350">
                    <a:solidFill>
                      <a:srgbClr val="FFFFFF"/>
                    </a:solidFill>
                  </a:rPr>
                  <a:t>\(\pi\)</a:t>
                </a:r>
                <a:endParaRPr lang="en-US" dirty="0" sz="135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2" name="Oval 181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math:020" descr="AI_AUTOFIGURE_NATIVE_MATH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250805" y="3493770"/>
                <a:ext cx="129540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3" name="math:020" descr="AI_AUTOFIGURE_MATH_FALLBACK_ONLY_V1:eyJjb250ZW50X3J1bnMiOlt7ImNhbm9uaWNhbF9sYXRleCI6ImFfe3R9IiwiZm9ybXVsYV9pZCI6IkVRMDIwIiwia2luZCI6Im1hdGg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mb3JtdWxhcyI6W3siY2Fub25pY2FsX2xhdGV4IjoiYV97dH0iLCJmb3JtdWxhX2lkIjoiRVEwMjAiLCJsYXRleF9zaGEyNTYiOiJiMjM2YTRmNjc5MDRhMDkzYjk2N2E2NTYxMjY2OTM2Yjc1MDczMTAwMjc5YjZjZGRkYzhlMTc3Nzc2ZDVmZDdlIiwibW9kZSI6ImlubGluZSIsIm9tbWxfc2hhMjU2IjoiOTRjNWE5YzNlOGZiOWY5NmRhOWFiZDJkYTJiMTA4ZDdlNzUyNDU2YzJkYzZlNDJiNzlmZDZmYTAwNGRmNmMzYyIsInNlbWFudGljX29tbWxfcHJvZmlsZSI6Im9mZmljZS1tYXRoLXNlbWFudGljLXYyIiwic2VtYW50aWNfb21tbF9zaGEyNTYiOiI1OGYyMTBlMTVmNzM4YjY1YTk3MmYyODI4MTFjYTllMjBkODE0MWU4ZTk2N2JjYWE4NGRkN2VlZTBlZmU4MzFhIn1dLCJraW5kIjoibmF0aXZlX29mZmljZV9tYXRoIiwicGxhY2Vob2xkZXJfbmFtZSI6Im1hdGg6MDIwIiwic2NoZW1hX3ZlcnNpb24iOiIxLjAifQ=="/>
              <p:cNvSpPr txBox="1"/>
              <p:nvPr/>
            </p:nvSpPr>
            <p:spPr>
              <a:xfrm>
                <a:off x="10250805" y="3493770"/>
                <a:ext cx="129540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4" name="Oval 183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5" name="math:021" descr="AI_AUTOFIGURE_NATIVE_MATH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1092434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t+1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5" name="math:021" descr="AI_AUTOFIGURE_MATH_FALLBACK_ONLY_V1:eyJjb250ZW50X3J1bnMiOlt7ImNhbm9uaWNhbF9sYXRleCI6ImFfe3QrMX0iLCJmb3JtdWxhX2lkIjoiRVEwMjEiLCJraW5kIjoibWF0aCIsImxhdGV4X3NoYTI1NiI6ImNkNTFlODVhMWRhMGJkNjU2MGEzOGU0NTVmNWIzMDNkYjcxNzUzMzc3NmRhZTFjZjU0NGM0ZTEwOGJmM2VhZWEiLCJtb2RlIjoiaW5saW5lIiwib21tbF9zaGEyNTYiOiJiYzc2NzNhNjFlZDE1OTBkYmJjNzQzYzMzNjI2NWU0Zjk4ZTYzOGZhMGE3NzMxZjRlMzk2MmE3NDdmNmY1MmYwIiwic2VtYW50aWNfb21tbF9wcm9maWxlIjoib2ZmaWNlLW1hdGgtc2VtYW50aWMtdjIiLCJzZW1hbnRpY19vbW1sX3NoYTI1NiI6IjM1ZmU0NTJiNDQ4ZWY4MTUxMWJlOTA3ZjVlZWRjOWM1YjYwMWMzN2U2NTVmY2ZmNDY3ZmQ5NzFiYWM4ZTllZTEifV0sImZvcm11bGFzIjpbeyJjYW5vbmljYWxfbGF0ZXgiOiJhX3t0KzF9IiwiZm9ybXVsYV9pZCI6IkVRMDIxIiwibGF0ZXhfc2hhMjU2IjoiY2Q1MWU4NWExZGEwYmQ2NTYwYTM4ZTQ1NWY1YjMwM2RiNzE3NTMzNzc2ZGFlMWNmNTQ0YzRlMTA4YmYzZWFlYSIsIm1vZGUiOiJpbmxpbmUiLCJvbW1sX3NoYTI1NiI6ImJjNzY3M2E2MWVkMTU5MGRiYmM3NDNjMzM2MjY1ZTRmOThlNjM4ZmEwYTc3MzFmNGUzOTYyYTc0N2Y2ZjUyZjAiLCJzZW1hbnRpY19vbW1sX3Byb2ZpbGUiOiJvZmZpY2UtbWF0aC1zZW1hbnRpYy12MiIsInNlbWFudGljX29tbWxfc2hhMjU2IjoiMzVmZTQ1MmI0NDhlZjgxNTExYmU5MDdmNWVlZGM5YzViNjAxYzM3ZTY1NWZjZmY0NjdmZDk3MWJhYzhlOWVlMSJ9XSwia2luZCI6Im5hdGl2ZV9vZmZpY2VfbWF0aCIsInBsYWNlaG9sZGVyX25hbWUiOiJtYXRoOjAyMSIsInNjaGVtYV92ZXJzaW9uIjoiMS4wIn0="/>
              <p:cNvSpPr txBox="1"/>
              <p:nvPr/>
            </p:nvSpPr>
            <p:spPr>
              <a:xfrm>
                <a:off x="11092434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\(a_{t+1}\)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sp>
        <p:nvSpPr>
          <p:cNvPr id="186" name="Oval 185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math:022" descr="AI_AUTOFIGURE_NATIVE_MATH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2035409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e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a</m:t>
                        </m:r>
                      </m:e>
                      <m:sub>
                        <m:r>
                          <a:rPr lang="en-US" dirty="0" sz="1200">
                            <a:solidFill>
                              <a:srgbClr val="FFFFFF"/>
                            </a:solidFill>
                            <a:latin typeface="Cambria Math"/>
                          </a:rPr>
                          <m:t>t+2</m:t>
                        </m:r>
                      </m:sub>
                    </m:sSub>
                  </m:oMath>
                </a14:m>
                <a:endParaRPr lang="en-US" dirty="0" sz="1200">
                  <a:solidFill>
                    <a:srgbClr val="FFFFFF"/>
                  </a:solidFill>
                  <a:latin typeface="Cambria Math"/>
                </a:endParaRPr>
              </a:p>
            </p:txBody>
          </p:sp>
        </mc:Choice>
        <mc:Fallback>
          <p:sp>
            <p:nvSpPr>
              <p:cNvPr id="187" name="math:022" descr="AI_AUTOFIGURE_MATH_FALLBACK_ONLY_V1:eyJjb250ZW50X3J1bnMiOlt7ImNhbm9uaWNhbF9sYXRleCI6ImFfe3QrMn0iLCJmb3JtdWxhX2lkIjoiRVEwMjIiLCJraW5kIjoibWF0aCIsImxhdGV4X3NoYTI1NiI6ImZkYWYzMzQzZjgxNjEyYjY0OWZlNDcyZDc0Mzk4M2U2YTBmMTI4MzdiOGZmY2M4NjUwMTVhNjZkYWU0Zjc2YjQiLCJtb2RlIjoiaW5saW5lIiwib21tbF9zaGEyNTYiOiI4MWRjMWE4MmFlNGVmY2JmMDYxYmYzM2E2NmNjZmE4OGNkOTg5NzQzZjM2NjExMzhmZWRiYmU1OTNlZjJjOTVlIiwic2VtYW50aWNfb21tbF9wcm9maWxlIjoib2ZmaWNlLW1hdGgtc2VtYW50aWMtdjIiLCJzZW1hbnRpY19vbW1sX3NoYTI1NiI6ImYzNmQyNDY3MzZjNjAyNjZkODBmMWI0MGY3ODU1MTk0NDgzNjE4ZjcyYWM1ZjlmMWJhZTg5YTQwZGZjYmM3MWIifV0sImZvcm11bGFzIjpbeyJjYW5vbmljYWxfbGF0ZXgiOiJhX3t0KzJ9IiwiZm9ybXVsYV9pZCI6IkVRMDIyIiwibGF0ZXhfc2hhMjU2IjoiZmRhZjMzNDNmODE2MTJiNjQ5ZmU0NzJkNzQzOTgzZTZhMGYxMjgzN2I4ZmZjYzg2NTAxNWE2NmRhZTRmNzZiNCIsIm1vZGUiOiJpbmxpbmUiLCJvbW1sX3NoYTI1NiI6IjgxZGMxYTgyYWU0ZWZjYmYwNjFiZjMzYTY2Y2NmYTg4Y2Q5ODk3NDNmMzY2MTEzOGZlZGJiZTU5M2VmMmM5NWUiLCJzZW1hbnRpY19vbW1sX3Byb2ZpbGUiOiJvZmZpY2UtbWF0aC1zZW1hbnRpYy12MiIsInNlbWFudGljX29tbWxfc2hhMjU2IjoiZjM2ZDI0NjczNmM2MDI2NmQ4MGYxYjQwZjc4NTUxOTQ0ODM2MThmNzJhYzVmOWYxYmFlODlhNDBkZmNiYzcxYiJ9XSwia2luZCI6Im5hdGl2ZV9vZmZpY2VfbWF0aCIsInBsYWNlaG9sZGVyX25hbWUiOiJtYXRoOjAyMiIsInNjaGVtYV92ZXJzaW9uIjoiMS4wIn0="/>
              <p:cNvSpPr txBox="1"/>
              <p:nvPr/>
            </p:nvSpPr>
            <p:spPr>
              <a:xfrm>
                <a:off x="12035409" y="3493770"/>
                <a:ext cx="294132" cy="190500"/>
              </a:xfrm>
              <a:prstGeom prst="rect">
                <a:avLst/>
              </a:prstGeom>
              <a:noFill/>
              <a:effectLst/>
            </p:spPr>
            <p:txBody>
              <a:bodyPr wrap="none" anchor="t" lIns="0" rIns="0" tIns="0" bIns="0">
                <a:spAutoFit/>
              </a:bodyPr>
              <a:lstStyle/>
              <a:p>
                <a:pPr algn="ctr"/>
                <a:r>
                  <a:rPr lang="en-US" dirty="0" sz="1200">
                    <a:solidFill>
                      <a:srgbClr val="FFFFFF"/>
                    </a:solidFill>
                  </a:rPr>
                  <a:t>\(a_{t+2}\)</a:t>
                </a:r>
                <a:endParaRPr lang="en-US" dirty="0" sz="1200">
                  <a:solidFill>
                    <a:srgbClr val="FFFFFF"/>
                  </a:solidFill>
                </a:endParaRPr>
              </a:p>
            </p:txBody>
          </p:sp>
        </mc:Fallback>
      </mc:AlternateContent>
      <p:cxnSp>
        <p:nvCxnSpPr>
          <p:cNvPr id="188" name="Connector 187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-189"/>
          <p:cNvSpPr/>
          <p:nvPr/>
        </p:nvSpPr>
        <p:spPr>
          <a:xfrm>
            <a:off x="9806940" y="381190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90" name="Connector 189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-191"/>
          <p:cNvSpPr/>
          <p:nvPr/>
        </p:nvSpPr>
        <p:spPr>
          <a:xfrm>
            <a:off x="10740390" y="381190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192" name="Connector 191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reeform-193"/>
          <p:cNvSpPr/>
          <p:nvPr/>
        </p:nvSpPr>
        <p:spPr>
          <a:xfrm>
            <a:off x="11683365" y="381190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64770" y="0"/>
                </a:moveTo>
                <a:lnTo>
                  <a:pt x="32385" y="64770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4" name="freeform-194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5" name="freeform-195"/>
          <p:cNvSpPr/>
          <p:nvPr/>
        </p:nvSpPr>
        <p:spPr>
          <a:xfrm>
            <a:off x="10278658" y="3771900"/>
            <a:ext cx="64605" cy="66913"/>
          </a:xfrm>
          <a:custGeom>
            <a:avLst/>
            <a:gdLst/>
            <a:ahLst/>
            <a:cxnLst/>
            <a:rect l="0" t="0" r="0" b="0"/>
            <a:pathLst>
              <a:path w="64605" h="66913">
                <a:moveTo>
                  <a:pt x="0" y="62298"/>
                </a:moveTo>
                <a:lnTo>
                  <a:pt x="36917" y="0"/>
                </a:lnTo>
                <a:lnTo>
                  <a:pt x="64605" y="66913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6" name="freeform-196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7" name="freeform-197"/>
          <p:cNvSpPr/>
          <p:nvPr/>
        </p:nvSpPr>
        <p:spPr>
          <a:xfrm>
            <a:off x="11202583" y="3771900"/>
            <a:ext cx="64605" cy="66913"/>
          </a:xfrm>
          <a:custGeom>
            <a:avLst/>
            <a:gdLst/>
            <a:ahLst/>
            <a:cxnLst/>
            <a:rect l="0" t="0" r="0" b="0"/>
            <a:pathLst>
              <a:path w="64605" h="66913">
                <a:moveTo>
                  <a:pt x="0" y="62298"/>
                </a:moveTo>
                <a:lnTo>
                  <a:pt x="36917" y="0"/>
                </a:lnTo>
                <a:lnTo>
                  <a:pt x="64605" y="66913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198" name="freeform-198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199" name="freeform-199"/>
          <p:cNvSpPr/>
          <p:nvPr/>
        </p:nvSpPr>
        <p:spPr>
          <a:xfrm>
            <a:off x="12145558" y="3771900"/>
            <a:ext cx="64605" cy="66913"/>
          </a:xfrm>
          <a:custGeom>
            <a:avLst/>
            <a:gdLst/>
            <a:ahLst/>
            <a:cxnLst/>
            <a:rect l="0" t="0" r="0" b="0"/>
            <a:pathLst>
              <a:path w="64605" h="66913">
                <a:moveTo>
                  <a:pt x="0" y="62298"/>
                </a:moveTo>
                <a:lnTo>
                  <a:pt x="36917" y="0"/>
                </a:lnTo>
                <a:lnTo>
                  <a:pt x="64605" y="66913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0" name="freeform-200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1" name="freeform-201"/>
          <p:cNvSpPr/>
          <p:nvPr/>
        </p:nvSpPr>
        <p:spPr>
          <a:xfrm>
            <a:off x="10682038" y="3161584"/>
            <a:ext cx="71687" cy="61446"/>
          </a:xfrm>
          <a:custGeom>
            <a:avLst/>
            <a:gdLst/>
            <a:ahLst/>
            <a:cxnLst/>
            <a:rect l="0" t="0" r="0" b="0"/>
            <a:pathLst>
              <a:path w="71687" h="61446">
                <a:moveTo>
                  <a:pt x="0" y="0"/>
                </a:moveTo>
                <a:lnTo>
                  <a:pt x="71687" y="10241"/>
                </a:lnTo>
                <a:lnTo>
                  <a:pt x="20482" y="61446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2" name="freeform-202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3" name="freeform-203"/>
          <p:cNvSpPr/>
          <p:nvPr/>
        </p:nvSpPr>
        <p:spPr>
          <a:xfrm>
            <a:off x="11615071" y="3165118"/>
            <a:ext cx="72104" cy="60366"/>
          </a:xfrm>
          <a:custGeom>
            <a:avLst/>
            <a:gdLst/>
            <a:ahLst/>
            <a:cxnLst/>
            <a:rect l="0" t="0" r="0" b="0"/>
            <a:pathLst>
              <a:path w="72104" h="60366">
                <a:moveTo>
                  <a:pt x="0" y="0"/>
                </a:moveTo>
                <a:lnTo>
                  <a:pt x="72104" y="6707"/>
                </a:lnTo>
                <a:lnTo>
                  <a:pt x="23476" y="60366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04" name="freeform-204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  <p:txBody>
          <a:bodyPr/>
          <a:p/>
        </p:txBody>
      </p:sp>
      <p:sp>
        <p:nvSpPr>
          <p:cNvPr id="205" name="freeform-205"/>
          <p:cNvSpPr/>
          <p:nvPr/>
        </p:nvSpPr>
        <p:spPr>
          <a:xfrm>
            <a:off x="12378690" y="3171825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64770"/>
                </a:moveTo>
                <a:lnTo>
                  <a:pt x="32385" y="0"/>
                </a:lnTo>
                <a:lnTo>
                  <a:pt x="6477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06" name="Connector 205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freeform-207"/>
          <p:cNvSpPr/>
          <p:nvPr/>
        </p:nvSpPr>
        <p:spPr>
          <a:xfrm>
            <a:off x="9797415" y="255270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64770"/>
                </a:moveTo>
                <a:lnTo>
                  <a:pt x="32385" y="0"/>
                </a:lnTo>
                <a:lnTo>
                  <a:pt x="6477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08" name="Connector 207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-209"/>
          <p:cNvSpPr/>
          <p:nvPr/>
        </p:nvSpPr>
        <p:spPr>
          <a:xfrm>
            <a:off x="10721340" y="255270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64770"/>
                </a:moveTo>
                <a:lnTo>
                  <a:pt x="32385" y="0"/>
                </a:lnTo>
                <a:lnTo>
                  <a:pt x="6477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cxnSp>
        <p:nvCxnSpPr>
          <p:cNvPr id="210" name="Connector 209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freeform-211"/>
          <p:cNvSpPr/>
          <p:nvPr/>
        </p:nvSpPr>
        <p:spPr>
          <a:xfrm>
            <a:off x="11654790" y="2552700"/>
            <a:ext cx="64770" cy="64770"/>
          </a:xfrm>
          <a:custGeom>
            <a:avLst/>
            <a:gdLst/>
            <a:ahLst/>
            <a:cxnLst/>
            <a:rect l="0" t="0" r="0" b="0"/>
            <a:pathLst>
              <a:path w="64770" h="64770">
                <a:moveTo>
                  <a:pt x="0" y="64770"/>
                </a:moveTo>
                <a:lnTo>
                  <a:pt x="32385" y="0"/>
                </a:lnTo>
                <a:lnTo>
                  <a:pt x="64770" y="64770"/>
                </a:lnTo>
                <a:close/>
              </a:path>
            </a:pathLst>
          </a:custGeom>
          <a:solidFill>
            <a:srgbClr val="8D6A00"/>
          </a:solidFill>
        </p:spPr>
        <p:txBody>
          <a:bodyPr/>
          <a:p/>
        </p:txBody>
      </p:sp>
      <p:sp>
        <p:nvSpPr>
          <p:cNvPr id="212" name="TextBox 211"/>
          <p:cNvSpPr txBox="1"/>
          <p:nvPr/>
        </p:nvSpPr>
        <p:spPr>
          <a:xfrm>
            <a:off x="12540710" y="4019074"/>
            <a:ext cx="50854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54362" y="4489132"/>
            <a:ext cx="3427476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100739" y="5298758"/>
            <a:ext cx="3380422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216" name="freeform-216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  <p:txBody>
          <a:bodyPr/>
          <a:p/>
        </p:txBody>
      </p:sp>
      <p:sp>
        <p:nvSpPr>
          <p:cNvPr id="217" name="freeform-217"/>
          <p:cNvSpPr/>
          <p:nvPr/>
        </p:nvSpPr>
        <p:spPr>
          <a:xfrm>
            <a:off x="1009650" y="5000625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190500"/>
                </a:moveTo>
                <a:lnTo>
                  <a:pt x="95250" y="0"/>
                </a:lnTo>
                <a:lnTo>
                  <a:pt x="190500" y="19050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sp>
        <p:nvSpPr>
          <p:cNvPr id="218" name="Rounded Rectangle 217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-219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sp>
        <p:nvSpPr>
          <p:cNvPr id="220" name="freeform-220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sp>
        <p:nvSpPr>
          <p:cNvPr id="221" name="freeform-221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  <p:txBody>
          <a:bodyPr/>
          <a:p/>
        </p:txBody>
      </p:sp>
      <p:cxnSp>
        <p:nvCxnSpPr>
          <p:cNvPr id="222" name="Connector 221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TextBox 223"/>
          <p:cNvSpPr txBox="1"/>
          <p:nvPr/>
        </p:nvSpPr>
        <p:spPr>
          <a:xfrm>
            <a:off x="6915150" y="5335429"/>
            <a:ext cx="1305687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225" name="Oval 224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-226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  <p:txBody>
          <a:bodyPr/>
          <a:p/>
        </p:txBody>
      </p:sp>
      <p:sp>
        <p:nvSpPr>
          <p:cNvPr id="227" name="freeform-227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  <p:txBody>
          <a:bodyPr/>
          <a:p/>
        </p:txBody>
      </p:sp>
      <p:cxnSp>
        <p:nvCxnSpPr>
          <p:cNvPr id="228" name="Connector 227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8829675" y="5335429"/>
            <a:ext cx="58931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95250" cap="rnd">
            <a:solidFill>
              <a:srgbClr val="D874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freeform-231"/>
          <p:cNvSpPr/>
          <p:nvPr/>
        </p:nvSpPr>
        <p:spPr>
          <a:xfrm>
            <a:off x="5848350" y="53530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190500" y="190500"/>
                </a:moveTo>
                <a:lnTo>
                  <a:pt x="0" y="95250"/>
                </a:lnTo>
                <a:lnTo>
                  <a:pt x="190500" y="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sp>
        <p:nvSpPr>
          <p:cNvPr id="232" name="freeform-232"/>
          <p:cNvSpPr/>
          <p:nvPr/>
        </p:nvSpPr>
        <p:spPr>
          <a:xfrm>
            <a:off x="9601200" y="4972050"/>
            <a:ext cx="457200" cy="200025"/>
          </a:xfrm>
          <a:custGeom>
            <a:avLst/>
            <a:gdLst/>
            <a:ahLst/>
            <a:cxnLst/>
            <a:rect l="0" t="0" r="0" b="0"/>
            <a:pathLst>
              <a:path w="457200" h="200025">
                <a:moveTo>
                  <a:pt x="457200" y="0"/>
                </a:moveTo>
                <a:lnTo>
                  <a:pt x="0" y="200025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  <p:txBody>
          <a:bodyPr/>
          <a:p/>
        </p:txBody>
      </p:sp>
      <p:sp>
        <p:nvSpPr>
          <p:cNvPr id="233" name="freeform-233"/>
          <p:cNvSpPr/>
          <p:nvPr/>
        </p:nvSpPr>
        <p:spPr>
          <a:xfrm>
            <a:off x="9601200" y="5008455"/>
            <a:ext cx="212706" cy="174528"/>
          </a:xfrm>
          <a:custGeom>
            <a:avLst/>
            <a:gdLst/>
            <a:ahLst/>
            <a:cxnLst/>
            <a:rect l="0" t="0" r="0" b="0"/>
            <a:pathLst>
              <a:path w="212706" h="174528">
                <a:moveTo>
                  <a:pt x="212706" y="174528"/>
                </a:moveTo>
                <a:lnTo>
                  <a:pt x="0" y="163620"/>
                </a:lnTo>
                <a:lnTo>
                  <a:pt x="136350" y="0"/>
                </a:lnTo>
                <a:close/>
              </a:path>
            </a:pathLst>
          </a:custGeom>
          <a:solidFill>
            <a:srgbClr val="D87478"/>
          </a:solidFill>
        </p:spPr>
        <p:txBody>
          <a:bodyPr/>
          <a:p/>
        </p:txBody>
      </p:sp>
      <p:cxnSp>
        <p:nvCxnSpPr>
          <p:cNvPr id="234" name="Connector 233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freeform-235"/>
          <p:cNvSpPr/>
          <p:nvPr/>
        </p:nvSpPr>
        <p:spPr>
          <a:xfrm>
            <a:off x="9696450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6" name="freeform-236"/>
          <p:cNvSpPr/>
          <p:nvPr/>
        </p:nvSpPr>
        <p:spPr>
          <a:xfrm>
            <a:off x="11058525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  <p:txBody>
          <a:bodyPr/>
          <a:p/>
        </p:txBody>
      </p:sp>
      <p:sp>
        <p:nvSpPr>
          <p:cNvPr id="237" name="TextBox 236"/>
          <p:cNvSpPr txBox="1"/>
          <p:nvPr/>
        </p:nvSpPr>
        <p:spPr>
          <a:xfrm>
            <a:off x="9995059" y="5181124"/>
            <a:ext cx="85058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sp>
        <p:nvSpPr>
          <p:cNvPr id="238" name="Oval 237"/>
          <p:cNvSpPr/>
          <p:nvPr/>
        </p:nvSpPr>
        <p:spPr>
          <a:xfrm>
            <a:off x="11334750" y="5095875"/>
            <a:ext cx="723900" cy="723900"/>
          </a:xfrm>
          <a:prstGeom prst="ellipse">
            <a:avLst/>
          </a:prstGeom>
          <a:solidFill>
            <a:srgbClr val="58A9E7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-239"/>
          <p:cNvSpPr/>
          <p:nvPr/>
        </p:nvSpPr>
        <p:spPr>
          <a:xfrm>
            <a:off x="11420475" y="5207000"/>
            <a:ext cx="247650" cy="222250"/>
          </a:xfrm>
          <a:custGeom>
            <a:avLst/>
            <a:gdLst/>
            <a:ahLst/>
            <a:cxnLst/>
            <a:rect l="0" t="0" r="0" b="0"/>
            <a:pathLst>
              <a:path w="247650" h="222250">
                <a:moveTo>
                  <a:pt x="28575" y="60325"/>
                </a:moveTo>
                <a:cubicBezTo>
                  <a:pt x="79375" y="9525"/>
                  <a:pt x="139700" y="0"/>
                  <a:pt x="209550" y="31750"/>
                </a:cubicBezTo>
                <a:lnTo>
                  <a:pt x="247650" y="117475"/>
                </a:lnTo>
                <a:lnTo>
                  <a:pt x="180975" y="174625"/>
                </a:lnTo>
                <a:lnTo>
                  <a:pt x="114300" y="155575"/>
                </a:lnTo>
                <a:lnTo>
                  <a:pt x="76200" y="222250"/>
                </a:lnTo>
                <a:lnTo>
                  <a:pt x="0" y="184150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0" name="freeform-240"/>
          <p:cNvSpPr/>
          <p:nvPr/>
        </p:nvSpPr>
        <p:spPr>
          <a:xfrm>
            <a:off x="11687175" y="5172075"/>
            <a:ext cx="190500" cy="266700"/>
          </a:xfrm>
          <a:custGeom>
            <a:avLst/>
            <a:gdLst/>
            <a:ahLst/>
            <a:cxnLst/>
            <a:rect l="0" t="0" r="0" b="0"/>
            <a:pathLst>
              <a:path w="190500" h="266700">
                <a:moveTo>
                  <a:pt x="28575" y="0"/>
                </a:moveTo>
                <a:lnTo>
                  <a:pt x="123825" y="28575"/>
                </a:lnTo>
                <a:lnTo>
                  <a:pt x="180975" y="104775"/>
                </a:lnTo>
                <a:lnTo>
                  <a:pt x="123825" y="152400"/>
                </a:lnTo>
                <a:lnTo>
                  <a:pt x="190500" y="209550"/>
                </a:lnTo>
                <a:lnTo>
                  <a:pt x="123825" y="266700"/>
                </a:lnTo>
                <a:lnTo>
                  <a:pt x="47625" y="209550"/>
                </a:lnTo>
                <a:lnTo>
                  <a:pt x="0" y="1428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1" name="freeform-241"/>
          <p:cNvSpPr/>
          <p:nvPr/>
        </p:nvSpPr>
        <p:spPr>
          <a:xfrm>
            <a:off x="11753850" y="5476875"/>
            <a:ext cx="196850" cy="200025"/>
          </a:xfrm>
          <a:custGeom>
            <a:avLst/>
            <a:gdLst/>
            <a:ahLst/>
            <a:cxnLst/>
            <a:rect l="0" t="0" r="0" b="0"/>
            <a:pathLst>
              <a:path w="196850" h="200025">
                <a:moveTo>
                  <a:pt x="114300" y="0"/>
                </a:moveTo>
                <a:cubicBezTo>
                  <a:pt x="171450" y="19050"/>
                  <a:pt x="196850" y="63500"/>
                  <a:pt x="190500" y="133350"/>
                </a:cubicBezTo>
                <a:lnTo>
                  <a:pt x="95250" y="200025"/>
                </a:lnTo>
                <a:lnTo>
                  <a:pt x="19050" y="152400"/>
                </a:lnTo>
                <a:lnTo>
                  <a:pt x="57150" y="76200"/>
                </a:lnTo>
                <a:lnTo>
                  <a:pt x="0" y="285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2" name="freeform-242"/>
          <p:cNvSpPr/>
          <p:nvPr/>
        </p:nvSpPr>
        <p:spPr>
          <a:xfrm>
            <a:off x="11525250" y="5467350"/>
            <a:ext cx="190500" cy="247650"/>
          </a:xfrm>
          <a:custGeom>
            <a:avLst/>
            <a:gdLst/>
            <a:ahLst/>
            <a:cxnLst/>
            <a:rect l="0" t="0" r="0" b="0"/>
            <a:pathLst>
              <a:path w="190500" h="247650">
                <a:moveTo>
                  <a:pt x="57150" y="0"/>
                </a:moveTo>
                <a:lnTo>
                  <a:pt x="152400" y="28575"/>
                </a:lnTo>
                <a:lnTo>
                  <a:pt x="190500" y="95250"/>
                </a:lnTo>
                <a:lnTo>
                  <a:pt x="133350" y="161925"/>
                </a:lnTo>
                <a:lnTo>
                  <a:pt x="85725" y="247650"/>
                </a:lnTo>
                <a:lnTo>
                  <a:pt x="19050" y="171450"/>
                </a:lnTo>
                <a:lnTo>
                  <a:pt x="0" y="666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3" name="freeform-243"/>
          <p:cNvSpPr/>
          <p:nvPr/>
        </p:nvSpPr>
        <p:spPr>
          <a:xfrm>
            <a:off x="11410950" y="5229225"/>
            <a:ext cx="504825" cy="304800"/>
          </a:xfrm>
          <a:custGeom>
            <a:avLst/>
            <a:gdLst/>
            <a:ahLst/>
            <a:cxnLst/>
            <a:rect l="0" t="0" r="0" b="0"/>
            <a:pathLst>
              <a:path w="504825" h="304800">
                <a:moveTo>
                  <a:pt x="0" y="276225"/>
                </a:moveTo>
                <a:cubicBezTo>
                  <a:pt x="76200" y="263525"/>
                  <a:pt x="139700" y="273050"/>
                  <a:pt x="190500" y="304800"/>
                </a:cubicBezTo>
                <a:moveTo>
                  <a:pt x="323850" y="0"/>
                </a:moveTo>
                <a:cubicBezTo>
                  <a:pt x="381000" y="38100"/>
                  <a:pt x="441325" y="47625"/>
                  <a:pt x="504825" y="28575"/>
                </a:cubicBezTo>
              </a:path>
            </a:pathLst>
          </a:custGeom>
          <a:noFill/>
          <a:ln w="11430" cap="rnd">
            <a:solidFill>
              <a:srgbClr val="111111"/>
            </a:solidFill>
          </a:ln>
        </p:spPr>
        <p:txBody>
          <a:bodyPr/>
          <a:p/>
        </p:txBody>
      </p:sp>
      <p:sp>
        <p:nvSpPr>
          <p:cNvPr id="244" name="TextBox 243"/>
          <p:cNvSpPr txBox="1"/>
          <p:nvPr/>
        </p:nvSpPr>
        <p:spPr>
          <a:xfrm>
            <a:off x="12125325" y="5421154"/>
            <a:ext cx="122901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