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3611225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611225" cy="5972175"/>
          </a:xfrm>
          <a:prstGeom prst="rect">
            <a:avLst/>
          </a:prstGeom>
          <a:solidFill>
            <a:srgbClr val="FFFFF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6225" y="152400"/>
            <a:ext cx="3429000" cy="733425"/>
          </a:xfrm>
          <a:prstGeom prst="roundRect">
            <a:avLst>
              <a:gd name="adj" fmla="val 18181"/>
            </a:avLst>
          </a:prstGeom>
          <a:solidFill>
            <a:srgbClr val="F4F4F4"/>
          </a:solidFill>
          <a:ln w="20955">
            <a:solidFill>
              <a:srgbClr val="24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100" y="276225"/>
            <a:ext cx="457200" cy="457200"/>
          </a:xfrm>
          <a:prstGeom prst="ellipse">
            <a:avLst/>
          </a:prstGeom>
          <a:solidFill>
            <a:srgbClr val="FFFFFF"/>
          </a:solidFill>
          <a:ln w="2095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1025" y="352425"/>
            <a:ext cx="133350" cy="133350"/>
          </a:xfrm>
          <a:prstGeom prst="ellipse">
            <a:avLst/>
          </a:prstGeom>
          <a:solidFill>
            <a:srgbClr val="000000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-6"/>
          <p:cNvSpPr/>
          <p:nvPr/>
        </p:nvSpPr>
        <p:spPr>
          <a:xfrm>
            <a:off x="533400" y="476250"/>
            <a:ext cx="228600" cy="152400"/>
          </a:xfrm>
          <a:custGeom>
            <a:avLst/>
            <a:gdLst/>
            <a:ahLst/>
            <a:cxnLst/>
            <a:rect l="0" t="0" r="0" b="0"/>
            <a:pathLst>
              <a:path w="228600" h="152400">
                <a:moveTo>
                  <a:pt x="0" y="152400"/>
                </a:moveTo>
                <a:cubicBezTo>
                  <a:pt x="6350" y="57150"/>
                  <a:pt x="44450" y="6350"/>
                  <a:pt x="114300" y="0"/>
                </a:cubicBezTo>
                <a:cubicBezTo>
                  <a:pt x="184150" y="6350"/>
                  <a:pt x="222250" y="57150"/>
                  <a:pt x="228600" y="152400"/>
                </a:cubicBezTo>
                <a:close/>
              </a:path>
            </a:pathLst>
          </a:custGeom>
          <a:solidFill>
            <a:srgbClr val="000000"/>
          </a:solidFill>
          <a:ln w="9525" cap="rnd">
            <a:solidFill>
              <a:srgbClr val="000000"/>
            </a:solidFill>
          </a:ln>
        </p:spPr>
      </p:sp>
      <p:sp>
        <p:nvSpPr>
          <p:cNvPr id="7" name="TextBox 6"/>
          <p:cNvSpPr txBox="1"/>
          <p:nvPr/>
        </p:nvSpPr>
        <p:spPr>
          <a:xfrm>
            <a:off x="1076325" y="285750"/>
            <a:ext cx="1813560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>
                <a:solidFill>
                  <a:srgbClr val="111111"/>
                </a:solidFill>
                <a:latin typeface="Arial"/>
              </a:rPr>
              <a:t>Task 1: Turn on lamp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325" y="552450"/>
            <a:ext cx="2358390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>
                <a:solidFill>
                  <a:srgbClr val="111111"/>
                </a:solidFill>
                <a:latin typeface="Arial"/>
              </a:rPr>
              <a:t>Task 2: Close top drawer ...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819525" y="523875"/>
            <a:ext cx="200025" cy="0"/>
          </a:xfrm>
          <a:prstGeom prst="line">
            <a:avLst/>
          </a:prstGeom>
          <a:ln w="47625" cap="rnd">
            <a:solidFill>
              <a:srgbClr val="7777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form-10"/>
          <p:cNvSpPr/>
          <p:nvPr/>
        </p:nvSpPr>
        <p:spPr>
          <a:xfrm>
            <a:off x="3924300" y="466725"/>
            <a:ext cx="114300" cy="114300"/>
          </a:xfrm>
          <a:custGeom>
            <a:avLst/>
            <a:gdLst/>
            <a:ahLst/>
            <a:cxnLst/>
            <a:rect l="0" t="0" r="0" b="0"/>
            <a:pathLst>
              <a:path w="114300" h="114300">
                <a:moveTo>
                  <a:pt x="0" y="0"/>
                </a:moveTo>
                <a:lnTo>
                  <a:pt x="11430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777777"/>
          </a:solidFill>
        </p:spPr>
      </p:sp>
      <p:sp>
        <p:nvSpPr>
          <p:cNvPr id="11" name="Rounded Rectangle 10"/>
          <p:cNvSpPr/>
          <p:nvPr/>
        </p:nvSpPr>
        <p:spPr>
          <a:xfrm>
            <a:off x="4133850" y="161925"/>
            <a:ext cx="1190625" cy="733425"/>
          </a:xfrm>
          <a:prstGeom prst="roundRect">
            <a:avLst>
              <a:gd name="adj" fmla="val 18181"/>
            </a:avLst>
          </a:prstGeom>
          <a:solidFill>
            <a:srgbClr val="F2F2F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378" y="295275"/>
            <a:ext cx="360045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111"/>
                </a:solidFill>
                <a:latin typeface="Arial"/>
              </a:rPr>
              <a:t>task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8642" y="561975"/>
            <a:ext cx="691515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111"/>
                </a:solidFill>
                <a:latin typeface="Arial"/>
              </a:rPr>
              <a:t>Encoder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91150" y="523875"/>
            <a:ext cx="219075" cy="0"/>
          </a:xfrm>
          <a:prstGeom prst="line">
            <a:avLst/>
          </a:prstGeom>
          <a:ln w="47625" cap="rnd">
            <a:solidFill>
              <a:srgbClr val="7777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-15"/>
          <p:cNvSpPr/>
          <p:nvPr/>
        </p:nvSpPr>
        <p:spPr>
          <a:xfrm>
            <a:off x="5514975" y="466725"/>
            <a:ext cx="114300" cy="114300"/>
          </a:xfrm>
          <a:custGeom>
            <a:avLst/>
            <a:gdLst/>
            <a:ahLst/>
            <a:cxnLst/>
            <a:rect l="0" t="0" r="0" b="0"/>
            <a:pathLst>
              <a:path w="114300" h="114300">
                <a:moveTo>
                  <a:pt x="0" y="0"/>
                </a:moveTo>
                <a:lnTo>
                  <a:pt x="11430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777777"/>
          </a:solidFill>
        </p:spPr>
      </p:sp>
      <p:sp>
        <p:nvSpPr>
          <p:cNvPr id="16" name="Rectangle 15"/>
          <p:cNvSpPr/>
          <p:nvPr/>
        </p:nvSpPr>
        <p:spPr>
          <a:xfrm>
            <a:off x="5686425" y="342900"/>
            <a:ext cx="1209675" cy="409575"/>
          </a:xfrm>
          <a:prstGeom prst="rect">
            <a:avLst/>
          </a:prstGeom>
          <a:solidFill>
            <a:srgbClr val="FFFFFF"/>
          </a:solidFill>
          <a:ln w="23812">
            <a:solidFill>
              <a:srgbClr val="233C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91200" y="390525"/>
            <a:ext cx="323850" cy="323850"/>
          </a:xfrm>
          <a:prstGeom prst="ellipse">
            <a:avLst/>
          </a:prstGeom>
          <a:solidFill>
            <a:srgbClr val="AAAAAA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34100" y="390525"/>
            <a:ext cx="323850" cy="323850"/>
          </a:xfrm>
          <a:prstGeom prst="ellipse">
            <a:avLst/>
          </a:prstGeom>
          <a:solidFill>
            <a:srgbClr val="AAAAAA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77000" y="390525"/>
            <a:ext cx="323850" cy="323850"/>
          </a:xfrm>
          <a:prstGeom prst="ellipse">
            <a:avLst/>
          </a:prstGeom>
          <a:solidFill>
            <a:srgbClr val="AAAAAA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3638" y="58103"/>
            <a:ext cx="104775" cy="26193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650" i="1" b="1">
                <a:solidFill>
                  <a:srgbClr val="111111"/>
                </a:solidFill>
                <a:latin typeface="Times New Roman"/>
              </a:rPr>
              <a:t>τ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962775" y="523875"/>
            <a:ext cx="257175" cy="0"/>
          </a:xfrm>
          <a:prstGeom prst="line">
            <a:avLst/>
          </a:prstGeom>
          <a:ln w="47625" cap="rnd">
            <a:solidFill>
              <a:srgbClr val="7777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-22"/>
          <p:cNvSpPr/>
          <p:nvPr/>
        </p:nvSpPr>
        <p:spPr>
          <a:xfrm>
            <a:off x="7124700" y="466725"/>
            <a:ext cx="114300" cy="114300"/>
          </a:xfrm>
          <a:custGeom>
            <a:avLst/>
            <a:gdLst/>
            <a:ahLst/>
            <a:cxnLst/>
            <a:rect l="0" t="0" r="0" b="0"/>
            <a:pathLst>
              <a:path w="114300" h="114300">
                <a:moveTo>
                  <a:pt x="0" y="0"/>
                </a:moveTo>
                <a:lnTo>
                  <a:pt x="11430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777777"/>
          </a:solidFill>
        </p:spPr>
      </p:sp>
      <p:sp>
        <p:nvSpPr>
          <p:cNvPr id="23" name="Rounded Rectangle 22"/>
          <p:cNvSpPr/>
          <p:nvPr/>
        </p:nvSpPr>
        <p:spPr>
          <a:xfrm>
            <a:off x="7324725" y="323850"/>
            <a:ext cx="1724025" cy="457200"/>
          </a:xfrm>
          <a:prstGeom prst="roundRect">
            <a:avLst>
              <a:gd name="adj" fmla="val 12500"/>
            </a:avLst>
          </a:prstGeom>
          <a:solidFill>
            <a:srgbClr val="F1F1F1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1450" y="447199"/>
            <a:ext cx="675037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25" b="1">
                <a:solidFill>
                  <a:srgbClr val="111111"/>
                </a:solidFill>
                <a:latin typeface="Arial"/>
              </a:rPr>
              <a:t>mapping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29650" y="456248"/>
            <a:ext cx="380619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50" i="1" b="1">
                <a:solidFill>
                  <a:srgbClr val="111111"/>
                </a:solidFill>
                <a:latin typeface="Times New Roman"/>
              </a:rPr>
              <a:t>f</a:t>
            </a:r>
            <a:r>
              <a:rPr sz="975" i="1" b="1" baseline="-25000">
                <a:solidFill>
                  <a:srgbClr val="111111"/>
                </a:solidFill>
                <a:latin typeface="Times New Roman"/>
              </a:rPr>
              <a:t>map</a:t>
            </a:r>
          </a:p>
        </p:txBody>
      </p:sp>
      <p:sp>
        <p:nvSpPr>
          <p:cNvPr id="26" name="freeform-26"/>
          <p:cNvSpPr/>
          <p:nvPr/>
        </p:nvSpPr>
        <p:spPr>
          <a:xfrm>
            <a:off x="9105900" y="590550"/>
            <a:ext cx="676275" cy="790575"/>
          </a:xfrm>
          <a:custGeom>
            <a:avLst/>
            <a:gdLst/>
            <a:ahLst/>
            <a:cxnLst/>
            <a:rect l="0" t="0" r="0" b="0"/>
            <a:pathLst>
              <a:path w="676275" h="790575">
                <a:moveTo>
                  <a:pt x="0" y="0"/>
                </a:moveTo>
                <a:lnTo>
                  <a:pt x="676275" y="790575"/>
                </a:lnTo>
              </a:path>
            </a:pathLst>
          </a:custGeom>
          <a:noFill/>
          <a:ln w="57150" cap="rnd">
            <a:solidFill>
              <a:srgbClr val="777777"/>
            </a:solidFill>
          </a:ln>
        </p:spPr>
      </p:sp>
      <p:sp>
        <p:nvSpPr>
          <p:cNvPr id="27" name="freeform-27"/>
          <p:cNvSpPr/>
          <p:nvPr/>
        </p:nvSpPr>
        <p:spPr>
          <a:xfrm>
            <a:off x="9676831" y="1271595"/>
            <a:ext cx="117728" cy="124006"/>
          </a:xfrm>
          <a:custGeom>
            <a:avLst/>
            <a:gdLst/>
            <a:ahLst/>
            <a:cxnLst/>
            <a:rect l="0" t="0" r="0" b="0"/>
            <a:pathLst>
              <a:path w="117728" h="124006">
                <a:moveTo>
                  <a:pt x="86857" y="0"/>
                </a:moveTo>
                <a:lnTo>
                  <a:pt x="117728" y="124006"/>
                </a:lnTo>
                <a:lnTo>
                  <a:pt x="0" y="74299"/>
                </a:lnTo>
                <a:close/>
              </a:path>
            </a:pathLst>
          </a:custGeom>
          <a:solidFill>
            <a:srgbClr val="777777"/>
          </a:solidFill>
        </p:spPr>
      </p:sp>
      <p:cxnSp>
        <p:nvCxnSpPr>
          <p:cNvPr id="28" name="Connector 27"/>
          <p:cNvCxnSpPr/>
          <p:nvPr/>
        </p:nvCxnSpPr>
        <p:spPr>
          <a:xfrm>
            <a:off x="6296025" y="762000"/>
            <a:ext cx="0" cy="428625"/>
          </a:xfrm>
          <a:prstGeom prst="line">
            <a:avLst/>
          </a:prstGeom>
          <a:ln w="20955" cap="rnd">
            <a:solidFill>
              <a:srgbClr val="3567B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-29"/>
          <p:cNvSpPr/>
          <p:nvPr/>
        </p:nvSpPr>
        <p:spPr>
          <a:xfrm>
            <a:off x="6253162" y="111918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85725" y="0"/>
                </a:moveTo>
                <a:lnTo>
                  <a:pt x="42862" y="85725"/>
                </a:lnTo>
                <a:lnTo>
                  <a:pt x="0" y="0"/>
                </a:lnTo>
                <a:close/>
              </a:path>
            </a:pathLst>
          </a:custGeom>
          <a:solidFill>
            <a:srgbClr val="3567B7"/>
          </a:solidFill>
        </p:spPr>
      </p:sp>
      <p:sp>
        <p:nvSpPr>
          <p:cNvPr id="30" name="Rounded Rectangle 29"/>
          <p:cNvSpPr/>
          <p:nvPr/>
        </p:nvSpPr>
        <p:spPr>
          <a:xfrm>
            <a:off x="10991850" y="171450"/>
            <a:ext cx="752475" cy="342900"/>
          </a:xfrm>
          <a:prstGeom prst="roundRect">
            <a:avLst>
              <a:gd name="adj" fmla="val 19444"/>
            </a:avLst>
          </a:prstGeom>
          <a:solidFill>
            <a:srgbClr val="FCE7D7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97971" y="237173"/>
            <a:ext cx="349758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Sem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20525" y="246698"/>
            <a:ext cx="1219010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50">
                <a:solidFill>
                  <a:srgbClr val="111111"/>
                </a:solidFill>
                <a:latin typeface="Arial"/>
              </a:rPr>
              <a:t>semantic expert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001375" y="561975"/>
            <a:ext cx="742950" cy="352425"/>
          </a:xfrm>
          <a:prstGeom prst="roundRect">
            <a:avLst>
              <a:gd name="adj" fmla="val 16216"/>
            </a:avLst>
          </a:prstGeom>
          <a:solidFill>
            <a:srgbClr val="E2EDF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26260" y="637222"/>
            <a:ext cx="293180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Dyn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20525" y="637222"/>
            <a:ext cx="1251585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350">
                <a:solidFill>
                  <a:srgbClr val="111111"/>
                </a:solidFill>
                <a:latin typeface="Arial"/>
              </a:rPr>
              <a:t>dynamics expert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0975" y="1028700"/>
            <a:ext cx="9001125" cy="3905250"/>
          </a:xfrm>
          <a:prstGeom prst="rect">
            <a:avLst/>
          </a:prstGeom>
          <a:noFill/>
          <a:ln w="20002">
            <a:solidFill>
              <a:srgbClr val="203A66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315450" y="1028700"/>
            <a:ext cx="4124325" cy="3914775"/>
          </a:xfrm>
          <a:prstGeom prst="rect">
            <a:avLst/>
          </a:prstGeom>
          <a:noFill/>
          <a:ln w="20002">
            <a:solidFill>
              <a:srgbClr val="203A66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0525" y="1298258"/>
            <a:ext cx="2949511" cy="30956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950" b="1">
                <a:solidFill>
                  <a:srgbClr val="111111"/>
                </a:solidFill>
                <a:latin typeface="Arial"/>
              </a:rPr>
              <a:t>Task-Aware Modular Joint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619625" y="1266825"/>
            <a:ext cx="3352800" cy="419100"/>
          </a:xfrm>
          <a:prstGeom prst="rect">
            <a:avLst/>
          </a:prstGeom>
          <a:solidFill>
            <a:srgbClr val="FFFFFF"/>
          </a:solidFill>
          <a:ln w="28575">
            <a:solidFill>
              <a:srgbClr val="3F6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8250" y="1371600"/>
            <a:ext cx="2495550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111"/>
                </a:solidFill>
                <a:latin typeface="Arial"/>
              </a:rPr>
              <a:t>Task-Guided Expert Allocator</a:t>
            </a:r>
          </a:p>
        </p:txBody>
      </p:sp>
      <p:sp>
        <p:nvSpPr>
          <p:cNvPr id="41" name="freeform-41"/>
          <p:cNvSpPr/>
          <p:nvPr/>
        </p:nvSpPr>
        <p:spPr>
          <a:xfrm>
            <a:off x="4838700" y="1695450"/>
            <a:ext cx="2914650" cy="304800"/>
          </a:xfrm>
          <a:custGeom>
            <a:avLst/>
            <a:gdLst/>
            <a:ahLst/>
            <a:cxnLst/>
            <a:rect l="0" t="0" r="0" b="0"/>
            <a:pathLst>
              <a:path w="2914650" h="304800">
                <a:moveTo>
                  <a:pt x="0" y="0"/>
                </a:moveTo>
                <a:lnTo>
                  <a:pt x="2914650" y="0"/>
                </a:lnTo>
                <a:lnTo>
                  <a:pt x="1457325" y="304800"/>
                </a:lnTo>
                <a:close/>
              </a:path>
            </a:pathLst>
          </a:custGeom>
          <a:gradFill>
            <a:gsLst>
              <a:gs pos="0">
                <a:srgbClr val="C9D8F2">
                  <a:alpha val="80000"/>
                </a:srgbClr>
              </a:gs>
              <a:gs pos="100000">
                <a:srgbClr val="9DBCE9">
                  <a:alpha val="20000"/>
                </a:srgbClr>
              </a:gs>
            </a:gsLst>
            <a:lin ang="5400000" scaled="1"/>
          </a:gradFill>
        </p:spPr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50" y="2762250"/>
            <a:ext cx="1009650" cy="81915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14325" y="3392329"/>
            <a:ext cx="197168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5">
                <a:solidFill>
                  <a:srgbClr val="777777"/>
                </a:solidFill>
                <a:latin typeface="Arial"/>
              </a:rPr>
              <a:t>...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700" y="3668554"/>
            <a:ext cx="1123855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5">
                <a:solidFill>
                  <a:srgbClr val="111111"/>
                </a:solidFill>
                <a:latin typeface="Arial"/>
              </a:rPr>
              <a:t>observation</a:t>
            </a:r>
          </a:p>
        </p:txBody>
      </p:sp>
      <p:sp>
        <p:nvSpPr>
          <p:cNvPr id="45" name="freeform-45"/>
          <p:cNvSpPr/>
          <p:nvPr/>
        </p:nvSpPr>
        <p:spPr>
          <a:xfrm>
            <a:off x="1362075" y="2819400"/>
            <a:ext cx="342900" cy="200025"/>
          </a:xfrm>
          <a:custGeom>
            <a:avLst/>
            <a:gdLst/>
            <a:ahLst/>
            <a:cxnLst/>
            <a:rect l="0" t="0" r="0" b="0"/>
            <a:pathLst>
              <a:path w="342900" h="200025">
                <a:moveTo>
                  <a:pt x="0" y="200025"/>
                </a:moveTo>
                <a:lnTo>
                  <a:pt x="342900" y="0"/>
                </a:lnTo>
              </a:path>
            </a:pathLst>
          </a:custGeom>
          <a:noFill/>
          <a:ln w="57150" cap="rnd">
            <a:solidFill>
              <a:srgbClr val="EF7D2B"/>
            </a:solidFill>
          </a:ln>
        </p:spPr>
      </p:sp>
      <p:sp>
        <p:nvSpPr>
          <p:cNvPr id="46" name="freeform-46"/>
          <p:cNvSpPr/>
          <p:nvPr/>
        </p:nvSpPr>
        <p:spPr>
          <a:xfrm>
            <a:off x="1572649" y="2809801"/>
            <a:ext cx="148781" cy="124784"/>
          </a:xfrm>
          <a:custGeom>
            <a:avLst/>
            <a:gdLst/>
            <a:ahLst/>
            <a:cxnLst/>
            <a:rect l="0" t="0" r="0" b="0"/>
            <a:pathLst>
              <a:path w="148781" h="124784">
                <a:moveTo>
                  <a:pt x="0" y="9599"/>
                </a:moveTo>
                <a:lnTo>
                  <a:pt x="148781" y="0"/>
                </a:lnTo>
                <a:lnTo>
                  <a:pt x="67191" y="124784"/>
                </a:lnTo>
                <a:close/>
              </a:path>
            </a:pathLst>
          </a:custGeom>
          <a:solidFill>
            <a:srgbClr val="EF7D2B"/>
          </a:solidFill>
        </p:spPr>
      </p:sp>
      <p:sp>
        <p:nvSpPr>
          <p:cNvPr id="47" name="freeform-47"/>
          <p:cNvSpPr/>
          <p:nvPr/>
        </p:nvSpPr>
        <p:spPr>
          <a:xfrm>
            <a:off x="1362075" y="3581400"/>
            <a:ext cx="342900" cy="219075"/>
          </a:xfrm>
          <a:custGeom>
            <a:avLst/>
            <a:gdLst/>
            <a:ahLst/>
            <a:cxnLst/>
            <a:rect l="0" t="0" r="0" b="0"/>
            <a:pathLst>
              <a:path w="342900" h="219075">
                <a:moveTo>
                  <a:pt x="0" y="0"/>
                </a:moveTo>
                <a:lnTo>
                  <a:pt x="342900" y="219075"/>
                </a:lnTo>
              </a:path>
            </a:pathLst>
          </a:custGeom>
          <a:noFill/>
          <a:ln w="57150" cap="rnd">
            <a:solidFill>
              <a:srgbClr val="3567B7"/>
            </a:solidFill>
          </a:ln>
        </p:spPr>
      </p:sp>
      <p:sp>
        <p:nvSpPr>
          <p:cNvPr id="48" name="freeform-48"/>
          <p:cNvSpPr/>
          <p:nvPr/>
        </p:nvSpPr>
        <p:spPr>
          <a:xfrm>
            <a:off x="1572758" y="3682750"/>
            <a:ext cx="148271" cy="127981"/>
          </a:xfrm>
          <a:custGeom>
            <a:avLst/>
            <a:gdLst/>
            <a:ahLst/>
            <a:cxnLst/>
            <a:rect l="0" t="0" r="0" b="0"/>
            <a:pathLst>
              <a:path w="148271" h="127981">
                <a:moveTo>
                  <a:pt x="71794" y="0"/>
                </a:moveTo>
                <a:lnTo>
                  <a:pt x="148271" y="127981"/>
                </a:lnTo>
                <a:lnTo>
                  <a:pt x="0" y="112374"/>
                </a:lnTo>
                <a:close/>
              </a:path>
            </a:pathLst>
          </a:custGeom>
          <a:solidFill>
            <a:srgbClr val="3567B7"/>
          </a:solidFill>
        </p:spPr>
      </p:sp>
      <p:sp>
        <p:nvSpPr>
          <p:cNvPr id="49" name="Rounded Rectangle 48"/>
          <p:cNvSpPr/>
          <p:nvPr/>
        </p:nvSpPr>
        <p:spPr>
          <a:xfrm>
            <a:off x="1781175" y="2305050"/>
            <a:ext cx="1181100" cy="742950"/>
          </a:xfrm>
          <a:prstGeom prst="roundRect">
            <a:avLst>
              <a:gd name="adj" fmla="val 16666"/>
            </a:avLst>
          </a:prstGeom>
          <a:solidFill>
            <a:srgbClr val="FFF0E5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67687" y="2429351"/>
            <a:ext cx="608076" cy="25003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75" b="1">
                <a:solidFill>
                  <a:srgbClr val="111111"/>
                </a:solidFill>
                <a:latin typeface="Arial"/>
              </a:rPr>
              <a:t>MLLM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08680" y="2705576"/>
            <a:ext cx="726091" cy="25003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75" b="1">
                <a:solidFill>
                  <a:srgbClr val="111111"/>
                </a:solidFill>
                <a:latin typeface="Arial"/>
              </a:rPr>
              <a:t>Encoder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790700" y="3819525"/>
            <a:ext cx="1190625" cy="742950"/>
          </a:xfrm>
          <a:prstGeom prst="roundRect">
            <a:avLst>
              <a:gd name="adj" fmla="val 16666"/>
            </a:avLst>
          </a:prstGeom>
          <a:solidFill>
            <a:srgbClr val="E8F1FB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206228" y="3972401"/>
            <a:ext cx="350044" cy="25003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75" b="1">
                <a:solidFill>
                  <a:srgbClr val="111111"/>
                </a:solidFill>
                <a:latin typeface="Arial"/>
              </a:rPr>
              <a:t>WM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18205" y="4239101"/>
            <a:ext cx="726091" cy="250031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75" b="1">
                <a:solidFill>
                  <a:srgbClr val="111111"/>
                </a:solidFill>
                <a:latin typeface="Arial"/>
              </a:rPr>
              <a:t>Encoder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3000375" y="2609850"/>
            <a:ext cx="247650" cy="0"/>
          </a:xfrm>
          <a:prstGeom prst="line">
            <a:avLst/>
          </a:prstGeom>
          <a:ln w="57150" cap="rnd">
            <a:solidFill>
              <a:srgbClr val="EF7D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freeform-56"/>
          <p:cNvSpPr/>
          <p:nvPr/>
        </p:nvSpPr>
        <p:spPr>
          <a:xfrm>
            <a:off x="3133725" y="2543175"/>
            <a:ext cx="133350" cy="133350"/>
          </a:xfrm>
          <a:custGeom>
            <a:avLst/>
            <a:gdLst/>
            <a:ahLst/>
            <a:cxnLst/>
            <a:rect l="0" t="0" r="0" b="0"/>
            <a:pathLst>
              <a:path w="133350" h="133350">
                <a:moveTo>
                  <a:pt x="0" y="0"/>
                </a:moveTo>
                <a:lnTo>
                  <a:pt x="13335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EF7D2B"/>
          </a:solidFill>
        </p:spPr>
      </p:sp>
      <p:cxnSp>
        <p:nvCxnSpPr>
          <p:cNvPr id="57" name="Connector 56"/>
          <p:cNvCxnSpPr/>
          <p:nvPr/>
        </p:nvCxnSpPr>
        <p:spPr>
          <a:xfrm>
            <a:off x="3009900" y="4152900"/>
            <a:ext cx="238125" cy="0"/>
          </a:xfrm>
          <a:prstGeom prst="line">
            <a:avLst/>
          </a:prstGeom>
          <a:ln w="57150" cap="rnd">
            <a:solidFill>
              <a:srgbClr val="3567B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freeform-58"/>
          <p:cNvSpPr/>
          <p:nvPr/>
        </p:nvSpPr>
        <p:spPr>
          <a:xfrm>
            <a:off x="3133725" y="4086225"/>
            <a:ext cx="133350" cy="133350"/>
          </a:xfrm>
          <a:custGeom>
            <a:avLst/>
            <a:gdLst/>
            <a:ahLst/>
            <a:cxnLst/>
            <a:rect l="0" t="0" r="0" b="0"/>
            <a:pathLst>
              <a:path w="133350" h="133350">
                <a:moveTo>
                  <a:pt x="0" y="0"/>
                </a:moveTo>
                <a:lnTo>
                  <a:pt x="13335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3567B7"/>
          </a:solidFill>
        </p:spPr>
      </p:sp>
      <p:sp>
        <p:nvSpPr>
          <p:cNvPr id="59" name="Rectangle 58"/>
          <p:cNvSpPr/>
          <p:nvPr/>
        </p:nvSpPr>
        <p:spPr>
          <a:xfrm>
            <a:off x="3295650" y="2028825"/>
            <a:ext cx="400050" cy="1209675"/>
          </a:xfrm>
          <a:prstGeom prst="rect">
            <a:avLst/>
          </a:prstGeom>
          <a:solidFill>
            <a:srgbClr val="FFFFFF"/>
          </a:solidFill>
          <a:ln w="28575">
            <a:solidFill>
              <a:srgbClr val="233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01568" y="1742599"/>
            <a:ext cx="188214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425" i="1" b="1">
                <a:solidFill>
                  <a:srgbClr val="111111"/>
                </a:solidFill>
                <a:latin typeface="Times New Roman"/>
              </a:rPr>
              <a:t>e</a:t>
            </a:r>
            <a:r>
              <a:rPr sz="975" i="1" b="1" baseline="-25000">
                <a:solidFill>
                  <a:srgbClr val="111111"/>
                </a:solidFill>
                <a:latin typeface="Times New Roman"/>
              </a:rPr>
              <a:t>v</a:t>
            </a:r>
          </a:p>
        </p:txBody>
      </p:sp>
      <p:sp>
        <p:nvSpPr>
          <p:cNvPr id="61" name="Oval 60"/>
          <p:cNvSpPr/>
          <p:nvPr/>
        </p:nvSpPr>
        <p:spPr>
          <a:xfrm>
            <a:off x="3333750" y="2114550"/>
            <a:ext cx="323850" cy="323850"/>
          </a:xfrm>
          <a:prstGeom prst="ellipse">
            <a:avLst/>
          </a:prstGeom>
          <a:solidFill>
            <a:srgbClr val="F2A36E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333750" y="2552700"/>
            <a:ext cx="323850" cy="323850"/>
          </a:xfrm>
          <a:prstGeom prst="ellipse">
            <a:avLst/>
          </a:prstGeom>
          <a:solidFill>
            <a:srgbClr val="F2A36E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333750" y="2895600"/>
            <a:ext cx="323850" cy="323850"/>
          </a:xfrm>
          <a:prstGeom prst="ellipse">
            <a:avLst/>
          </a:prstGeom>
          <a:solidFill>
            <a:srgbClr val="F2A36E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3752850" y="2609850"/>
            <a:ext cx="257175" cy="0"/>
          </a:xfrm>
          <a:prstGeom prst="line">
            <a:avLst/>
          </a:prstGeom>
          <a:ln w="57150" cap="rnd">
            <a:solidFill>
              <a:srgbClr val="EF7D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-65"/>
          <p:cNvSpPr/>
          <p:nvPr/>
        </p:nvSpPr>
        <p:spPr>
          <a:xfrm>
            <a:off x="3895725" y="2543175"/>
            <a:ext cx="133350" cy="133350"/>
          </a:xfrm>
          <a:custGeom>
            <a:avLst/>
            <a:gdLst/>
            <a:ahLst/>
            <a:cxnLst/>
            <a:rect l="0" t="0" r="0" b="0"/>
            <a:pathLst>
              <a:path w="133350" h="133350">
                <a:moveTo>
                  <a:pt x="0" y="0"/>
                </a:moveTo>
                <a:lnTo>
                  <a:pt x="13335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EF7D2B"/>
          </a:solidFill>
        </p:spPr>
      </p:sp>
      <p:sp>
        <p:nvSpPr>
          <p:cNvPr id="66" name="Rectangle 65"/>
          <p:cNvSpPr/>
          <p:nvPr/>
        </p:nvSpPr>
        <p:spPr>
          <a:xfrm>
            <a:off x="3305175" y="3552825"/>
            <a:ext cx="400050" cy="1219200"/>
          </a:xfrm>
          <a:prstGeom prst="rect">
            <a:avLst/>
          </a:prstGeom>
          <a:solidFill>
            <a:srgbClr val="FFFFFF"/>
          </a:solidFill>
          <a:ln w="28575">
            <a:solidFill>
              <a:srgbClr val="233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432334" y="3294698"/>
            <a:ext cx="145732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 b="1">
                <a:solidFill>
                  <a:srgbClr val="111111"/>
                </a:solidFill>
                <a:latin typeface="Times New Roman"/>
              </a:rPr>
              <a:t>s</a:t>
            </a:r>
            <a:r>
              <a:rPr sz="900" i="1" b="1" baseline="-25000">
                <a:solidFill>
                  <a:srgbClr val="111111"/>
                </a:solidFill>
                <a:latin typeface="Times New Roman"/>
              </a:rPr>
              <a:t>t</a:t>
            </a:r>
          </a:p>
        </p:txBody>
      </p:sp>
      <p:sp>
        <p:nvSpPr>
          <p:cNvPr id="68" name="Oval 67"/>
          <p:cNvSpPr/>
          <p:nvPr/>
        </p:nvSpPr>
        <p:spPr>
          <a:xfrm>
            <a:off x="3343275" y="3638550"/>
            <a:ext cx="323850" cy="323850"/>
          </a:xfrm>
          <a:prstGeom prst="ellipse">
            <a:avLst/>
          </a:prstGeom>
          <a:solidFill>
            <a:srgbClr val="247D8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3343275" y="3990975"/>
            <a:ext cx="323850" cy="323850"/>
          </a:xfrm>
          <a:prstGeom prst="ellipse">
            <a:avLst/>
          </a:prstGeom>
          <a:solidFill>
            <a:srgbClr val="247D8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343275" y="4343400"/>
            <a:ext cx="323850" cy="323850"/>
          </a:xfrm>
          <a:prstGeom prst="ellipse">
            <a:avLst/>
          </a:prstGeom>
          <a:solidFill>
            <a:srgbClr val="247D8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3762375" y="4152900"/>
            <a:ext cx="247650" cy="0"/>
          </a:xfrm>
          <a:prstGeom prst="line">
            <a:avLst/>
          </a:prstGeom>
          <a:ln w="57150" cap="rnd">
            <a:solidFill>
              <a:srgbClr val="3567B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freeform-72"/>
          <p:cNvSpPr/>
          <p:nvPr/>
        </p:nvSpPr>
        <p:spPr>
          <a:xfrm>
            <a:off x="3895725" y="4086225"/>
            <a:ext cx="133350" cy="133350"/>
          </a:xfrm>
          <a:custGeom>
            <a:avLst/>
            <a:gdLst/>
            <a:ahLst/>
            <a:cxnLst/>
            <a:rect l="0" t="0" r="0" b="0"/>
            <a:pathLst>
              <a:path w="133350" h="133350">
                <a:moveTo>
                  <a:pt x="0" y="0"/>
                </a:moveTo>
                <a:lnTo>
                  <a:pt x="13335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3567B7"/>
          </a:solidFill>
        </p:spPr>
      </p:sp>
      <p:sp>
        <p:nvSpPr>
          <p:cNvPr id="73" name="Rounded Rectangle 72"/>
          <p:cNvSpPr/>
          <p:nvPr/>
        </p:nvSpPr>
        <p:spPr>
          <a:xfrm>
            <a:off x="4067175" y="1990725"/>
            <a:ext cx="4248150" cy="2809875"/>
          </a:xfrm>
          <a:prstGeom prst="roundRect">
            <a:avLst>
              <a:gd name="adj" fmla="val 6101"/>
            </a:avLst>
          </a:prstGeom>
          <a:solidFill>
            <a:srgbClr val="FFFFFF"/>
          </a:solidFill>
          <a:ln w="20955">
            <a:solidFill>
              <a:srgbClr val="233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219575" y="2524125"/>
            <a:ext cx="914400" cy="447675"/>
          </a:xfrm>
          <a:prstGeom prst="rect">
            <a:avLst/>
          </a:prstGeom>
          <a:solidFill>
            <a:srgbClr val="3561A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384358" y="2657475"/>
            <a:ext cx="584835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Task 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219575" y="3686175"/>
            <a:ext cx="914400" cy="447675"/>
          </a:xfrm>
          <a:prstGeom prst="rect">
            <a:avLst/>
          </a:prstGeom>
          <a:solidFill>
            <a:srgbClr val="C9000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384358" y="3819525"/>
            <a:ext cx="584835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Task 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257800" y="2181225"/>
            <a:ext cx="495300" cy="2257425"/>
          </a:xfrm>
          <a:prstGeom prst="rect">
            <a:avLst/>
          </a:prstGeom>
          <a:solidFill>
            <a:srgbClr val="FAFAFA"/>
          </a:solidFill>
          <a:ln w="152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5324475" y="2314575"/>
            <a:ext cx="352425" cy="952500"/>
          </a:xfrm>
          <a:prstGeom prst="roundRect">
            <a:avLst>
              <a:gd name="adj" fmla="val 18918"/>
            </a:avLst>
          </a:prstGeom>
          <a:solidFill>
            <a:srgbClr val="FDE7D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5324475" y="3390900"/>
            <a:ext cx="352425" cy="942975"/>
          </a:xfrm>
          <a:prstGeom prst="roundRect">
            <a:avLst>
              <a:gd name="adj" fmla="val 18918"/>
            </a:avLst>
          </a:prstGeom>
          <a:solidFill>
            <a:srgbClr val="E4EFFB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 rot="5400000">
            <a:off x="5340096" y="2683669"/>
            <a:ext cx="349758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Sem</a:t>
            </a:r>
          </a:p>
        </p:txBody>
      </p:sp>
      <p:sp>
        <p:nvSpPr>
          <p:cNvPr id="82" name="TextBox 81"/>
          <p:cNvSpPr txBox="1"/>
          <p:nvPr/>
        </p:nvSpPr>
        <p:spPr>
          <a:xfrm rot="5400000">
            <a:off x="5368385" y="3769519"/>
            <a:ext cx="293180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Dyn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66969" y="4466272"/>
            <a:ext cx="96012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>
                <a:solidFill>
                  <a:srgbClr val="111111"/>
                </a:solidFill>
                <a:latin typeface="Times New Roman"/>
              </a:rPr>
              <a:t>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81700" y="2181225"/>
            <a:ext cx="495300" cy="2257425"/>
          </a:xfrm>
          <a:prstGeom prst="rect">
            <a:avLst/>
          </a:prstGeom>
          <a:solidFill>
            <a:srgbClr val="FAFAFA"/>
          </a:solidFill>
          <a:ln w="152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6048375" y="2314575"/>
            <a:ext cx="352425" cy="952500"/>
          </a:xfrm>
          <a:prstGeom prst="roundRect">
            <a:avLst>
              <a:gd name="adj" fmla="val 18918"/>
            </a:avLst>
          </a:prstGeom>
          <a:solidFill>
            <a:srgbClr val="FDE7D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6048375" y="3390900"/>
            <a:ext cx="352425" cy="942975"/>
          </a:xfrm>
          <a:prstGeom prst="roundRect">
            <a:avLst>
              <a:gd name="adj" fmla="val 18918"/>
            </a:avLst>
          </a:prstGeom>
          <a:solidFill>
            <a:srgbClr val="E4EFFB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 rot="5400000">
            <a:off x="6063996" y="2683669"/>
            <a:ext cx="349758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Sem</a:t>
            </a:r>
          </a:p>
        </p:txBody>
      </p:sp>
      <p:sp>
        <p:nvSpPr>
          <p:cNvPr id="88" name="TextBox 87"/>
          <p:cNvSpPr txBox="1"/>
          <p:nvPr/>
        </p:nvSpPr>
        <p:spPr>
          <a:xfrm rot="5400000">
            <a:off x="6092285" y="3769519"/>
            <a:ext cx="293180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Dyn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90869" y="4466272"/>
            <a:ext cx="96012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>
                <a:solidFill>
                  <a:srgbClr val="111111"/>
                </a:solidFill>
                <a:latin typeface="Times New Roman"/>
              </a:rPr>
              <a:t>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724650" y="2181225"/>
            <a:ext cx="495300" cy="2257425"/>
          </a:xfrm>
          <a:prstGeom prst="rect">
            <a:avLst/>
          </a:prstGeom>
          <a:solidFill>
            <a:srgbClr val="FAFAFA"/>
          </a:solidFill>
          <a:ln w="152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6791325" y="2314575"/>
            <a:ext cx="352425" cy="952500"/>
          </a:xfrm>
          <a:prstGeom prst="roundRect">
            <a:avLst>
              <a:gd name="adj" fmla="val 18918"/>
            </a:avLst>
          </a:prstGeom>
          <a:solidFill>
            <a:srgbClr val="FDE7D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6791325" y="3390900"/>
            <a:ext cx="352425" cy="942975"/>
          </a:xfrm>
          <a:prstGeom prst="roundRect">
            <a:avLst>
              <a:gd name="adj" fmla="val 18918"/>
            </a:avLst>
          </a:prstGeom>
          <a:solidFill>
            <a:srgbClr val="E4EFFB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 rot="5400000">
            <a:off x="6806946" y="2683669"/>
            <a:ext cx="349758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Sem</a:t>
            </a:r>
          </a:p>
        </p:txBody>
      </p:sp>
      <p:sp>
        <p:nvSpPr>
          <p:cNvPr id="94" name="TextBox 93"/>
          <p:cNvSpPr txBox="1"/>
          <p:nvPr/>
        </p:nvSpPr>
        <p:spPr>
          <a:xfrm rot="5400000">
            <a:off x="6835235" y="3769519"/>
            <a:ext cx="293180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Dyn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933819" y="4466272"/>
            <a:ext cx="96012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>
                <a:solidFill>
                  <a:srgbClr val="111111"/>
                </a:solidFill>
                <a:latin typeface="Times New Roman"/>
              </a:rPr>
              <a:t>3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629525" y="2181225"/>
            <a:ext cx="495300" cy="2257425"/>
          </a:xfrm>
          <a:prstGeom prst="rect">
            <a:avLst/>
          </a:prstGeom>
          <a:solidFill>
            <a:srgbClr val="FAFAFA"/>
          </a:solidFill>
          <a:ln w="15240">
            <a:solidFill>
              <a:srgbClr val="8888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7696200" y="2314575"/>
            <a:ext cx="352425" cy="952500"/>
          </a:xfrm>
          <a:prstGeom prst="roundRect">
            <a:avLst>
              <a:gd name="adj" fmla="val 18918"/>
            </a:avLst>
          </a:prstGeom>
          <a:solidFill>
            <a:srgbClr val="FDE7D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7696200" y="3390900"/>
            <a:ext cx="352425" cy="942975"/>
          </a:xfrm>
          <a:prstGeom prst="roundRect">
            <a:avLst>
              <a:gd name="adj" fmla="val 18918"/>
            </a:avLst>
          </a:prstGeom>
          <a:solidFill>
            <a:srgbClr val="E4EFFB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 rot="5400000">
            <a:off x="7711821" y="2683669"/>
            <a:ext cx="349758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Sem</a:t>
            </a:r>
          </a:p>
        </p:txBody>
      </p:sp>
      <p:sp>
        <p:nvSpPr>
          <p:cNvPr id="100" name="TextBox 99"/>
          <p:cNvSpPr txBox="1"/>
          <p:nvPr/>
        </p:nvSpPr>
        <p:spPr>
          <a:xfrm rot="5400000">
            <a:off x="7740110" y="3769519"/>
            <a:ext cx="293180" cy="214312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50">
                <a:solidFill>
                  <a:srgbClr val="111111"/>
                </a:solidFill>
                <a:latin typeface="Arial"/>
              </a:rPr>
              <a:t>Dyn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862697" y="4466272"/>
            <a:ext cx="48006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>
                <a:solidFill>
                  <a:srgbClr val="111111"/>
                </a:solidFill>
                <a:latin typeface="Times New Roman"/>
              </a:rPr>
              <a:t>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373302" y="3877628"/>
            <a:ext cx="188595" cy="26193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650">
                <a:solidFill>
                  <a:srgbClr val="777777"/>
                </a:solidFill>
                <a:latin typeface="Arial"/>
              </a:rPr>
              <a:t>...</a:t>
            </a:r>
          </a:p>
        </p:txBody>
      </p:sp>
      <p:sp>
        <p:nvSpPr>
          <p:cNvPr id="103" name="freeform-103"/>
          <p:cNvSpPr/>
          <p:nvPr/>
        </p:nvSpPr>
        <p:spPr>
          <a:xfrm>
            <a:off x="5133975" y="2476500"/>
            <a:ext cx="3448050" cy="1085850"/>
          </a:xfrm>
          <a:custGeom>
            <a:avLst/>
            <a:gdLst/>
            <a:ahLst/>
            <a:cxnLst/>
            <a:rect l="0" t="0" r="0" b="0"/>
            <a:pathLst>
              <a:path w="3448050" h="1085850">
                <a:moveTo>
                  <a:pt x="0" y="276225"/>
                </a:moveTo>
                <a:cubicBezTo>
                  <a:pt x="219075" y="0"/>
                  <a:pt x="381000" y="142875"/>
                  <a:pt x="485775" y="485775"/>
                </a:cubicBezTo>
                <a:cubicBezTo>
                  <a:pt x="609600" y="857250"/>
                  <a:pt x="819150" y="800100"/>
                  <a:pt x="952500" y="581025"/>
                </a:cubicBezTo>
                <a:cubicBezTo>
                  <a:pt x="1104900" y="323850"/>
                  <a:pt x="1247775" y="371475"/>
                  <a:pt x="1400175" y="733425"/>
                </a:cubicBezTo>
                <a:cubicBezTo>
                  <a:pt x="1543050" y="1066800"/>
                  <a:pt x="1733550" y="1085850"/>
                  <a:pt x="1866900" y="704850"/>
                </a:cubicBezTo>
                <a:cubicBezTo>
                  <a:pt x="2019300" y="257175"/>
                  <a:pt x="2276475" y="180975"/>
                  <a:pt x="2476500" y="276225"/>
                </a:cubicBezTo>
                <a:cubicBezTo>
                  <a:pt x="2714625" y="381000"/>
                  <a:pt x="2962275" y="47625"/>
                  <a:pt x="3448050" y="257175"/>
                </a:cubicBezTo>
              </a:path>
            </a:pathLst>
          </a:custGeom>
          <a:noFill/>
          <a:ln w="26670" cap="rnd">
            <a:solidFill>
              <a:srgbClr val="2D5EA8"/>
            </a:solidFill>
            <a:prstDash val="dot"/>
          </a:ln>
        </p:spPr>
      </p:sp>
      <p:sp>
        <p:nvSpPr>
          <p:cNvPr id="104" name="freeform-104"/>
          <p:cNvSpPr/>
          <p:nvPr/>
        </p:nvSpPr>
        <p:spPr>
          <a:xfrm>
            <a:off x="5133975" y="2838450"/>
            <a:ext cx="3448050" cy="1285875"/>
          </a:xfrm>
          <a:custGeom>
            <a:avLst/>
            <a:gdLst/>
            <a:ahLst/>
            <a:cxnLst/>
            <a:rect l="0" t="0" r="0" b="0"/>
            <a:pathLst>
              <a:path w="3448050" h="1285875">
                <a:moveTo>
                  <a:pt x="0" y="1066800"/>
                </a:moveTo>
                <a:cubicBezTo>
                  <a:pt x="247650" y="1000125"/>
                  <a:pt x="485775" y="1200150"/>
                  <a:pt x="752475" y="1143000"/>
                </a:cubicBezTo>
                <a:cubicBezTo>
                  <a:pt x="1019175" y="1066800"/>
                  <a:pt x="1181100" y="685800"/>
                  <a:pt x="1381125" y="342900"/>
                </a:cubicBezTo>
                <a:cubicBezTo>
                  <a:pt x="1533525" y="95250"/>
                  <a:pt x="1657350" y="0"/>
                  <a:pt x="1800225" y="114300"/>
                </a:cubicBezTo>
                <a:cubicBezTo>
                  <a:pt x="1962150" y="276225"/>
                  <a:pt x="2085975" y="838200"/>
                  <a:pt x="2362200" y="1066800"/>
                </a:cubicBezTo>
                <a:cubicBezTo>
                  <a:pt x="2628900" y="1285875"/>
                  <a:pt x="2905125" y="1162050"/>
                  <a:pt x="3448050" y="1095375"/>
                </a:cubicBezTo>
              </a:path>
            </a:pathLst>
          </a:custGeom>
          <a:noFill/>
          <a:ln w="26670" cap="rnd">
            <a:solidFill>
              <a:srgbClr val="D20C0C"/>
            </a:solidFill>
            <a:prstDash val="dot"/>
          </a:ln>
        </p:spPr>
      </p:sp>
      <p:sp>
        <p:nvSpPr>
          <p:cNvPr id="105" name="freeform-105"/>
          <p:cNvSpPr/>
          <p:nvPr/>
        </p:nvSpPr>
        <p:spPr>
          <a:xfrm>
            <a:off x="5772150" y="3009900"/>
            <a:ext cx="152400" cy="209550"/>
          </a:xfrm>
          <a:custGeom>
            <a:avLst/>
            <a:gdLst/>
            <a:ahLst/>
            <a:cxnLst/>
            <a:rect l="0" t="0" r="0" b="0"/>
            <a:pathLst>
              <a:path w="152400" h="209550">
                <a:moveTo>
                  <a:pt x="0" y="0"/>
                </a:moveTo>
                <a:lnTo>
                  <a:pt x="152400" y="209550"/>
                </a:lnTo>
              </a:path>
            </a:pathLst>
          </a:custGeom>
          <a:noFill/>
          <a:ln w="19050" cap="rnd">
            <a:solidFill>
              <a:srgbClr val="111111"/>
            </a:solidFill>
          </a:ln>
        </p:spPr>
      </p:sp>
      <p:sp>
        <p:nvSpPr>
          <p:cNvPr id="106" name="freeform-106"/>
          <p:cNvSpPr/>
          <p:nvPr/>
        </p:nvSpPr>
        <p:spPr>
          <a:xfrm>
            <a:off x="5847868" y="3136465"/>
            <a:ext cx="85085" cy="94539"/>
          </a:xfrm>
          <a:custGeom>
            <a:avLst/>
            <a:gdLst/>
            <a:ahLst/>
            <a:cxnLst/>
            <a:rect l="0" t="0" r="0" b="0"/>
            <a:pathLst>
              <a:path w="85085" h="94539">
                <a:moveTo>
                  <a:pt x="69329" y="0"/>
                </a:moveTo>
                <a:lnTo>
                  <a:pt x="85085" y="94539"/>
                </a:lnTo>
                <a:lnTo>
                  <a:pt x="0" y="50421"/>
                </a:lnTo>
                <a:close/>
              </a:path>
            </a:pathLst>
          </a:custGeom>
          <a:solidFill>
            <a:srgbClr val="111111"/>
          </a:solidFill>
        </p:spPr>
      </p:sp>
      <p:sp>
        <p:nvSpPr>
          <p:cNvPr id="107" name="freeform-107"/>
          <p:cNvSpPr/>
          <p:nvPr/>
        </p:nvSpPr>
        <p:spPr>
          <a:xfrm>
            <a:off x="6515100" y="3028950"/>
            <a:ext cx="152400" cy="171450"/>
          </a:xfrm>
          <a:custGeom>
            <a:avLst/>
            <a:gdLst/>
            <a:ahLst/>
            <a:cxnLst/>
            <a:rect l="0" t="0" r="0" b="0"/>
            <a:pathLst>
              <a:path w="152400" h="171450">
                <a:moveTo>
                  <a:pt x="0" y="0"/>
                </a:moveTo>
                <a:lnTo>
                  <a:pt x="152400" y="171450"/>
                </a:lnTo>
              </a:path>
            </a:pathLst>
          </a:custGeom>
          <a:noFill/>
          <a:ln w="19050" cap="rnd">
            <a:solidFill>
              <a:srgbClr val="111111"/>
            </a:solidFill>
          </a:ln>
        </p:spPr>
      </p:sp>
      <p:sp>
        <p:nvSpPr>
          <p:cNvPr id="108" name="freeform-108"/>
          <p:cNvSpPr/>
          <p:nvPr/>
        </p:nvSpPr>
        <p:spPr>
          <a:xfrm>
            <a:off x="6588004" y="3118531"/>
            <a:ext cx="88988" cy="92548"/>
          </a:xfrm>
          <a:custGeom>
            <a:avLst/>
            <a:gdLst/>
            <a:ahLst/>
            <a:cxnLst/>
            <a:rect l="0" t="0" r="0" b="0"/>
            <a:pathLst>
              <a:path w="88988" h="92548">
                <a:moveTo>
                  <a:pt x="64072" y="0"/>
                </a:moveTo>
                <a:lnTo>
                  <a:pt x="88988" y="92548"/>
                </a:lnTo>
                <a:lnTo>
                  <a:pt x="0" y="56953"/>
                </a:lnTo>
                <a:close/>
              </a:path>
            </a:pathLst>
          </a:custGeom>
          <a:solidFill>
            <a:srgbClr val="111111"/>
          </a:solidFill>
        </p:spPr>
      </p:sp>
      <p:sp>
        <p:nvSpPr>
          <p:cNvPr id="109" name="freeform-109"/>
          <p:cNvSpPr/>
          <p:nvPr/>
        </p:nvSpPr>
        <p:spPr>
          <a:xfrm>
            <a:off x="7258050" y="3886200"/>
            <a:ext cx="314325" cy="28575"/>
          </a:xfrm>
          <a:custGeom>
            <a:avLst/>
            <a:gdLst/>
            <a:ahLst/>
            <a:cxnLst/>
            <a:rect l="0" t="0" r="0" b="0"/>
            <a:pathLst>
              <a:path w="314325" h="28575">
                <a:moveTo>
                  <a:pt x="0" y="0"/>
                </a:moveTo>
                <a:lnTo>
                  <a:pt x="314325" y="28575"/>
                </a:lnTo>
              </a:path>
            </a:pathLst>
          </a:custGeom>
          <a:noFill/>
          <a:ln w="19050" cap="rnd">
            <a:solidFill>
              <a:srgbClr val="111111"/>
            </a:solidFill>
          </a:ln>
        </p:spPr>
      </p:sp>
      <p:sp>
        <p:nvSpPr>
          <p:cNvPr id="110" name="freeform-110"/>
          <p:cNvSpPr/>
          <p:nvPr/>
        </p:nvSpPr>
        <p:spPr>
          <a:xfrm>
            <a:off x="7497350" y="3865621"/>
            <a:ext cx="89254" cy="85373"/>
          </a:xfrm>
          <a:custGeom>
            <a:avLst/>
            <a:gdLst/>
            <a:ahLst/>
            <a:cxnLst/>
            <a:rect l="0" t="0" r="0" b="0"/>
            <a:pathLst>
              <a:path w="89254" h="85373">
                <a:moveTo>
                  <a:pt x="7761" y="0"/>
                </a:moveTo>
                <a:lnTo>
                  <a:pt x="89254" y="50448"/>
                </a:lnTo>
                <a:lnTo>
                  <a:pt x="0" y="85373"/>
                </a:lnTo>
                <a:close/>
              </a:path>
            </a:pathLst>
          </a:custGeom>
          <a:solidFill>
            <a:srgbClr val="111111"/>
          </a:solidFill>
        </p:spPr>
      </p:sp>
      <p:sp>
        <p:nvSpPr>
          <p:cNvPr id="111" name="TextBox 110"/>
          <p:cNvSpPr txBox="1"/>
          <p:nvPr/>
        </p:nvSpPr>
        <p:spPr>
          <a:xfrm>
            <a:off x="8709184" y="1732598"/>
            <a:ext cx="145732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 b="1">
                <a:solidFill>
                  <a:srgbClr val="111111"/>
                </a:solidFill>
                <a:latin typeface="Times New Roman"/>
              </a:rPr>
              <a:t>z</a:t>
            </a:r>
            <a:r>
              <a:rPr sz="900" i="1" b="1" baseline="-25000">
                <a:solidFill>
                  <a:srgbClr val="111111"/>
                </a:solidFill>
                <a:latin typeface="Times New Roman"/>
              </a:rPr>
              <a:t>t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591550" y="1981200"/>
            <a:ext cx="400050" cy="1219200"/>
          </a:xfrm>
          <a:prstGeom prst="rect">
            <a:avLst/>
          </a:prstGeom>
          <a:solidFill>
            <a:srgbClr val="FFFFFF"/>
          </a:solidFill>
          <a:ln w="28575">
            <a:solidFill>
              <a:srgbClr val="233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629650" y="2057400"/>
            <a:ext cx="323850" cy="323850"/>
          </a:xfrm>
          <a:prstGeom prst="ellipse">
            <a:avLst/>
          </a:prstGeom>
          <a:gradFill>
            <a:gsLst>
              <a:gs pos="0">
                <a:srgbClr val="F39A5D"/>
              </a:gs>
              <a:gs pos="46000">
                <a:srgbClr val="F7C6A1"/>
              </a:gs>
              <a:gs pos="54000">
                <a:srgbClr val="6FB0B6"/>
              </a:gs>
              <a:gs pos="100000">
                <a:srgbClr val="1F8795"/>
              </a:gs>
            </a:gsLst>
            <a:lin ang="189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629650" y="2409825"/>
            <a:ext cx="323850" cy="323850"/>
          </a:xfrm>
          <a:prstGeom prst="ellipse">
            <a:avLst/>
          </a:prstGeom>
          <a:gradFill>
            <a:gsLst>
              <a:gs pos="0">
                <a:srgbClr val="F39A5D"/>
              </a:gs>
              <a:gs pos="46000">
                <a:srgbClr val="F7C6A1"/>
              </a:gs>
              <a:gs pos="54000">
                <a:srgbClr val="6FB0B6"/>
              </a:gs>
              <a:gs pos="100000">
                <a:srgbClr val="1F8795"/>
              </a:gs>
            </a:gsLst>
            <a:lin ang="189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629650" y="2752725"/>
            <a:ext cx="323850" cy="323850"/>
          </a:xfrm>
          <a:prstGeom prst="ellipse">
            <a:avLst/>
          </a:prstGeom>
          <a:gradFill>
            <a:gsLst>
              <a:gs pos="0">
                <a:srgbClr val="F39A5D"/>
              </a:gs>
              <a:gs pos="46000">
                <a:srgbClr val="F7C6A1"/>
              </a:gs>
              <a:gs pos="54000">
                <a:srgbClr val="6FB0B6"/>
              </a:gs>
              <a:gs pos="100000">
                <a:srgbClr val="1F8795"/>
              </a:gs>
            </a:gsLst>
            <a:lin ang="189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591550" y="3362325"/>
            <a:ext cx="400050" cy="1200150"/>
          </a:xfrm>
          <a:prstGeom prst="rect">
            <a:avLst/>
          </a:prstGeom>
          <a:solidFill>
            <a:srgbClr val="FFFFFF"/>
          </a:solidFill>
          <a:ln w="28575">
            <a:solidFill>
              <a:srgbClr val="233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629650" y="3457575"/>
            <a:ext cx="323850" cy="323850"/>
          </a:xfrm>
          <a:prstGeom prst="ellipse">
            <a:avLst/>
          </a:prstGeom>
          <a:gradFill>
            <a:gsLst>
              <a:gs pos="0">
                <a:srgbClr val="F39A5D"/>
              </a:gs>
              <a:gs pos="46000">
                <a:srgbClr val="F7C6A1"/>
              </a:gs>
              <a:gs pos="54000">
                <a:srgbClr val="6FB0B6"/>
              </a:gs>
              <a:gs pos="100000">
                <a:srgbClr val="1F8795"/>
              </a:gs>
            </a:gsLst>
            <a:lin ang="189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629650" y="3800475"/>
            <a:ext cx="323850" cy="323850"/>
          </a:xfrm>
          <a:prstGeom prst="ellipse">
            <a:avLst/>
          </a:prstGeom>
          <a:gradFill>
            <a:gsLst>
              <a:gs pos="0">
                <a:srgbClr val="F39A5D"/>
              </a:gs>
              <a:gs pos="46000">
                <a:srgbClr val="F7C6A1"/>
              </a:gs>
              <a:gs pos="54000">
                <a:srgbClr val="6FB0B6"/>
              </a:gs>
              <a:gs pos="100000">
                <a:srgbClr val="1F8795"/>
              </a:gs>
            </a:gsLst>
            <a:lin ang="189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629650" y="4152900"/>
            <a:ext cx="323850" cy="323850"/>
          </a:xfrm>
          <a:prstGeom prst="ellipse">
            <a:avLst/>
          </a:prstGeom>
          <a:gradFill>
            <a:gsLst>
              <a:gs pos="0">
                <a:srgbClr val="F39A5D"/>
              </a:gs>
              <a:gs pos="46000">
                <a:srgbClr val="F7C6A1"/>
              </a:gs>
              <a:gs pos="54000">
                <a:srgbClr val="6FB0B6"/>
              </a:gs>
              <a:gs pos="100000">
                <a:srgbClr val="1F8795"/>
              </a:gs>
            </a:gsLst>
            <a:lin ang="18900000" scaled="1"/>
          </a:gra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-120"/>
          <p:cNvSpPr/>
          <p:nvPr/>
        </p:nvSpPr>
        <p:spPr>
          <a:xfrm>
            <a:off x="9001125" y="2590800"/>
            <a:ext cx="581025" cy="381000"/>
          </a:xfrm>
          <a:custGeom>
            <a:avLst/>
            <a:gdLst/>
            <a:ahLst/>
            <a:cxnLst/>
            <a:rect l="0" t="0" r="0" b="0"/>
            <a:pathLst>
              <a:path w="581025" h="381000">
                <a:moveTo>
                  <a:pt x="0" y="0"/>
                </a:moveTo>
                <a:lnTo>
                  <a:pt x="581025" y="381000"/>
                </a:lnTo>
              </a:path>
            </a:pathLst>
          </a:custGeom>
          <a:noFill/>
          <a:ln w="17145" cap="rnd">
            <a:solidFill>
              <a:srgbClr val="8D6A00"/>
            </a:solidFill>
          </a:ln>
        </p:spPr>
      </p:sp>
      <p:sp>
        <p:nvSpPr>
          <p:cNvPr id="121" name="freeform-121"/>
          <p:cNvSpPr/>
          <p:nvPr/>
        </p:nvSpPr>
        <p:spPr>
          <a:xfrm>
            <a:off x="9498907" y="2896783"/>
            <a:ext cx="95191" cy="82851"/>
          </a:xfrm>
          <a:custGeom>
            <a:avLst/>
            <a:gdLst/>
            <a:ahLst/>
            <a:cxnLst/>
            <a:rect l="0" t="0" r="0" b="0"/>
            <a:pathLst>
              <a:path w="95191" h="82851">
                <a:moveTo>
                  <a:pt x="47008" y="0"/>
                </a:moveTo>
                <a:lnTo>
                  <a:pt x="95191" y="82851"/>
                </a:lnTo>
                <a:lnTo>
                  <a:pt x="0" y="71687"/>
                </a:lnTo>
                <a:close/>
              </a:path>
            </a:pathLst>
          </a:custGeom>
          <a:solidFill>
            <a:srgbClr val="8D6A00"/>
          </a:solidFill>
        </p:spPr>
      </p:sp>
      <p:sp>
        <p:nvSpPr>
          <p:cNvPr id="122" name="freeform-122"/>
          <p:cNvSpPr/>
          <p:nvPr/>
        </p:nvSpPr>
        <p:spPr>
          <a:xfrm>
            <a:off x="9001125" y="3076575"/>
            <a:ext cx="571500" cy="904875"/>
          </a:xfrm>
          <a:custGeom>
            <a:avLst/>
            <a:gdLst/>
            <a:ahLst/>
            <a:cxnLst/>
            <a:rect l="0" t="0" r="0" b="0"/>
            <a:pathLst>
              <a:path w="571500" h="904875">
                <a:moveTo>
                  <a:pt x="0" y="904875"/>
                </a:moveTo>
                <a:lnTo>
                  <a:pt x="571500" y="0"/>
                </a:lnTo>
              </a:path>
            </a:pathLst>
          </a:custGeom>
          <a:noFill/>
          <a:ln w="17145" cap="rnd">
            <a:solidFill>
              <a:srgbClr val="8D6A00"/>
            </a:solidFill>
          </a:ln>
        </p:spPr>
      </p:sp>
      <p:sp>
        <p:nvSpPr>
          <p:cNvPr id="123" name="freeform-123"/>
          <p:cNvSpPr/>
          <p:nvPr/>
        </p:nvSpPr>
        <p:spPr>
          <a:xfrm>
            <a:off x="9498238" y="3064495"/>
            <a:ext cx="82016" cy="95368"/>
          </a:xfrm>
          <a:custGeom>
            <a:avLst/>
            <a:gdLst/>
            <a:ahLst/>
            <a:cxnLst/>
            <a:rect l="0" t="0" r="0" b="0"/>
            <a:pathLst>
              <a:path w="82016" h="95368">
                <a:moveTo>
                  <a:pt x="0" y="49591"/>
                </a:moveTo>
                <a:lnTo>
                  <a:pt x="82016" y="0"/>
                </a:lnTo>
                <a:lnTo>
                  <a:pt x="72480" y="95368"/>
                </a:lnTo>
                <a:close/>
              </a:path>
            </a:pathLst>
          </a:custGeom>
          <a:solidFill>
            <a:srgbClr val="8D6A00"/>
          </a:solidFill>
        </p:spPr>
      </p:sp>
      <p:sp>
        <p:nvSpPr>
          <p:cNvPr id="124" name="Rounded Rectangle 123"/>
          <p:cNvSpPr/>
          <p:nvPr/>
        </p:nvSpPr>
        <p:spPr>
          <a:xfrm>
            <a:off x="9467850" y="1162050"/>
            <a:ext cx="3800475" cy="847725"/>
          </a:xfrm>
          <a:prstGeom prst="roundRect">
            <a:avLst>
              <a:gd name="adj" fmla="val 19101"/>
            </a:avLst>
          </a:prstGeom>
          <a:solidFill>
            <a:srgbClr val="F8F8F8"/>
          </a:solidFill>
          <a:ln w="20955">
            <a:solidFill>
              <a:srgbClr val="22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170795" y="1276350"/>
            <a:ext cx="2423160" cy="238125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11111"/>
                </a:solidFill>
                <a:latin typeface="Arial"/>
              </a:rPr>
              <a:t>task-conditioned imagination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9601200" y="1581150"/>
            <a:ext cx="457200" cy="314325"/>
          </a:xfrm>
          <a:prstGeom prst="roundRect">
            <a:avLst>
              <a:gd name="adj" fmla="val 18181"/>
            </a:avLst>
          </a:prstGeom>
          <a:solidFill>
            <a:srgbClr val="92BFE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720501" y="1646396"/>
            <a:ext cx="218599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z</a:t>
            </a:r>
            <a:r>
              <a:rPr sz="825" i="1" b="1" baseline="30000">
                <a:solidFill>
                  <a:srgbClr val="FFFFFF"/>
                </a:solidFill>
                <a:latin typeface="Times New Roman"/>
              </a:rPr>
              <a:t>τ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10525125" y="1581150"/>
            <a:ext cx="457200" cy="314325"/>
          </a:xfrm>
          <a:prstGeom prst="roundRect">
            <a:avLst>
              <a:gd name="adj" fmla="val 18181"/>
            </a:avLst>
          </a:prstGeom>
          <a:solidFill>
            <a:srgbClr val="92BFE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0556986" y="1646396"/>
            <a:ext cx="393478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z</a:t>
            </a:r>
            <a:r>
              <a:rPr sz="825" i="1" b="1" baseline="30000">
                <a:solidFill>
                  <a:srgbClr val="FFFFFF"/>
                </a:solidFill>
                <a:latin typeface="Times New Roman"/>
              </a:rPr>
              <a:t>τ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t+1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1458575" y="1581150"/>
            <a:ext cx="457200" cy="314325"/>
          </a:xfrm>
          <a:prstGeom prst="roundRect">
            <a:avLst>
              <a:gd name="adj" fmla="val 18181"/>
            </a:avLst>
          </a:prstGeom>
          <a:solidFill>
            <a:srgbClr val="92BFE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1490436" y="1646396"/>
            <a:ext cx="393478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z</a:t>
            </a:r>
            <a:r>
              <a:rPr sz="825" i="1" b="1" baseline="30000">
                <a:solidFill>
                  <a:srgbClr val="FFFFFF"/>
                </a:solidFill>
                <a:latin typeface="Times New Roman"/>
              </a:rPr>
              <a:t>τ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t+2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12715875" y="1581150"/>
            <a:ext cx="457200" cy="314325"/>
          </a:xfrm>
          <a:prstGeom prst="roundRect">
            <a:avLst>
              <a:gd name="adj" fmla="val 18181"/>
            </a:avLst>
          </a:prstGeom>
          <a:solidFill>
            <a:srgbClr val="92BFE4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2750975" y="1646396"/>
            <a:ext cx="387001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z</a:t>
            </a:r>
            <a:r>
              <a:rPr sz="825" i="1" b="1" baseline="30000">
                <a:solidFill>
                  <a:srgbClr val="FFFFFF"/>
                </a:solidFill>
                <a:latin typeface="Times New Roman"/>
              </a:rPr>
              <a:t>τ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t+h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10067925" y="1733550"/>
            <a:ext cx="447675" cy="0"/>
          </a:xfrm>
          <a:prstGeom prst="line">
            <a:avLst/>
          </a:prstGeom>
          <a:ln w="17145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freeform-135"/>
          <p:cNvSpPr/>
          <p:nvPr/>
        </p:nvSpPr>
        <p:spPr>
          <a:xfrm>
            <a:off x="10444162" y="169068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0" y="0"/>
                </a:moveTo>
                <a:lnTo>
                  <a:pt x="85725" y="42862"/>
                </a:lnTo>
                <a:lnTo>
                  <a:pt x="0" y="85725"/>
                </a:lnTo>
                <a:close/>
              </a:path>
            </a:pathLst>
          </a:custGeom>
          <a:solidFill>
            <a:srgbClr val="8D6A00"/>
          </a:solidFill>
        </p:spPr>
      </p:sp>
      <p:cxnSp>
        <p:nvCxnSpPr>
          <p:cNvPr id="136" name="Connector 135"/>
          <p:cNvCxnSpPr/>
          <p:nvPr/>
        </p:nvCxnSpPr>
        <p:spPr>
          <a:xfrm>
            <a:off x="10991850" y="1733550"/>
            <a:ext cx="457200" cy="0"/>
          </a:xfrm>
          <a:prstGeom prst="line">
            <a:avLst/>
          </a:prstGeom>
          <a:ln w="17145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reeform-137"/>
          <p:cNvSpPr/>
          <p:nvPr/>
        </p:nvSpPr>
        <p:spPr>
          <a:xfrm>
            <a:off x="11377612" y="169068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0" y="0"/>
                </a:moveTo>
                <a:lnTo>
                  <a:pt x="85725" y="42862"/>
                </a:lnTo>
                <a:lnTo>
                  <a:pt x="0" y="85725"/>
                </a:lnTo>
                <a:close/>
              </a:path>
            </a:pathLst>
          </a:custGeom>
          <a:solidFill>
            <a:srgbClr val="8D6A00"/>
          </a:solidFill>
        </p:spPr>
      </p:sp>
      <p:cxnSp>
        <p:nvCxnSpPr>
          <p:cNvPr id="138" name="Connector 137"/>
          <p:cNvCxnSpPr/>
          <p:nvPr/>
        </p:nvCxnSpPr>
        <p:spPr>
          <a:xfrm>
            <a:off x="11925300" y="1733550"/>
            <a:ext cx="781050" cy="0"/>
          </a:xfrm>
          <a:prstGeom prst="line">
            <a:avLst/>
          </a:prstGeom>
          <a:ln w="17145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freeform-139"/>
          <p:cNvSpPr/>
          <p:nvPr/>
        </p:nvSpPr>
        <p:spPr>
          <a:xfrm>
            <a:off x="12634912" y="169068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0" y="0"/>
                </a:moveTo>
                <a:lnTo>
                  <a:pt x="85725" y="42862"/>
                </a:lnTo>
                <a:lnTo>
                  <a:pt x="0" y="85725"/>
                </a:lnTo>
                <a:close/>
              </a:path>
            </a:pathLst>
          </a:custGeom>
          <a:solidFill>
            <a:srgbClr val="8D6A00"/>
          </a:solidFill>
        </p:spPr>
      </p:sp>
      <p:sp>
        <p:nvSpPr>
          <p:cNvPr id="140" name="TextBox 139"/>
          <p:cNvSpPr txBox="1"/>
          <p:nvPr/>
        </p:nvSpPr>
        <p:spPr>
          <a:xfrm>
            <a:off x="12000548" y="1627822"/>
            <a:ext cx="154305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>
                <a:solidFill>
                  <a:srgbClr val="777777"/>
                </a:solidFill>
                <a:latin typeface="Arial"/>
              </a:rPr>
              <a:t>...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9829800" y="1895475"/>
            <a:ext cx="0" cy="257175"/>
          </a:xfrm>
          <a:prstGeom prst="line">
            <a:avLst/>
          </a:prstGeom>
          <a:ln w="16192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freeform-142"/>
          <p:cNvSpPr/>
          <p:nvPr/>
        </p:nvSpPr>
        <p:spPr>
          <a:xfrm>
            <a:off x="9786938" y="2081212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85725" y="0"/>
                </a:moveTo>
                <a:lnTo>
                  <a:pt x="42862" y="85725"/>
                </a:lnTo>
                <a:lnTo>
                  <a:pt x="0" y="0"/>
                </a:lnTo>
                <a:close/>
              </a:path>
            </a:pathLst>
          </a:custGeom>
          <a:solidFill>
            <a:srgbClr val="8D6A00"/>
          </a:solidFill>
        </p:spPr>
      </p:sp>
      <p:cxnSp>
        <p:nvCxnSpPr>
          <p:cNvPr id="143" name="Connector 142"/>
          <p:cNvCxnSpPr/>
          <p:nvPr/>
        </p:nvCxnSpPr>
        <p:spPr>
          <a:xfrm>
            <a:off x="10753725" y="1895475"/>
            <a:ext cx="0" cy="257175"/>
          </a:xfrm>
          <a:prstGeom prst="line">
            <a:avLst/>
          </a:prstGeom>
          <a:ln w="16192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freeform-144"/>
          <p:cNvSpPr/>
          <p:nvPr/>
        </p:nvSpPr>
        <p:spPr>
          <a:xfrm>
            <a:off x="10710862" y="2081212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85725" y="0"/>
                </a:moveTo>
                <a:lnTo>
                  <a:pt x="42862" y="85725"/>
                </a:lnTo>
                <a:lnTo>
                  <a:pt x="0" y="0"/>
                </a:lnTo>
                <a:close/>
              </a:path>
            </a:pathLst>
          </a:custGeom>
          <a:solidFill>
            <a:srgbClr val="8D6A00"/>
          </a:solidFill>
        </p:spPr>
      </p:sp>
      <p:cxnSp>
        <p:nvCxnSpPr>
          <p:cNvPr id="145" name="Connector 144"/>
          <p:cNvCxnSpPr/>
          <p:nvPr/>
        </p:nvCxnSpPr>
        <p:spPr>
          <a:xfrm>
            <a:off x="11687175" y="1895475"/>
            <a:ext cx="0" cy="257175"/>
          </a:xfrm>
          <a:prstGeom prst="line">
            <a:avLst/>
          </a:prstGeom>
          <a:ln w="16192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freeform-146"/>
          <p:cNvSpPr/>
          <p:nvPr/>
        </p:nvSpPr>
        <p:spPr>
          <a:xfrm>
            <a:off x="11644312" y="2081212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85725" y="0"/>
                </a:moveTo>
                <a:lnTo>
                  <a:pt x="42862" y="85725"/>
                </a:lnTo>
                <a:lnTo>
                  <a:pt x="0" y="0"/>
                </a:lnTo>
                <a:close/>
              </a:path>
            </a:pathLst>
          </a:custGeom>
          <a:solidFill>
            <a:srgbClr val="8D6A00"/>
          </a:solidFill>
        </p:spPr>
      </p:sp>
      <p:sp>
        <p:nvSpPr>
          <p:cNvPr id="147" name="Oval 146"/>
          <p:cNvSpPr/>
          <p:nvPr/>
        </p:nvSpPr>
        <p:spPr>
          <a:xfrm>
            <a:off x="9629775" y="2152650"/>
            <a:ext cx="400050" cy="400050"/>
          </a:xfrm>
          <a:prstGeom prst="ellipse">
            <a:avLst/>
          </a:prstGeom>
          <a:solidFill>
            <a:srgbClr val="F07D8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553700" y="2152650"/>
            <a:ext cx="400050" cy="400050"/>
          </a:xfrm>
          <a:prstGeom prst="ellipse">
            <a:avLst/>
          </a:prstGeom>
          <a:solidFill>
            <a:srgbClr val="F07D8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1487150" y="2152650"/>
            <a:ext cx="400050" cy="400050"/>
          </a:xfrm>
          <a:prstGeom prst="ellipse">
            <a:avLst/>
          </a:prstGeom>
          <a:solidFill>
            <a:srgbClr val="F07D86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9773936" y="2255996"/>
            <a:ext cx="111728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r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610421" y="2255996"/>
            <a:ext cx="286607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r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t+1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1543871" y="2255996"/>
            <a:ext cx="286607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r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t+2</a:t>
            </a:r>
          </a:p>
        </p:txBody>
      </p:sp>
      <p:sp>
        <p:nvSpPr>
          <p:cNvPr id="153" name="freeform-153"/>
          <p:cNvSpPr/>
          <p:nvPr/>
        </p:nvSpPr>
        <p:spPr>
          <a:xfrm>
            <a:off x="12325350" y="2276475"/>
            <a:ext cx="114300" cy="111125"/>
          </a:xfrm>
          <a:custGeom>
            <a:avLst/>
            <a:gdLst/>
            <a:ahLst/>
            <a:cxnLst/>
            <a:rect l="0" t="0" r="0" b="0"/>
            <a:pathLst>
              <a:path w="114300" h="111125">
                <a:moveTo>
                  <a:pt x="0" y="0"/>
                </a:moveTo>
                <a:lnTo>
                  <a:pt x="114300" y="0"/>
                </a:lnTo>
                <a:lnTo>
                  <a:pt x="95250" y="85725"/>
                </a:lnTo>
                <a:cubicBezTo>
                  <a:pt x="69850" y="111125"/>
                  <a:pt x="44450" y="111125"/>
                  <a:pt x="19050" y="85725"/>
                </a:cubicBezTo>
                <a:close/>
              </a:path>
            </a:pathLst>
          </a:custGeom>
          <a:noFill/>
          <a:ln w="19050" cap="rnd">
            <a:solidFill>
              <a:srgbClr val="786F3B"/>
            </a:solidFill>
          </a:ln>
        </p:spPr>
      </p:sp>
      <p:sp>
        <p:nvSpPr>
          <p:cNvPr id="154" name="freeform-154"/>
          <p:cNvSpPr/>
          <p:nvPr/>
        </p:nvSpPr>
        <p:spPr>
          <a:xfrm>
            <a:off x="12290425" y="2295525"/>
            <a:ext cx="53975" cy="63500"/>
          </a:xfrm>
          <a:custGeom>
            <a:avLst/>
            <a:gdLst/>
            <a:ahLst/>
            <a:cxnLst/>
            <a:rect l="0" t="0" r="0" b="0"/>
            <a:pathLst>
              <a:path w="53975" h="63500">
                <a:moveTo>
                  <a:pt x="34925" y="0"/>
                </a:moveTo>
                <a:cubicBezTo>
                  <a:pt x="9525" y="0"/>
                  <a:pt x="0" y="12700"/>
                  <a:pt x="6350" y="38100"/>
                </a:cubicBezTo>
                <a:cubicBezTo>
                  <a:pt x="19050" y="57150"/>
                  <a:pt x="34925" y="63500"/>
                  <a:pt x="53975" y="57150"/>
                </a:cubicBezTo>
              </a:path>
            </a:pathLst>
          </a:custGeom>
          <a:noFill/>
          <a:ln w="19050" cap="rnd">
            <a:solidFill>
              <a:srgbClr val="786F3B"/>
            </a:solidFill>
          </a:ln>
        </p:spPr>
      </p:sp>
      <p:sp>
        <p:nvSpPr>
          <p:cNvPr id="155" name="freeform-155"/>
          <p:cNvSpPr/>
          <p:nvPr/>
        </p:nvSpPr>
        <p:spPr>
          <a:xfrm>
            <a:off x="12420600" y="2295525"/>
            <a:ext cx="53975" cy="63500"/>
          </a:xfrm>
          <a:custGeom>
            <a:avLst/>
            <a:gdLst/>
            <a:ahLst/>
            <a:cxnLst/>
            <a:rect l="0" t="0" r="0" b="0"/>
            <a:pathLst>
              <a:path w="53975" h="63500">
                <a:moveTo>
                  <a:pt x="19050" y="0"/>
                </a:moveTo>
                <a:cubicBezTo>
                  <a:pt x="44450" y="0"/>
                  <a:pt x="53975" y="12700"/>
                  <a:pt x="47625" y="38100"/>
                </a:cubicBezTo>
                <a:cubicBezTo>
                  <a:pt x="34925" y="57150"/>
                  <a:pt x="19050" y="63500"/>
                  <a:pt x="0" y="57150"/>
                </a:cubicBezTo>
              </a:path>
            </a:pathLst>
          </a:custGeom>
          <a:noFill/>
          <a:ln w="19050" cap="rnd">
            <a:solidFill>
              <a:srgbClr val="786F3B"/>
            </a:solidFill>
          </a:ln>
        </p:spPr>
      </p:sp>
      <p:cxnSp>
        <p:nvCxnSpPr>
          <p:cNvPr id="156" name="Connector 155"/>
          <p:cNvCxnSpPr/>
          <p:nvPr/>
        </p:nvCxnSpPr>
        <p:spPr>
          <a:xfrm>
            <a:off x="12382500" y="2390775"/>
            <a:ext cx="0" cy="47625"/>
          </a:xfrm>
          <a:prstGeom prst="line">
            <a:avLst/>
          </a:prstGeom>
          <a:ln w="19050" cap="rnd">
            <a:solidFill>
              <a:srgbClr val="786F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12334875" y="2447925"/>
            <a:ext cx="95250" cy="0"/>
          </a:xfrm>
          <a:prstGeom prst="line">
            <a:avLst/>
          </a:prstGeom>
          <a:ln w="19050" cap="rnd">
            <a:solidFill>
              <a:srgbClr val="786F3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/>
          <p:cNvSpPr txBox="1"/>
          <p:nvPr/>
        </p:nvSpPr>
        <p:spPr>
          <a:xfrm>
            <a:off x="12611100" y="2152174"/>
            <a:ext cx="470535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25">
                <a:solidFill>
                  <a:srgbClr val="666666"/>
                </a:solidFill>
                <a:latin typeface="Arial"/>
              </a:rPr>
              <a:t>dense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2611100" y="2323624"/>
            <a:ext cx="557403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425">
                <a:solidFill>
                  <a:srgbClr val="666666"/>
                </a:solidFill>
                <a:latin typeface="Arial"/>
              </a:rPr>
              <a:t>reward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9467850" y="2676525"/>
            <a:ext cx="3800475" cy="1647825"/>
          </a:xfrm>
          <a:prstGeom prst="roundRect">
            <a:avLst>
              <a:gd name="adj" fmla="val 9826"/>
            </a:avLst>
          </a:prstGeom>
          <a:solidFill>
            <a:srgbClr val="F8F8F8"/>
          </a:solidFill>
          <a:ln w="20955">
            <a:solidFill>
              <a:srgbClr val="223A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9610725" y="2828925"/>
            <a:ext cx="447675" cy="333375"/>
          </a:xfrm>
          <a:prstGeom prst="roundRect">
            <a:avLst>
              <a:gd name="adj" fmla="val 11428"/>
            </a:avLst>
          </a:prstGeom>
          <a:solidFill>
            <a:srgbClr val="2D73B7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765744" y="2903696"/>
            <a:ext cx="137636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z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10534650" y="2828925"/>
            <a:ext cx="447675" cy="333375"/>
          </a:xfrm>
          <a:prstGeom prst="roundRect">
            <a:avLst>
              <a:gd name="adj" fmla="val 11428"/>
            </a:avLst>
          </a:prstGeom>
          <a:solidFill>
            <a:srgbClr val="2D73B7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0602230" y="2903696"/>
            <a:ext cx="312515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z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t+1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11458575" y="2828925"/>
            <a:ext cx="447675" cy="333375"/>
          </a:xfrm>
          <a:prstGeom prst="roundRect">
            <a:avLst>
              <a:gd name="adj" fmla="val 11428"/>
            </a:avLst>
          </a:prstGeom>
          <a:solidFill>
            <a:srgbClr val="2D73B7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1526155" y="2903696"/>
            <a:ext cx="312515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z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t+2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12706350" y="2828925"/>
            <a:ext cx="447675" cy="333375"/>
          </a:xfrm>
          <a:prstGeom prst="roundRect">
            <a:avLst>
              <a:gd name="adj" fmla="val 11428"/>
            </a:avLst>
          </a:prstGeom>
          <a:solidFill>
            <a:srgbClr val="2D73B7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12777168" y="2903696"/>
            <a:ext cx="306038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 b="1">
                <a:solidFill>
                  <a:srgbClr val="FFFFFF"/>
                </a:solidFill>
                <a:latin typeface="Times New Roman"/>
              </a:rPr>
              <a:t>z</a:t>
            </a:r>
            <a:r>
              <a:rPr sz="825" i="1" b="1" baseline="-25000">
                <a:solidFill>
                  <a:srgbClr val="FFFFFF"/>
                </a:solidFill>
                <a:latin typeface="Times New Roman"/>
              </a:rPr>
              <a:t>t+h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10067925" y="2990850"/>
            <a:ext cx="457200" cy="0"/>
          </a:xfrm>
          <a:prstGeom prst="line">
            <a:avLst/>
          </a:prstGeom>
          <a:ln w="17145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freeform-170"/>
          <p:cNvSpPr/>
          <p:nvPr/>
        </p:nvSpPr>
        <p:spPr>
          <a:xfrm>
            <a:off x="10453688" y="294798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0" y="0"/>
                </a:moveTo>
                <a:lnTo>
                  <a:pt x="85725" y="42862"/>
                </a:lnTo>
                <a:lnTo>
                  <a:pt x="0" y="85725"/>
                </a:lnTo>
                <a:close/>
              </a:path>
            </a:pathLst>
          </a:custGeom>
          <a:solidFill>
            <a:srgbClr val="8D6A00"/>
          </a:solidFill>
        </p:spPr>
      </p:sp>
      <p:cxnSp>
        <p:nvCxnSpPr>
          <p:cNvPr id="171" name="Connector 170"/>
          <p:cNvCxnSpPr/>
          <p:nvPr/>
        </p:nvCxnSpPr>
        <p:spPr>
          <a:xfrm>
            <a:off x="10991850" y="2990850"/>
            <a:ext cx="457200" cy="0"/>
          </a:xfrm>
          <a:prstGeom prst="line">
            <a:avLst/>
          </a:prstGeom>
          <a:ln w="17145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freeform-172"/>
          <p:cNvSpPr/>
          <p:nvPr/>
        </p:nvSpPr>
        <p:spPr>
          <a:xfrm>
            <a:off x="11377612" y="294798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0" y="0"/>
                </a:moveTo>
                <a:lnTo>
                  <a:pt x="85725" y="42862"/>
                </a:lnTo>
                <a:lnTo>
                  <a:pt x="0" y="85725"/>
                </a:lnTo>
                <a:close/>
              </a:path>
            </a:pathLst>
          </a:custGeom>
          <a:solidFill>
            <a:srgbClr val="8D6A00"/>
          </a:solidFill>
        </p:spPr>
      </p:sp>
      <p:cxnSp>
        <p:nvCxnSpPr>
          <p:cNvPr id="173" name="Connector 172"/>
          <p:cNvCxnSpPr/>
          <p:nvPr/>
        </p:nvCxnSpPr>
        <p:spPr>
          <a:xfrm>
            <a:off x="11915775" y="2990850"/>
            <a:ext cx="781050" cy="0"/>
          </a:xfrm>
          <a:prstGeom prst="line">
            <a:avLst/>
          </a:prstGeom>
          <a:ln w="17145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freeform-174"/>
          <p:cNvSpPr/>
          <p:nvPr/>
        </p:nvSpPr>
        <p:spPr>
          <a:xfrm>
            <a:off x="12625388" y="294798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0" y="0"/>
                </a:moveTo>
                <a:lnTo>
                  <a:pt x="85725" y="42862"/>
                </a:lnTo>
                <a:lnTo>
                  <a:pt x="0" y="85725"/>
                </a:lnTo>
                <a:close/>
              </a:path>
            </a:pathLst>
          </a:custGeom>
          <a:solidFill>
            <a:srgbClr val="8D6A00"/>
          </a:solidFill>
        </p:spPr>
      </p:sp>
      <p:sp>
        <p:nvSpPr>
          <p:cNvPr id="175" name="TextBox 174"/>
          <p:cNvSpPr txBox="1"/>
          <p:nvPr/>
        </p:nvSpPr>
        <p:spPr>
          <a:xfrm>
            <a:off x="12114848" y="2885122"/>
            <a:ext cx="154305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>
                <a:solidFill>
                  <a:srgbClr val="777777"/>
                </a:solidFill>
                <a:latin typeface="Arial"/>
              </a:rPr>
              <a:t>...</a:t>
            </a:r>
          </a:p>
        </p:txBody>
      </p:sp>
      <p:sp>
        <p:nvSpPr>
          <p:cNvPr id="176" name="Oval 175"/>
          <p:cNvSpPr/>
          <p:nvPr/>
        </p:nvSpPr>
        <p:spPr>
          <a:xfrm>
            <a:off x="9667875" y="3886200"/>
            <a:ext cx="342900" cy="342900"/>
          </a:xfrm>
          <a:prstGeom prst="ellipse">
            <a:avLst/>
          </a:prstGeom>
          <a:solidFill>
            <a:srgbClr val="8FAEE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9792176" y="3961448"/>
            <a:ext cx="94298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 b="1">
                <a:solidFill>
                  <a:srgbClr val="FFFFFF"/>
                </a:solidFill>
                <a:latin typeface="Times New Roman"/>
              </a:rPr>
              <a:t>π</a:t>
            </a:r>
          </a:p>
        </p:txBody>
      </p:sp>
      <p:sp>
        <p:nvSpPr>
          <p:cNvPr id="178" name="Oval 177"/>
          <p:cNvSpPr/>
          <p:nvPr/>
        </p:nvSpPr>
        <p:spPr>
          <a:xfrm>
            <a:off x="10601325" y="3886200"/>
            <a:ext cx="342900" cy="342900"/>
          </a:xfrm>
          <a:prstGeom prst="ellipse">
            <a:avLst/>
          </a:prstGeom>
          <a:solidFill>
            <a:srgbClr val="8FAEE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0725626" y="3961448"/>
            <a:ext cx="94298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 b="1">
                <a:solidFill>
                  <a:srgbClr val="FFFFFF"/>
                </a:solidFill>
                <a:latin typeface="Times New Roman"/>
              </a:rPr>
              <a:t>π</a:t>
            </a:r>
          </a:p>
        </p:txBody>
      </p:sp>
      <p:sp>
        <p:nvSpPr>
          <p:cNvPr id="180" name="Oval 179"/>
          <p:cNvSpPr/>
          <p:nvPr/>
        </p:nvSpPr>
        <p:spPr>
          <a:xfrm>
            <a:off x="11544300" y="3886200"/>
            <a:ext cx="342900" cy="342900"/>
          </a:xfrm>
          <a:prstGeom prst="ellipse">
            <a:avLst/>
          </a:prstGeom>
          <a:solidFill>
            <a:srgbClr val="8FAEE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1668601" y="3961448"/>
            <a:ext cx="94298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 b="1">
                <a:solidFill>
                  <a:srgbClr val="FFFFFF"/>
                </a:solidFill>
                <a:latin typeface="Times New Roman"/>
              </a:rPr>
              <a:t>π</a:t>
            </a:r>
          </a:p>
        </p:txBody>
      </p:sp>
      <p:sp>
        <p:nvSpPr>
          <p:cNvPr id="182" name="Oval 181"/>
          <p:cNvSpPr/>
          <p:nvPr/>
        </p:nvSpPr>
        <p:spPr>
          <a:xfrm>
            <a:off x="10144125" y="3409950"/>
            <a:ext cx="342900" cy="342900"/>
          </a:xfrm>
          <a:prstGeom prst="ellipse">
            <a:avLst/>
          </a:prstGeom>
          <a:solidFill>
            <a:srgbClr val="C4551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10250805" y="3493770"/>
            <a:ext cx="129540" cy="1905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00" i="1" b="1">
                <a:solidFill>
                  <a:srgbClr val="FFFFFF"/>
                </a:solidFill>
                <a:latin typeface="Times New Roman"/>
              </a:rPr>
              <a:t>a</a:t>
            </a:r>
            <a:r>
              <a:rPr sz="750" i="1" b="1" baseline="-25000">
                <a:solidFill>
                  <a:srgbClr val="FFFFFF"/>
                </a:solidFill>
                <a:latin typeface="Times New Roman"/>
              </a:rPr>
              <a:t>t</a:t>
            </a:r>
          </a:p>
        </p:txBody>
      </p:sp>
      <p:sp>
        <p:nvSpPr>
          <p:cNvPr id="184" name="Oval 183"/>
          <p:cNvSpPr/>
          <p:nvPr/>
        </p:nvSpPr>
        <p:spPr>
          <a:xfrm>
            <a:off x="11068050" y="3409950"/>
            <a:ext cx="342900" cy="342900"/>
          </a:xfrm>
          <a:prstGeom prst="ellipse">
            <a:avLst/>
          </a:prstGeom>
          <a:solidFill>
            <a:srgbClr val="C4551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1092434" y="3493770"/>
            <a:ext cx="294132" cy="1905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00" i="1" b="1">
                <a:solidFill>
                  <a:srgbClr val="FFFFFF"/>
                </a:solidFill>
                <a:latin typeface="Times New Roman"/>
              </a:rPr>
              <a:t>a</a:t>
            </a:r>
            <a:r>
              <a:rPr sz="750" i="1" b="1" baseline="-25000">
                <a:solidFill>
                  <a:srgbClr val="FFFFFF"/>
                </a:solidFill>
                <a:latin typeface="Times New Roman"/>
              </a:rPr>
              <a:t>t+1</a:t>
            </a:r>
          </a:p>
        </p:txBody>
      </p:sp>
      <p:sp>
        <p:nvSpPr>
          <p:cNvPr id="186" name="Oval 185"/>
          <p:cNvSpPr/>
          <p:nvPr/>
        </p:nvSpPr>
        <p:spPr>
          <a:xfrm>
            <a:off x="12011025" y="3409950"/>
            <a:ext cx="342900" cy="342900"/>
          </a:xfrm>
          <a:prstGeom prst="ellipse">
            <a:avLst/>
          </a:prstGeom>
          <a:solidFill>
            <a:srgbClr val="C4551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2035409" y="3493770"/>
            <a:ext cx="294132" cy="19050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00" i="1" b="1">
                <a:solidFill>
                  <a:srgbClr val="FFFFFF"/>
                </a:solidFill>
                <a:latin typeface="Times New Roman"/>
              </a:rPr>
              <a:t>a</a:t>
            </a:r>
            <a:r>
              <a:rPr sz="750" i="1" b="1" baseline="-25000">
                <a:solidFill>
                  <a:srgbClr val="FFFFFF"/>
                </a:solidFill>
                <a:latin typeface="Times New Roman"/>
              </a:rPr>
              <a:t>t+2</a:t>
            </a:r>
          </a:p>
        </p:txBody>
      </p:sp>
      <p:cxnSp>
        <p:nvCxnSpPr>
          <p:cNvPr id="188" name="Connector 187"/>
          <p:cNvCxnSpPr/>
          <p:nvPr/>
        </p:nvCxnSpPr>
        <p:spPr>
          <a:xfrm>
            <a:off x="9839325" y="3171825"/>
            <a:ext cx="0" cy="704850"/>
          </a:xfrm>
          <a:prstGeom prst="line">
            <a:avLst/>
          </a:prstGeom>
          <a:ln w="15240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freeform-189"/>
          <p:cNvSpPr/>
          <p:nvPr/>
        </p:nvSpPr>
        <p:spPr>
          <a:xfrm>
            <a:off x="9796462" y="380523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85725" y="0"/>
                </a:moveTo>
                <a:lnTo>
                  <a:pt x="42862" y="85725"/>
                </a:lnTo>
                <a:lnTo>
                  <a:pt x="0" y="0"/>
                </a:lnTo>
                <a:close/>
              </a:path>
            </a:pathLst>
          </a:custGeom>
          <a:solidFill>
            <a:srgbClr val="8D6A00"/>
          </a:solidFill>
        </p:spPr>
      </p:sp>
      <p:cxnSp>
        <p:nvCxnSpPr>
          <p:cNvPr id="190" name="Connector 189"/>
          <p:cNvCxnSpPr/>
          <p:nvPr/>
        </p:nvCxnSpPr>
        <p:spPr>
          <a:xfrm>
            <a:off x="10772775" y="3171825"/>
            <a:ext cx="0" cy="704850"/>
          </a:xfrm>
          <a:prstGeom prst="line">
            <a:avLst/>
          </a:prstGeom>
          <a:ln w="15240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freeform-191"/>
          <p:cNvSpPr/>
          <p:nvPr/>
        </p:nvSpPr>
        <p:spPr>
          <a:xfrm>
            <a:off x="10729912" y="380523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85725" y="0"/>
                </a:moveTo>
                <a:lnTo>
                  <a:pt x="42862" y="85725"/>
                </a:lnTo>
                <a:lnTo>
                  <a:pt x="0" y="0"/>
                </a:lnTo>
                <a:close/>
              </a:path>
            </a:pathLst>
          </a:custGeom>
          <a:solidFill>
            <a:srgbClr val="8D6A00"/>
          </a:solidFill>
        </p:spPr>
      </p:sp>
      <p:cxnSp>
        <p:nvCxnSpPr>
          <p:cNvPr id="192" name="Connector 191"/>
          <p:cNvCxnSpPr/>
          <p:nvPr/>
        </p:nvCxnSpPr>
        <p:spPr>
          <a:xfrm>
            <a:off x="11715750" y="3171825"/>
            <a:ext cx="0" cy="704850"/>
          </a:xfrm>
          <a:prstGeom prst="line">
            <a:avLst/>
          </a:prstGeom>
          <a:ln w="15240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freeform-193"/>
          <p:cNvSpPr/>
          <p:nvPr/>
        </p:nvSpPr>
        <p:spPr>
          <a:xfrm>
            <a:off x="11672888" y="3805238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85725" y="0"/>
                </a:moveTo>
                <a:lnTo>
                  <a:pt x="42862" y="85725"/>
                </a:lnTo>
                <a:lnTo>
                  <a:pt x="0" y="0"/>
                </a:lnTo>
                <a:close/>
              </a:path>
            </a:pathLst>
          </a:custGeom>
          <a:solidFill>
            <a:srgbClr val="8D6A00"/>
          </a:solidFill>
        </p:spPr>
      </p:sp>
      <p:sp>
        <p:nvSpPr>
          <p:cNvPr id="194" name="freeform-194"/>
          <p:cNvSpPr/>
          <p:nvPr/>
        </p:nvSpPr>
        <p:spPr>
          <a:xfrm>
            <a:off x="10010775" y="3771900"/>
            <a:ext cx="304800" cy="285750"/>
          </a:xfrm>
          <a:custGeom>
            <a:avLst/>
            <a:gdLst/>
            <a:ahLst/>
            <a:cxnLst/>
            <a:rect l="0" t="0" r="0" b="0"/>
            <a:pathLst>
              <a:path w="304800" h="285750">
                <a:moveTo>
                  <a:pt x="0" y="285750"/>
                </a:moveTo>
                <a:cubicBezTo>
                  <a:pt x="190500" y="276225"/>
                  <a:pt x="295275" y="133350"/>
                  <a:pt x="304800" y="0"/>
                </a:cubicBezTo>
              </a:path>
            </a:pathLst>
          </a:custGeom>
          <a:noFill/>
          <a:ln w="16192" cap="rnd">
            <a:solidFill>
              <a:srgbClr val="8D6A00"/>
            </a:solidFill>
          </a:ln>
        </p:spPr>
      </p:sp>
      <p:sp>
        <p:nvSpPr>
          <p:cNvPr id="195" name="freeform-195"/>
          <p:cNvSpPr/>
          <p:nvPr/>
        </p:nvSpPr>
        <p:spPr>
          <a:xfrm>
            <a:off x="10234143" y="3762128"/>
            <a:ext cx="91855" cy="89901"/>
          </a:xfrm>
          <a:custGeom>
            <a:avLst/>
            <a:gdLst/>
            <a:ahLst/>
            <a:cxnLst/>
            <a:rect l="0" t="0" r="0" b="0"/>
            <a:pathLst>
              <a:path w="91855" h="89901">
                <a:moveTo>
                  <a:pt x="0" y="27361"/>
                </a:moveTo>
                <a:lnTo>
                  <a:pt x="91855" y="0"/>
                </a:lnTo>
                <a:lnTo>
                  <a:pt x="58631" y="89901"/>
                </a:lnTo>
                <a:close/>
              </a:path>
            </a:pathLst>
          </a:custGeom>
          <a:solidFill>
            <a:srgbClr val="8D6A00"/>
          </a:solidFill>
        </p:spPr>
      </p:sp>
      <p:sp>
        <p:nvSpPr>
          <p:cNvPr id="196" name="freeform-196"/>
          <p:cNvSpPr/>
          <p:nvPr/>
        </p:nvSpPr>
        <p:spPr>
          <a:xfrm>
            <a:off x="10944225" y="3771900"/>
            <a:ext cx="295275" cy="285750"/>
          </a:xfrm>
          <a:custGeom>
            <a:avLst/>
            <a:gdLst/>
            <a:ahLst/>
            <a:cxnLst/>
            <a:rect l="0" t="0" r="0" b="0"/>
            <a:pathLst>
              <a:path w="295275" h="285750">
                <a:moveTo>
                  <a:pt x="0" y="285750"/>
                </a:moveTo>
                <a:cubicBezTo>
                  <a:pt x="200025" y="276225"/>
                  <a:pt x="285750" y="133350"/>
                  <a:pt x="295275" y="0"/>
                </a:cubicBezTo>
              </a:path>
            </a:pathLst>
          </a:custGeom>
          <a:noFill/>
          <a:ln w="16192" cap="rnd">
            <a:solidFill>
              <a:srgbClr val="8D6A00"/>
            </a:solidFill>
          </a:ln>
        </p:spPr>
      </p:sp>
      <p:sp>
        <p:nvSpPr>
          <p:cNvPr id="197" name="freeform-197"/>
          <p:cNvSpPr/>
          <p:nvPr/>
        </p:nvSpPr>
        <p:spPr>
          <a:xfrm>
            <a:off x="11158357" y="3761964"/>
            <a:ext cx="91410" cy="90416"/>
          </a:xfrm>
          <a:custGeom>
            <a:avLst/>
            <a:gdLst/>
            <a:ahLst/>
            <a:cxnLst/>
            <a:rect l="0" t="0" r="0" b="0"/>
            <a:pathLst>
              <a:path w="91410" h="90416">
                <a:moveTo>
                  <a:pt x="0" y="28814"/>
                </a:moveTo>
                <a:lnTo>
                  <a:pt x="91410" y="0"/>
                </a:lnTo>
                <a:lnTo>
                  <a:pt x="59615" y="90416"/>
                </a:lnTo>
                <a:close/>
              </a:path>
            </a:pathLst>
          </a:custGeom>
          <a:solidFill>
            <a:srgbClr val="8D6A00"/>
          </a:solidFill>
        </p:spPr>
      </p:sp>
      <p:sp>
        <p:nvSpPr>
          <p:cNvPr id="198" name="freeform-198"/>
          <p:cNvSpPr/>
          <p:nvPr/>
        </p:nvSpPr>
        <p:spPr>
          <a:xfrm>
            <a:off x="11887200" y="3771900"/>
            <a:ext cx="295275" cy="285750"/>
          </a:xfrm>
          <a:custGeom>
            <a:avLst/>
            <a:gdLst/>
            <a:ahLst/>
            <a:cxnLst/>
            <a:rect l="0" t="0" r="0" b="0"/>
            <a:pathLst>
              <a:path w="295275" h="285750">
                <a:moveTo>
                  <a:pt x="0" y="285750"/>
                </a:moveTo>
                <a:cubicBezTo>
                  <a:pt x="190500" y="276225"/>
                  <a:pt x="285750" y="133350"/>
                  <a:pt x="295275" y="0"/>
                </a:cubicBezTo>
              </a:path>
            </a:pathLst>
          </a:custGeom>
          <a:noFill/>
          <a:ln w="16192" cap="rnd">
            <a:solidFill>
              <a:srgbClr val="8D6A00"/>
            </a:solidFill>
          </a:ln>
        </p:spPr>
      </p:sp>
      <p:sp>
        <p:nvSpPr>
          <p:cNvPr id="199" name="freeform-199"/>
          <p:cNvSpPr/>
          <p:nvPr/>
        </p:nvSpPr>
        <p:spPr>
          <a:xfrm>
            <a:off x="12101332" y="3761964"/>
            <a:ext cx="91410" cy="90416"/>
          </a:xfrm>
          <a:custGeom>
            <a:avLst/>
            <a:gdLst/>
            <a:ahLst/>
            <a:cxnLst/>
            <a:rect l="0" t="0" r="0" b="0"/>
            <a:pathLst>
              <a:path w="91410" h="90416">
                <a:moveTo>
                  <a:pt x="0" y="28814"/>
                </a:moveTo>
                <a:lnTo>
                  <a:pt x="91410" y="0"/>
                </a:lnTo>
                <a:lnTo>
                  <a:pt x="59615" y="90416"/>
                </a:lnTo>
                <a:close/>
              </a:path>
            </a:pathLst>
          </a:custGeom>
          <a:solidFill>
            <a:srgbClr val="8D6A00"/>
          </a:solidFill>
        </p:spPr>
      </p:sp>
      <p:sp>
        <p:nvSpPr>
          <p:cNvPr id="200" name="freeform-200"/>
          <p:cNvSpPr/>
          <p:nvPr/>
        </p:nvSpPr>
        <p:spPr>
          <a:xfrm>
            <a:off x="10315575" y="3171825"/>
            <a:ext cx="438150" cy="228600"/>
          </a:xfrm>
          <a:custGeom>
            <a:avLst/>
            <a:gdLst/>
            <a:ahLst/>
            <a:cxnLst/>
            <a:rect l="0" t="0" r="0" b="0"/>
            <a:pathLst>
              <a:path w="438150" h="228600">
                <a:moveTo>
                  <a:pt x="0" y="228600"/>
                </a:moveTo>
                <a:cubicBezTo>
                  <a:pt x="114300" y="114300"/>
                  <a:pt x="238125" y="66675"/>
                  <a:pt x="438150" y="0"/>
                </a:cubicBezTo>
              </a:path>
            </a:pathLst>
          </a:custGeom>
          <a:noFill/>
          <a:ln w="16192" cap="rnd">
            <a:solidFill>
              <a:srgbClr val="8D6A00"/>
            </a:solidFill>
          </a:ln>
        </p:spPr>
      </p:sp>
      <p:sp>
        <p:nvSpPr>
          <p:cNvPr id="201" name="freeform-201"/>
          <p:cNvSpPr/>
          <p:nvPr/>
        </p:nvSpPr>
        <p:spPr>
          <a:xfrm>
            <a:off x="10670563" y="3165216"/>
            <a:ext cx="95829" cy="77655"/>
          </a:xfrm>
          <a:custGeom>
            <a:avLst/>
            <a:gdLst/>
            <a:ahLst/>
            <a:cxnLst/>
            <a:rect l="0" t="0" r="0" b="0"/>
            <a:pathLst>
              <a:path w="95829" h="77655">
                <a:moveTo>
                  <a:pt x="0" y="1652"/>
                </a:moveTo>
                <a:lnTo>
                  <a:pt x="95829" y="0"/>
                </a:lnTo>
                <a:lnTo>
                  <a:pt x="39653" y="77655"/>
                </a:lnTo>
                <a:close/>
              </a:path>
            </a:pathLst>
          </a:custGeom>
          <a:solidFill>
            <a:srgbClr val="8D6A00"/>
          </a:solidFill>
        </p:spPr>
      </p:sp>
      <p:sp>
        <p:nvSpPr>
          <p:cNvPr id="202" name="freeform-202"/>
          <p:cNvSpPr/>
          <p:nvPr/>
        </p:nvSpPr>
        <p:spPr>
          <a:xfrm>
            <a:off x="11239500" y="3171825"/>
            <a:ext cx="447675" cy="228600"/>
          </a:xfrm>
          <a:custGeom>
            <a:avLst/>
            <a:gdLst/>
            <a:ahLst/>
            <a:cxnLst/>
            <a:rect l="0" t="0" r="0" b="0"/>
            <a:pathLst>
              <a:path w="447675" h="228600">
                <a:moveTo>
                  <a:pt x="0" y="228600"/>
                </a:moveTo>
                <a:cubicBezTo>
                  <a:pt x="123825" y="123825"/>
                  <a:pt x="276225" y="66675"/>
                  <a:pt x="447675" y="0"/>
                </a:cubicBezTo>
              </a:path>
            </a:pathLst>
          </a:custGeom>
          <a:noFill/>
          <a:ln w="16192" cap="rnd">
            <a:solidFill>
              <a:srgbClr val="8D6A00"/>
            </a:solidFill>
          </a:ln>
        </p:spPr>
      </p:sp>
      <p:sp>
        <p:nvSpPr>
          <p:cNvPr id="203" name="freeform-203"/>
          <p:cNvSpPr/>
          <p:nvPr/>
        </p:nvSpPr>
        <p:spPr>
          <a:xfrm>
            <a:off x="11604060" y="3165327"/>
            <a:ext cx="95840" cy="77159"/>
          </a:xfrm>
          <a:custGeom>
            <a:avLst/>
            <a:gdLst/>
            <a:ahLst/>
            <a:cxnLst/>
            <a:rect l="0" t="0" r="0" b="0"/>
            <a:pathLst>
              <a:path w="95840" h="77159">
                <a:moveTo>
                  <a:pt x="0" y="812"/>
                </a:moveTo>
                <a:lnTo>
                  <a:pt x="95840" y="0"/>
                </a:lnTo>
                <a:lnTo>
                  <a:pt x="38986" y="77159"/>
                </a:lnTo>
                <a:close/>
              </a:path>
            </a:pathLst>
          </a:custGeom>
          <a:solidFill>
            <a:srgbClr val="8D6A00"/>
          </a:solidFill>
        </p:spPr>
      </p:sp>
      <p:sp>
        <p:nvSpPr>
          <p:cNvPr id="204" name="freeform-204"/>
          <p:cNvSpPr/>
          <p:nvPr/>
        </p:nvSpPr>
        <p:spPr>
          <a:xfrm>
            <a:off x="12182475" y="3171825"/>
            <a:ext cx="228600" cy="228600"/>
          </a:xfrm>
          <a:custGeom>
            <a:avLst/>
            <a:gdLst/>
            <a:ahLst/>
            <a:cxnLst/>
            <a:rect l="0" t="0" r="0" b="0"/>
            <a:pathLst>
              <a:path w="228600" h="228600">
                <a:moveTo>
                  <a:pt x="0" y="228600"/>
                </a:moveTo>
                <a:cubicBezTo>
                  <a:pt x="114300" y="123825"/>
                  <a:pt x="228600" y="66675"/>
                  <a:pt x="228600" y="0"/>
                </a:cubicBezTo>
              </a:path>
            </a:pathLst>
          </a:custGeom>
          <a:noFill/>
          <a:ln w="16192" cap="rnd">
            <a:solidFill>
              <a:srgbClr val="8D6A00"/>
            </a:solidFill>
          </a:ln>
        </p:spPr>
      </p:sp>
      <p:sp>
        <p:nvSpPr>
          <p:cNvPr id="205" name="freeform-205"/>
          <p:cNvSpPr/>
          <p:nvPr/>
        </p:nvSpPr>
        <p:spPr>
          <a:xfrm>
            <a:off x="12330253" y="3161722"/>
            <a:ext cx="90925" cy="90925"/>
          </a:xfrm>
          <a:custGeom>
            <a:avLst/>
            <a:gdLst/>
            <a:ahLst/>
            <a:cxnLst/>
            <a:rect l="0" t="0" r="0" b="0"/>
            <a:pathLst>
              <a:path w="90925" h="90925">
                <a:moveTo>
                  <a:pt x="0" y="30308"/>
                </a:moveTo>
                <a:lnTo>
                  <a:pt x="90925" y="0"/>
                </a:lnTo>
                <a:lnTo>
                  <a:pt x="60617" y="90925"/>
                </a:lnTo>
                <a:close/>
              </a:path>
            </a:pathLst>
          </a:custGeom>
          <a:solidFill>
            <a:srgbClr val="8D6A00"/>
          </a:solidFill>
        </p:spPr>
      </p:sp>
      <p:cxnSp>
        <p:nvCxnSpPr>
          <p:cNvPr id="206" name="Connector 205"/>
          <p:cNvCxnSpPr/>
          <p:nvPr/>
        </p:nvCxnSpPr>
        <p:spPr>
          <a:xfrm flipV="1">
            <a:off x="9829800" y="2552700"/>
            <a:ext cx="0" cy="266700"/>
          </a:xfrm>
          <a:prstGeom prst="line">
            <a:avLst/>
          </a:prstGeom>
          <a:ln w="15240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freeform-207"/>
          <p:cNvSpPr/>
          <p:nvPr/>
        </p:nvSpPr>
        <p:spPr>
          <a:xfrm>
            <a:off x="9786938" y="2538412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0" y="85725"/>
                </a:moveTo>
                <a:lnTo>
                  <a:pt x="42862" y="0"/>
                </a:lnTo>
                <a:lnTo>
                  <a:pt x="85725" y="85725"/>
                </a:lnTo>
                <a:close/>
              </a:path>
            </a:pathLst>
          </a:custGeom>
          <a:solidFill>
            <a:srgbClr val="8D6A00"/>
          </a:solidFill>
        </p:spPr>
      </p:sp>
      <p:cxnSp>
        <p:nvCxnSpPr>
          <p:cNvPr id="208" name="Connector 207"/>
          <p:cNvCxnSpPr/>
          <p:nvPr/>
        </p:nvCxnSpPr>
        <p:spPr>
          <a:xfrm flipV="1">
            <a:off x="10753725" y="2552700"/>
            <a:ext cx="0" cy="266700"/>
          </a:xfrm>
          <a:prstGeom prst="line">
            <a:avLst/>
          </a:prstGeom>
          <a:ln w="15240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" name="freeform-209"/>
          <p:cNvSpPr/>
          <p:nvPr/>
        </p:nvSpPr>
        <p:spPr>
          <a:xfrm>
            <a:off x="10710862" y="2538412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0" y="85725"/>
                </a:moveTo>
                <a:lnTo>
                  <a:pt x="42862" y="0"/>
                </a:lnTo>
                <a:lnTo>
                  <a:pt x="85725" y="85725"/>
                </a:lnTo>
                <a:close/>
              </a:path>
            </a:pathLst>
          </a:custGeom>
          <a:solidFill>
            <a:srgbClr val="8D6A00"/>
          </a:solidFill>
        </p:spPr>
      </p:sp>
      <p:cxnSp>
        <p:nvCxnSpPr>
          <p:cNvPr id="210" name="Connector 209"/>
          <p:cNvCxnSpPr/>
          <p:nvPr/>
        </p:nvCxnSpPr>
        <p:spPr>
          <a:xfrm flipV="1">
            <a:off x="11687175" y="2552700"/>
            <a:ext cx="0" cy="266700"/>
          </a:xfrm>
          <a:prstGeom prst="line">
            <a:avLst/>
          </a:prstGeom>
          <a:ln w="15240" cap="rnd">
            <a:solidFill>
              <a:srgbClr val="8D6A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freeform-211"/>
          <p:cNvSpPr/>
          <p:nvPr/>
        </p:nvSpPr>
        <p:spPr>
          <a:xfrm>
            <a:off x="11644312" y="2538412"/>
            <a:ext cx="85725" cy="85725"/>
          </a:xfrm>
          <a:custGeom>
            <a:avLst/>
            <a:gdLst/>
            <a:ahLst/>
            <a:cxnLst/>
            <a:rect l="0" t="0" r="0" b="0"/>
            <a:pathLst>
              <a:path w="85725" h="85725">
                <a:moveTo>
                  <a:pt x="0" y="85725"/>
                </a:moveTo>
                <a:lnTo>
                  <a:pt x="42862" y="0"/>
                </a:lnTo>
                <a:lnTo>
                  <a:pt x="85725" y="85725"/>
                </a:lnTo>
                <a:close/>
              </a:path>
            </a:pathLst>
          </a:custGeom>
          <a:solidFill>
            <a:srgbClr val="8D6A00"/>
          </a:solidFill>
        </p:spPr>
      </p:sp>
      <p:sp>
        <p:nvSpPr>
          <p:cNvPr id="212" name="TextBox 211"/>
          <p:cNvSpPr txBox="1"/>
          <p:nvPr/>
        </p:nvSpPr>
        <p:spPr>
          <a:xfrm>
            <a:off x="12540710" y="4019074"/>
            <a:ext cx="508540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425" b="1">
                <a:solidFill>
                  <a:srgbClr val="111111"/>
                </a:solidFill>
                <a:latin typeface="Arial"/>
              </a:rPr>
              <a:t>rollout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54362" y="4489132"/>
            <a:ext cx="3427476" cy="30956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950" b="1">
                <a:solidFill>
                  <a:srgbClr val="111111"/>
                </a:solidFill>
                <a:latin typeface="Arial"/>
              </a:rPr>
              <a:t>Task-Aware Behavior Learning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781175" y="5200650"/>
            <a:ext cx="4010025" cy="476250"/>
          </a:xfrm>
          <a:prstGeom prst="rect">
            <a:avLst/>
          </a:prstGeom>
          <a:solidFill>
            <a:srgbClr val="FFFFFF"/>
          </a:solidFill>
          <a:ln w="21908">
            <a:solidFill>
              <a:srgbClr val="233A64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2100739" y="5298758"/>
            <a:ext cx="3380422" cy="30956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950" b="1">
                <a:solidFill>
                  <a:srgbClr val="111111"/>
                </a:solidFill>
                <a:latin typeface="Arial"/>
              </a:rPr>
              <a:t>MLLM-WM Joint Optimization</a:t>
            </a:r>
          </a:p>
        </p:txBody>
      </p:sp>
      <p:sp>
        <p:nvSpPr>
          <p:cNvPr id="216" name="freeform-216"/>
          <p:cNvSpPr/>
          <p:nvPr/>
        </p:nvSpPr>
        <p:spPr>
          <a:xfrm>
            <a:off x="1104900" y="5000625"/>
            <a:ext cx="676275" cy="466725"/>
          </a:xfrm>
          <a:custGeom>
            <a:avLst/>
            <a:gdLst/>
            <a:ahLst/>
            <a:cxnLst/>
            <a:rect l="0" t="0" r="0" b="0"/>
            <a:pathLst>
              <a:path w="676275" h="466725">
                <a:moveTo>
                  <a:pt x="676275" y="466725"/>
                </a:moveTo>
                <a:lnTo>
                  <a:pt x="180975" y="466725"/>
                </a:lnTo>
                <a:cubicBezTo>
                  <a:pt x="60325" y="466725"/>
                  <a:pt x="0" y="393700"/>
                  <a:pt x="0" y="247650"/>
                </a:cubicBezTo>
                <a:lnTo>
                  <a:pt x="0" y="0"/>
                </a:lnTo>
              </a:path>
            </a:pathLst>
          </a:custGeom>
          <a:noFill/>
          <a:ln w="95250" cap="rnd">
            <a:solidFill>
              <a:srgbClr val="D87478"/>
            </a:solidFill>
          </a:ln>
        </p:spPr>
      </p:sp>
      <p:sp>
        <p:nvSpPr>
          <p:cNvPr id="217" name="freeform-217"/>
          <p:cNvSpPr/>
          <p:nvPr/>
        </p:nvSpPr>
        <p:spPr>
          <a:xfrm>
            <a:off x="1009650" y="4981575"/>
            <a:ext cx="190500" cy="190500"/>
          </a:xfrm>
          <a:custGeom>
            <a:avLst/>
            <a:gdLst/>
            <a:ahLst/>
            <a:cxnLst/>
            <a:rect l="0" t="0" r="0" b="0"/>
            <a:pathLst>
              <a:path w="190500" h="190500">
                <a:moveTo>
                  <a:pt x="0" y="190500"/>
                </a:moveTo>
                <a:lnTo>
                  <a:pt x="95250" y="0"/>
                </a:lnTo>
                <a:lnTo>
                  <a:pt x="190500" y="190500"/>
                </a:lnTo>
                <a:close/>
              </a:path>
            </a:pathLst>
          </a:custGeom>
          <a:solidFill>
            <a:srgbClr val="D87478"/>
          </a:solidFill>
        </p:spPr>
      </p:sp>
      <p:sp>
        <p:nvSpPr>
          <p:cNvPr id="218" name="Rounded Rectangle 217"/>
          <p:cNvSpPr/>
          <p:nvPr/>
        </p:nvSpPr>
        <p:spPr>
          <a:xfrm>
            <a:off x="6419850" y="5191125"/>
            <a:ext cx="3114675" cy="504825"/>
          </a:xfrm>
          <a:prstGeom prst="roundRect">
            <a:avLst>
              <a:gd name="adj" fmla="val 18867"/>
            </a:avLst>
          </a:prstGeom>
          <a:solidFill>
            <a:srgbClr val="FFFFFF"/>
          </a:solidFill>
          <a:ln w="20955">
            <a:solidFill>
              <a:srgbClr val="233A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-219"/>
          <p:cNvSpPr/>
          <p:nvPr/>
        </p:nvSpPr>
        <p:spPr>
          <a:xfrm>
            <a:off x="6619875" y="5334000"/>
            <a:ext cx="114300" cy="111125"/>
          </a:xfrm>
          <a:custGeom>
            <a:avLst/>
            <a:gdLst/>
            <a:ahLst/>
            <a:cxnLst/>
            <a:rect l="0" t="0" r="0" b="0"/>
            <a:pathLst>
              <a:path w="114300" h="111125">
                <a:moveTo>
                  <a:pt x="0" y="0"/>
                </a:moveTo>
                <a:lnTo>
                  <a:pt x="114300" y="0"/>
                </a:lnTo>
                <a:lnTo>
                  <a:pt x="95250" y="85725"/>
                </a:lnTo>
                <a:cubicBezTo>
                  <a:pt x="69850" y="111125"/>
                  <a:pt x="44450" y="111125"/>
                  <a:pt x="19050" y="85725"/>
                </a:cubicBezTo>
                <a:close/>
              </a:path>
            </a:pathLst>
          </a:custGeom>
          <a:noFill/>
          <a:ln w="19050" cap="rnd">
            <a:solidFill>
              <a:srgbClr val="7B6D33"/>
            </a:solidFill>
          </a:ln>
        </p:spPr>
      </p:sp>
      <p:sp>
        <p:nvSpPr>
          <p:cNvPr id="220" name="freeform-220"/>
          <p:cNvSpPr/>
          <p:nvPr/>
        </p:nvSpPr>
        <p:spPr>
          <a:xfrm>
            <a:off x="6584950" y="5353050"/>
            <a:ext cx="53975" cy="63500"/>
          </a:xfrm>
          <a:custGeom>
            <a:avLst/>
            <a:gdLst/>
            <a:ahLst/>
            <a:cxnLst/>
            <a:rect l="0" t="0" r="0" b="0"/>
            <a:pathLst>
              <a:path w="53975" h="63500">
                <a:moveTo>
                  <a:pt x="34925" y="0"/>
                </a:moveTo>
                <a:cubicBezTo>
                  <a:pt x="9525" y="0"/>
                  <a:pt x="0" y="12700"/>
                  <a:pt x="6350" y="38100"/>
                </a:cubicBezTo>
                <a:cubicBezTo>
                  <a:pt x="19050" y="57150"/>
                  <a:pt x="34925" y="63500"/>
                  <a:pt x="53975" y="57150"/>
                </a:cubicBezTo>
              </a:path>
            </a:pathLst>
          </a:custGeom>
          <a:noFill/>
          <a:ln w="19050" cap="rnd">
            <a:solidFill>
              <a:srgbClr val="7B6D33"/>
            </a:solidFill>
          </a:ln>
        </p:spPr>
      </p:sp>
      <p:sp>
        <p:nvSpPr>
          <p:cNvPr id="221" name="freeform-221"/>
          <p:cNvSpPr/>
          <p:nvPr/>
        </p:nvSpPr>
        <p:spPr>
          <a:xfrm>
            <a:off x="6715125" y="5353050"/>
            <a:ext cx="53975" cy="63500"/>
          </a:xfrm>
          <a:custGeom>
            <a:avLst/>
            <a:gdLst/>
            <a:ahLst/>
            <a:cxnLst/>
            <a:rect l="0" t="0" r="0" b="0"/>
            <a:pathLst>
              <a:path w="53975" h="63500">
                <a:moveTo>
                  <a:pt x="19050" y="0"/>
                </a:moveTo>
                <a:cubicBezTo>
                  <a:pt x="44450" y="0"/>
                  <a:pt x="53975" y="12700"/>
                  <a:pt x="47625" y="38100"/>
                </a:cubicBezTo>
                <a:cubicBezTo>
                  <a:pt x="34925" y="57150"/>
                  <a:pt x="19050" y="63500"/>
                  <a:pt x="0" y="57150"/>
                </a:cubicBezTo>
              </a:path>
            </a:pathLst>
          </a:custGeom>
          <a:noFill/>
          <a:ln w="19050" cap="rnd">
            <a:solidFill>
              <a:srgbClr val="7B6D33"/>
            </a:solidFill>
          </a:ln>
        </p:spPr>
      </p:sp>
      <p:cxnSp>
        <p:nvCxnSpPr>
          <p:cNvPr id="222" name="Connector 221"/>
          <p:cNvCxnSpPr/>
          <p:nvPr/>
        </p:nvCxnSpPr>
        <p:spPr>
          <a:xfrm>
            <a:off x="6677025" y="5448300"/>
            <a:ext cx="0" cy="47625"/>
          </a:xfrm>
          <a:prstGeom prst="line">
            <a:avLst/>
          </a:prstGeom>
          <a:ln w="19050" cap="rnd">
            <a:solidFill>
              <a:srgbClr val="7B6D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 222"/>
          <p:cNvCxnSpPr/>
          <p:nvPr/>
        </p:nvCxnSpPr>
        <p:spPr>
          <a:xfrm>
            <a:off x="6629400" y="5505450"/>
            <a:ext cx="95250" cy="0"/>
          </a:xfrm>
          <a:prstGeom prst="line">
            <a:avLst/>
          </a:prstGeom>
          <a:ln w="19050" cap="rnd">
            <a:solidFill>
              <a:srgbClr val="7B6D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TextBox 223"/>
          <p:cNvSpPr txBox="1"/>
          <p:nvPr/>
        </p:nvSpPr>
        <p:spPr>
          <a:xfrm>
            <a:off x="6915150" y="5335429"/>
            <a:ext cx="1305687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5">
                <a:solidFill>
                  <a:srgbClr val="777777"/>
                </a:solidFill>
                <a:latin typeface="Arial"/>
              </a:rPr>
              <a:t>dense reward</a:t>
            </a:r>
          </a:p>
        </p:txBody>
      </p:sp>
      <p:sp>
        <p:nvSpPr>
          <p:cNvPr id="225" name="Oval 224"/>
          <p:cNvSpPr/>
          <p:nvPr/>
        </p:nvSpPr>
        <p:spPr>
          <a:xfrm>
            <a:off x="8488680" y="5335905"/>
            <a:ext cx="167640" cy="167640"/>
          </a:xfrm>
          <a:prstGeom prst="ellipse">
            <a:avLst/>
          </a:prstGeom>
          <a:noFill/>
          <a:ln w="20955">
            <a:solidFill>
              <a:srgbClr val="5C8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-226"/>
          <p:cNvSpPr/>
          <p:nvPr/>
        </p:nvSpPr>
        <p:spPr>
          <a:xfrm>
            <a:off x="8499158" y="5377815"/>
            <a:ext cx="41910" cy="83820"/>
          </a:xfrm>
          <a:custGeom>
            <a:avLst/>
            <a:gdLst/>
            <a:ahLst/>
            <a:cxnLst/>
            <a:rect l="0" t="0" r="0" b="0"/>
            <a:pathLst>
              <a:path w="41910" h="83820">
                <a:moveTo>
                  <a:pt x="0" y="41910"/>
                </a:moveTo>
                <a:lnTo>
                  <a:pt x="41910" y="0"/>
                </a:lnTo>
                <a:moveTo>
                  <a:pt x="0" y="41910"/>
                </a:moveTo>
                <a:lnTo>
                  <a:pt x="41910" y="83820"/>
                </a:lnTo>
              </a:path>
            </a:pathLst>
          </a:custGeom>
          <a:noFill/>
          <a:ln w="20955" cap="rnd">
            <a:solidFill>
              <a:srgbClr val="5C8C39"/>
            </a:solidFill>
          </a:ln>
        </p:spPr>
      </p:sp>
      <p:sp>
        <p:nvSpPr>
          <p:cNvPr id="227" name="freeform-227"/>
          <p:cNvSpPr/>
          <p:nvPr/>
        </p:nvSpPr>
        <p:spPr>
          <a:xfrm>
            <a:off x="8603932" y="5377815"/>
            <a:ext cx="41910" cy="83820"/>
          </a:xfrm>
          <a:custGeom>
            <a:avLst/>
            <a:gdLst/>
            <a:ahLst/>
            <a:cxnLst/>
            <a:rect l="0" t="0" r="0" b="0"/>
            <a:pathLst>
              <a:path w="41910" h="83820">
                <a:moveTo>
                  <a:pt x="41910" y="41910"/>
                </a:moveTo>
                <a:lnTo>
                  <a:pt x="0" y="0"/>
                </a:lnTo>
                <a:moveTo>
                  <a:pt x="41910" y="41910"/>
                </a:moveTo>
                <a:lnTo>
                  <a:pt x="0" y="83820"/>
                </a:lnTo>
              </a:path>
            </a:pathLst>
          </a:custGeom>
          <a:noFill/>
          <a:ln w="20955" cap="rnd">
            <a:solidFill>
              <a:srgbClr val="5C8C39"/>
            </a:solidFill>
          </a:ln>
        </p:spPr>
      </p:sp>
      <p:cxnSp>
        <p:nvCxnSpPr>
          <p:cNvPr id="228" name="Connector 227"/>
          <p:cNvCxnSpPr/>
          <p:nvPr/>
        </p:nvCxnSpPr>
        <p:spPr>
          <a:xfrm>
            <a:off x="8541068" y="5419725"/>
            <a:ext cx="62864" cy="0"/>
          </a:xfrm>
          <a:prstGeom prst="line">
            <a:avLst/>
          </a:prstGeom>
          <a:ln w="20955" cap="rnd">
            <a:solidFill>
              <a:srgbClr val="5C8C3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TextBox 228"/>
          <p:cNvSpPr txBox="1"/>
          <p:nvPr/>
        </p:nvSpPr>
        <p:spPr>
          <a:xfrm>
            <a:off x="8829675" y="5335429"/>
            <a:ext cx="589312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5">
                <a:solidFill>
                  <a:srgbClr val="777777"/>
                </a:solidFill>
                <a:latin typeface="Arial"/>
              </a:rPr>
              <a:t>action</a:t>
            </a:r>
          </a:p>
        </p:txBody>
      </p:sp>
      <p:cxnSp>
        <p:nvCxnSpPr>
          <p:cNvPr id="230" name="Connector 229"/>
          <p:cNvCxnSpPr/>
          <p:nvPr/>
        </p:nvCxnSpPr>
        <p:spPr>
          <a:xfrm flipH="1">
            <a:off x="5848350" y="5448300"/>
            <a:ext cx="514350" cy="0"/>
          </a:xfrm>
          <a:prstGeom prst="line">
            <a:avLst/>
          </a:prstGeom>
          <a:ln w="95250" cap="rnd">
            <a:solidFill>
              <a:srgbClr val="D8747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freeform-231"/>
          <p:cNvSpPr/>
          <p:nvPr/>
        </p:nvSpPr>
        <p:spPr>
          <a:xfrm>
            <a:off x="5829300" y="5353050"/>
            <a:ext cx="190500" cy="190500"/>
          </a:xfrm>
          <a:custGeom>
            <a:avLst/>
            <a:gdLst/>
            <a:ahLst/>
            <a:cxnLst/>
            <a:rect l="0" t="0" r="0" b="0"/>
            <a:pathLst>
              <a:path w="190500" h="190500">
                <a:moveTo>
                  <a:pt x="190500" y="190500"/>
                </a:moveTo>
                <a:lnTo>
                  <a:pt x="0" y="95250"/>
                </a:lnTo>
                <a:lnTo>
                  <a:pt x="190500" y="0"/>
                </a:lnTo>
                <a:close/>
              </a:path>
            </a:pathLst>
          </a:custGeom>
          <a:solidFill>
            <a:srgbClr val="D87478"/>
          </a:solidFill>
        </p:spPr>
      </p:sp>
      <p:sp>
        <p:nvSpPr>
          <p:cNvPr id="232" name="freeform-232"/>
          <p:cNvSpPr/>
          <p:nvPr/>
        </p:nvSpPr>
        <p:spPr>
          <a:xfrm>
            <a:off x="9601200" y="4972050"/>
            <a:ext cx="457200" cy="200025"/>
          </a:xfrm>
          <a:custGeom>
            <a:avLst/>
            <a:gdLst/>
            <a:ahLst/>
            <a:cxnLst/>
            <a:rect l="0" t="0" r="0" b="0"/>
            <a:pathLst>
              <a:path w="457200" h="200025">
                <a:moveTo>
                  <a:pt x="457200" y="0"/>
                </a:moveTo>
                <a:lnTo>
                  <a:pt x="0" y="200025"/>
                </a:lnTo>
              </a:path>
            </a:pathLst>
          </a:custGeom>
          <a:noFill/>
          <a:ln w="95250" cap="rnd">
            <a:solidFill>
              <a:srgbClr val="D87478"/>
            </a:solidFill>
          </a:ln>
        </p:spPr>
      </p:sp>
      <p:sp>
        <p:nvSpPr>
          <p:cNvPr id="233" name="freeform-233"/>
          <p:cNvSpPr/>
          <p:nvPr/>
        </p:nvSpPr>
        <p:spPr>
          <a:xfrm>
            <a:off x="9583747" y="5016091"/>
            <a:ext cx="212706" cy="174528"/>
          </a:xfrm>
          <a:custGeom>
            <a:avLst/>
            <a:gdLst/>
            <a:ahLst/>
            <a:cxnLst/>
            <a:rect l="0" t="0" r="0" b="0"/>
            <a:pathLst>
              <a:path w="212706" h="174528">
                <a:moveTo>
                  <a:pt x="212706" y="174528"/>
                </a:moveTo>
                <a:lnTo>
                  <a:pt x="0" y="163620"/>
                </a:lnTo>
                <a:lnTo>
                  <a:pt x="136350" y="0"/>
                </a:lnTo>
                <a:close/>
              </a:path>
            </a:pathLst>
          </a:custGeom>
          <a:solidFill>
            <a:srgbClr val="D87478"/>
          </a:solidFill>
        </p:spPr>
      </p:sp>
      <p:cxnSp>
        <p:nvCxnSpPr>
          <p:cNvPr id="234" name="Connector 233"/>
          <p:cNvCxnSpPr/>
          <p:nvPr/>
        </p:nvCxnSpPr>
        <p:spPr>
          <a:xfrm>
            <a:off x="9696450" y="5448300"/>
            <a:ext cx="1476375" cy="0"/>
          </a:xfrm>
          <a:prstGeom prst="line">
            <a:avLst/>
          </a:prstGeom>
          <a:ln w="38100" cap="rnd">
            <a:solidFill>
              <a:srgbClr val="77777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freeform-235"/>
          <p:cNvSpPr/>
          <p:nvPr/>
        </p:nvSpPr>
        <p:spPr>
          <a:xfrm>
            <a:off x="9601200" y="5391150"/>
            <a:ext cx="114300" cy="114300"/>
          </a:xfrm>
          <a:custGeom>
            <a:avLst/>
            <a:gdLst/>
            <a:ahLst/>
            <a:cxnLst/>
            <a:rect l="0" t="0" r="0" b="0"/>
            <a:pathLst>
              <a:path w="114300" h="114300">
                <a:moveTo>
                  <a:pt x="0" y="114300"/>
                </a:moveTo>
                <a:lnTo>
                  <a:pt x="114300" y="57150"/>
                </a:lnTo>
                <a:lnTo>
                  <a:pt x="0" y="0"/>
                </a:lnTo>
                <a:close/>
              </a:path>
            </a:pathLst>
          </a:custGeom>
          <a:solidFill>
            <a:srgbClr val="777777"/>
          </a:solidFill>
        </p:spPr>
      </p:sp>
      <p:sp>
        <p:nvSpPr>
          <p:cNvPr id="236" name="freeform-236"/>
          <p:cNvSpPr/>
          <p:nvPr/>
        </p:nvSpPr>
        <p:spPr>
          <a:xfrm>
            <a:off x="11077575" y="5391150"/>
            <a:ext cx="114300" cy="114300"/>
          </a:xfrm>
          <a:custGeom>
            <a:avLst/>
            <a:gdLst/>
            <a:ahLst/>
            <a:cxnLst/>
            <a:rect l="0" t="0" r="0" b="0"/>
            <a:pathLst>
              <a:path w="114300" h="114300">
                <a:moveTo>
                  <a:pt x="0" y="0"/>
                </a:moveTo>
                <a:lnTo>
                  <a:pt x="11430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777777"/>
          </a:solidFill>
        </p:spPr>
      </p:sp>
      <p:sp>
        <p:nvSpPr>
          <p:cNvPr id="237" name="TextBox 236"/>
          <p:cNvSpPr txBox="1"/>
          <p:nvPr/>
        </p:nvSpPr>
        <p:spPr>
          <a:xfrm>
            <a:off x="9995059" y="5181124"/>
            <a:ext cx="850582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425">
                <a:solidFill>
                  <a:srgbClr val="111111"/>
                </a:solidFill>
                <a:latin typeface="Arial"/>
              </a:rPr>
              <a:t>interaction</a:t>
            </a:r>
          </a:p>
        </p:txBody>
      </p:sp>
      <p:sp>
        <p:nvSpPr>
          <p:cNvPr id="238" name="Oval 237"/>
          <p:cNvSpPr/>
          <p:nvPr/>
        </p:nvSpPr>
        <p:spPr>
          <a:xfrm>
            <a:off x="11334750" y="5095875"/>
            <a:ext cx="723900" cy="723900"/>
          </a:xfrm>
          <a:prstGeom prst="ellipse">
            <a:avLst/>
          </a:prstGeom>
          <a:solidFill>
            <a:srgbClr val="58A9E7"/>
          </a:solidFill>
          <a:ln w="190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-239"/>
          <p:cNvSpPr/>
          <p:nvPr/>
        </p:nvSpPr>
        <p:spPr>
          <a:xfrm>
            <a:off x="11420475" y="5207000"/>
            <a:ext cx="247650" cy="222250"/>
          </a:xfrm>
          <a:custGeom>
            <a:avLst/>
            <a:gdLst/>
            <a:ahLst/>
            <a:cxnLst/>
            <a:rect l="0" t="0" r="0" b="0"/>
            <a:pathLst>
              <a:path w="247650" h="222250">
                <a:moveTo>
                  <a:pt x="28575" y="60325"/>
                </a:moveTo>
                <a:cubicBezTo>
                  <a:pt x="79375" y="9525"/>
                  <a:pt x="139700" y="0"/>
                  <a:pt x="209550" y="31750"/>
                </a:cubicBezTo>
                <a:lnTo>
                  <a:pt x="247650" y="117475"/>
                </a:lnTo>
                <a:lnTo>
                  <a:pt x="180975" y="174625"/>
                </a:lnTo>
                <a:lnTo>
                  <a:pt x="114300" y="155575"/>
                </a:lnTo>
                <a:lnTo>
                  <a:pt x="76200" y="222250"/>
                </a:lnTo>
                <a:lnTo>
                  <a:pt x="0" y="184150"/>
                </a:lnTo>
                <a:close/>
              </a:path>
            </a:pathLst>
          </a:custGeom>
          <a:solidFill>
            <a:srgbClr val="55AE35"/>
          </a:solidFill>
          <a:ln w="11430" cap="rnd">
            <a:solidFill>
              <a:srgbClr val="111111"/>
            </a:solidFill>
          </a:ln>
        </p:spPr>
      </p:sp>
      <p:sp>
        <p:nvSpPr>
          <p:cNvPr id="240" name="freeform-240"/>
          <p:cNvSpPr/>
          <p:nvPr/>
        </p:nvSpPr>
        <p:spPr>
          <a:xfrm>
            <a:off x="11687175" y="5172075"/>
            <a:ext cx="190500" cy="266700"/>
          </a:xfrm>
          <a:custGeom>
            <a:avLst/>
            <a:gdLst/>
            <a:ahLst/>
            <a:cxnLst/>
            <a:rect l="0" t="0" r="0" b="0"/>
            <a:pathLst>
              <a:path w="190500" h="266700">
                <a:moveTo>
                  <a:pt x="28575" y="0"/>
                </a:moveTo>
                <a:lnTo>
                  <a:pt x="123825" y="28575"/>
                </a:lnTo>
                <a:lnTo>
                  <a:pt x="180975" y="104775"/>
                </a:lnTo>
                <a:lnTo>
                  <a:pt x="123825" y="152400"/>
                </a:lnTo>
                <a:lnTo>
                  <a:pt x="190500" y="209550"/>
                </a:lnTo>
                <a:lnTo>
                  <a:pt x="123825" y="266700"/>
                </a:lnTo>
                <a:lnTo>
                  <a:pt x="47625" y="209550"/>
                </a:lnTo>
                <a:lnTo>
                  <a:pt x="0" y="142875"/>
                </a:lnTo>
                <a:close/>
              </a:path>
            </a:pathLst>
          </a:custGeom>
          <a:solidFill>
            <a:srgbClr val="55AE35"/>
          </a:solidFill>
          <a:ln w="11430" cap="rnd">
            <a:solidFill>
              <a:srgbClr val="111111"/>
            </a:solidFill>
          </a:ln>
        </p:spPr>
      </p:sp>
      <p:sp>
        <p:nvSpPr>
          <p:cNvPr id="241" name="freeform-241"/>
          <p:cNvSpPr/>
          <p:nvPr/>
        </p:nvSpPr>
        <p:spPr>
          <a:xfrm>
            <a:off x="11753850" y="5476875"/>
            <a:ext cx="196850" cy="200025"/>
          </a:xfrm>
          <a:custGeom>
            <a:avLst/>
            <a:gdLst/>
            <a:ahLst/>
            <a:cxnLst/>
            <a:rect l="0" t="0" r="0" b="0"/>
            <a:pathLst>
              <a:path w="196850" h="200025">
                <a:moveTo>
                  <a:pt x="114300" y="0"/>
                </a:moveTo>
                <a:cubicBezTo>
                  <a:pt x="171450" y="19050"/>
                  <a:pt x="196850" y="63500"/>
                  <a:pt x="190500" y="133350"/>
                </a:cubicBezTo>
                <a:lnTo>
                  <a:pt x="95250" y="200025"/>
                </a:lnTo>
                <a:lnTo>
                  <a:pt x="19050" y="152400"/>
                </a:lnTo>
                <a:lnTo>
                  <a:pt x="57150" y="76200"/>
                </a:lnTo>
                <a:lnTo>
                  <a:pt x="0" y="28575"/>
                </a:lnTo>
                <a:close/>
              </a:path>
            </a:pathLst>
          </a:custGeom>
          <a:solidFill>
            <a:srgbClr val="55AE35"/>
          </a:solidFill>
          <a:ln w="11430" cap="rnd">
            <a:solidFill>
              <a:srgbClr val="111111"/>
            </a:solidFill>
          </a:ln>
        </p:spPr>
      </p:sp>
      <p:sp>
        <p:nvSpPr>
          <p:cNvPr id="242" name="freeform-242"/>
          <p:cNvSpPr/>
          <p:nvPr/>
        </p:nvSpPr>
        <p:spPr>
          <a:xfrm>
            <a:off x="11525250" y="5467350"/>
            <a:ext cx="190500" cy="247650"/>
          </a:xfrm>
          <a:custGeom>
            <a:avLst/>
            <a:gdLst/>
            <a:ahLst/>
            <a:cxnLst/>
            <a:rect l="0" t="0" r="0" b="0"/>
            <a:pathLst>
              <a:path w="190500" h="247650">
                <a:moveTo>
                  <a:pt x="57150" y="0"/>
                </a:moveTo>
                <a:lnTo>
                  <a:pt x="152400" y="28575"/>
                </a:lnTo>
                <a:lnTo>
                  <a:pt x="190500" y="95250"/>
                </a:lnTo>
                <a:lnTo>
                  <a:pt x="133350" y="161925"/>
                </a:lnTo>
                <a:lnTo>
                  <a:pt x="85725" y="247650"/>
                </a:lnTo>
                <a:lnTo>
                  <a:pt x="19050" y="171450"/>
                </a:lnTo>
                <a:lnTo>
                  <a:pt x="0" y="66675"/>
                </a:lnTo>
                <a:close/>
              </a:path>
            </a:pathLst>
          </a:custGeom>
          <a:solidFill>
            <a:srgbClr val="55AE35"/>
          </a:solidFill>
          <a:ln w="11430" cap="rnd">
            <a:solidFill>
              <a:srgbClr val="111111"/>
            </a:solidFill>
          </a:ln>
        </p:spPr>
      </p:sp>
      <p:sp>
        <p:nvSpPr>
          <p:cNvPr id="243" name="freeform-243"/>
          <p:cNvSpPr/>
          <p:nvPr/>
        </p:nvSpPr>
        <p:spPr>
          <a:xfrm>
            <a:off x="11410950" y="5229225"/>
            <a:ext cx="504825" cy="304800"/>
          </a:xfrm>
          <a:custGeom>
            <a:avLst/>
            <a:gdLst/>
            <a:ahLst/>
            <a:cxnLst/>
            <a:rect l="0" t="0" r="0" b="0"/>
            <a:pathLst>
              <a:path w="504825" h="304800">
                <a:moveTo>
                  <a:pt x="0" y="276225"/>
                </a:moveTo>
                <a:cubicBezTo>
                  <a:pt x="76200" y="263525"/>
                  <a:pt x="139700" y="273050"/>
                  <a:pt x="190500" y="304800"/>
                </a:cubicBezTo>
                <a:moveTo>
                  <a:pt x="323850" y="0"/>
                </a:moveTo>
                <a:cubicBezTo>
                  <a:pt x="381000" y="38100"/>
                  <a:pt x="441325" y="47625"/>
                  <a:pt x="504825" y="28575"/>
                </a:cubicBezTo>
              </a:path>
            </a:pathLst>
          </a:custGeom>
          <a:noFill/>
          <a:ln w="11430" cap="rnd">
            <a:solidFill>
              <a:srgbClr val="111111"/>
            </a:solidFill>
          </a:ln>
        </p:spPr>
      </p:sp>
      <p:sp>
        <p:nvSpPr>
          <p:cNvPr id="244" name="TextBox 243"/>
          <p:cNvSpPr txBox="1"/>
          <p:nvPr/>
        </p:nvSpPr>
        <p:spPr>
          <a:xfrm>
            <a:off x="12125325" y="5421154"/>
            <a:ext cx="1229011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5">
                <a:solidFill>
                  <a:srgbClr val="111111"/>
                </a:solidFill>
                <a:latin typeface="Arial"/>
              </a:rPr>
              <a:t>Environment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