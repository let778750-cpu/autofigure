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611225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611225" cy="5972175"/>
          </a:xfrm>
          <a:prstGeom prst="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6225" y="152400"/>
            <a:ext cx="3429000" cy="733425"/>
          </a:xfrm>
          <a:prstGeom prst="roundRect">
            <a:avLst>
              <a:gd name="adj" fmla="val 18181"/>
            </a:avLst>
          </a:prstGeom>
          <a:solidFill>
            <a:srgbClr val="F4F4F4"/>
          </a:solidFill>
          <a:ln w="20955">
            <a:solidFill>
              <a:srgbClr val="24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100" y="276225"/>
            <a:ext cx="457200" cy="4572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1025" y="352425"/>
            <a:ext cx="133350" cy="1333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-6"/>
          <p:cNvSpPr/>
          <p:nvPr/>
        </p:nvSpPr>
        <p:spPr>
          <a:xfrm>
            <a:off x="533400" y="476250"/>
            <a:ext cx="228600" cy="152400"/>
          </a:xfrm>
          <a:custGeom>
            <a:avLst/>
            <a:gdLst/>
            <a:ahLst/>
            <a:cxnLst/>
            <a:rect l="0" t="0" r="0" b="0"/>
            <a:pathLst>
              <a:path w="228600" h="152400">
                <a:moveTo>
                  <a:pt x="0" y="152400"/>
                </a:moveTo>
                <a:cubicBezTo>
                  <a:pt x="6350" y="57150"/>
                  <a:pt x="44450" y="6350"/>
                  <a:pt x="114300" y="0"/>
                </a:cubicBezTo>
                <a:cubicBezTo>
                  <a:pt x="184150" y="6350"/>
                  <a:pt x="222250" y="57150"/>
                  <a:pt x="228600" y="152400"/>
                </a:cubicBezTo>
                <a:close/>
              </a:path>
            </a:pathLst>
          </a:custGeom>
          <a:solidFill>
            <a:srgbClr val="000000"/>
          </a:solidFill>
          <a:ln w="9525" cap="rnd">
            <a:solidFill>
              <a:srgbClr val="000000"/>
            </a:solidFill>
          </a:ln>
        </p:spPr>
        <p:txBody>
          <a:bodyPr/>
          <a:p/>
        </p:txBody>
      </p:sp>
      <p:sp>
        <p:nvSpPr>
          <p:cNvPr id="7" name="TextBox 6"/>
          <p:cNvSpPr txBox="1"/>
          <p:nvPr/>
        </p:nvSpPr>
        <p:spPr>
          <a:xfrm>
            <a:off x="1076325" y="285750"/>
            <a:ext cx="1813560" cy="2381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00">
                <a:solidFill>
                  <a:srgbClr val="111111"/>
                </a:solidFill>
                <a:latin typeface="Arial"/>
              </a:rPr>
              <a:t>Task 1: Turn on lamp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552450"/>
            <a:ext cx="2358390" cy="2381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00">
                <a:solidFill>
                  <a:srgbClr val="111111"/>
                </a:solidFill>
                <a:latin typeface="Arial"/>
              </a:rPr>
              <a:t>Task 2: Close top drawer ...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19525" y="523875"/>
            <a:ext cx="200025" cy="0"/>
          </a:xfrm>
          <a:prstGeom prst="line">
            <a:avLst/>
          </a:prstGeom>
          <a:ln w="47625" cap="rnd">
            <a:solidFill>
              <a:srgbClr val="7777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-10"/>
          <p:cNvSpPr/>
          <p:nvPr/>
        </p:nvSpPr>
        <p:spPr>
          <a:xfrm>
            <a:off x="3905250" y="466725"/>
            <a:ext cx="114300" cy="114300"/>
          </a:xfrm>
          <a:custGeom>
            <a:avLst/>
            <a:gdLst/>
            <a:ahLst/>
            <a:cxnLst/>
            <a:rect l="0" t="0" r="0" b="0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777777"/>
          </a:solidFill>
        </p:spPr>
        <p:txBody>
          <a:bodyPr/>
          <a:p/>
        </p:txBody>
      </p:sp>
      <p:sp>
        <p:nvSpPr>
          <p:cNvPr id="11" name="Rounded Rectangle 10"/>
          <p:cNvSpPr/>
          <p:nvPr/>
        </p:nvSpPr>
        <p:spPr>
          <a:xfrm>
            <a:off x="4133850" y="161925"/>
            <a:ext cx="1190625" cy="733425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378" y="295275"/>
            <a:ext cx="360045" cy="2381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11111"/>
                </a:solidFill>
                <a:latin typeface="Arial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8642" y="561975"/>
            <a:ext cx="691515" cy="2381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11111"/>
                </a:solidFill>
                <a:latin typeface="Arial"/>
              </a:rPr>
              <a:t>Encoder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1150" y="523875"/>
            <a:ext cx="219075" cy="0"/>
          </a:xfrm>
          <a:prstGeom prst="line">
            <a:avLst/>
          </a:prstGeom>
          <a:ln w="47625" cap="rnd">
            <a:solidFill>
              <a:srgbClr val="7777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-15"/>
          <p:cNvSpPr/>
          <p:nvPr/>
        </p:nvSpPr>
        <p:spPr>
          <a:xfrm>
            <a:off x="5495925" y="466725"/>
            <a:ext cx="114300" cy="114300"/>
          </a:xfrm>
          <a:custGeom>
            <a:avLst/>
            <a:gdLst/>
            <a:ahLst/>
            <a:cxnLst/>
            <a:rect l="0" t="0" r="0" b="0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777777"/>
          </a:solidFill>
        </p:spPr>
        <p:txBody>
          <a:bodyPr/>
          <a:p/>
        </p:txBody>
      </p:sp>
      <p:sp>
        <p:nvSpPr>
          <p:cNvPr id="16" name="Rectangle 15"/>
          <p:cNvSpPr/>
          <p:nvPr/>
        </p:nvSpPr>
        <p:spPr>
          <a:xfrm>
            <a:off x="5686425" y="342900"/>
            <a:ext cx="1209675" cy="409575"/>
          </a:xfrm>
          <a:prstGeom prst="rect">
            <a:avLst/>
          </a:prstGeom>
          <a:solidFill>
            <a:srgbClr val="FFFFFF"/>
          </a:solidFill>
          <a:ln w="23812">
            <a:solidFill>
              <a:srgbClr val="233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91200" y="390525"/>
            <a:ext cx="323850" cy="323850"/>
          </a:xfrm>
          <a:prstGeom prst="ellipse">
            <a:avLst/>
          </a:prstGeom>
          <a:solidFill>
            <a:srgbClr val="AAAAA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34100" y="390525"/>
            <a:ext cx="323850" cy="323850"/>
          </a:xfrm>
          <a:prstGeom prst="ellipse">
            <a:avLst/>
          </a:prstGeom>
          <a:solidFill>
            <a:srgbClr val="AAAAA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77000" y="390525"/>
            <a:ext cx="323850" cy="323850"/>
          </a:xfrm>
          <a:prstGeom prst="ellipse">
            <a:avLst/>
          </a:prstGeom>
          <a:solidFill>
            <a:srgbClr val="AAAAA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math:001" descr="AI_AUTOFIGURE_NATIVE_MATH_V1:eyJjb250ZW50X3J1bnMiOlt7ImNhbm9uaWNhbF9sYXRleCI6IlxcdGF1IiwiZm9ybXVsYV9pZCI6IkVRMDAxIiwia2luZCI6Im1hdGgiLCJsYXRleF9zaGEyNTYiOiI1NWQxODIzNTQ1YjViNGMzY2JjNDJiNzg0YzVlODQ2MDVmZmJlOGU1OWQxZGVlOTc4MmNkODc3NDFlZWY5ZGMzIiwibW9kZSI6ImlubGluZSIsIm9tbWxfc2hhMjU2IjoiNjI3NThjYWJiNjU4Yjc3NjgxYmFhNjE0ZmE0MDA1M2M0NDliNWZjZTkzMmYxYzlhNGQxZTNhMTBlZjI2MWFiMiIsInNlbWFudGljX29tbWxfcHJvZmlsZSI6Im9mZmljZS1tYXRoLXNlbWFudGljLXYyIiwic2VtYW50aWNfb21tbF9zaGEyNTYiOiIxZjMyN2Q3M2RkZGIzMWY1YWJjZmZiY2QwODNlMWJmOGIwNWEzMGY2ZGZkMDk2ZWFjZjdlYjljYTBlMTBhMzY4In1dLCJmb3JtdWxhcyI6W3siY2Fub25pY2FsX2xhdGV4IjoiXFx0YXUiLCJmb3JtdWxhX2lkIjoiRVEwMDEiLCJsYXRleF9zaGEyNTYiOiI1NWQxODIzNTQ1YjViNGMzY2JjNDJiNzg0YzVlODQ2MDVmZmJlOGU1OWQxZGVlOTc4MmNkODc3NDFlZWY5ZGMzIiwibW9kZSI6ImlubGluZSIsIm9tbWxfc2hhMjU2IjoiNjI3NThjYWJiNjU4Yjc3NjgxYmFhNjE0ZmE0MDA1M2M0NDliNWZjZTkzMmYxYzlhNGQxZTNhMTBlZjI2MWFiMiIsInNlbWFudGljX29tbWxfcHJvZmlsZSI6Im9mZmljZS1tYXRoLXNlbWFudGljLXYyIiwic2VtYW50aWNfb21tbF9zaGEyNTYiOiIxZjMyN2Q3M2RkZGIzMWY1YWJjZmZiY2QwODNlMWJmOGIwNWEzMGY2ZGZkMDk2ZWFjZjdlYjljYTBlMTBhMzY4In1dLCJraW5kIjoibmF0aXZlX29mZmljZV9tYXRoIiwicGxhY2Vob2xkZXJfbmFtZSI6Im1hdGg6MDAxIiwic2NoZW1hX3ZlcnNpb24iOiIxLjAifQ=="/>
              <p:cNvSpPr txBox="1"/>
              <p:nvPr/>
            </p:nvSpPr>
            <p:spPr>
              <a:xfrm>
                <a:off x="6243638" y="58103"/>
                <a:ext cx="104775" cy="261938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 sz="1650">
                        <a:solidFill>
                          <a:srgbClr val="111111"/>
                        </a:solidFill>
                        <a:latin typeface="Cambria Math"/>
                      </a:rPr>
                      <m:t>τ</m:t>
                    </m:r>
                  </m:oMath>
                </a14:m>
                <a:endParaRPr lang="en-US" dirty="0" sz="1650">
                  <a:solidFill>
                    <a:srgbClr val="111111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20" name="math:001" descr="AI_AUTOFIGURE_MATH_FALLBACK_ONLY_V1:eyJjb250ZW50X3J1bnMiOlt7ImNhbm9uaWNhbF9sYXRleCI6IlxcdGF1IiwiZm9ybXVsYV9pZCI6IkVRMDAxIiwia2luZCI6Im1hdGgiLCJsYXRleF9zaGEyNTYiOiI1NWQxODIzNTQ1YjViNGMzY2JjNDJiNzg0YzVlODQ2MDVmZmJlOGU1OWQxZGVlOTc4MmNkODc3NDFlZWY5ZGMzIiwibW9kZSI6ImlubGluZSIsIm9tbWxfc2hhMjU2IjoiNjI3NThjYWJiNjU4Yjc3NjgxYmFhNjE0ZmE0MDA1M2M0NDliNWZjZTkzMmYxYzlhNGQxZTNhMTBlZjI2MWFiMiIsInNlbWFudGljX29tbWxfcHJvZmlsZSI6Im9mZmljZS1tYXRoLXNlbWFudGljLXYyIiwic2VtYW50aWNfb21tbF9zaGEyNTYiOiIxZjMyN2Q3M2RkZGIzMWY1YWJjZmZiY2QwODNlMWJmOGIwNWEzMGY2ZGZkMDk2ZWFjZjdlYjljYTBlMTBhMzY4In1dLCJmb3JtdWxhcyI6W3siY2Fub25pY2FsX2xhdGV4IjoiXFx0YXUiLCJmb3JtdWxhX2lkIjoiRVEwMDEiLCJsYXRleF9zaGEyNTYiOiI1NWQxODIzNTQ1YjViNGMzY2JjNDJiNzg0YzVlODQ2MDVmZmJlOGU1OWQxZGVlOTc4MmNkODc3NDFlZWY5ZGMzIiwibW9kZSI6ImlubGluZSIsIm9tbWxfc2hhMjU2IjoiNjI3NThjYWJiNjU4Yjc3NjgxYmFhNjE0ZmE0MDA1M2M0NDliNWZjZTkzMmYxYzlhNGQxZTNhMTBlZjI2MWFiMiIsInNlbWFudGljX29tbWxfcHJvZmlsZSI6Im9mZmljZS1tYXRoLXNlbWFudGljLXYyIiwic2VtYW50aWNfb21tbF9zaGEyNTYiOiIxZjMyN2Q3M2RkZGIzMWY1YWJjZmZiY2QwODNlMWJmOGIwNWEzMGY2ZGZkMDk2ZWFjZjdlYjljYTBlMTBhMzY4In1dLCJraW5kIjoibmF0aXZlX29mZmljZV9tYXRoIiwicGxhY2Vob2xkZXJfbmFtZSI6Im1hdGg6MDAxIiwic2NoZW1hX3ZlcnNpb24iOiIxLjAifQ=="/>
              <p:cNvSpPr txBox="1"/>
              <p:nvPr/>
            </p:nvSpPr>
            <p:spPr>
              <a:xfrm>
                <a:off x="6243638" y="58103"/>
                <a:ext cx="104775" cy="261938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650">
                    <a:solidFill>
                      <a:srgbClr val="111111"/>
                    </a:solidFill>
                  </a:rPr>
                  <a:t>\(\tau\)</a:t>
                </a:r>
                <a:endParaRPr lang="en-US" dirty="0" sz="1650">
                  <a:solidFill>
                    <a:srgbClr val="111111"/>
                  </a:solidFill>
                </a:endParaRPr>
              </a:p>
            </p:txBody>
          </p:sp>
        </mc:Fallback>
      </mc:AlternateContent>
      <p:cxnSp>
        <p:nvCxnSpPr>
          <p:cNvPr id="21" name="Connector 20"/>
          <p:cNvCxnSpPr/>
          <p:nvPr/>
        </p:nvCxnSpPr>
        <p:spPr>
          <a:xfrm>
            <a:off x="6962775" y="523875"/>
            <a:ext cx="257175" cy="0"/>
          </a:xfrm>
          <a:prstGeom prst="line">
            <a:avLst/>
          </a:prstGeom>
          <a:ln w="47625" cap="rnd">
            <a:solidFill>
              <a:srgbClr val="7777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-22"/>
          <p:cNvSpPr/>
          <p:nvPr/>
        </p:nvSpPr>
        <p:spPr>
          <a:xfrm>
            <a:off x="7105650" y="466725"/>
            <a:ext cx="114300" cy="114300"/>
          </a:xfrm>
          <a:custGeom>
            <a:avLst/>
            <a:gdLst/>
            <a:ahLst/>
            <a:cxnLst/>
            <a:rect l="0" t="0" r="0" b="0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777777"/>
          </a:solidFill>
        </p:spPr>
        <p:txBody>
          <a:bodyPr/>
          <a:p/>
        </p:txBody>
      </p:sp>
      <p:sp>
        <p:nvSpPr>
          <p:cNvPr id="23" name="Rounded Rectangle 22"/>
          <p:cNvSpPr/>
          <p:nvPr/>
        </p:nvSpPr>
        <p:spPr>
          <a:xfrm>
            <a:off x="7324725" y="323850"/>
            <a:ext cx="1724025" cy="457200"/>
          </a:xfrm>
          <a:prstGeom prst="roundRect">
            <a:avLst>
              <a:gd name="adj" fmla="val 12500"/>
            </a:avLst>
          </a:prstGeom>
          <a:solidFill>
            <a:srgbClr val="F1F1F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1450" y="447199"/>
            <a:ext cx="675037" cy="2262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25" b="1">
                <a:solidFill>
                  <a:srgbClr val="111111"/>
                </a:solidFill>
                <a:latin typeface="Arial"/>
              </a:rPr>
              <a:t>mapping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math:002" descr="AI_AUTOFIGURE_NATIVE_MATH_V1:eyJjb250ZW50X3J1bnMiOlt7ImNhbm9uaWNhbF9sYXRleCI6ImZfe21hcH0iLCJmb3JtdWxhX2lkIjoiRVEwMDIiLCJraW5kIjoibWF0aCIsImxhdGV4X3NoYTI1NiI6IjU3MWIwZGZjYzU5NDUzMDFiMDU2Y2I1Mzc2YzZhYzQ1MDM5ODY0ZTYxYjU0OGQ2ZWM2NDhhNGQ2NzgxZTAyZmQiLCJtb2RlIjoiaW5saW5lIiwib21tbF9zaGEyNTYiOiIwYjY0N2UwMjhhZjI2MTk5NjIyNDYwZjhhNGFkYzNkN2I1M2U3MGMxZTRlM2RjYjcyN2IwZjlmOWMzODc3OGJjIiwic2VtYW50aWNfb21tbF9wcm9maWxlIjoib2ZmaWNlLW1hdGgtc2VtYW50aWMtdjIiLCJzZW1hbnRpY19vbW1sX3NoYTI1NiI6ImI4Yzg4NzY2ZWQ2NDRiZGVlYTJkZThkMTUyOWYyYzg5N2U5NzM4ODYyMTllOTI1ODBmODExZjAyOGVhNmRjYzcifV0sImZvcm11bGFzIjpbeyJjYW5vbmljYWxfbGF0ZXgiOiJmX3ttYXB9IiwiZm9ybXVsYV9pZCI6IkVRMDAyIiwibGF0ZXhfc2hhMjU2IjoiNTcxYjBkZmNjNTk0NTMwMWIwNTZjYjUzNzZjNmFjNDUwMzk4NjRlNjFiNTQ4ZDZlYzY0OGE0ZDY3ODFlMDJmZCIsIm1vZGUiOiJpbmxpbmUiLCJvbW1sX3NoYTI1NiI6IjBiNjQ3ZTAyOGFmMjYxOTk2MjI0NjBmOGE0YWRjM2Q3YjUzZTcwYzFlNGUzZGNiNzI3YjBmOWY5YzM4Nzc4YmMiLCJzZW1hbnRpY19vbW1sX3Byb2ZpbGUiOiJvZmZpY2UtbWF0aC1zZW1hbnRpYy12MiIsInNlbWFudGljX29tbWxfc2hhMjU2IjoiYjhjODg3NjZlZDY0NGJkZWVhMmRlOGQxNTI5ZjJjODk3ZTk3Mzg4NjIxOWU5MjU4MGY4MTFmMDI4ZWE2ZGNjNyJ9XSwia2luZCI6Im5hdGl2ZV9vZmZpY2VfbWF0aCIsInBsYWNlaG9sZGVyX25hbWUiOiJtYXRoOjAwMiIsInNjaGVtYV92ZXJzaW9uIjoiMS4wIn0="/>
              <p:cNvSpPr txBox="1"/>
              <p:nvPr/>
            </p:nvSpPr>
            <p:spPr>
              <a:xfrm>
                <a:off x="8629650" y="456248"/>
                <a:ext cx="380619" cy="2143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e>
                        <m:r>
                          <a:rPr lang="en-US" dirty="0" sz="1350">
                            <a:solidFill>
                              <a:srgbClr val="111111"/>
                            </a:solidFill>
                            <a:latin typeface="Cambria Math"/>
                          </a:rPr>
                          <m:t>f</m:t>
                        </m:r>
                      </m:e>
                      <m:sub>
                        <m:r>
                          <a:rPr lang="en-US" dirty="0" sz="1350">
                            <a:solidFill>
                              <a:srgbClr val="111111"/>
                            </a:solidFill>
                            <a:latin typeface="Cambria Math"/>
                          </a:rPr>
                          <m:t>map</m:t>
                        </m:r>
                      </m:sub>
                    </m:sSub>
                  </m:oMath>
                </a14:m>
                <a:endParaRPr lang="en-US" dirty="0" sz="1350">
                  <a:solidFill>
                    <a:srgbClr val="111111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25" name="math:002" descr="AI_AUTOFIGURE_MATH_FALLBACK_ONLY_V1:eyJjb250ZW50X3J1bnMiOlt7ImNhbm9uaWNhbF9sYXRleCI6ImZfe21hcH0iLCJmb3JtdWxhX2lkIjoiRVEwMDIiLCJraW5kIjoibWF0aCIsImxhdGV4X3NoYTI1NiI6IjU3MWIwZGZjYzU5NDUzMDFiMDU2Y2I1Mzc2YzZhYzQ1MDM5ODY0ZTYxYjU0OGQ2ZWM2NDhhNGQ2NzgxZTAyZmQiLCJtb2RlIjoiaW5saW5lIiwib21tbF9zaGEyNTYiOiIwYjY0N2UwMjhhZjI2MTk5NjIyNDYwZjhhNGFkYzNkN2I1M2U3MGMxZTRlM2RjYjcyN2IwZjlmOWMzODc3OGJjIiwic2VtYW50aWNfb21tbF9wcm9maWxlIjoib2ZmaWNlLW1hdGgtc2VtYW50aWMtdjIiLCJzZW1hbnRpY19vbW1sX3NoYTI1NiI6ImI4Yzg4NzY2ZWQ2NDRiZGVlYTJkZThkMTUyOWYyYzg5N2U5NzM4ODYyMTllOTI1ODBmODExZjAyOGVhNmRjYzcifV0sImZvcm11bGFzIjpbeyJjYW5vbmljYWxfbGF0ZXgiOiJmX3ttYXB9IiwiZm9ybXVsYV9pZCI6IkVRMDAyIiwibGF0ZXhfc2hhMjU2IjoiNTcxYjBkZmNjNTk0NTMwMWIwNTZjYjUzNzZjNmFjNDUwMzk4NjRlNjFiNTQ4ZDZlYzY0OGE0ZDY3ODFlMDJmZCIsIm1vZGUiOiJpbmxpbmUiLCJvbW1sX3NoYTI1NiI6IjBiNjQ3ZTAyOGFmMjYxOTk2MjI0NjBmOGE0YWRjM2Q3YjUzZTcwYzFlNGUzZGNiNzI3YjBmOWY5YzM4Nzc4YmMiLCJzZW1hbnRpY19vbW1sX3Byb2ZpbGUiOiJvZmZpY2UtbWF0aC1zZW1hbnRpYy12MiIsInNlbWFudGljX29tbWxfc2hhMjU2IjoiYjhjODg3NjZlZDY0NGJkZWVhMmRlOGQxNTI5ZjJjODk3ZTk3Mzg4NjIxOWU5MjU4MGY4MTFmMDI4ZWE2ZGNjNyJ9XSwia2luZCI6Im5hdGl2ZV9vZmZpY2VfbWF0aCIsInBsYWNlaG9sZGVyX25hbWUiOiJtYXRoOjAwMiIsInNjaGVtYV92ZXJzaW9uIjoiMS4wIn0="/>
              <p:cNvSpPr txBox="1"/>
              <p:nvPr/>
            </p:nvSpPr>
            <p:spPr>
              <a:xfrm>
                <a:off x="8629650" y="456248"/>
                <a:ext cx="380619" cy="2143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l"/>
                <a:r>
                  <a:rPr lang="en-US" dirty="0" sz="1350">
                    <a:solidFill>
                      <a:srgbClr val="111111"/>
                    </a:solidFill>
                  </a:rPr>
                  <a:t>\(f_{map}\)</a:t>
                </a:r>
                <a:endParaRPr lang="en-US" dirty="0" sz="1350">
                  <a:solidFill>
                    <a:srgbClr val="111111"/>
                  </a:solidFill>
                </a:endParaRPr>
              </a:p>
            </p:txBody>
          </p:sp>
        </mc:Fallback>
      </mc:AlternateContent>
      <p:sp>
        <p:nvSpPr>
          <p:cNvPr id="26" name="freeform-26"/>
          <p:cNvSpPr/>
          <p:nvPr/>
        </p:nvSpPr>
        <p:spPr>
          <a:xfrm>
            <a:off x="9105900" y="590550"/>
            <a:ext cx="676275" cy="790575"/>
          </a:xfrm>
          <a:custGeom>
            <a:avLst/>
            <a:gdLst/>
            <a:ahLst/>
            <a:cxnLst/>
            <a:rect l="0" t="0" r="0" b="0"/>
            <a:pathLst>
              <a:path w="676275" h="790575">
                <a:moveTo>
                  <a:pt x="0" y="0"/>
                </a:moveTo>
                <a:lnTo>
                  <a:pt x="676275" y="790575"/>
                </a:lnTo>
              </a:path>
            </a:pathLst>
          </a:custGeom>
          <a:noFill/>
          <a:ln w="57150" cap="rnd">
            <a:solidFill>
              <a:srgbClr val="777777"/>
            </a:solidFill>
          </a:ln>
        </p:spPr>
        <p:txBody>
          <a:bodyPr/>
          <a:p/>
        </p:txBody>
      </p:sp>
      <p:sp>
        <p:nvSpPr>
          <p:cNvPr id="27" name="freeform-27"/>
          <p:cNvSpPr/>
          <p:nvPr/>
        </p:nvSpPr>
        <p:spPr>
          <a:xfrm>
            <a:off x="9664447" y="1257119"/>
            <a:ext cx="117728" cy="124006"/>
          </a:xfrm>
          <a:custGeom>
            <a:avLst/>
            <a:gdLst/>
            <a:ahLst/>
            <a:cxnLst/>
            <a:rect l="0" t="0" r="0" b="0"/>
            <a:pathLst>
              <a:path w="117728" h="124006">
                <a:moveTo>
                  <a:pt x="86857" y="0"/>
                </a:moveTo>
                <a:lnTo>
                  <a:pt x="117728" y="124006"/>
                </a:lnTo>
                <a:lnTo>
                  <a:pt x="0" y="74299"/>
                </a:lnTo>
                <a:close/>
              </a:path>
            </a:pathLst>
          </a:custGeom>
          <a:solidFill>
            <a:srgbClr val="777777"/>
          </a:solidFill>
        </p:spPr>
        <p:txBody>
          <a:bodyPr/>
          <a:p/>
        </p:txBody>
      </p:sp>
      <p:cxnSp>
        <p:nvCxnSpPr>
          <p:cNvPr id="28" name="Connector 27"/>
          <p:cNvCxnSpPr/>
          <p:nvPr/>
        </p:nvCxnSpPr>
        <p:spPr>
          <a:xfrm>
            <a:off x="6296025" y="762000"/>
            <a:ext cx="0" cy="428625"/>
          </a:xfrm>
          <a:prstGeom prst="line">
            <a:avLst/>
          </a:prstGeom>
          <a:ln w="20955" cap="rnd">
            <a:solidFill>
              <a:srgbClr val="3567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-29"/>
          <p:cNvSpPr/>
          <p:nvPr/>
        </p:nvSpPr>
        <p:spPr>
          <a:xfrm>
            <a:off x="6254115" y="1106805"/>
            <a:ext cx="83820" cy="83820"/>
          </a:xfrm>
          <a:custGeom>
            <a:avLst/>
            <a:gdLst/>
            <a:ahLst/>
            <a:cxnLst/>
            <a:rect l="0" t="0" r="0" b="0"/>
            <a:pathLst>
              <a:path w="83820" h="83820">
                <a:moveTo>
                  <a:pt x="83820" y="0"/>
                </a:moveTo>
                <a:lnTo>
                  <a:pt x="41910" y="83820"/>
                </a:lnTo>
                <a:lnTo>
                  <a:pt x="0" y="0"/>
                </a:lnTo>
                <a:close/>
              </a:path>
            </a:pathLst>
          </a:custGeom>
          <a:solidFill>
            <a:srgbClr val="3567B7"/>
          </a:solidFill>
        </p:spPr>
        <p:txBody>
          <a:bodyPr/>
          <a:p/>
        </p:txBody>
      </p:sp>
      <p:sp>
        <p:nvSpPr>
          <p:cNvPr id="30" name="Rounded Rectangle 29"/>
          <p:cNvSpPr/>
          <p:nvPr/>
        </p:nvSpPr>
        <p:spPr>
          <a:xfrm>
            <a:off x="10991850" y="171450"/>
            <a:ext cx="752475" cy="342900"/>
          </a:xfrm>
          <a:prstGeom prst="roundRect">
            <a:avLst>
              <a:gd name="adj" fmla="val 19444"/>
            </a:avLst>
          </a:prstGeom>
          <a:solidFill>
            <a:srgbClr val="FCE7D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97971" y="237173"/>
            <a:ext cx="349758" cy="214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Sem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20525" y="246698"/>
            <a:ext cx="1219010" cy="214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350">
                <a:solidFill>
                  <a:srgbClr val="111111"/>
                </a:solidFill>
                <a:latin typeface="Arial"/>
              </a:rPr>
              <a:t>semantic expert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001375" y="561975"/>
            <a:ext cx="742950" cy="352425"/>
          </a:xfrm>
          <a:prstGeom prst="roundRect">
            <a:avLst>
              <a:gd name="adj" fmla="val 16216"/>
            </a:avLst>
          </a:prstGeom>
          <a:solidFill>
            <a:srgbClr val="E2EDF9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26260" y="637222"/>
            <a:ext cx="293180" cy="214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Dyn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20525" y="637222"/>
            <a:ext cx="1251585" cy="214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350">
                <a:solidFill>
                  <a:srgbClr val="111111"/>
                </a:solidFill>
                <a:latin typeface="Arial"/>
              </a:rPr>
              <a:t>dynamics expert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0975" y="1028700"/>
            <a:ext cx="9001125" cy="3905250"/>
          </a:xfrm>
          <a:prstGeom prst="rect">
            <a:avLst/>
          </a:prstGeom>
          <a:noFill/>
          <a:ln w="20002">
            <a:solidFill>
              <a:srgbClr val="203A66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15450" y="1028700"/>
            <a:ext cx="4124325" cy="3914775"/>
          </a:xfrm>
          <a:prstGeom prst="rect">
            <a:avLst/>
          </a:prstGeom>
          <a:noFill/>
          <a:ln w="20002">
            <a:solidFill>
              <a:srgbClr val="203A66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0525" y="1298258"/>
            <a:ext cx="2949511" cy="3095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950" b="1">
                <a:solidFill>
                  <a:srgbClr val="111111"/>
                </a:solidFill>
                <a:latin typeface="Arial"/>
              </a:rPr>
              <a:t>Task-Aware Modular Joint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19625" y="1266825"/>
            <a:ext cx="3352800" cy="419100"/>
          </a:xfrm>
          <a:prstGeom prst="rect">
            <a:avLst/>
          </a:prstGeom>
          <a:solidFill>
            <a:srgbClr val="FFFFFF"/>
          </a:solidFill>
          <a:ln w="28575">
            <a:solidFill>
              <a:srgbClr val="3F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48250" y="1371600"/>
            <a:ext cx="2495550" cy="2381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11111"/>
                </a:solidFill>
                <a:latin typeface="Arial"/>
              </a:rPr>
              <a:t>Task-Guided Expert Allocator</a:t>
            </a:r>
          </a:p>
        </p:txBody>
      </p:sp>
      <p:sp>
        <p:nvSpPr>
          <p:cNvPr id="41" name="freeform-41"/>
          <p:cNvSpPr/>
          <p:nvPr/>
        </p:nvSpPr>
        <p:spPr>
          <a:xfrm>
            <a:off x="4838700" y="1695450"/>
            <a:ext cx="2914650" cy="304800"/>
          </a:xfrm>
          <a:custGeom>
            <a:avLst/>
            <a:gdLst/>
            <a:ahLst/>
            <a:cxnLst/>
            <a:rect l="0" t="0" r="0" b="0"/>
            <a:pathLst>
              <a:path w="2914650" h="304800">
                <a:moveTo>
                  <a:pt x="0" y="0"/>
                </a:moveTo>
                <a:lnTo>
                  <a:pt x="2914650" y="0"/>
                </a:lnTo>
                <a:lnTo>
                  <a:pt x="1457325" y="304800"/>
                </a:lnTo>
                <a:close/>
              </a:path>
            </a:pathLst>
          </a:custGeom>
          <a:gradFill>
            <a:gsLst>
              <a:gs pos="0">
                <a:srgbClr val="C9D8F2">
                  <a:alpha val="80000"/>
                </a:srgbClr>
              </a:gs>
              <a:gs pos="100000">
                <a:srgbClr val="9DBCE9">
                  <a:alpha val="20000"/>
                </a:srgbClr>
              </a:gs>
            </a:gsLst>
            <a:lin ang="5400000" scaled="1"/>
          </a:gradFill>
        </p:spPr>
        <p:txBody>
          <a:bodyPr/>
          <a:p/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2762250"/>
            <a:ext cx="1009650" cy="8191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14325" y="3392329"/>
            <a:ext cx="197168" cy="2738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5">
                <a:solidFill>
                  <a:srgbClr val="777777"/>
                </a:solidFill>
                <a:latin typeface="Arial"/>
              </a:rPr>
              <a:t>...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6700" y="3668554"/>
            <a:ext cx="1123855" cy="2738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5">
                <a:solidFill>
                  <a:srgbClr val="111111"/>
                </a:solidFill>
                <a:latin typeface="Arial"/>
              </a:rPr>
              <a:t>observation</a:t>
            </a:r>
          </a:p>
        </p:txBody>
      </p:sp>
      <p:sp>
        <p:nvSpPr>
          <p:cNvPr id="45" name="freeform-45"/>
          <p:cNvSpPr/>
          <p:nvPr/>
        </p:nvSpPr>
        <p:spPr>
          <a:xfrm>
            <a:off x="1362075" y="2819400"/>
            <a:ext cx="342900" cy="200025"/>
          </a:xfrm>
          <a:custGeom>
            <a:avLst/>
            <a:gdLst/>
            <a:ahLst/>
            <a:cxnLst/>
            <a:rect l="0" t="0" r="0" b="0"/>
            <a:pathLst>
              <a:path w="342900" h="200025">
                <a:moveTo>
                  <a:pt x="0" y="200025"/>
                </a:moveTo>
                <a:lnTo>
                  <a:pt x="342900" y="0"/>
                </a:lnTo>
              </a:path>
            </a:pathLst>
          </a:custGeom>
          <a:noFill/>
          <a:ln w="57150" cap="rnd">
            <a:solidFill>
              <a:srgbClr val="EF7D2B"/>
            </a:solidFill>
          </a:ln>
        </p:spPr>
        <p:txBody>
          <a:bodyPr/>
          <a:p/>
        </p:txBody>
      </p:sp>
      <p:sp>
        <p:nvSpPr>
          <p:cNvPr id="46" name="freeform-46"/>
          <p:cNvSpPr/>
          <p:nvPr/>
        </p:nvSpPr>
        <p:spPr>
          <a:xfrm>
            <a:off x="1556194" y="2819400"/>
            <a:ext cx="148781" cy="124784"/>
          </a:xfrm>
          <a:custGeom>
            <a:avLst/>
            <a:gdLst/>
            <a:ahLst/>
            <a:cxnLst/>
            <a:rect l="0" t="0" r="0" b="0"/>
            <a:pathLst>
              <a:path w="148781" h="124784">
                <a:moveTo>
                  <a:pt x="0" y="9599"/>
                </a:moveTo>
                <a:lnTo>
                  <a:pt x="148781" y="0"/>
                </a:lnTo>
                <a:lnTo>
                  <a:pt x="67191" y="124784"/>
                </a:lnTo>
                <a:close/>
              </a:path>
            </a:pathLst>
          </a:custGeom>
          <a:solidFill>
            <a:srgbClr val="EF7D2B"/>
          </a:solidFill>
        </p:spPr>
        <p:txBody>
          <a:bodyPr/>
          <a:p/>
        </p:txBody>
      </p:sp>
      <p:sp>
        <p:nvSpPr>
          <p:cNvPr id="47" name="freeform-47"/>
          <p:cNvSpPr/>
          <p:nvPr/>
        </p:nvSpPr>
        <p:spPr>
          <a:xfrm>
            <a:off x="1362075" y="3581400"/>
            <a:ext cx="342900" cy="219075"/>
          </a:xfrm>
          <a:custGeom>
            <a:avLst/>
            <a:gdLst/>
            <a:ahLst/>
            <a:cxnLst/>
            <a:rect l="0" t="0" r="0" b="0"/>
            <a:pathLst>
              <a:path w="342900" h="219075">
                <a:moveTo>
                  <a:pt x="0" y="0"/>
                </a:moveTo>
                <a:lnTo>
                  <a:pt x="342900" y="219075"/>
                </a:lnTo>
              </a:path>
            </a:pathLst>
          </a:custGeom>
          <a:noFill/>
          <a:ln w="57150" cap="rnd">
            <a:solidFill>
              <a:srgbClr val="3567B7"/>
            </a:solidFill>
          </a:ln>
        </p:spPr>
        <p:txBody>
          <a:bodyPr/>
          <a:p/>
        </p:txBody>
      </p:sp>
      <p:sp>
        <p:nvSpPr>
          <p:cNvPr id="48" name="freeform-48"/>
          <p:cNvSpPr/>
          <p:nvPr/>
        </p:nvSpPr>
        <p:spPr>
          <a:xfrm>
            <a:off x="1556704" y="3672494"/>
            <a:ext cx="148271" cy="127981"/>
          </a:xfrm>
          <a:custGeom>
            <a:avLst/>
            <a:gdLst/>
            <a:ahLst/>
            <a:cxnLst/>
            <a:rect l="0" t="0" r="0" b="0"/>
            <a:pathLst>
              <a:path w="148271" h="127981">
                <a:moveTo>
                  <a:pt x="71794" y="0"/>
                </a:moveTo>
                <a:lnTo>
                  <a:pt x="148271" y="127981"/>
                </a:lnTo>
                <a:lnTo>
                  <a:pt x="0" y="112374"/>
                </a:lnTo>
                <a:close/>
              </a:path>
            </a:pathLst>
          </a:custGeom>
          <a:solidFill>
            <a:srgbClr val="3567B7"/>
          </a:solidFill>
        </p:spPr>
        <p:txBody>
          <a:bodyPr/>
          <a:p/>
        </p:txBody>
      </p:sp>
      <p:sp>
        <p:nvSpPr>
          <p:cNvPr id="49" name="Rounded Rectangle 48"/>
          <p:cNvSpPr/>
          <p:nvPr/>
        </p:nvSpPr>
        <p:spPr>
          <a:xfrm>
            <a:off x="1781175" y="2305050"/>
            <a:ext cx="1181100" cy="742950"/>
          </a:xfrm>
          <a:prstGeom prst="roundRect">
            <a:avLst>
              <a:gd name="adj" fmla="val 16666"/>
            </a:avLst>
          </a:prstGeom>
          <a:solidFill>
            <a:srgbClr val="FFF0E5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67687" y="2429351"/>
            <a:ext cx="608076" cy="2500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111111"/>
                </a:solidFill>
                <a:latin typeface="Arial"/>
              </a:rPr>
              <a:t>MLLM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08680" y="2705576"/>
            <a:ext cx="726091" cy="2500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111111"/>
                </a:solidFill>
                <a:latin typeface="Arial"/>
              </a:rPr>
              <a:t>Encoder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790700" y="3819525"/>
            <a:ext cx="1190625" cy="742950"/>
          </a:xfrm>
          <a:prstGeom prst="roundRect">
            <a:avLst>
              <a:gd name="adj" fmla="val 16666"/>
            </a:avLst>
          </a:prstGeom>
          <a:solidFill>
            <a:srgbClr val="E8F1F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06228" y="3972401"/>
            <a:ext cx="350044" cy="2500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111111"/>
                </a:solidFill>
                <a:latin typeface="Arial"/>
              </a:rPr>
              <a:t>WM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18205" y="4239101"/>
            <a:ext cx="726091" cy="2500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111111"/>
                </a:solidFill>
                <a:latin typeface="Arial"/>
              </a:rPr>
              <a:t>Encoder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000375" y="2609850"/>
            <a:ext cx="247650" cy="0"/>
          </a:xfrm>
          <a:prstGeom prst="line">
            <a:avLst/>
          </a:prstGeom>
          <a:ln w="57150" cap="rnd">
            <a:solidFill>
              <a:srgbClr val="EF7D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-56"/>
          <p:cNvSpPr/>
          <p:nvPr/>
        </p:nvSpPr>
        <p:spPr>
          <a:xfrm>
            <a:off x="3114675" y="2543175"/>
            <a:ext cx="133350" cy="133350"/>
          </a:xfrm>
          <a:custGeom>
            <a:avLst/>
            <a:gdLst/>
            <a:ahLst/>
            <a:cxnLst/>
            <a:rect l="0" t="0" r="0" b="0"/>
            <a:pathLst>
              <a:path w="133350" h="133350">
                <a:moveTo>
                  <a:pt x="0" y="0"/>
                </a:moveTo>
                <a:lnTo>
                  <a:pt x="1333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EF7D2B"/>
          </a:solidFill>
        </p:spPr>
        <p:txBody>
          <a:bodyPr/>
          <a:p/>
        </p:txBody>
      </p:sp>
      <p:cxnSp>
        <p:nvCxnSpPr>
          <p:cNvPr id="57" name="Connector 56"/>
          <p:cNvCxnSpPr/>
          <p:nvPr/>
        </p:nvCxnSpPr>
        <p:spPr>
          <a:xfrm>
            <a:off x="3009900" y="4152900"/>
            <a:ext cx="238125" cy="0"/>
          </a:xfrm>
          <a:prstGeom prst="line">
            <a:avLst/>
          </a:prstGeom>
          <a:ln w="57150" cap="rnd">
            <a:solidFill>
              <a:srgbClr val="3567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-58"/>
          <p:cNvSpPr/>
          <p:nvPr/>
        </p:nvSpPr>
        <p:spPr>
          <a:xfrm>
            <a:off x="3114675" y="4086225"/>
            <a:ext cx="133350" cy="133350"/>
          </a:xfrm>
          <a:custGeom>
            <a:avLst/>
            <a:gdLst/>
            <a:ahLst/>
            <a:cxnLst/>
            <a:rect l="0" t="0" r="0" b="0"/>
            <a:pathLst>
              <a:path w="133350" h="133350">
                <a:moveTo>
                  <a:pt x="0" y="0"/>
                </a:moveTo>
                <a:lnTo>
                  <a:pt x="1333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3567B7"/>
          </a:solidFill>
        </p:spPr>
        <p:txBody>
          <a:bodyPr/>
          <a:p/>
        </p:txBody>
      </p:sp>
      <p:sp>
        <p:nvSpPr>
          <p:cNvPr id="59" name="Rectangle 58"/>
          <p:cNvSpPr/>
          <p:nvPr/>
        </p:nvSpPr>
        <p:spPr>
          <a:xfrm>
            <a:off x="3295650" y="2028825"/>
            <a:ext cx="400050" cy="1209675"/>
          </a:xfrm>
          <a:prstGeom prst="rect">
            <a:avLst/>
          </a:prstGeom>
          <a:solidFill>
            <a:srgbClr val="FFFFFF"/>
          </a:solidFill>
          <a:ln w="28575">
            <a:solidFill>
              <a:srgbClr val="233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math:003" descr="AI_AUTOFIGURE_NATIVE_MATH_V1:eyJjb250ZW50X3J1bnMiOlt7ImNhbm9uaWNhbF9sYXRleCI6ImVfe3Z9IiwiZm9ybXVsYV9pZCI6IkVRMDAzIiwia2luZCI6Im1hdGgiLCJsYXRleF9zaGEyNTYiOiIyZWZkODE5ZTcyNTZiNTkwYTRmNTFkMTVkMWIzZjdmYzgwODhhMGE0Mzc3ZWQyZTExMWUwZmQ5NDAyNjc5YzhkIiwibW9kZSI6ImlubGluZSIsIm9tbWxfc2hhMjU2IjoiNjM1YTA1MmI0MjllMzI3Y2I5ZmZlNTI5MTI0YjJjOGRlMDBlYzlkMmRiZDI3ZjE1MWJmZTM4ZmIwZjhjNzc3MiIsInNlbWFudGljX29tbWxfcHJvZmlsZSI6Im9mZmljZS1tYXRoLXNlbWFudGljLXYyIiwic2VtYW50aWNfb21tbF9zaGEyNTYiOiIyZjRlZjJkZTQ0NjBlNTJiN2I5NjdlNWFiZjRmZGI5OTQ5NzIzYWVlNmNkMzc5MTlkNGNlOTY2NmVmZTAyN2E4In1dLCJmb3JtdWxhcyI6W3siY2Fub25pY2FsX2xhdGV4IjoiZV97dn0iLCJmb3JtdWxhX2lkIjoiRVEwMDMiLCJsYXRleF9zaGEyNTYiOiIyZWZkODE5ZTcyNTZiNTkwYTRmNTFkMTVkMWIzZjdmYzgwODhhMGE0Mzc3ZWQyZTExMWUwZmQ5NDAyNjc5YzhkIiwibW9kZSI6ImlubGluZSIsIm9tbWxfc2hhMjU2IjoiNjM1YTA1MmI0MjllMzI3Y2I5ZmZlNTI5MTI0YjJjOGRlMDBlYzlkMmRiZDI3ZjE1MWJmZTM4ZmIwZjhjNzc3MiIsInNlbWFudGljX29tbWxfcHJvZmlsZSI6Im9mZmljZS1tYXRoLXNlbWFudGljLXYyIiwic2VtYW50aWNfb21tbF9zaGEyNTYiOiIyZjRlZjJkZTQ0NjBlNTJiN2I5NjdlNWFiZjRmZGI5OTQ5NzIzYWVlNmNkMzc5MTlkNGNlOTY2NmVmZTAyN2E4In1dLCJraW5kIjoibmF0aXZlX29mZmljZV9tYXRoIiwicGxhY2Vob2xkZXJfbmFtZSI6Im1hdGg6MDAzIiwic2NoZW1hX3ZlcnNpb24iOiIxLjAifQ=="/>
              <p:cNvSpPr txBox="1"/>
              <p:nvPr/>
            </p:nvSpPr>
            <p:spPr>
              <a:xfrm>
                <a:off x="3401568" y="1742599"/>
                <a:ext cx="188214" cy="226219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425">
                            <a:solidFill>
                              <a:srgbClr val="111111"/>
                            </a:solidFill>
                            <a:latin typeface="Cambria Math"/>
                          </a:rPr>
                          <m:t>e</m:t>
                        </m:r>
                      </m:e>
                      <m:sub>
                        <m:r>
                          <a:rPr lang="en-US" dirty="0" sz="1425">
                            <a:solidFill>
                              <a:srgbClr val="111111"/>
                            </a:solidFill>
                            <a:latin typeface="Cambria Math"/>
                          </a:rPr>
                          <m:t>v</m:t>
                        </m:r>
                      </m:sub>
                    </m:sSub>
                  </m:oMath>
                </a14:m>
                <a:endParaRPr lang="en-US" dirty="0" sz="1425">
                  <a:solidFill>
                    <a:srgbClr val="111111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60" name="math:003" descr="AI_AUTOFIGURE_MATH_FALLBACK_ONLY_V1:eyJjb250ZW50X3J1bnMiOlt7ImNhbm9uaWNhbF9sYXRleCI6ImVfe3Z9IiwiZm9ybXVsYV9pZCI6IkVRMDAzIiwia2luZCI6Im1hdGgiLCJsYXRleF9zaGEyNTYiOiIyZWZkODE5ZTcyNTZiNTkwYTRmNTFkMTVkMWIzZjdmYzgwODhhMGE0Mzc3ZWQyZTExMWUwZmQ5NDAyNjc5YzhkIiwibW9kZSI6ImlubGluZSIsIm9tbWxfc2hhMjU2IjoiNjM1YTA1MmI0MjllMzI3Y2I5ZmZlNTI5MTI0YjJjOGRlMDBlYzlkMmRiZDI3ZjE1MWJmZTM4ZmIwZjhjNzc3MiIsInNlbWFudGljX29tbWxfcHJvZmlsZSI6Im9mZmljZS1tYXRoLXNlbWFudGljLXYyIiwic2VtYW50aWNfb21tbF9zaGEyNTYiOiIyZjRlZjJkZTQ0NjBlNTJiN2I5NjdlNWFiZjRmZGI5OTQ5NzIzYWVlNmNkMzc5MTlkNGNlOTY2NmVmZTAyN2E4In1dLCJmb3JtdWxhcyI6W3siY2Fub25pY2FsX2xhdGV4IjoiZV97dn0iLCJmb3JtdWxhX2lkIjoiRVEwMDMiLCJsYXRleF9zaGEyNTYiOiIyZWZkODE5ZTcyNTZiNTkwYTRmNTFkMTVkMWIzZjdmYzgwODhhMGE0Mzc3ZWQyZTExMWUwZmQ5NDAyNjc5YzhkIiwibW9kZSI6ImlubGluZSIsIm9tbWxfc2hhMjU2IjoiNjM1YTA1MmI0MjllMzI3Y2I5ZmZlNTI5MTI0YjJjOGRlMDBlYzlkMmRiZDI3ZjE1MWJmZTM4ZmIwZjhjNzc3MiIsInNlbWFudGljX29tbWxfcHJvZmlsZSI6Im9mZmljZS1tYXRoLXNlbWFudGljLXYyIiwic2VtYW50aWNfb21tbF9zaGEyNTYiOiIyZjRlZjJkZTQ0NjBlNTJiN2I5NjdlNWFiZjRmZGI5OTQ5NzIzYWVlNmNkMzc5MTlkNGNlOTY2NmVmZTAyN2E4In1dLCJraW5kIjoibmF0aXZlX29mZmljZV9tYXRoIiwicGxhY2Vob2xkZXJfbmFtZSI6Im1hdGg6MDAzIiwic2NoZW1hX3ZlcnNpb24iOiIxLjAifQ=="/>
              <p:cNvSpPr txBox="1"/>
              <p:nvPr/>
            </p:nvSpPr>
            <p:spPr>
              <a:xfrm>
                <a:off x="3401568" y="1742599"/>
                <a:ext cx="188214" cy="226219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425">
                    <a:solidFill>
                      <a:srgbClr val="111111"/>
                    </a:solidFill>
                  </a:rPr>
                  <a:t>\(e_{v}\)</a:t>
                </a:r>
                <a:endParaRPr lang="en-US" dirty="0" sz="1425">
                  <a:solidFill>
                    <a:srgbClr val="111111"/>
                  </a:solidFill>
                </a:endParaRPr>
              </a:p>
            </p:txBody>
          </p:sp>
        </mc:Fallback>
      </mc:AlternateContent>
      <p:sp>
        <p:nvSpPr>
          <p:cNvPr id="61" name="Oval 60"/>
          <p:cNvSpPr/>
          <p:nvPr/>
        </p:nvSpPr>
        <p:spPr>
          <a:xfrm>
            <a:off x="3333750" y="2114550"/>
            <a:ext cx="323850" cy="323850"/>
          </a:xfrm>
          <a:prstGeom prst="ellipse">
            <a:avLst/>
          </a:prstGeom>
          <a:solidFill>
            <a:srgbClr val="F2A36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333750" y="2552700"/>
            <a:ext cx="323850" cy="323850"/>
          </a:xfrm>
          <a:prstGeom prst="ellipse">
            <a:avLst/>
          </a:prstGeom>
          <a:solidFill>
            <a:srgbClr val="F2A36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333750" y="2895600"/>
            <a:ext cx="323850" cy="323850"/>
          </a:xfrm>
          <a:prstGeom prst="ellipse">
            <a:avLst/>
          </a:prstGeom>
          <a:solidFill>
            <a:srgbClr val="F2A36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3752850" y="2609850"/>
            <a:ext cx="257175" cy="0"/>
          </a:xfrm>
          <a:prstGeom prst="line">
            <a:avLst/>
          </a:prstGeom>
          <a:ln w="57150" cap="rnd">
            <a:solidFill>
              <a:srgbClr val="EF7D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reeform-65"/>
          <p:cNvSpPr/>
          <p:nvPr/>
        </p:nvSpPr>
        <p:spPr>
          <a:xfrm>
            <a:off x="3876675" y="2543175"/>
            <a:ext cx="133350" cy="133350"/>
          </a:xfrm>
          <a:custGeom>
            <a:avLst/>
            <a:gdLst/>
            <a:ahLst/>
            <a:cxnLst/>
            <a:rect l="0" t="0" r="0" b="0"/>
            <a:pathLst>
              <a:path w="133350" h="133350">
                <a:moveTo>
                  <a:pt x="0" y="0"/>
                </a:moveTo>
                <a:lnTo>
                  <a:pt x="1333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EF7D2B"/>
          </a:solidFill>
        </p:spPr>
        <p:txBody>
          <a:bodyPr/>
          <a:p/>
        </p:txBody>
      </p:sp>
      <p:sp>
        <p:nvSpPr>
          <p:cNvPr id="66" name="Rectangle 65"/>
          <p:cNvSpPr/>
          <p:nvPr/>
        </p:nvSpPr>
        <p:spPr>
          <a:xfrm>
            <a:off x="3305175" y="3552825"/>
            <a:ext cx="400050" cy="1219200"/>
          </a:xfrm>
          <a:prstGeom prst="rect">
            <a:avLst/>
          </a:prstGeom>
          <a:solidFill>
            <a:srgbClr val="FFFFFF"/>
          </a:solidFill>
          <a:ln w="28575">
            <a:solidFill>
              <a:srgbClr val="233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math:004" descr="AI_AUTOFIGURE_NATIVE_MATH_V1:eyJjb250ZW50X3J1bnMiOlt7ImNhbm9uaWNhbF9sYXRleCI6InNfe3R9IiwiZm9ybXVsYV9pZCI6IkVRMDA0Iiwia2luZCI6Im1hdGgiLCJsYXRleF9zaGEyNTYiOiIwMDE3ZmQ1YjUxNmM2YTU5ZjUxZTM3MWJlZTBmMjQ5ODI4ZWIzZDhlOTNhYTc0NzM3Y2M4ZWYxNTY5YzM1ZTIy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mb3JtdWxhcyI6W3siY2Fub25pY2FsX2xhdGV4Ijoic197dH0iLCJmb3JtdWxhX2lkIjoiRVEwMDQiLCJsYXRleF9zaGEyNTYiOiIwMDE3ZmQ1YjUxNmM2YTU5ZjUxZTM3MWJlZTBmMjQ5ODI4ZWIzZDhlOTNhYTc0NzM3Y2M4ZWYxNTY5YzM1ZTIy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raW5kIjoibmF0aXZlX29mZmljZV9tYXRoIiwicGxhY2Vob2xkZXJfbmFtZSI6Im1hdGg6MDA0Iiwic2NoZW1hX3ZlcnNpb24iOiIxLjAifQ=="/>
              <p:cNvSpPr txBox="1"/>
              <p:nvPr/>
            </p:nvSpPr>
            <p:spPr>
              <a:xfrm>
                <a:off x="3432334" y="3294698"/>
                <a:ext cx="145732" cy="2143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350">
                            <a:solidFill>
                              <a:srgbClr val="111111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dirty="0" sz="135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endParaRPr lang="en-US" dirty="0" sz="1350">
                  <a:solidFill>
                    <a:srgbClr val="111111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67" name="math:004" descr="AI_AUTOFIGURE_MATH_FALLBACK_ONLY_V1:eyJjb250ZW50X3J1bnMiOlt7ImNhbm9uaWNhbF9sYXRleCI6InNfe3R9IiwiZm9ybXVsYV9pZCI6IkVRMDA0Iiwia2luZCI6Im1hdGgiLCJsYXRleF9zaGEyNTYiOiIwMDE3ZmQ1YjUxNmM2YTU5ZjUxZTM3MWJlZTBmMjQ5ODI4ZWIzZDhlOTNhYTc0NzM3Y2M4ZWYxNTY5YzM1ZTIy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mb3JtdWxhcyI6W3siY2Fub25pY2FsX2xhdGV4Ijoic197dH0iLCJmb3JtdWxhX2lkIjoiRVEwMDQiLCJsYXRleF9zaGEyNTYiOiIwMDE3ZmQ1YjUxNmM2YTU5ZjUxZTM3MWJlZTBmMjQ5ODI4ZWIzZDhlOTNhYTc0NzM3Y2M4ZWYxNTY5YzM1ZTIy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raW5kIjoibmF0aXZlX29mZmljZV9tYXRoIiwicGxhY2Vob2xkZXJfbmFtZSI6Im1hdGg6MDA0Iiwic2NoZW1hX3ZlcnNpb24iOiIxLjAifQ=="/>
              <p:cNvSpPr txBox="1"/>
              <p:nvPr/>
            </p:nvSpPr>
            <p:spPr>
              <a:xfrm>
                <a:off x="3432334" y="3294698"/>
                <a:ext cx="145732" cy="2143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111111"/>
                    </a:solidFill>
                  </a:rPr>
                  <a:t>\(s_{t}\)</a:t>
                </a:r>
                <a:endParaRPr lang="en-US" dirty="0" sz="1350">
                  <a:solidFill>
                    <a:srgbClr val="111111"/>
                  </a:solidFill>
                </a:endParaRPr>
              </a:p>
            </p:txBody>
          </p:sp>
        </mc:Fallback>
      </mc:AlternateContent>
      <p:sp>
        <p:nvSpPr>
          <p:cNvPr id="68" name="Oval 67"/>
          <p:cNvSpPr/>
          <p:nvPr/>
        </p:nvSpPr>
        <p:spPr>
          <a:xfrm>
            <a:off x="3343275" y="3638550"/>
            <a:ext cx="323850" cy="323850"/>
          </a:xfrm>
          <a:prstGeom prst="ellipse">
            <a:avLst/>
          </a:prstGeom>
          <a:solidFill>
            <a:srgbClr val="247D8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43275" y="3990975"/>
            <a:ext cx="323850" cy="323850"/>
          </a:xfrm>
          <a:prstGeom prst="ellipse">
            <a:avLst/>
          </a:prstGeom>
          <a:solidFill>
            <a:srgbClr val="247D8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43275" y="4343400"/>
            <a:ext cx="323850" cy="323850"/>
          </a:xfrm>
          <a:prstGeom prst="ellipse">
            <a:avLst/>
          </a:prstGeom>
          <a:solidFill>
            <a:srgbClr val="247D8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3762375" y="4152900"/>
            <a:ext cx="247650" cy="0"/>
          </a:xfrm>
          <a:prstGeom prst="line">
            <a:avLst/>
          </a:prstGeom>
          <a:ln w="57150" cap="rnd">
            <a:solidFill>
              <a:srgbClr val="3567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freeform-72"/>
          <p:cNvSpPr/>
          <p:nvPr/>
        </p:nvSpPr>
        <p:spPr>
          <a:xfrm>
            <a:off x="3876675" y="4086225"/>
            <a:ext cx="133350" cy="133350"/>
          </a:xfrm>
          <a:custGeom>
            <a:avLst/>
            <a:gdLst/>
            <a:ahLst/>
            <a:cxnLst/>
            <a:rect l="0" t="0" r="0" b="0"/>
            <a:pathLst>
              <a:path w="133350" h="133350">
                <a:moveTo>
                  <a:pt x="0" y="0"/>
                </a:moveTo>
                <a:lnTo>
                  <a:pt x="1333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3567B7"/>
          </a:solidFill>
        </p:spPr>
        <p:txBody>
          <a:bodyPr/>
          <a:p/>
        </p:txBody>
      </p:sp>
      <p:sp>
        <p:nvSpPr>
          <p:cNvPr id="73" name="Rounded Rectangle 72"/>
          <p:cNvSpPr/>
          <p:nvPr/>
        </p:nvSpPr>
        <p:spPr>
          <a:xfrm>
            <a:off x="4067175" y="1990725"/>
            <a:ext cx="4248150" cy="2809875"/>
          </a:xfrm>
          <a:prstGeom prst="roundRect">
            <a:avLst>
              <a:gd name="adj" fmla="val 6101"/>
            </a:avLst>
          </a:prstGeom>
          <a:solidFill>
            <a:srgbClr val="FFFFFF"/>
          </a:solidFill>
          <a:ln w="20955">
            <a:solidFill>
              <a:srgbClr val="233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19575" y="2524125"/>
            <a:ext cx="914400" cy="447675"/>
          </a:xfrm>
          <a:prstGeom prst="rect">
            <a:avLst/>
          </a:prstGeom>
          <a:solidFill>
            <a:srgbClr val="3561A4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84358" y="2657475"/>
            <a:ext cx="584835" cy="2381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Task 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19575" y="3686175"/>
            <a:ext cx="914400" cy="447675"/>
          </a:xfrm>
          <a:prstGeom prst="rect">
            <a:avLst/>
          </a:prstGeom>
          <a:solidFill>
            <a:srgbClr val="C9000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84358" y="3819525"/>
            <a:ext cx="584835" cy="2381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Task 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57800" y="2181225"/>
            <a:ext cx="495300" cy="2257425"/>
          </a:xfrm>
          <a:prstGeom prst="rect">
            <a:avLst/>
          </a:prstGeom>
          <a:solidFill>
            <a:srgbClr val="FAFAFA"/>
          </a:solidFill>
          <a:ln w="152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324475" y="2314575"/>
            <a:ext cx="352425" cy="952500"/>
          </a:xfrm>
          <a:prstGeom prst="roundRect">
            <a:avLst>
              <a:gd name="adj" fmla="val 18918"/>
            </a:avLst>
          </a:prstGeom>
          <a:solidFill>
            <a:srgbClr val="FDE7D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324475" y="3390900"/>
            <a:ext cx="352425" cy="942975"/>
          </a:xfrm>
          <a:prstGeom prst="roundRect">
            <a:avLst>
              <a:gd name="adj" fmla="val 18918"/>
            </a:avLst>
          </a:prstGeom>
          <a:solidFill>
            <a:srgbClr val="E4EFF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 rot="5400000">
            <a:off x="5340096" y="2683669"/>
            <a:ext cx="349758" cy="21431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Sem</a:t>
            </a:r>
          </a:p>
        </p:txBody>
      </p:sp>
      <p:sp>
        <p:nvSpPr>
          <p:cNvPr id="82" name="TextBox 81"/>
          <p:cNvSpPr txBox="1"/>
          <p:nvPr/>
        </p:nvSpPr>
        <p:spPr>
          <a:xfrm rot="5400000">
            <a:off x="5368385" y="3769519"/>
            <a:ext cx="293180" cy="21431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Dyn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66969" y="4466272"/>
            <a:ext cx="96012" cy="214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 i="1">
                <a:solidFill>
                  <a:srgbClr val="111111"/>
                </a:solidFill>
                <a:latin typeface="Times New Roman"/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81700" y="2181225"/>
            <a:ext cx="495300" cy="2257425"/>
          </a:xfrm>
          <a:prstGeom prst="rect">
            <a:avLst/>
          </a:prstGeom>
          <a:solidFill>
            <a:srgbClr val="FAFAFA"/>
          </a:solidFill>
          <a:ln w="152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048375" y="2314575"/>
            <a:ext cx="352425" cy="952500"/>
          </a:xfrm>
          <a:prstGeom prst="roundRect">
            <a:avLst>
              <a:gd name="adj" fmla="val 18918"/>
            </a:avLst>
          </a:prstGeom>
          <a:solidFill>
            <a:srgbClr val="FDE7D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048375" y="3390900"/>
            <a:ext cx="352425" cy="942975"/>
          </a:xfrm>
          <a:prstGeom prst="roundRect">
            <a:avLst>
              <a:gd name="adj" fmla="val 18918"/>
            </a:avLst>
          </a:prstGeom>
          <a:solidFill>
            <a:srgbClr val="E4EFF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 rot="5400000">
            <a:off x="6063996" y="2683669"/>
            <a:ext cx="349758" cy="21431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Sem</a:t>
            </a:r>
          </a:p>
        </p:txBody>
      </p:sp>
      <p:sp>
        <p:nvSpPr>
          <p:cNvPr id="88" name="TextBox 87"/>
          <p:cNvSpPr txBox="1"/>
          <p:nvPr/>
        </p:nvSpPr>
        <p:spPr>
          <a:xfrm rot="5400000">
            <a:off x="6092285" y="3769519"/>
            <a:ext cx="293180" cy="21431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Dyn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90869" y="4466272"/>
            <a:ext cx="96012" cy="214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 i="1">
                <a:solidFill>
                  <a:srgbClr val="111111"/>
                </a:solidFill>
                <a:latin typeface="Times New Roman"/>
              </a:rPr>
              <a:t>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24650" y="2181225"/>
            <a:ext cx="495300" cy="2257425"/>
          </a:xfrm>
          <a:prstGeom prst="rect">
            <a:avLst/>
          </a:prstGeom>
          <a:solidFill>
            <a:srgbClr val="FAFAFA"/>
          </a:solidFill>
          <a:ln w="152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6791325" y="2314575"/>
            <a:ext cx="352425" cy="952500"/>
          </a:xfrm>
          <a:prstGeom prst="roundRect">
            <a:avLst>
              <a:gd name="adj" fmla="val 18918"/>
            </a:avLst>
          </a:prstGeom>
          <a:solidFill>
            <a:srgbClr val="FDE7D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791325" y="3390900"/>
            <a:ext cx="352425" cy="942975"/>
          </a:xfrm>
          <a:prstGeom prst="roundRect">
            <a:avLst>
              <a:gd name="adj" fmla="val 18918"/>
            </a:avLst>
          </a:prstGeom>
          <a:solidFill>
            <a:srgbClr val="E4EFF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 rot="5400000">
            <a:off x="6806946" y="2683669"/>
            <a:ext cx="349758" cy="21431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Sem</a:t>
            </a:r>
          </a:p>
        </p:txBody>
      </p:sp>
      <p:sp>
        <p:nvSpPr>
          <p:cNvPr id="94" name="TextBox 93"/>
          <p:cNvSpPr txBox="1"/>
          <p:nvPr/>
        </p:nvSpPr>
        <p:spPr>
          <a:xfrm rot="5400000">
            <a:off x="6835235" y="3769519"/>
            <a:ext cx="293180" cy="21431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Dyn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933819" y="4466272"/>
            <a:ext cx="96012" cy="214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 i="1">
                <a:solidFill>
                  <a:srgbClr val="111111"/>
                </a:solidFill>
                <a:latin typeface="Times New Roman"/>
              </a:rPr>
              <a:t>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629525" y="2181225"/>
            <a:ext cx="495300" cy="2257425"/>
          </a:xfrm>
          <a:prstGeom prst="rect">
            <a:avLst/>
          </a:prstGeom>
          <a:solidFill>
            <a:srgbClr val="FAFAFA"/>
          </a:solidFill>
          <a:ln w="152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7696200" y="2314575"/>
            <a:ext cx="352425" cy="952500"/>
          </a:xfrm>
          <a:prstGeom prst="roundRect">
            <a:avLst>
              <a:gd name="adj" fmla="val 18918"/>
            </a:avLst>
          </a:prstGeom>
          <a:solidFill>
            <a:srgbClr val="FDE7D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7696200" y="3390900"/>
            <a:ext cx="352425" cy="942975"/>
          </a:xfrm>
          <a:prstGeom prst="roundRect">
            <a:avLst>
              <a:gd name="adj" fmla="val 18918"/>
            </a:avLst>
          </a:prstGeom>
          <a:solidFill>
            <a:srgbClr val="E4EFF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 rot="5400000">
            <a:off x="7711821" y="2683669"/>
            <a:ext cx="349758" cy="21431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Sem</a:t>
            </a:r>
          </a:p>
        </p:txBody>
      </p:sp>
      <p:sp>
        <p:nvSpPr>
          <p:cNvPr id="100" name="TextBox 99"/>
          <p:cNvSpPr txBox="1"/>
          <p:nvPr/>
        </p:nvSpPr>
        <p:spPr>
          <a:xfrm rot="5400000">
            <a:off x="7740110" y="3769519"/>
            <a:ext cx="293180" cy="21431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Dyn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862697" y="4466272"/>
            <a:ext cx="48006" cy="214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 i="1">
                <a:solidFill>
                  <a:srgbClr val="111111"/>
                </a:solidFill>
                <a:latin typeface="Times New Roman"/>
              </a:rPr>
              <a:t>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373302" y="3877628"/>
            <a:ext cx="188595" cy="2619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650">
                <a:solidFill>
                  <a:srgbClr val="777777"/>
                </a:solidFill>
                <a:latin typeface="Arial"/>
              </a:rPr>
              <a:t>...</a:t>
            </a:r>
          </a:p>
        </p:txBody>
      </p:sp>
      <p:sp>
        <p:nvSpPr>
          <p:cNvPr id="103" name="freeform-103"/>
          <p:cNvSpPr/>
          <p:nvPr/>
        </p:nvSpPr>
        <p:spPr>
          <a:xfrm>
            <a:off x="5133975" y="2476500"/>
            <a:ext cx="3448050" cy="1085850"/>
          </a:xfrm>
          <a:custGeom>
            <a:avLst/>
            <a:gdLst/>
            <a:ahLst/>
            <a:cxnLst/>
            <a:rect l="0" t="0" r="0" b="0"/>
            <a:pathLst>
              <a:path w="3448050" h="1085850">
                <a:moveTo>
                  <a:pt x="0" y="276225"/>
                </a:moveTo>
                <a:cubicBezTo>
                  <a:pt x="219075" y="0"/>
                  <a:pt x="381000" y="142875"/>
                  <a:pt x="485775" y="485775"/>
                </a:cubicBezTo>
                <a:cubicBezTo>
                  <a:pt x="609600" y="857250"/>
                  <a:pt x="819150" y="800100"/>
                  <a:pt x="952500" y="581025"/>
                </a:cubicBezTo>
                <a:cubicBezTo>
                  <a:pt x="1104900" y="323850"/>
                  <a:pt x="1247775" y="371475"/>
                  <a:pt x="1400175" y="733425"/>
                </a:cubicBezTo>
                <a:cubicBezTo>
                  <a:pt x="1543050" y="1066800"/>
                  <a:pt x="1733550" y="1085850"/>
                  <a:pt x="1866900" y="704850"/>
                </a:cubicBezTo>
                <a:cubicBezTo>
                  <a:pt x="2019300" y="257175"/>
                  <a:pt x="2276475" y="180975"/>
                  <a:pt x="2476500" y="276225"/>
                </a:cubicBezTo>
                <a:cubicBezTo>
                  <a:pt x="2714625" y="381000"/>
                  <a:pt x="2962275" y="47625"/>
                  <a:pt x="3448050" y="257175"/>
                </a:cubicBezTo>
              </a:path>
            </a:pathLst>
          </a:custGeom>
          <a:noFill/>
          <a:ln w="26670" cap="rnd">
            <a:solidFill>
              <a:srgbClr val="2D5EA8"/>
            </a:solidFill>
            <a:prstDash val="dot"/>
          </a:ln>
        </p:spPr>
        <p:txBody>
          <a:bodyPr/>
          <a:p/>
        </p:txBody>
      </p:sp>
      <p:sp>
        <p:nvSpPr>
          <p:cNvPr id="104" name="freeform-104"/>
          <p:cNvSpPr/>
          <p:nvPr/>
        </p:nvSpPr>
        <p:spPr>
          <a:xfrm>
            <a:off x="5133975" y="2838450"/>
            <a:ext cx="3448050" cy="1285875"/>
          </a:xfrm>
          <a:custGeom>
            <a:avLst/>
            <a:gdLst/>
            <a:ahLst/>
            <a:cxnLst/>
            <a:rect l="0" t="0" r="0" b="0"/>
            <a:pathLst>
              <a:path w="3448050" h="1285875">
                <a:moveTo>
                  <a:pt x="0" y="1066800"/>
                </a:moveTo>
                <a:cubicBezTo>
                  <a:pt x="247650" y="1000125"/>
                  <a:pt x="485775" y="1200150"/>
                  <a:pt x="752475" y="1143000"/>
                </a:cubicBezTo>
                <a:cubicBezTo>
                  <a:pt x="1019175" y="1066800"/>
                  <a:pt x="1181100" y="685800"/>
                  <a:pt x="1381125" y="342900"/>
                </a:cubicBezTo>
                <a:cubicBezTo>
                  <a:pt x="1533525" y="95250"/>
                  <a:pt x="1657350" y="0"/>
                  <a:pt x="1800225" y="114300"/>
                </a:cubicBezTo>
                <a:cubicBezTo>
                  <a:pt x="1962150" y="276225"/>
                  <a:pt x="2085975" y="838200"/>
                  <a:pt x="2362200" y="1066800"/>
                </a:cubicBezTo>
                <a:cubicBezTo>
                  <a:pt x="2628900" y="1285875"/>
                  <a:pt x="2905125" y="1162050"/>
                  <a:pt x="3448050" y="1095375"/>
                </a:cubicBezTo>
              </a:path>
            </a:pathLst>
          </a:custGeom>
          <a:noFill/>
          <a:ln w="26670" cap="rnd">
            <a:solidFill>
              <a:srgbClr val="D20C0C"/>
            </a:solidFill>
            <a:prstDash val="dot"/>
          </a:ln>
        </p:spPr>
        <p:txBody>
          <a:bodyPr/>
          <a:p/>
        </p:txBody>
      </p:sp>
      <p:sp>
        <p:nvSpPr>
          <p:cNvPr id="105" name="freeform-105"/>
          <p:cNvSpPr/>
          <p:nvPr/>
        </p:nvSpPr>
        <p:spPr>
          <a:xfrm>
            <a:off x="5772150" y="3009900"/>
            <a:ext cx="152400" cy="209550"/>
          </a:xfrm>
          <a:custGeom>
            <a:avLst/>
            <a:gdLst/>
            <a:ahLst/>
            <a:cxnLst/>
            <a:rect l="0" t="0" r="0" b="0"/>
            <a:pathLst>
              <a:path w="152400" h="209550">
                <a:moveTo>
                  <a:pt x="0" y="0"/>
                </a:moveTo>
                <a:lnTo>
                  <a:pt x="152400" y="209550"/>
                </a:lnTo>
              </a:path>
            </a:pathLst>
          </a:custGeom>
          <a:noFill/>
          <a:ln w="19050" cap="rnd">
            <a:solidFill>
              <a:srgbClr val="111111"/>
            </a:solidFill>
          </a:ln>
        </p:spPr>
        <p:txBody>
          <a:bodyPr/>
          <a:p/>
        </p:txBody>
      </p:sp>
      <p:sp>
        <p:nvSpPr>
          <p:cNvPr id="106" name="freeform-106"/>
          <p:cNvSpPr/>
          <p:nvPr/>
        </p:nvSpPr>
        <p:spPr>
          <a:xfrm>
            <a:off x="5848918" y="3135415"/>
            <a:ext cx="75632" cy="84035"/>
          </a:xfrm>
          <a:custGeom>
            <a:avLst/>
            <a:gdLst/>
            <a:ahLst/>
            <a:cxnLst/>
            <a:rect l="0" t="0" r="0" b="0"/>
            <a:pathLst>
              <a:path w="75632" h="84035">
                <a:moveTo>
                  <a:pt x="61626" y="0"/>
                </a:moveTo>
                <a:lnTo>
                  <a:pt x="75632" y="84035"/>
                </a:lnTo>
                <a:lnTo>
                  <a:pt x="0" y="44819"/>
                </a:lnTo>
                <a:close/>
              </a:path>
            </a:pathLst>
          </a:custGeom>
          <a:solidFill>
            <a:srgbClr val="111111"/>
          </a:solidFill>
        </p:spPr>
        <p:txBody>
          <a:bodyPr/>
          <a:p/>
        </p:txBody>
      </p:sp>
      <p:sp>
        <p:nvSpPr>
          <p:cNvPr id="107" name="freeform-107"/>
          <p:cNvSpPr/>
          <p:nvPr/>
        </p:nvSpPr>
        <p:spPr>
          <a:xfrm>
            <a:off x="6515100" y="3028950"/>
            <a:ext cx="152400" cy="171450"/>
          </a:xfrm>
          <a:custGeom>
            <a:avLst/>
            <a:gdLst/>
            <a:ahLst/>
            <a:cxnLst/>
            <a:rect l="0" t="0" r="0" b="0"/>
            <a:pathLst>
              <a:path w="152400" h="171450">
                <a:moveTo>
                  <a:pt x="0" y="0"/>
                </a:moveTo>
                <a:lnTo>
                  <a:pt x="152400" y="171450"/>
                </a:lnTo>
              </a:path>
            </a:pathLst>
          </a:custGeom>
          <a:noFill/>
          <a:ln w="19050" cap="rnd">
            <a:solidFill>
              <a:srgbClr val="111111"/>
            </a:solidFill>
          </a:ln>
        </p:spPr>
        <p:txBody>
          <a:bodyPr/>
          <a:p/>
        </p:txBody>
      </p:sp>
      <p:sp>
        <p:nvSpPr>
          <p:cNvPr id="108" name="freeform-108"/>
          <p:cNvSpPr/>
          <p:nvPr/>
        </p:nvSpPr>
        <p:spPr>
          <a:xfrm>
            <a:off x="6588399" y="3118135"/>
            <a:ext cx="79101" cy="82265"/>
          </a:xfrm>
          <a:custGeom>
            <a:avLst/>
            <a:gdLst/>
            <a:ahLst/>
            <a:cxnLst/>
            <a:rect l="0" t="0" r="0" b="0"/>
            <a:pathLst>
              <a:path w="79101" h="82265">
                <a:moveTo>
                  <a:pt x="56953" y="0"/>
                </a:moveTo>
                <a:lnTo>
                  <a:pt x="79101" y="82265"/>
                </a:lnTo>
                <a:lnTo>
                  <a:pt x="0" y="50625"/>
                </a:lnTo>
                <a:close/>
              </a:path>
            </a:pathLst>
          </a:custGeom>
          <a:solidFill>
            <a:srgbClr val="111111"/>
          </a:solidFill>
        </p:spPr>
        <p:txBody>
          <a:bodyPr/>
          <a:p/>
        </p:txBody>
      </p:sp>
      <p:sp>
        <p:nvSpPr>
          <p:cNvPr id="109" name="freeform-109"/>
          <p:cNvSpPr/>
          <p:nvPr/>
        </p:nvSpPr>
        <p:spPr>
          <a:xfrm>
            <a:off x="7258050" y="3886200"/>
            <a:ext cx="314325" cy="28575"/>
          </a:xfrm>
          <a:custGeom>
            <a:avLst/>
            <a:gdLst/>
            <a:ahLst/>
            <a:cxnLst/>
            <a:rect l="0" t="0" r="0" b="0"/>
            <a:pathLst>
              <a:path w="314325" h="28575">
                <a:moveTo>
                  <a:pt x="0" y="0"/>
                </a:moveTo>
                <a:lnTo>
                  <a:pt x="314325" y="28575"/>
                </a:lnTo>
              </a:path>
            </a:pathLst>
          </a:custGeom>
          <a:noFill/>
          <a:ln w="19050" cap="rnd">
            <a:solidFill>
              <a:srgbClr val="111111"/>
            </a:solidFill>
          </a:ln>
        </p:spPr>
        <p:txBody>
          <a:bodyPr/>
          <a:p/>
        </p:txBody>
      </p:sp>
      <p:sp>
        <p:nvSpPr>
          <p:cNvPr id="110" name="freeform-110"/>
          <p:cNvSpPr/>
          <p:nvPr/>
        </p:nvSpPr>
        <p:spPr>
          <a:xfrm>
            <a:off x="7493039" y="3869933"/>
            <a:ext cx="79336" cy="75887"/>
          </a:xfrm>
          <a:custGeom>
            <a:avLst/>
            <a:gdLst/>
            <a:ahLst/>
            <a:cxnLst/>
            <a:rect l="0" t="0" r="0" b="0"/>
            <a:pathLst>
              <a:path w="79336" h="75887">
                <a:moveTo>
                  <a:pt x="6899" y="0"/>
                </a:moveTo>
                <a:lnTo>
                  <a:pt x="79336" y="44842"/>
                </a:lnTo>
                <a:lnTo>
                  <a:pt x="0" y="75887"/>
                </a:lnTo>
                <a:close/>
              </a:path>
            </a:pathLst>
          </a:custGeom>
          <a:solidFill>
            <a:srgbClr val="111111"/>
          </a:solidFill>
        </p:spPr>
        <p:txBody>
          <a:bodyPr/>
          <a:p/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math:005" descr="AI_AUTOFIGURE_NATIVE_MATH_V1:eyJjb250ZW50X3J1bnMiOlt7ImNhbm9uaWNhbF9sYXRleCI6Inpfe3R9IiwiZm9ybXVsYV9pZCI6IkVRMDA1Iiwia2luZCI6Im1hdGg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7dH0iLCJmb3JtdWxhX2lkIjoiRVEwMDU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1hdGg6MDA1Iiwic2NoZW1hX3ZlcnNpb24iOiIxLjAifQ=="/>
              <p:cNvSpPr txBox="1"/>
              <p:nvPr/>
            </p:nvSpPr>
            <p:spPr>
              <a:xfrm>
                <a:off x="8709184" y="1732598"/>
                <a:ext cx="145732" cy="2143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350">
                            <a:solidFill>
                              <a:srgbClr val="111111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35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endParaRPr lang="en-US" dirty="0" sz="1350">
                  <a:solidFill>
                    <a:srgbClr val="111111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11" name="math:005" descr="AI_AUTOFIGURE_MATH_FALLBACK_ONLY_V1:eyJjb250ZW50X3J1bnMiOlt7ImNhbm9uaWNhbF9sYXRleCI6Inpfe3R9IiwiZm9ybXVsYV9pZCI6IkVRMDA1Iiwia2luZCI6Im1hdGg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7dH0iLCJmb3JtdWxhX2lkIjoiRVEwMDU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1hdGg6MDA1Iiwic2NoZW1hX3ZlcnNpb24iOiIxLjAifQ=="/>
              <p:cNvSpPr txBox="1"/>
              <p:nvPr/>
            </p:nvSpPr>
            <p:spPr>
              <a:xfrm>
                <a:off x="8709184" y="1732598"/>
                <a:ext cx="145732" cy="2143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111111"/>
                    </a:solidFill>
                  </a:rPr>
                  <a:t>\(z_{t}\)</a:t>
                </a:r>
                <a:endParaRPr lang="en-US" dirty="0" sz="1350">
                  <a:solidFill>
                    <a:srgbClr val="111111"/>
                  </a:solidFill>
                </a:endParaRPr>
              </a:p>
            </p:txBody>
          </p:sp>
        </mc:Fallback>
      </mc:AlternateContent>
      <p:sp>
        <p:nvSpPr>
          <p:cNvPr id="112" name="Rectangle 111"/>
          <p:cNvSpPr/>
          <p:nvPr/>
        </p:nvSpPr>
        <p:spPr>
          <a:xfrm>
            <a:off x="8591550" y="1981200"/>
            <a:ext cx="400050" cy="1219200"/>
          </a:xfrm>
          <a:prstGeom prst="rect">
            <a:avLst/>
          </a:prstGeom>
          <a:solidFill>
            <a:srgbClr val="FFFFFF"/>
          </a:solidFill>
          <a:ln w="28575">
            <a:solidFill>
              <a:srgbClr val="233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629650" y="2057400"/>
            <a:ext cx="323850" cy="323850"/>
          </a:xfrm>
          <a:prstGeom prst="ellipse">
            <a:avLst/>
          </a:prstGeom>
          <a:gradFill>
            <a:gsLst>
              <a:gs pos="0">
                <a:srgbClr val="F39A5D"/>
              </a:gs>
              <a:gs pos="46000">
                <a:srgbClr val="F7C6A1"/>
              </a:gs>
              <a:gs pos="54000">
                <a:srgbClr val="6FB0B6"/>
              </a:gs>
              <a:gs pos="100000">
                <a:srgbClr val="1F8795"/>
              </a:gs>
            </a:gsLst>
            <a:lin ang="189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629650" y="2409825"/>
            <a:ext cx="323850" cy="323850"/>
          </a:xfrm>
          <a:prstGeom prst="ellipse">
            <a:avLst/>
          </a:prstGeom>
          <a:gradFill>
            <a:gsLst>
              <a:gs pos="0">
                <a:srgbClr val="F39A5D"/>
              </a:gs>
              <a:gs pos="46000">
                <a:srgbClr val="F7C6A1"/>
              </a:gs>
              <a:gs pos="54000">
                <a:srgbClr val="6FB0B6"/>
              </a:gs>
              <a:gs pos="100000">
                <a:srgbClr val="1F8795"/>
              </a:gs>
            </a:gsLst>
            <a:lin ang="189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629650" y="2752725"/>
            <a:ext cx="323850" cy="323850"/>
          </a:xfrm>
          <a:prstGeom prst="ellipse">
            <a:avLst/>
          </a:prstGeom>
          <a:gradFill>
            <a:gsLst>
              <a:gs pos="0">
                <a:srgbClr val="F39A5D"/>
              </a:gs>
              <a:gs pos="46000">
                <a:srgbClr val="F7C6A1"/>
              </a:gs>
              <a:gs pos="54000">
                <a:srgbClr val="6FB0B6"/>
              </a:gs>
              <a:gs pos="100000">
                <a:srgbClr val="1F8795"/>
              </a:gs>
            </a:gsLst>
            <a:lin ang="189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591550" y="3362325"/>
            <a:ext cx="400050" cy="1200150"/>
          </a:xfrm>
          <a:prstGeom prst="rect">
            <a:avLst/>
          </a:prstGeom>
          <a:solidFill>
            <a:srgbClr val="FFFFFF"/>
          </a:solidFill>
          <a:ln w="28575">
            <a:solidFill>
              <a:srgbClr val="233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629650" y="3457575"/>
            <a:ext cx="323850" cy="323850"/>
          </a:xfrm>
          <a:prstGeom prst="ellipse">
            <a:avLst/>
          </a:prstGeom>
          <a:gradFill>
            <a:gsLst>
              <a:gs pos="0">
                <a:srgbClr val="F39A5D"/>
              </a:gs>
              <a:gs pos="46000">
                <a:srgbClr val="F7C6A1"/>
              </a:gs>
              <a:gs pos="54000">
                <a:srgbClr val="6FB0B6"/>
              </a:gs>
              <a:gs pos="100000">
                <a:srgbClr val="1F8795"/>
              </a:gs>
            </a:gsLst>
            <a:lin ang="189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629650" y="3800475"/>
            <a:ext cx="323850" cy="323850"/>
          </a:xfrm>
          <a:prstGeom prst="ellipse">
            <a:avLst/>
          </a:prstGeom>
          <a:gradFill>
            <a:gsLst>
              <a:gs pos="0">
                <a:srgbClr val="F39A5D"/>
              </a:gs>
              <a:gs pos="46000">
                <a:srgbClr val="F7C6A1"/>
              </a:gs>
              <a:gs pos="54000">
                <a:srgbClr val="6FB0B6"/>
              </a:gs>
              <a:gs pos="100000">
                <a:srgbClr val="1F8795"/>
              </a:gs>
            </a:gsLst>
            <a:lin ang="189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629650" y="4152900"/>
            <a:ext cx="323850" cy="323850"/>
          </a:xfrm>
          <a:prstGeom prst="ellipse">
            <a:avLst/>
          </a:prstGeom>
          <a:gradFill>
            <a:gsLst>
              <a:gs pos="0">
                <a:srgbClr val="F39A5D"/>
              </a:gs>
              <a:gs pos="46000">
                <a:srgbClr val="F7C6A1"/>
              </a:gs>
              <a:gs pos="54000">
                <a:srgbClr val="6FB0B6"/>
              </a:gs>
              <a:gs pos="100000">
                <a:srgbClr val="1F8795"/>
              </a:gs>
            </a:gsLst>
            <a:lin ang="189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-120"/>
          <p:cNvSpPr/>
          <p:nvPr/>
        </p:nvSpPr>
        <p:spPr>
          <a:xfrm>
            <a:off x="9001125" y="2590800"/>
            <a:ext cx="581025" cy="381000"/>
          </a:xfrm>
          <a:custGeom>
            <a:avLst/>
            <a:gdLst/>
            <a:ahLst/>
            <a:cxnLst/>
            <a:rect l="0" t="0" r="0" b="0"/>
            <a:pathLst>
              <a:path w="581025" h="381000">
                <a:moveTo>
                  <a:pt x="0" y="0"/>
                </a:moveTo>
                <a:lnTo>
                  <a:pt x="581025" y="381000"/>
                </a:lnTo>
              </a:path>
            </a:pathLst>
          </a:custGeom>
          <a:noFill/>
          <a:ln w="17145" cap="rnd">
            <a:solidFill>
              <a:srgbClr val="8D6A00"/>
            </a:solidFill>
          </a:ln>
        </p:spPr>
        <p:txBody>
          <a:bodyPr/>
          <a:p/>
        </p:txBody>
      </p:sp>
      <p:sp>
        <p:nvSpPr>
          <p:cNvPr id="121" name="freeform-121"/>
          <p:cNvSpPr/>
          <p:nvPr/>
        </p:nvSpPr>
        <p:spPr>
          <a:xfrm>
            <a:off x="9486959" y="2888949"/>
            <a:ext cx="95191" cy="82851"/>
          </a:xfrm>
          <a:custGeom>
            <a:avLst/>
            <a:gdLst/>
            <a:ahLst/>
            <a:cxnLst/>
            <a:rect l="0" t="0" r="0" b="0"/>
            <a:pathLst>
              <a:path w="95191" h="82851">
                <a:moveTo>
                  <a:pt x="47008" y="0"/>
                </a:moveTo>
                <a:lnTo>
                  <a:pt x="95191" y="82851"/>
                </a:lnTo>
                <a:lnTo>
                  <a:pt x="0" y="71687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sp>
        <p:nvSpPr>
          <p:cNvPr id="122" name="freeform-122"/>
          <p:cNvSpPr/>
          <p:nvPr/>
        </p:nvSpPr>
        <p:spPr>
          <a:xfrm>
            <a:off x="9001125" y="3076575"/>
            <a:ext cx="571500" cy="904875"/>
          </a:xfrm>
          <a:custGeom>
            <a:avLst/>
            <a:gdLst/>
            <a:ahLst/>
            <a:cxnLst/>
            <a:rect l="0" t="0" r="0" b="0"/>
            <a:pathLst>
              <a:path w="571500" h="904875">
                <a:moveTo>
                  <a:pt x="0" y="904875"/>
                </a:moveTo>
                <a:lnTo>
                  <a:pt x="571500" y="0"/>
                </a:lnTo>
              </a:path>
            </a:pathLst>
          </a:custGeom>
          <a:noFill/>
          <a:ln w="17145" cap="rnd">
            <a:solidFill>
              <a:srgbClr val="8D6A00"/>
            </a:solidFill>
          </a:ln>
        </p:spPr>
        <p:txBody>
          <a:bodyPr/>
          <a:p/>
        </p:txBody>
      </p:sp>
      <p:sp>
        <p:nvSpPr>
          <p:cNvPr id="123" name="freeform-123"/>
          <p:cNvSpPr/>
          <p:nvPr/>
        </p:nvSpPr>
        <p:spPr>
          <a:xfrm>
            <a:off x="9490609" y="3076575"/>
            <a:ext cx="82016" cy="95368"/>
          </a:xfrm>
          <a:custGeom>
            <a:avLst/>
            <a:gdLst/>
            <a:ahLst/>
            <a:cxnLst/>
            <a:rect l="0" t="0" r="0" b="0"/>
            <a:pathLst>
              <a:path w="82016" h="95368">
                <a:moveTo>
                  <a:pt x="0" y="49591"/>
                </a:moveTo>
                <a:lnTo>
                  <a:pt x="82016" y="0"/>
                </a:lnTo>
                <a:lnTo>
                  <a:pt x="72480" y="95368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sp>
        <p:nvSpPr>
          <p:cNvPr id="124" name="Rounded Rectangle 123"/>
          <p:cNvSpPr/>
          <p:nvPr/>
        </p:nvSpPr>
        <p:spPr>
          <a:xfrm>
            <a:off x="9467850" y="1162050"/>
            <a:ext cx="3800475" cy="847725"/>
          </a:xfrm>
          <a:prstGeom prst="roundRect">
            <a:avLst>
              <a:gd name="adj" fmla="val 19101"/>
            </a:avLst>
          </a:prstGeom>
          <a:solidFill>
            <a:srgbClr val="F8F8F8"/>
          </a:solidFill>
          <a:ln w="20955">
            <a:solidFill>
              <a:srgbClr val="22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170795" y="1276350"/>
            <a:ext cx="2423160" cy="2381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11111"/>
                </a:solidFill>
                <a:latin typeface="Arial"/>
              </a:rPr>
              <a:t>task-conditioned imagination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9601200" y="1581150"/>
            <a:ext cx="457200" cy="314325"/>
          </a:xfrm>
          <a:prstGeom prst="roundRect">
            <a:avLst>
              <a:gd name="adj" fmla="val 18181"/>
            </a:avLst>
          </a:prstGeom>
          <a:solidFill>
            <a:srgbClr val="92BFE4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math:006" descr="AI_AUTOFIGURE_NATIVE_MATH_V1:eyJjb250ZW50X3J1bnMiOlt7ImNhbm9uaWNhbF9sYXRleCI6Inpee1xcdGF1fV97dH0iLCJmb3JtdWxhX2lkIjoiRVEwMDYiLCJraW5kIjoibWF0aCIsImxhdGV4X3NoYTI1NiI6IjgxMmI1YjFjOGFmZDdhYzI0Nzc5YTQxYzhmMmE0ZDNiNzZlODAyYzNlNDk5NDc3MjdlM2Q4OTZhYmI3MmQ3ZjEiLCJtb2RlIjoiaW5saW5lIiwib21tbF9zaGEyNTYiOiIwYjA5Y2ZlY2EzYmZiNzFlMzRjMGY1ZmI2ZTY2NDUzZTMwMWFlZGI1Nzc5YmE1MTFhMGZiZDc0MDljMWZlN2M1Iiwic2VtYW50aWNfb21tbF9wcm9maWxlIjoib2ZmaWNlLW1hdGgtc2VtYW50aWMtdjIiLCJzZW1hbnRpY19vbW1sX3NoYTI1NiI6IjdiMDU0ZTcxNjkxNGEwYjY5OGE4N2NmZWM0NTQ3ZWYwYjY2NTA0YzFhYTU3YmI0NDkwN2Q0NGE0YzQ3NDgxZWQifV0sImZvcm11bGFzIjpbeyJjYW5vbmljYWxfbGF0ZXgiOiJ6XntcXHRhdX1fe3R9IiwiZm9ybXVsYV9pZCI6IkVRMDA2IiwibGF0ZXhfc2hhMjU2IjoiODEyYjViMWM4YWZkN2FjMjQ3NzlhNDFjOGYyYTRkM2I3NmU4MDJjM2U0OTk0NzcyN2UzZDg5NmFiYjcyZDdmMSIsIm1vZGUiOiJpbmxpbmUiLCJvbW1sX3NoYTI1NiI6IjBiMDljZmVjYTNiZmI3MWUzNGMwZjVmYjZlNjY0NTNlMzAxYWVkYjU3NzliYTUxMWEwZmJkNzQwOWMxZmU3YzUiLCJzZW1hbnRpY19vbW1sX3Byb2ZpbGUiOiJvZmZpY2UtbWF0aC1zZW1hbnRpYy12MiIsInNlbWFudGljX29tbWxfc2hhMjU2IjoiN2IwNTRlNzE2OTE0YTBiNjk4YTg3Y2ZlYzQ1NDdlZjBiNjY1MDRjMWFhNTdiYjQ0OTA3ZDQ0YTRjNDc0ODFlZCJ9XSwia2luZCI6Im5hdGl2ZV9vZmZpY2VfbWF0aCIsInBsYWNlaG9sZGVyX25hbWUiOiJtYXRoOjAwNiIsInNjaGVtYV92ZXJzaW9uIjoiMS4wIn0="/>
              <p:cNvSpPr txBox="1"/>
              <p:nvPr/>
            </p:nvSpPr>
            <p:spPr>
              <a:xfrm>
                <a:off x="9720501" y="1646396"/>
                <a:ext cx="218599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</m:t>
                        </m:r>
                      </m:sub>
                      <m:sup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τ</m:t>
                        </m:r>
                      </m:sup>
                    </m:sSubSup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27" name="math:006" descr="AI_AUTOFIGURE_MATH_FALLBACK_ONLY_V1:eyJjb250ZW50X3J1bnMiOlt7ImNhbm9uaWNhbF9sYXRleCI6Inpee1xcdGF1fV97dH0iLCJmb3JtdWxhX2lkIjoiRVEwMDYiLCJraW5kIjoibWF0aCIsImxhdGV4X3NoYTI1NiI6IjgxMmI1YjFjOGFmZDdhYzI0Nzc5YTQxYzhmMmE0ZDNiNzZlODAyYzNlNDk5NDc3MjdlM2Q4OTZhYmI3MmQ3ZjEiLCJtb2RlIjoiaW5saW5lIiwib21tbF9zaGEyNTYiOiIwYjA5Y2ZlY2EzYmZiNzFlMzRjMGY1ZmI2ZTY2NDUzZTMwMWFlZGI1Nzc5YmE1MTFhMGZiZDc0MDljMWZlN2M1Iiwic2VtYW50aWNfb21tbF9wcm9maWxlIjoib2ZmaWNlLW1hdGgtc2VtYW50aWMtdjIiLCJzZW1hbnRpY19vbW1sX3NoYTI1NiI6IjdiMDU0ZTcxNjkxNGEwYjY5OGE4N2NmZWM0NTQ3ZWYwYjY2NTA0YzFhYTU3YmI0NDkwN2Q0NGE0YzQ3NDgxZWQifV0sImZvcm11bGFzIjpbeyJjYW5vbmljYWxfbGF0ZXgiOiJ6XntcXHRhdX1fe3R9IiwiZm9ybXVsYV9pZCI6IkVRMDA2IiwibGF0ZXhfc2hhMjU2IjoiODEyYjViMWM4YWZkN2FjMjQ3NzlhNDFjOGYyYTRkM2I3NmU4MDJjM2U0OTk0NzcyN2UzZDg5NmFiYjcyZDdmMSIsIm1vZGUiOiJpbmxpbmUiLCJvbW1sX3NoYTI1NiI6IjBiMDljZmVjYTNiZmI3MWUzNGMwZjVmYjZlNjY0NTNlMzAxYWVkYjU3NzliYTUxMWEwZmJkNzQwOWMxZmU3YzUiLCJzZW1hbnRpY19vbW1sX3Byb2ZpbGUiOiJvZmZpY2UtbWF0aC1zZW1hbnRpYy12MiIsInNlbWFudGljX29tbWxfc2hhMjU2IjoiN2IwNTRlNzE2OTE0YTBiNjk4YTg3Y2ZlYzQ1NDdlZjBiNjY1MDRjMWFhNTdiYjQ0OTA3ZDQ0YTRjNDc0ODFlZCJ9XSwia2luZCI6Im5hdGl2ZV9vZmZpY2VfbWF0aCIsInBsYWNlaG9sZGVyX25hbWUiOiJtYXRoOjAwNiIsInNjaGVtYV92ZXJzaW9uIjoiMS4wIn0="/>
              <p:cNvSpPr txBox="1"/>
              <p:nvPr/>
            </p:nvSpPr>
            <p:spPr>
              <a:xfrm>
                <a:off x="9720501" y="1646396"/>
                <a:ext cx="218599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\(z^{\tau}_{t}\)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28" name="Rounded Rectangle 127"/>
          <p:cNvSpPr/>
          <p:nvPr/>
        </p:nvSpPr>
        <p:spPr>
          <a:xfrm>
            <a:off x="10525125" y="1581150"/>
            <a:ext cx="457200" cy="314325"/>
          </a:xfrm>
          <a:prstGeom prst="roundRect">
            <a:avLst>
              <a:gd name="adj" fmla="val 18181"/>
            </a:avLst>
          </a:prstGeom>
          <a:solidFill>
            <a:srgbClr val="92BFE4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math:007" descr="AI_AUTOFIGURE_NATIVE_MATH_V1:eyJjb250ZW50X3J1bnMiOlt7ImNhbm9uaWNhbF9sYXRleCI6Inpee1xcdGF1fV97dCsxfSIsImZvcm11bGFfaWQiOiJFUTAwNyIsImtpbmQiOiJtYXRoIiwibGF0ZXhfc2hhMjU2IjoiMmM1ZTJlMzU3Mzg2MTFkZDE4YzEwNzBlZTQ2YjQ1MGU5YjE0ZGViZDFmYmU3ZDJlYzI0OWQ4OWMxZThmODU5MSIsIm1vZGUiOiJpbmxpbmUiLCJvbW1sX3NoYTI1NiI6IjY2YmY1ZjM0M2NjY2YwNTI1M2NjZGI5ODYxM2Y4NTFjZTYzMmVkOWNmMjBhMjE3MDc5MDUyYWE2NjRlYWQ3ZTkiLCJzZW1hbnRpY19vbW1sX3Byb2ZpbGUiOiJvZmZpY2UtbWF0aC1zZW1hbnRpYy12MiIsInNlbWFudGljX29tbWxfc2hhMjU2IjoiMjMzM2NjYjhkM2RjMTg3N2JiNDFkYzBkMmJlM2NmY2MxMjJjMGZjNDQyMzk3Mzk4YmI0MzlkMWMwNzdhMjY5OCJ9XSwiZm9ybXVsYXMiOlt7ImNhbm9uaWNhbF9sYXRleCI6Inpee1xcdGF1fV97dCsxfSIsImZvcm11bGFfaWQiOiJFUTAwNyIsImxhdGV4X3NoYTI1NiI6IjJjNWUyZTM1NzM4NjExZGQxOGMxMDcwZWU0NmI0NTBlOWIxNGRlYmQxZmJlN2QyZWMyNDlkODljMWU4Zjg1OTEiLCJtb2RlIjoiaW5saW5lIiwib21tbF9zaGEyNTYiOiI2NmJmNWYzNDNjY2NmMDUyNTNjY2RiOTg2MTNmODUxY2U2MzJlZDljZjIwYTIxNzA3OTA1MmFhNjY0ZWFkN2U5Iiwic2VtYW50aWNfb21tbF9wcm9maWxlIjoib2ZmaWNlLW1hdGgtc2VtYW50aWMtdjIiLCJzZW1hbnRpY19vbW1sX3NoYTI1NiI6IjIzMzNjY2I4ZDNkYzE4NzdiYjQxZGMwZDJiZTNjZmNjMTIyYzBmYzQ0MjM5NzM5OGJiNDM5ZDFjMDc3YTI2OTgifV0sImtpbmQiOiJuYXRpdmVfb2ZmaWNlX21hdGgiLCJwbGFjZWhvbGRlcl9uYW1lIjoibWF0aDowMDciLCJzY2hlbWFfdmVyc2lvbiI6IjEuMCJ9"/>
              <p:cNvSpPr txBox="1"/>
              <p:nvPr/>
            </p:nvSpPr>
            <p:spPr>
              <a:xfrm>
                <a:off x="10556986" y="1646396"/>
                <a:ext cx="393478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t+1</m:t>
                        </m:r>
                      </m:sub>
                      <m:sup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τ</m:t>
                        </m:r>
                      </m:sup>
                    </m:sSubSup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29" name="math:007" descr="AI_AUTOFIGURE_MATH_FALLBACK_ONLY_V1:eyJjb250ZW50X3J1bnMiOlt7ImNhbm9uaWNhbF9sYXRleCI6Inpee1xcdGF1fV97dCsxfSIsImZvcm11bGFfaWQiOiJFUTAwNyIsImtpbmQiOiJtYXRoIiwibGF0ZXhfc2hhMjU2IjoiMmM1ZTJlMzU3Mzg2MTFkZDE4YzEwNzBlZTQ2YjQ1MGU5YjE0ZGViZDFmYmU3ZDJlYzI0OWQ4OWMxZThmODU5MSIsIm1vZGUiOiJpbmxpbmUiLCJvbW1sX3NoYTI1NiI6IjY2YmY1ZjM0M2NjY2YwNTI1M2NjZGI5ODYxM2Y4NTFjZTYzMmVkOWNmMjBhMjE3MDc5MDUyYWE2NjRlYWQ3ZTkiLCJzZW1hbnRpY19vbW1sX3Byb2ZpbGUiOiJvZmZpY2UtbWF0aC1zZW1hbnRpYy12MiIsInNlbWFudGljX29tbWxfc2hhMjU2IjoiMjMzM2NjYjhkM2RjMTg3N2JiNDFkYzBkMmJlM2NmY2MxMjJjMGZjNDQyMzk3Mzk4YmI0MzlkMWMwNzdhMjY5OCJ9XSwiZm9ybXVsYXMiOlt7ImNhbm9uaWNhbF9sYXRleCI6Inpee1xcdGF1fV97dCsxfSIsImZvcm11bGFfaWQiOiJFUTAwNyIsImxhdGV4X3NoYTI1NiI6IjJjNWUyZTM1NzM4NjExZGQxOGMxMDcwZWU0NmI0NTBlOWIxNGRlYmQxZmJlN2QyZWMyNDlkODljMWU4Zjg1OTEiLCJtb2RlIjoiaW5saW5lIiwib21tbF9zaGEyNTYiOiI2NmJmNWYzNDNjY2NmMDUyNTNjY2RiOTg2MTNmODUxY2U2MzJlZDljZjIwYTIxNzA3OTA1MmFhNjY0ZWFkN2U5Iiwic2VtYW50aWNfb21tbF9wcm9maWxlIjoib2ZmaWNlLW1hdGgtc2VtYW50aWMtdjIiLCJzZW1hbnRpY19vbW1sX3NoYTI1NiI6IjIzMzNjY2I4ZDNkYzE4NzdiYjQxZGMwZDJiZTNjZmNjMTIyYzBmYzQ0MjM5NzM5OGJiNDM5ZDFjMDc3YTI2OTgifV0sImtpbmQiOiJuYXRpdmVfb2ZmaWNlX21hdGgiLCJwbGFjZWhvbGRlcl9uYW1lIjoibWF0aDowMDciLCJzY2hlbWFfdmVyc2lvbiI6IjEuMCJ9"/>
              <p:cNvSpPr txBox="1"/>
              <p:nvPr/>
            </p:nvSpPr>
            <p:spPr>
              <a:xfrm>
                <a:off x="10556986" y="1646396"/>
                <a:ext cx="393478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\(z^{\tau}_{t+1}\)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30" name="Rounded Rectangle 129"/>
          <p:cNvSpPr/>
          <p:nvPr/>
        </p:nvSpPr>
        <p:spPr>
          <a:xfrm>
            <a:off x="11458575" y="1581150"/>
            <a:ext cx="457200" cy="314325"/>
          </a:xfrm>
          <a:prstGeom prst="roundRect">
            <a:avLst>
              <a:gd name="adj" fmla="val 18181"/>
            </a:avLst>
          </a:prstGeom>
          <a:solidFill>
            <a:srgbClr val="92BFE4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math:008" descr="AI_AUTOFIGURE_NATIVE_MATH_V1:eyJjb250ZW50X3J1bnMiOlt7ImNhbm9uaWNhbF9sYXRleCI6Inpee1xcdGF1fV97dCsyfSIsImZvcm11bGFfaWQiOiJFUTAwOCIsImtpbmQiOiJtYXRoIiwibGF0ZXhfc2hhMjU2IjoiZjE3MjkyMTZjNmIzNGI3ODc1N2JhN2I1NThmZTBlZjUzN2Q5YjM2ZTg1ZmY4NmE0ZTA0NjQ5ZmI5OTFmMWE0ZiIsIm1vZGUiOiJpbmxpbmUiLCJvbW1sX3NoYTI1NiI6IjU4YTU0YjQ2NDc2NGExYWVlOWMxNDQ1NTdjNjRhMjAxYjBjOGY5Zjk2MDE0ZjVlNDkwNmJhOTM4NDEzZjFmNDUiLCJzZW1hbnRpY19vbW1sX3Byb2ZpbGUiOiJvZmZpY2UtbWF0aC1zZW1hbnRpYy12MiIsInNlbWFudGljX29tbWxfc2hhMjU2IjoiMTc4YzVhMDM3MDY3NGFjYzc2NGI3OGYxNWExMGU0MmM5ZTNlZTRjZmZlY2Y5NjU5ZjgzMzViMjZlNzMyZmZmZSJ9XSwiZm9ybXVsYXMiOlt7ImNhbm9uaWNhbF9sYXRleCI6Inpee1xcdGF1fV97dCsyfSIsImZvcm11bGFfaWQiOiJFUTAwOCIsImxhdGV4X3NoYTI1NiI6ImYxNzI5MjE2YzZiMzRiNzg3NTdiYTdiNTU4ZmUwZWY1MzdkOWIzNmU4NWZmODZhNGUwNDY0OWZiOTkxZjFhNGYiLCJtb2RlIjoiaW5saW5lIiwib21tbF9zaGEyNTYiOiI1OGE1NGI0NjQ3NjRhMWFlZTljMTQ0NTU3YzY0YTIwMWIwYzhmOWY5NjAxNGY1ZTQ5MDZiYTkzODQxM2YxZjQ1Iiwic2VtYW50aWNfb21tbF9wcm9maWxlIjoib2ZmaWNlLW1hdGgtc2VtYW50aWMtdjIiLCJzZW1hbnRpY19vbW1sX3NoYTI1NiI6IjE3OGM1YTAzNzA2NzRhY2M3NjRiNzhmMTVhMTBlNDJjOWUzZWU0Y2ZmZWNmOTY1OWY4MzM1YjI2ZTczMmZmZmUifV0sImtpbmQiOiJuYXRpdmVfb2ZmaWNlX21hdGgiLCJwbGFjZWhvbGRlcl9uYW1lIjoibWF0aDowMDgiLCJzY2hlbWFfdmVyc2lvbiI6IjEuMCJ9"/>
              <p:cNvSpPr txBox="1"/>
              <p:nvPr/>
            </p:nvSpPr>
            <p:spPr>
              <a:xfrm>
                <a:off x="11490436" y="1646396"/>
                <a:ext cx="393478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t+2</m:t>
                        </m:r>
                      </m:sub>
                      <m:sup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τ</m:t>
                        </m:r>
                      </m:sup>
                    </m:sSubSup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31" name="math:008" descr="AI_AUTOFIGURE_MATH_FALLBACK_ONLY_V1:eyJjb250ZW50X3J1bnMiOlt7ImNhbm9uaWNhbF9sYXRleCI6Inpee1xcdGF1fV97dCsyfSIsImZvcm11bGFfaWQiOiJFUTAwOCIsImtpbmQiOiJtYXRoIiwibGF0ZXhfc2hhMjU2IjoiZjE3MjkyMTZjNmIzNGI3ODc1N2JhN2I1NThmZTBlZjUzN2Q5YjM2ZTg1ZmY4NmE0ZTA0NjQ5ZmI5OTFmMWE0ZiIsIm1vZGUiOiJpbmxpbmUiLCJvbW1sX3NoYTI1NiI6IjU4YTU0YjQ2NDc2NGExYWVlOWMxNDQ1NTdjNjRhMjAxYjBjOGY5Zjk2MDE0ZjVlNDkwNmJhOTM4NDEzZjFmNDUiLCJzZW1hbnRpY19vbW1sX3Byb2ZpbGUiOiJvZmZpY2UtbWF0aC1zZW1hbnRpYy12MiIsInNlbWFudGljX29tbWxfc2hhMjU2IjoiMTc4YzVhMDM3MDY3NGFjYzc2NGI3OGYxNWExMGU0MmM5ZTNlZTRjZmZlY2Y5NjU5ZjgzMzViMjZlNzMyZmZmZSJ9XSwiZm9ybXVsYXMiOlt7ImNhbm9uaWNhbF9sYXRleCI6Inpee1xcdGF1fV97dCsyfSIsImZvcm11bGFfaWQiOiJFUTAwOCIsImxhdGV4X3NoYTI1NiI6ImYxNzI5MjE2YzZiMzRiNzg3NTdiYTdiNTU4ZmUwZWY1MzdkOWIzNmU4NWZmODZhNGUwNDY0OWZiOTkxZjFhNGYiLCJtb2RlIjoiaW5saW5lIiwib21tbF9zaGEyNTYiOiI1OGE1NGI0NjQ3NjRhMWFlZTljMTQ0NTU3YzY0YTIwMWIwYzhmOWY5NjAxNGY1ZTQ5MDZiYTkzODQxM2YxZjQ1Iiwic2VtYW50aWNfb21tbF9wcm9maWxlIjoib2ZmaWNlLW1hdGgtc2VtYW50aWMtdjIiLCJzZW1hbnRpY19vbW1sX3NoYTI1NiI6IjE3OGM1YTAzNzA2NzRhY2M3NjRiNzhmMTVhMTBlNDJjOWUzZWU0Y2ZmZWNmOTY1OWY4MzM1YjI2ZTczMmZmZmUifV0sImtpbmQiOiJuYXRpdmVfb2ZmaWNlX21hdGgiLCJwbGFjZWhvbGRlcl9uYW1lIjoibWF0aDowMDgiLCJzY2hlbWFfdmVyc2lvbiI6IjEuMCJ9"/>
              <p:cNvSpPr txBox="1"/>
              <p:nvPr/>
            </p:nvSpPr>
            <p:spPr>
              <a:xfrm>
                <a:off x="11490436" y="1646396"/>
                <a:ext cx="393478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\(z^{\tau}_{t+2}\)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32" name="Rounded Rectangle 131"/>
          <p:cNvSpPr/>
          <p:nvPr/>
        </p:nvSpPr>
        <p:spPr>
          <a:xfrm>
            <a:off x="12715875" y="1581150"/>
            <a:ext cx="457200" cy="314325"/>
          </a:xfrm>
          <a:prstGeom prst="roundRect">
            <a:avLst>
              <a:gd name="adj" fmla="val 18181"/>
            </a:avLst>
          </a:prstGeom>
          <a:solidFill>
            <a:srgbClr val="92BFE4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math:009" descr="AI_AUTOFIGURE_NATIVE_MATH_V1:eyJjb250ZW50X3J1bnMiOlt7ImNhbm9uaWNhbF9sYXRleCI6Inpee1xcdGF1fV97dCtofSIsImZvcm11bGFfaWQiOiJFUTAwOSIsImtpbmQiOiJtYXRoIiwibGF0ZXhfc2hhMjU2IjoiMTQ0MmExOTZjN2U5OWJhNTk2OTVjZTY3YzMyNTcyMjgzYjAyZmZlYjg4NDZhMDIxOTY0MDdiY2JiMjQzZjJkYSIsIm1vZGUiOiJpbmxpbmUiLCJvbW1sX3NoYTI1NiI6IjFkMGY2MzMyZDYwMTgwZTEwZTI4MDg1NDA1YmI5ZDc0Y2E2Mzg2NDllNmExOTBiOGE2Mjc1MzZmZmMxMjU4NzEiLCJzZW1hbnRpY19vbW1sX3Byb2ZpbGUiOiJvZmZpY2UtbWF0aC1zZW1hbnRpYy12MiIsInNlbWFudGljX29tbWxfc2hhMjU2IjoiMDM1YjgxMTU3MDY0NWY2YWY4ZGZhYTViMGM3Yzk4N2I2N2E3YmE0OWUxOGE4NWU5MDRjMzhiY2RjODViYWRlOCJ9XSwiZm9ybXVsYXMiOlt7ImNhbm9uaWNhbF9sYXRleCI6Inpee1xcdGF1fV97dCtofSIsImZvcm11bGFfaWQiOiJFUTAwOSIsImxhdGV4X3NoYTI1NiI6IjE0NDJhMTk2YzdlOTliYTU5Njk1Y2U2N2MzMjU3MjI4M2IwMmZmZWI4ODQ2YTAyMTk2NDA3YmNiYjI0M2YyZGEiLCJtb2RlIjoiaW5saW5lIiwib21tbF9zaGEyNTYiOiIxZDBmNjMzMmQ2MDE4MGUxMGUyODA4NTQwNWJiOWQ3NGNhNjM4NjQ5ZTZhMTkwYjhhNjI3NTM2ZmZjMTI1ODcxIiwic2VtYW50aWNfb21tbF9wcm9maWxlIjoib2ZmaWNlLW1hdGgtc2VtYW50aWMtdjIiLCJzZW1hbnRpY19vbW1sX3NoYTI1NiI6IjAzNWI4MTE1NzA2NDVmNmFmOGRmYWE1YjBjN2M5ODdiNjdhN2JhNDllMThhODVlOTA0YzM4YmNkYzg1YmFkZTgifV0sImtpbmQiOiJuYXRpdmVfb2ZmaWNlX21hdGgiLCJwbGFjZWhvbGRlcl9uYW1lIjoibWF0aDowMDkiLCJzY2hlbWFfdmVyc2lvbiI6IjEuMCJ9"/>
              <p:cNvSpPr txBox="1"/>
              <p:nvPr/>
            </p:nvSpPr>
            <p:spPr>
              <a:xfrm>
                <a:off x="12750975" y="1646396"/>
                <a:ext cx="387001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t+h</m:t>
                        </m:r>
                      </m:sub>
                      <m:sup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τ</m:t>
                        </m:r>
                      </m:sup>
                    </m:sSubSup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33" name="math:009" descr="AI_AUTOFIGURE_MATH_FALLBACK_ONLY_V1:eyJjb250ZW50X3J1bnMiOlt7ImNhbm9uaWNhbF9sYXRleCI6Inpee1xcdGF1fV97dCtofSIsImZvcm11bGFfaWQiOiJFUTAwOSIsImtpbmQiOiJtYXRoIiwibGF0ZXhfc2hhMjU2IjoiMTQ0MmExOTZjN2U5OWJhNTk2OTVjZTY3YzMyNTcyMjgzYjAyZmZlYjg4NDZhMDIxOTY0MDdiY2JiMjQzZjJkYSIsIm1vZGUiOiJpbmxpbmUiLCJvbW1sX3NoYTI1NiI6IjFkMGY2MzMyZDYwMTgwZTEwZTI4MDg1NDA1YmI5ZDc0Y2E2Mzg2NDllNmExOTBiOGE2Mjc1MzZmZmMxMjU4NzEiLCJzZW1hbnRpY19vbW1sX3Byb2ZpbGUiOiJvZmZpY2UtbWF0aC1zZW1hbnRpYy12MiIsInNlbWFudGljX29tbWxfc2hhMjU2IjoiMDM1YjgxMTU3MDY0NWY2YWY4ZGZhYTViMGM3Yzk4N2I2N2E3YmE0OWUxOGE4NWU5MDRjMzhiY2RjODViYWRlOCJ9XSwiZm9ybXVsYXMiOlt7ImNhbm9uaWNhbF9sYXRleCI6Inpee1xcdGF1fV97dCtofSIsImZvcm11bGFfaWQiOiJFUTAwOSIsImxhdGV4X3NoYTI1NiI6IjE0NDJhMTk2YzdlOTliYTU5Njk1Y2U2N2MzMjU3MjI4M2IwMmZmZWI4ODQ2YTAyMTk2NDA3YmNiYjI0M2YyZGEiLCJtb2RlIjoiaW5saW5lIiwib21tbF9zaGEyNTYiOiIxZDBmNjMzMmQ2MDE4MGUxMGUyODA4NTQwNWJiOWQ3NGNhNjM4NjQ5ZTZhMTkwYjhhNjI3NTM2ZmZjMTI1ODcxIiwic2VtYW50aWNfb21tbF9wcm9maWxlIjoib2ZmaWNlLW1hdGgtc2VtYW50aWMtdjIiLCJzZW1hbnRpY19vbW1sX3NoYTI1NiI6IjAzNWI4MTE1NzA2NDVmNmFmOGRmYWE1YjBjN2M5ODdiNjdhN2JhNDllMThhODVlOTA0YzM4YmNkYzg1YmFkZTgifV0sImtpbmQiOiJuYXRpdmVfb2ZmaWNlX21hdGgiLCJwbGFjZWhvbGRlcl9uYW1lIjoibWF0aDowMDkiLCJzY2hlbWFfdmVyc2lvbiI6IjEuMCJ9"/>
              <p:cNvSpPr txBox="1"/>
              <p:nvPr/>
            </p:nvSpPr>
            <p:spPr>
              <a:xfrm>
                <a:off x="12750975" y="1646396"/>
                <a:ext cx="387001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\(z^{\tau}_{t+h}\)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cxnSp>
        <p:nvCxnSpPr>
          <p:cNvPr id="134" name="Connector 133"/>
          <p:cNvCxnSpPr/>
          <p:nvPr/>
        </p:nvCxnSpPr>
        <p:spPr>
          <a:xfrm>
            <a:off x="10067925" y="1733550"/>
            <a:ext cx="447675" cy="0"/>
          </a:xfrm>
          <a:prstGeom prst="line">
            <a:avLst/>
          </a:prstGeom>
          <a:ln w="17145" cap="rnd">
            <a:solidFill>
              <a:srgbClr val="8D6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freeform-135"/>
          <p:cNvSpPr/>
          <p:nvPr/>
        </p:nvSpPr>
        <p:spPr>
          <a:xfrm>
            <a:off x="10429875" y="1690688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0" y="0"/>
                </a:moveTo>
                <a:lnTo>
                  <a:pt x="85725" y="42862"/>
                </a:lnTo>
                <a:lnTo>
                  <a:pt x="0" y="85725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cxnSp>
        <p:nvCxnSpPr>
          <p:cNvPr id="136" name="Connector 135"/>
          <p:cNvCxnSpPr/>
          <p:nvPr/>
        </p:nvCxnSpPr>
        <p:spPr>
          <a:xfrm>
            <a:off x="10991850" y="1733550"/>
            <a:ext cx="457200" cy="0"/>
          </a:xfrm>
          <a:prstGeom prst="line">
            <a:avLst/>
          </a:prstGeom>
          <a:ln w="17145" cap="rnd">
            <a:solidFill>
              <a:srgbClr val="8D6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freeform-137"/>
          <p:cNvSpPr/>
          <p:nvPr/>
        </p:nvSpPr>
        <p:spPr>
          <a:xfrm>
            <a:off x="11363325" y="1690688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0" y="0"/>
                </a:moveTo>
                <a:lnTo>
                  <a:pt x="85725" y="42862"/>
                </a:lnTo>
                <a:lnTo>
                  <a:pt x="0" y="85725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cxnSp>
        <p:nvCxnSpPr>
          <p:cNvPr id="138" name="Connector 137"/>
          <p:cNvCxnSpPr/>
          <p:nvPr/>
        </p:nvCxnSpPr>
        <p:spPr>
          <a:xfrm>
            <a:off x="11925300" y="1733550"/>
            <a:ext cx="781050" cy="0"/>
          </a:xfrm>
          <a:prstGeom prst="line">
            <a:avLst/>
          </a:prstGeom>
          <a:ln w="17145" cap="rnd">
            <a:solidFill>
              <a:srgbClr val="8D6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freeform-139"/>
          <p:cNvSpPr/>
          <p:nvPr/>
        </p:nvSpPr>
        <p:spPr>
          <a:xfrm>
            <a:off x="12620625" y="1690688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0" y="0"/>
                </a:moveTo>
                <a:lnTo>
                  <a:pt x="85725" y="42862"/>
                </a:lnTo>
                <a:lnTo>
                  <a:pt x="0" y="85725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sp>
        <p:nvSpPr>
          <p:cNvPr id="140" name="TextBox 139"/>
          <p:cNvSpPr txBox="1"/>
          <p:nvPr/>
        </p:nvSpPr>
        <p:spPr>
          <a:xfrm>
            <a:off x="12000548" y="1627822"/>
            <a:ext cx="154305" cy="214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>
                <a:solidFill>
                  <a:srgbClr val="777777"/>
                </a:solidFill>
                <a:latin typeface="Arial"/>
              </a:rPr>
              <a:t>...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9829800" y="1895475"/>
            <a:ext cx="0" cy="257175"/>
          </a:xfrm>
          <a:prstGeom prst="line">
            <a:avLst/>
          </a:prstGeom>
          <a:ln w="16192" cap="rnd">
            <a:solidFill>
              <a:srgbClr val="8D6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freeform-142"/>
          <p:cNvSpPr/>
          <p:nvPr/>
        </p:nvSpPr>
        <p:spPr>
          <a:xfrm>
            <a:off x="9786938" y="2066925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0"/>
                </a:moveTo>
                <a:lnTo>
                  <a:pt x="42862" y="85725"/>
                </a:lnTo>
                <a:lnTo>
                  <a:pt x="0" y="0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cxnSp>
        <p:nvCxnSpPr>
          <p:cNvPr id="143" name="Connector 142"/>
          <p:cNvCxnSpPr/>
          <p:nvPr/>
        </p:nvCxnSpPr>
        <p:spPr>
          <a:xfrm>
            <a:off x="10753725" y="1895475"/>
            <a:ext cx="0" cy="257175"/>
          </a:xfrm>
          <a:prstGeom prst="line">
            <a:avLst/>
          </a:prstGeom>
          <a:ln w="16192" cap="rnd">
            <a:solidFill>
              <a:srgbClr val="8D6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freeform-144"/>
          <p:cNvSpPr/>
          <p:nvPr/>
        </p:nvSpPr>
        <p:spPr>
          <a:xfrm>
            <a:off x="10710862" y="2066925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0"/>
                </a:moveTo>
                <a:lnTo>
                  <a:pt x="42862" y="85725"/>
                </a:lnTo>
                <a:lnTo>
                  <a:pt x="0" y="0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cxnSp>
        <p:nvCxnSpPr>
          <p:cNvPr id="145" name="Connector 144"/>
          <p:cNvCxnSpPr/>
          <p:nvPr/>
        </p:nvCxnSpPr>
        <p:spPr>
          <a:xfrm>
            <a:off x="11687175" y="1895475"/>
            <a:ext cx="0" cy="257175"/>
          </a:xfrm>
          <a:prstGeom prst="line">
            <a:avLst/>
          </a:prstGeom>
          <a:ln w="16192" cap="rnd">
            <a:solidFill>
              <a:srgbClr val="8D6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freeform-146"/>
          <p:cNvSpPr/>
          <p:nvPr/>
        </p:nvSpPr>
        <p:spPr>
          <a:xfrm>
            <a:off x="11644312" y="2066925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0"/>
                </a:moveTo>
                <a:lnTo>
                  <a:pt x="42862" y="85725"/>
                </a:lnTo>
                <a:lnTo>
                  <a:pt x="0" y="0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sp>
        <p:nvSpPr>
          <p:cNvPr id="147" name="Oval 146"/>
          <p:cNvSpPr/>
          <p:nvPr/>
        </p:nvSpPr>
        <p:spPr>
          <a:xfrm>
            <a:off x="9629775" y="2152650"/>
            <a:ext cx="400050" cy="400050"/>
          </a:xfrm>
          <a:prstGeom prst="ellipse">
            <a:avLst/>
          </a:prstGeom>
          <a:solidFill>
            <a:srgbClr val="F07D8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553700" y="2152650"/>
            <a:ext cx="400050" cy="400050"/>
          </a:xfrm>
          <a:prstGeom prst="ellipse">
            <a:avLst/>
          </a:prstGeom>
          <a:solidFill>
            <a:srgbClr val="F07D8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1487150" y="2152650"/>
            <a:ext cx="400050" cy="400050"/>
          </a:xfrm>
          <a:prstGeom prst="ellipse">
            <a:avLst/>
          </a:prstGeom>
          <a:solidFill>
            <a:srgbClr val="F07D8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math:010" descr="AI_AUTOFIGURE_NATIVE_MATH_V1:eyJjb250ZW50X3J1bnMiOlt7ImNhbm9uaWNhbF9sYXRleCI6InJfe3R9IiwiZm9ybXVsYV9pZCI6IkVRMDEwIiwia2luZCI6Im1hdGgiLCJsYXRleF9zaGEyNTYiOiI1YTFlMDA1ZTIwZWQ3NDgxZDU1YmNlODQwNzVhN2NhYzMxOTNkYTI0NDYxYjYzMDE5NzM4OWJlMTkxMmUwZWVhIiwibW9kZSI6ImlubGluZSIsIm9tbWxfc2hhMjU2IjoiMDJhYmViNjg3YzViYzMyOTZiZTYxOWM5NjY5YzQzZDExZDBjN2UyZmVjNmM2NDIyZmQyM2RmOWZjMjQ0MmRhOCIsInNlbWFudGljX29tbWxfcHJvZmlsZSI6Im9mZmljZS1tYXRoLXNlbWFudGljLXYyIiwic2VtYW50aWNfb21tbF9zaGEyNTYiOiI3NzM1OWY2MmNhZDNkODE2MGY5YmQxNTE3ZjkxNjdmNTcxODdlM2EyOTE2N2E2ZmQ1MzEyMmFkMjczYmZiODJlIn1dLCJmb3JtdWxhcyI6W3siY2Fub25pY2FsX2xhdGV4Ijoicl97dH0iLCJmb3JtdWxhX2lkIjoiRVEwMTAiLCJsYXRleF9zaGEyNTYiOiI1YTFlMDA1ZTIwZWQ3NDgxZDU1YmNlODQwNzVhN2NhYzMxOTNkYTI0NDYxYjYzMDE5NzM4OWJlMTkxMmUwZWVhIiwibW9kZSI6ImlubGluZSIsIm9tbWxfc2hhMjU2IjoiMDJhYmViNjg3YzViYzMyOTZiZTYxOWM5NjY5YzQzZDExZDBjN2UyZmVjNmM2NDIyZmQyM2RmOWZjMjQ0MmRhOCIsInNlbWFudGljX29tbWxfcHJvZmlsZSI6Im9mZmljZS1tYXRoLXNlbWFudGljLXYyIiwic2VtYW50aWNfb21tbF9zaGEyNTYiOiI3NzM1OWY2MmNhZDNkODE2MGY5YmQxNTE3ZjkxNjdmNTcxODdlM2EyOTE2N2E2ZmQ1MzEyMmFkMjczYmZiODJlIn1dLCJraW5kIjoibmF0aXZlX29mZmljZV9tYXRoIiwicGxhY2Vob2xkZXJfbmFtZSI6Im1hdGg6MDEwIiwic2NoZW1hX3ZlcnNpb24iOiIxLjAifQ=="/>
              <p:cNvSpPr txBox="1"/>
              <p:nvPr/>
            </p:nvSpPr>
            <p:spPr>
              <a:xfrm>
                <a:off x="9773936" y="2255996"/>
                <a:ext cx="111728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50" name="math:010" descr="AI_AUTOFIGURE_MATH_FALLBACK_ONLY_V1:eyJjb250ZW50X3J1bnMiOlt7ImNhbm9uaWNhbF9sYXRleCI6InJfe3R9IiwiZm9ybXVsYV9pZCI6IkVRMDEwIiwia2luZCI6Im1hdGgiLCJsYXRleF9zaGEyNTYiOiI1YTFlMDA1ZTIwZWQ3NDgxZDU1YmNlODQwNzVhN2NhYzMxOTNkYTI0NDYxYjYzMDE5NzM4OWJlMTkxMmUwZWVhIiwibW9kZSI6ImlubGluZSIsIm9tbWxfc2hhMjU2IjoiMDJhYmViNjg3YzViYzMyOTZiZTYxOWM5NjY5YzQzZDExZDBjN2UyZmVjNmM2NDIyZmQyM2RmOWZjMjQ0MmRhOCIsInNlbWFudGljX29tbWxfcHJvZmlsZSI6Im9mZmljZS1tYXRoLXNlbWFudGljLXYyIiwic2VtYW50aWNfb21tbF9zaGEyNTYiOiI3NzM1OWY2MmNhZDNkODE2MGY5YmQxNTE3ZjkxNjdmNTcxODdlM2EyOTE2N2E2ZmQ1MzEyMmFkMjczYmZiODJlIn1dLCJmb3JtdWxhcyI6W3siY2Fub25pY2FsX2xhdGV4Ijoicl97dH0iLCJmb3JtdWxhX2lkIjoiRVEwMTAiLCJsYXRleF9zaGEyNTYiOiI1YTFlMDA1ZTIwZWQ3NDgxZDU1YmNlODQwNzVhN2NhYzMxOTNkYTI0NDYxYjYzMDE5NzM4OWJlMTkxMmUwZWVhIiwibW9kZSI6ImlubGluZSIsIm9tbWxfc2hhMjU2IjoiMDJhYmViNjg3YzViYzMyOTZiZTYxOWM5NjY5YzQzZDExZDBjN2UyZmVjNmM2NDIyZmQyM2RmOWZjMjQ0MmRhOCIsInNlbWFudGljX29tbWxfcHJvZmlsZSI6Im9mZmljZS1tYXRoLXNlbWFudGljLXYyIiwic2VtYW50aWNfb21tbF9zaGEyNTYiOiI3NzM1OWY2MmNhZDNkODE2MGY5YmQxNTE3ZjkxNjdmNTcxODdlM2EyOTE2N2E2ZmQ1MzEyMmFkMjczYmZiODJlIn1dLCJraW5kIjoibmF0aXZlX29mZmljZV9tYXRoIiwicGxhY2Vob2xkZXJfbmFtZSI6Im1hdGg6MDEwIiwic2NoZW1hX3ZlcnNpb24iOiIxLjAifQ=="/>
              <p:cNvSpPr txBox="1"/>
              <p:nvPr/>
            </p:nvSpPr>
            <p:spPr>
              <a:xfrm>
                <a:off x="9773936" y="2255996"/>
                <a:ext cx="111728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\(r_{t}\)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math:011" descr="AI_AUTOFIGURE_NATIVE_MATH_V1:eyJjb250ZW50X3J1bnMiOlt7ImNhbm9uaWNhbF9sYXRleCI6InJfe3QrMX0iLCJmb3JtdWxhX2lkIjoiRVEwMTEiLCJraW5kIjoibWF0aCIsImxhdGV4X3NoYTI1NiI6ImM1ZDA3NDRiNjJjYTM4ZGQ1MDgwMGUyN2Y0MjAwMTVjYTdiMWM3ZTJlM2E5M2M4OTFkYjhlYzU1YTc3MTBiMzEiLCJtb2RlIjoiaW5saW5lIiwib21tbF9zaGEyNTYiOiJlY2NiNGI3MzliOTVkNWI2MmIwNmIzOGI1YjQ5N2E2YjkyOWZlYzUzMmQ1NTdiNmRlN2NjNTM5OTVkMmNmNDZkIiwic2VtYW50aWNfb21tbF9wcm9maWxlIjoib2ZmaWNlLW1hdGgtc2VtYW50aWMtdjIiLCJzZW1hbnRpY19vbW1sX3NoYTI1NiI6ImQwYWY1NTkxZWM4Y2Q5ZDgzYzA4ZDRhMmYxMzk0NDNkNDUxODc3MGRkODQxZmQ2YTIzYjY5Zjk1N2UwYTIxY2IifV0sImZvcm11bGFzIjpbeyJjYW5vbmljYWxfbGF0ZXgiOiJyX3t0KzF9IiwiZm9ybXVsYV9pZCI6IkVRMDExIiwibGF0ZXhfc2hhMjU2IjoiYzVkMDc0NGI2MmNhMzhkZDUwODAwZTI3ZjQyMDAxNWNhN2IxYzdlMmUzYTkzYzg5MWRiOGVjNTVhNzcxMGIzMSIsIm1vZGUiOiJpbmxpbmUiLCJvbW1sX3NoYTI1NiI6ImVjY2I0YjczOWI5NWQ1YjYyYjA2YjM4YjViNDk3YTZiOTI5ZmVjNTMyZDU1N2I2ZGU3Y2M1Mzk5NWQyY2Y0NmQiLCJzZW1hbnRpY19vbW1sX3Byb2ZpbGUiOiJvZmZpY2UtbWF0aC1zZW1hbnRpYy12MiIsInNlbWFudGljX29tbWxfc2hhMjU2IjoiZDBhZjU1OTFlYzhjZDlkODNjMDhkNGEyZjEzOTQ0M2Q0NTE4NzcwZGQ4NDFmZDZhMjNiNjlmOTU3ZTBhMjFjYiJ9XSwia2luZCI6Im5hdGl2ZV9vZmZpY2VfbWF0aCIsInBsYWNlaG9sZGVyX25hbWUiOiJtYXRoOjAxMSIsInNjaGVtYV92ZXJzaW9uIjoiMS4wIn0="/>
              <p:cNvSpPr txBox="1"/>
              <p:nvPr/>
            </p:nvSpPr>
            <p:spPr>
              <a:xfrm>
                <a:off x="10610421" y="2255996"/>
                <a:ext cx="286607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t+1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51" name="math:011" descr="AI_AUTOFIGURE_MATH_FALLBACK_ONLY_V1:eyJjb250ZW50X3J1bnMiOlt7ImNhbm9uaWNhbF9sYXRleCI6InJfe3QrMX0iLCJmb3JtdWxhX2lkIjoiRVEwMTEiLCJraW5kIjoibWF0aCIsImxhdGV4X3NoYTI1NiI6ImM1ZDA3NDRiNjJjYTM4ZGQ1MDgwMGUyN2Y0MjAwMTVjYTdiMWM3ZTJlM2E5M2M4OTFkYjhlYzU1YTc3MTBiMzEiLCJtb2RlIjoiaW5saW5lIiwib21tbF9zaGEyNTYiOiJlY2NiNGI3MzliOTVkNWI2MmIwNmIzOGI1YjQ5N2E2YjkyOWZlYzUzMmQ1NTdiNmRlN2NjNTM5OTVkMmNmNDZkIiwic2VtYW50aWNfb21tbF9wcm9maWxlIjoib2ZmaWNlLW1hdGgtc2VtYW50aWMtdjIiLCJzZW1hbnRpY19vbW1sX3NoYTI1NiI6ImQwYWY1NTkxZWM4Y2Q5ZDgzYzA4ZDRhMmYxMzk0NDNkNDUxODc3MGRkODQxZmQ2YTIzYjY5Zjk1N2UwYTIxY2IifV0sImZvcm11bGFzIjpbeyJjYW5vbmljYWxfbGF0ZXgiOiJyX3t0KzF9IiwiZm9ybXVsYV9pZCI6IkVRMDExIiwibGF0ZXhfc2hhMjU2IjoiYzVkMDc0NGI2MmNhMzhkZDUwODAwZTI3ZjQyMDAxNWNhN2IxYzdlMmUzYTkzYzg5MWRiOGVjNTVhNzcxMGIzMSIsIm1vZGUiOiJpbmxpbmUiLCJvbW1sX3NoYTI1NiI6ImVjY2I0YjczOWI5NWQ1YjYyYjA2YjM4YjViNDk3YTZiOTI5ZmVjNTMyZDU1N2I2ZGU3Y2M1Mzk5NWQyY2Y0NmQiLCJzZW1hbnRpY19vbW1sX3Byb2ZpbGUiOiJvZmZpY2UtbWF0aC1zZW1hbnRpYy12MiIsInNlbWFudGljX29tbWxfc2hhMjU2IjoiZDBhZjU1OTFlYzhjZDlkODNjMDhkNGEyZjEzOTQ0M2Q0NTE4NzcwZGQ4NDFmZDZhMjNiNjlmOTU3ZTBhMjFjYiJ9XSwia2luZCI6Im5hdGl2ZV9vZmZpY2VfbWF0aCIsInBsYWNlaG9sZGVyX25hbWUiOiJtYXRoOjAxMSIsInNjaGVtYV92ZXJzaW9uIjoiMS4wIn0="/>
              <p:cNvSpPr txBox="1"/>
              <p:nvPr/>
            </p:nvSpPr>
            <p:spPr>
              <a:xfrm>
                <a:off x="10610421" y="2255996"/>
                <a:ext cx="286607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\(r_{t+1}\)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math:012" descr="AI_AUTOFIGURE_NATIVE_MATH_V1:eyJjb250ZW50X3J1bnMiOlt7ImNhbm9uaWNhbF9sYXRleCI6InJfe3QrMn0iLCJmb3JtdWxhX2lkIjoiRVEwMTIiLCJraW5kIjoibWF0aCIsImxhdGV4X3NoYTI1NiI6IjgyOTM1MTI4YTcxYzJiYWQ5ZGI1NTU3OGUwOWNiMmUwMjA4ODRjZDQyNDlmYmUwZTIyMTBmZGY5NThhYTFmZGYiLCJtb2RlIjoiaW5saW5lIiwib21tbF9zaGEyNTYiOiJmZDdjNmJjOTUyNjFhOGU1OTg0NmQ1ZGJjYTU0OGRlNTIyMzQ2NDllMTJkYjE5N2MxMTE4NTM1YjRhMDVkNWU0Iiwic2VtYW50aWNfb21tbF9wcm9maWxlIjoib2ZmaWNlLW1hdGgtc2VtYW50aWMtdjIiLCJzZW1hbnRpY19vbW1sX3NoYTI1NiI6ImE1MjM0OTZiOTI1NmNkODU1NDQxOTlhMzY0OGExMzY5YWJjYTI2YjdiYWIyYmI0YTM1YTI5NTM1YWQzNDI3ZTYifV0sImZvcm11bGFzIjpbeyJjYW5vbmljYWxfbGF0ZXgiOiJyX3t0KzJ9IiwiZm9ybXVsYV9pZCI6IkVRMDEyIiwibGF0ZXhfc2hhMjU2IjoiODI5MzUxMjhhNzFjMmJhZDlkYjU1NTc4ZTA5Y2IyZTAyMDg4NGNkNDI0OWZiZTBlMjIxMGZkZjk1OGFhMWZkZiIsIm1vZGUiOiJpbmxpbmUiLCJvbW1sX3NoYTI1NiI6ImZkN2M2YmM5NTI2MWE4ZTU5ODQ2ZDVkYmNhNTQ4ZGU1MjIzNDY0OWUxMmRiMTk3YzExMTg1MzViNGEwNWQ1ZTQiLCJzZW1hbnRpY19vbW1sX3Byb2ZpbGUiOiJvZmZpY2UtbWF0aC1zZW1hbnRpYy12MiIsInNlbWFudGljX29tbWxfc2hhMjU2IjoiYTUyMzQ5NmI5MjU2Y2Q4NTU0NDE5OWEzNjQ4YTEzNjlhYmNhMjZiN2JhYjJiYjRhMzVhMjk1MzVhZDM0MjdlNiJ9XSwia2luZCI6Im5hdGl2ZV9vZmZpY2VfbWF0aCIsInBsYWNlaG9sZGVyX25hbWUiOiJtYXRoOjAxMiIsInNjaGVtYV92ZXJzaW9uIjoiMS4wIn0="/>
              <p:cNvSpPr txBox="1"/>
              <p:nvPr/>
            </p:nvSpPr>
            <p:spPr>
              <a:xfrm>
                <a:off x="11543871" y="2255996"/>
                <a:ext cx="286607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t+2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52" name="math:012" descr="AI_AUTOFIGURE_MATH_FALLBACK_ONLY_V1:eyJjb250ZW50X3J1bnMiOlt7ImNhbm9uaWNhbF9sYXRleCI6InJfe3QrMn0iLCJmb3JtdWxhX2lkIjoiRVEwMTIiLCJraW5kIjoibWF0aCIsImxhdGV4X3NoYTI1NiI6IjgyOTM1MTI4YTcxYzJiYWQ5ZGI1NTU3OGUwOWNiMmUwMjA4ODRjZDQyNDlmYmUwZTIyMTBmZGY5NThhYTFmZGYiLCJtb2RlIjoiaW5saW5lIiwib21tbF9zaGEyNTYiOiJmZDdjNmJjOTUyNjFhOGU1OTg0NmQ1ZGJjYTU0OGRlNTIyMzQ2NDllMTJkYjE5N2MxMTE4NTM1YjRhMDVkNWU0Iiwic2VtYW50aWNfb21tbF9wcm9maWxlIjoib2ZmaWNlLW1hdGgtc2VtYW50aWMtdjIiLCJzZW1hbnRpY19vbW1sX3NoYTI1NiI6ImE1MjM0OTZiOTI1NmNkODU1NDQxOTlhMzY0OGExMzY5YWJjYTI2YjdiYWIyYmI0YTM1YTI5NTM1YWQzNDI3ZTYifV0sImZvcm11bGFzIjpbeyJjYW5vbmljYWxfbGF0ZXgiOiJyX3t0KzJ9IiwiZm9ybXVsYV9pZCI6IkVRMDEyIiwibGF0ZXhfc2hhMjU2IjoiODI5MzUxMjhhNzFjMmJhZDlkYjU1NTc4ZTA5Y2IyZTAyMDg4NGNkNDI0OWZiZTBlMjIxMGZkZjk1OGFhMWZkZiIsIm1vZGUiOiJpbmxpbmUiLCJvbW1sX3NoYTI1NiI6ImZkN2M2YmM5NTI2MWE4ZTU5ODQ2ZDVkYmNhNTQ4ZGU1MjIzNDY0OWUxMmRiMTk3YzExMTg1MzViNGEwNWQ1ZTQiLCJzZW1hbnRpY19vbW1sX3Byb2ZpbGUiOiJvZmZpY2UtbWF0aC1zZW1hbnRpYy12MiIsInNlbWFudGljX29tbWxfc2hhMjU2IjoiYTUyMzQ5NmI5MjU2Y2Q4NTU0NDE5OWEzNjQ4YTEzNjlhYmNhMjZiN2JhYjJiYjRhMzVhMjk1MzVhZDM0MjdlNiJ9XSwia2luZCI6Im5hdGl2ZV9vZmZpY2VfbWF0aCIsInBsYWNlaG9sZGVyX25hbWUiOiJtYXRoOjAxMiIsInNjaGVtYV92ZXJzaW9uIjoiMS4wIn0="/>
              <p:cNvSpPr txBox="1"/>
              <p:nvPr/>
            </p:nvSpPr>
            <p:spPr>
              <a:xfrm>
                <a:off x="11543871" y="2255996"/>
                <a:ext cx="286607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\(r_{t+2}\)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53" name="freeform-153"/>
          <p:cNvSpPr/>
          <p:nvPr/>
        </p:nvSpPr>
        <p:spPr>
          <a:xfrm>
            <a:off x="12325350" y="2276475"/>
            <a:ext cx="114300" cy="111125"/>
          </a:xfrm>
          <a:custGeom>
            <a:avLst/>
            <a:gdLst/>
            <a:ahLst/>
            <a:cxnLst/>
            <a:rect l="0" t="0" r="0" b="0"/>
            <a:pathLst>
              <a:path w="114300" h="111125">
                <a:moveTo>
                  <a:pt x="0" y="0"/>
                </a:moveTo>
                <a:lnTo>
                  <a:pt x="114300" y="0"/>
                </a:lnTo>
                <a:lnTo>
                  <a:pt x="95250" y="85725"/>
                </a:lnTo>
                <a:cubicBezTo>
                  <a:pt x="69850" y="111125"/>
                  <a:pt x="44450" y="111125"/>
                  <a:pt x="19050" y="85725"/>
                </a:cubicBezTo>
                <a:close/>
              </a:path>
            </a:pathLst>
          </a:custGeom>
          <a:noFill/>
          <a:ln w="19050" cap="rnd">
            <a:solidFill>
              <a:srgbClr val="786F3B"/>
            </a:solidFill>
          </a:ln>
        </p:spPr>
        <p:txBody>
          <a:bodyPr/>
          <a:p/>
        </p:txBody>
      </p:sp>
      <p:sp>
        <p:nvSpPr>
          <p:cNvPr id="154" name="freeform-154"/>
          <p:cNvSpPr/>
          <p:nvPr/>
        </p:nvSpPr>
        <p:spPr>
          <a:xfrm>
            <a:off x="12290425" y="2295525"/>
            <a:ext cx="53975" cy="63500"/>
          </a:xfrm>
          <a:custGeom>
            <a:avLst/>
            <a:gdLst/>
            <a:ahLst/>
            <a:cxnLst/>
            <a:rect l="0" t="0" r="0" b="0"/>
            <a:pathLst>
              <a:path w="53975" h="63500">
                <a:moveTo>
                  <a:pt x="34925" y="0"/>
                </a:moveTo>
                <a:cubicBezTo>
                  <a:pt x="9525" y="0"/>
                  <a:pt x="0" y="12700"/>
                  <a:pt x="6350" y="38100"/>
                </a:cubicBezTo>
                <a:cubicBezTo>
                  <a:pt x="19050" y="57150"/>
                  <a:pt x="34925" y="63500"/>
                  <a:pt x="53975" y="57150"/>
                </a:cubicBezTo>
              </a:path>
            </a:pathLst>
          </a:custGeom>
          <a:noFill/>
          <a:ln w="19050" cap="rnd">
            <a:solidFill>
              <a:srgbClr val="786F3B"/>
            </a:solidFill>
          </a:ln>
        </p:spPr>
        <p:txBody>
          <a:bodyPr/>
          <a:p/>
        </p:txBody>
      </p:sp>
      <p:sp>
        <p:nvSpPr>
          <p:cNvPr id="155" name="freeform-155"/>
          <p:cNvSpPr/>
          <p:nvPr/>
        </p:nvSpPr>
        <p:spPr>
          <a:xfrm>
            <a:off x="12420600" y="2295525"/>
            <a:ext cx="53975" cy="63500"/>
          </a:xfrm>
          <a:custGeom>
            <a:avLst/>
            <a:gdLst/>
            <a:ahLst/>
            <a:cxnLst/>
            <a:rect l="0" t="0" r="0" b="0"/>
            <a:pathLst>
              <a:path w="53975" h="63500">
                <a:moveTo>
                  <a:pt x="19050" y="0"/>
                </a:moveTo>
                <a:cubicBezTo>
                  <a:pt x="44450" y="0"/>
                  <a:pt x="53975" y="12700"/>
                  <a:pt x="47625" y="38100"/>
                </a:cubicBezTo>
                <a:cubicBezTo>
                  <a:pt x="34925" y="57150"/>
                  <a:pt x="19050" y="63500"/>
                  <a:pt x="0" y="57150"/>
                </a:cubicBezTo>
              </a:path>
            </a:pathLst>
          </a:custGeom>
          <a:noFill/>
          <a:ln w="19050" cap="rnd">
            <a:solidFill>
              <a:srgbClr val="786F3B"/>
            </a:solidFill>
          </a:ln>
        </p:spPr>
        <p:txBody>
          <a:bodyPr/>
          <a:p/>
        </p:txBody>
      </p:sp>
      <p:cxnSp>
        <p:nvCxnSpPr>
          <p:cNvPr id="156" name="Connector 155"/>
          <p:cNvCxnSpPr/>
          <p:nvPr/>
        </p:nvCxnSpPr>
        <p:spPr>
          <a:xfrm>
            <a:off x="12382500" y="2390775"/>
            <a:ext cx="0" cy="47625"/>
          </a:xfrm>
          <a:prstGeom prst="line">
            <a:avLst/>
          </a:prstGeom>
          <a:ln w="19050" cap="rnd">
            <a:solidFill>
              <a:srgbClr val="786F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2334875" y="2447925"/>
            <a:ext cx="95250" cy="0"/>
          </a:xfrm>
          <a:prstGeom prst="line">
            <a:avLst/>
          </a:prstGeom>
          <a:ln w="19050" cap="rnd">
            <a:solidFill>
              <a:srgbClr val="786F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12611100" y="2152174"/>
            <a:ext cx="470535" cy="2262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25">
                <a:solidFill>
                  <a:srgbClr val="666666"/>
                </a:solidFill>
                <a:latin typeface="Arial"/>
              </a:rPr>
              <a:t>dense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611100" y="2323624"/>
            <a:ext cx="557403" cy="2262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25">
                <a:solidFill>
                  <a:srgbClr val="666666"/>
                </a:solidFill>
                <a:latin typeface="Arial"/>
              </a:rPr>
              <a:t>reward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9467850" y="2676525"/>
            <a:ext cx="3800475" cy="1647825"/>
          </a:xfrm>
          <a:prstGeom prst="roundRect">
            <a:avLst>
              <a:gd name="adj" fmla="val 9826"/>
            </a:avLst>
          </a:prstGeom>
          <a:solidFill>
            <a:srgbClr val="F8F8F8"/>
          </a:solidFill>
          <a:ln w="20955">
            <a:solidFill>
              <a:srgbClr val="22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9610725" y="2828925"/>
            <a:ext cx="447675" cy="333375"/>
          </a:xfrm>
          <a:prstGeom prst="roundRect">
            <a:avLst>
              <a:gd name="adj" fmla="val 11428"/>
            </a:avLst>
          </a:prstGeom>
          <a:solidFill>
            <a:srgbClr val="2D73B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math:013" descr="AI_AUTOFIGURE_NATIVE_MATH_V1:eyJjb250ZW50X3J1bnMiOlt7ImNhbm9uaWNhbF9sYXRleCI6Inpfe3R9IiwiZm9ybXVsYV9pZCI6IkVRMDEzIiwia2luZCI6Im1hdGg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7dH0iLCJmb3JtdWxhX2lkIjoiRVEwMTM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1hdGg6MDEzIiwic2NoZW1hX3ZlcnNpb24iOiIxLjAifQ=="/>
              <p:cNvSpPr txBox="1"/>
              <p:nvPr/>
            </p:nvSpPr>
            <p:spPr>
              <a:xfrm>
                <a:off x="9765744" y="2903696"/>
                <a:ext cx="137636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62" name="math:013" descr="AI_AUTOFIGURE_MATH_FALLBACK_ONLY_V1:eyJjb250ZW50X3J1bnMiOlt7ImNhbm9uaWNhbF9sYXRleCI6Inpfe3R9IiwiZm9ybXVsYV9pZCI6IkVRMDEzIiwia2luZCI6Im1hdGg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7dH0iLCJmb3JtdWxhX2lkIjoiRVEwMTM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1hdGg6MDEzIiwic2NoZW1hX3ZlcnNpb24iOiIxLjAifQ=="/>
              <p:cNvSpPr txBox="1"/>
              <p:nvPr/>
            </p:nvSpPr>
            <p:spPr>
              <a:xfrm>
                <a:off x="9765744" y="2903696"/>
                <a:ext cx="137636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\(z_{t}\)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63" name="Rounded Rectangle 162"/>
          <p:cNvSpPr/>
          <p:nvPr/>
        </p:nvSpPr>
        <p:spPr>
          <a:xfrm>
            <a:off x="10534650" y="2828925"/>
            <a:ext cx="447675" cy="333375"/>
          </a:xfrm>
          <a:prstGeom prst="roundRect">
            <a:avLst>
              <a:gd name="adj" fmla="val 11428"/>
            </a:avLst>
          </a:prstGeom>
          <a:solidFill>
            <a:srgbClr val="2D73B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4" name="math:014" descr="AI_AUTOFIGURE_NATIVE_MATH_V1:eyJjb250ZW50X3J1bnMiOlt7ImNhbm9uaWNhbF9sYXRleCI6Inpfe3QrMX0iLCJmb3JtdWxhX2lkIjoiRVEwMTQiLCJraW5kIjoibWF0aCIsImxhdGV4X3NoYTI1NiI6IjhlNWQwMDAwYWJiOWNmMDc3M2U3OGZiNTMwMjc1MjMwYjhlZGZiOGNkOTYyYjMyNjM1ZGRlN2NjMjg0NjkwOTEiLCJtb2RlIjoiaW5saW5lIiwib21tbF9zaGEyNTYiOiJhOTVmOTI4NDdlYzgwMmEyMzkyZDQ5YWYwYTZlMTU3NzMxZTdkYzdjMjM4YzEwMGI2ZTlhZDY2NDVhMjhmZTQyIiwic2VtYW50aWNfb21tbF9wcm9maWxlIjoib2ZmaWNlLW1hdGgtc2VtYW50aWMtdjIiLCJzZW1hbnRpY19vbW1sX3NoYTI1NiI6IjY5OTJiMGQ0ODlkYWEyM2Y3ZWViMjgxMjc3NjIyNGU5NDRhNjc1MjQxNGNjYmQ5ZTIzYjQ0OTMyODM3ZjMzZTYifV0sImZvcm11bGFzIjpbeyJjYW5vbmljYWxfbGF0ZXgiOiJ6X3t0KzF9IiwiZm9ybXVsYV9pZCI6IkVRMDE0IiwibGF0ZXhfc2hhMjU2IjoiOGU1ZDAwMDBhYmI5Y2YwNzczZTc4ZmI1MzAyNzUyMzBiOGVkZmI4Y2Q5NjJiMzI2MzVkZGU3Y2MyODQ2OTA5MSIsIm1vZGUiOiJpbmxpbmUiLCJvbW1sX3NoYTI1NiI6ImE5NWY5Mjg0N2VjODAyYTIzOTJkNDlhZjBhNmUxNTc3MzFlN2RjN2MyMzhjMTAwYjZlOWFkNjY0NWEyOGZlNDIiLCJzZW1hbnRpY19vbW1sX3Byb2ZpbGUiOiJvZmZpY2UtbWF0aC1zZW1hbnRpYy12MiIsInNlbWFudGljX29tbWxfc2hhMjU2IjoiNjk5MmIwZDQ4OWRhYTIzZjdlZWIyODEyNzc2MjI0ZTk0NGE2NzUyNDE0Y2NiZDllMjNiNDQ5MzI4MzdmMzNlNiJ9XSwia2luZCI6Im5hdGl2ZV9vZmZpY2VfbWF0aCIsInBsYWNlaG9sZGVyX25hbWUiOiJtYXRoOjAxNCIsInNjaGVtYV92ZXJzaW9uIjoiMS4wIn0="/>
              <p:cNvSpPr txBox="1"/>
              <p:nvPr/>
            </p:nvSpPr>
            <p:spPr>
              <a:xfrm>
                <a:off x="10602230" y="2903696"/>
                <a:ext cx="312515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t+1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64" name="math:014" descr="AI_AUTOFIGURE_MATH_FALLBACK_ONLY_V1:eyJjb250ZW50X3J1bnMiOlt7ImNhbm9uaWNhbF9sYXRleCI6Inpfe3QrMX0iLCJmb3JtdWxhX2lkIjoiRVEwMTQiLCJraW5kIjoibWF0aCIsImxhdGV4X3NoYTI1NiI6IjhlNWQwMDAwYWJiOWNmMDc3M2U3OGZiNTMwMjc1MjMwYjhlZGZiOGNkOTYyYjMyNjM1ZGRlN2NjMjg0NjkwOTEiLCJtb2RlIjoiaW5saW5lIiwib21tbF9zaGEyNTYiOiJhOTVmOTI4NDdlYzgwMmEyMzkyZDQ5YWYwYTZlMTU3NzMxZTdkYzdjMjM4YzEwMGI2ZTlhZDY2NDVhMjhmZTQyIiwic2VtYW50aWNfb21tbF9wcm9maWxlIjoib2ZmaWNlLW1hdGgtc2VtYW50aWMtdjIiLCJzZW1hbnRpY19vbW1sX3NoYTI1NiI6IjY5OTJiMGQ0ODlkYWEyM2Y3ZWViMjgxMjc3NjIyNGU5NDRhNjc1MjQxNGNjYmQ5ZTIzYjQ0OTMyODM3ZjMzZTYifV0sImZvcm11bGFzIjpbeyJjYW5vbmljYWxfbGF0ZXgiOiJ6X3t0KzF9IiwiZm9ybXVsYV9pZCI6IkVRMDE0IiwibGF0ZXhfc2hhMjU2IjoiOGU1ZDAwMDBhYmI5Y2YwNzczZTc4ZmI1MzAyNzUyMzBiOGVkZmI4Y2Q5NjJiMzI2MzVkZGU3Y2MyODQ2OTA5MSIsIm1vZGUiOiJpbmxpbmUiLCJvbW1sX3NoYTI1NiI6ImE5NWY5Mjg0N2VjODAyYTIzOTJkNDlhZjBhNmUxNTc3MzFlN2RjN2MyMzhjMTAwYjZlOWFkNjY0NWEyOGZlNDIiLCJzZW1hbnRpY19vbW1sX3Byb2ZpbGUiOiJvZmZpY2UtbWF0aC1zZW1hbnRpYy12MiIsInNlbWFudGljX29tbWxfc2hhMjU2IjoiNjk5MmIwZDQ4OWRhYTIzZjdlZWIyODEyNzc2MjI0ZTk0NGE2NzUyNDE0Y2NiZDllMjNiNDQ5MzI4MzdmMzNlNiJ9XSwia2luZCI6Im5hdGl2ZV9vZmZpY2VfbWF0aCIsInBsYWNlaG9sZGVyX25hbWUiOiJtYXRoOjAxNCIsInNjaGVtYV92ZXJzaW9uIjoiMS4wIn0="/>
              <p:cNvSpPr txBox="1"/>
              <p:nvPr/>
            </p:nvSpPr>
            <p:spPr>
              <a:xfrm>
                <a:off x="10602230" y="2903696"/>
                <a:ext cx="312515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\(z_{t+1}\)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65" name="Rounded Rectangle 164"/>
          <p:cNvSpPr/>
          <p:nvPr/>
        </p:nvSpPr>
        <p:spPr>
          <a:xfrm>
            <a:off x="11458575" y="2828925"/>
            <a:ext cx="447675" cy="333375"/>
          </a:xfrm>
          <a:prstGeom prst="roundRect">
            <a:avLst>
              <a:gd name="adj" fmla="val 11428"/>
            </a:avLst>
          </a:prstGeom>
          <a:solidFill>
            <a:srgbClr val="2D73B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6" name="math:015" descr="AI_AUTOFIGURE_NATIVE_MATH_V1:eyJjb250ZW50X3J1bnMiOlt7ImNhbm9uaWNhbF9sYXRleCI6Inpfe3QrMn0iLCJmb3JtdWxhX2lkIjoiRVEwMTUiLCJraW5kIjoibWF0aCIsImxhdGV4X3NoYTI1NiI6ImVkN2EzM2FmMDZiOTY1M2Y4Mzk2MmMyN2IyMGRkOWI4NDZjYjJlZTBlMDAzMDY1MGNhMTQ0MzZiMzg5NzA5M2EiLCJtb2RlIjoiaW5saW5lIiwib21tbF9zaGEyNTYiOiI2NDc0MzYwMTY3NzVjMGViNTYwYWIzNjYzNDJjNjUxZTVkY2ZhMzBkZWE3ZjU3NTcyNDMxZDEzNjNlYmI3ZDBkIiwic2VtYW50aWNfb21tbF9wcm9maWxlIjoib2ZmaWNlLW1hdGgtc2VtYW50aWMtdjIiLCJzZW1hbnRpY19vbW1sX3NoYTI1NiI6ImE1ZTA0ZjFhNzZiNzc4MjQ5NzY0MzBlYzg4MmNmOGNjMWE4ZTk5YmYzN2FlYTFlMWVlNWI3ODA5MmM4ZTQ4MTMifV0sImZvcm11bGFzIjpbeyJjYW5vbmljYWxfbGF0ZXgiOiJ6X3t0KzJ9IiwiZm9ybXVsYV9pZCI6IkVRMDE1IiwibGF0ZXhfc2hhMjU2IjoiZWQ3YTMzYWYwNmI5NjUzZjgzOTYyYzI3YjIwZGQ5Yjg0NmNiMmVlMGUwMDMwNjUwY2ExNDQzNmIzODk3MDkzYSIsIm1vZGUiOiJpbmxpbmUiLCJvbW1sX3NoYTI1NiI6IjY0NzQzNjAxNjc3NWMwZWI1NjBhYjM2NjM0MmM2NTFlNWRjZmEzMGRlYTdmNTc1NzI0MzFkMTM2M2ViYjdkMGQiLCJzZW1hbnRpY19vbW1sX3Byb2ZpbGUiOiJvZmZpY2UtbWF0aC1zZW1hbnRpYy12MiIsInNlbWFudGljX29tbWxfc2hhMjU2IjoiYTVlMDRmMWE3NmI3NzgyNDk3NjQzMGVjODgyY2Y4Y2MxYThlOTliZjM3YWVhMWUxZWU1Yjc4MDkyYzhlNDgxMyJ9XSwia2luZCI6Im5hdGl2ZV9vZmZpY2VfbWF0aCIsInBsYWNlaG9sZGVyX25hbWUiOiJtYXRoOjAxNSIsInNjaGVtYV92ZXJzaW9uIjoiMS4wIn0="/>
              <p:cNvSpPr txBox="1"/>
              <p:nvPr/>
            </p:nvSpPr>
            <p:spPr>
              <a:xfrm>
                <a:off x="11526155" y="2903696"/>
                <a:ext cx="312515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t+2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66" name="math:015" descr="AI_AUTOFIGURE_MATH_FALLBACK_ONLY_V1:eyJjb250ZW50X3J1bnMiOlt7ImNhbm9uaWNhbF9sYXRleCI6Inpfe3QrMn0iLCJmb3JtdWxhX2lkIjoiRVEwMTUiLCJraW5kIjoibWF0aCIsImxhdGV4X3NoYTI1NiI6ImVkN2EzM2FmMDZiOTY1M2Y4Mzk2MmMyN2IyMGRkOWI4NDZjYjJlZTBlMDAzMDY1MGNhMTQ0MzZiMzg5NzA5M2EiLCJtb2RlIjoiaW5saW5lIiwib21tbF9zaGEyNTYiOiI2NDc0MzYwMTY3NzVjMGViNTYwYWIzNjYzNDJjNjUxZTVkY2ZhMzBkZWE3ZjU3NTcyNDMxZDEzNjNlYmI3ZDBkIiwic2VtYW50aWNfb21tbF9wcm9maWxlIjoib2ZmaWNlLW1hdGgtc2VtYW50aWMtdjIiLCJzZW1hbnRpY19vbW1sX3NoYTI1NiI6ImE1ZTA0ZjFhNzZiNzc4MjQ5NzY0MzBlYzg4MmNmOGNjMWE4ZTk5YmYzN2FlYTFlMWVlNWI3ODA5MmM4ZTQ4MTMifV0sImZvcm11bGFzIjpbeyJjYW5vbmljYWxfbGF0ZXgiOiJ6X3t0KzJ9IiwiZm9ybXVsYV9pZCI6IkVRMDE1IiwibGF0ZXhfc2hhMjU2IjoiZWQ3YTMzYWYwNmI5NjUzZjgzOTYyYzI3YjIwZGQ5Yjg0NmNiMmVlMGUwMDMwNjUwY2ExNDQzNmIzODk3MDkzYSIsIm1vZGUiOiJpbmxpbmUiLCJvbW1sX3NoYTI1NiI6IjY0NzQzNjAxNjc3NWMwZWI1NjBhYjM2NjM0MmM2NTFlNWRjZmEzMGRlYTdmNTc1NzI0MzFkMTM2M2ViYjdkMGQiLCJzZW1hbnRpY19vbW1sX3Byb2ZpbGUiOiJvZmZpY2UtbWF0aC1zZW1hbnRpYy12MiIsInNlbWFudGljX29tbWxfc2hhMjU2IjoiYTVlMDRmMWE3NmI3NzgyNDk3NjQzMGVjODgyY2Y4Y2MxYThlOTliZjM3YWVhMWUxZWU1Yjc4MDkyYzhlNDgxMyJ9XSwia2luZCI6Im5hdGl2ZV9vZmZpY2VfbWF0aCIsInBsYWNlaG9sZGVyX25hbWUiOiJtYXRoOjAxNSIsInNjaGVtYV92ZXJzaW9uIjoiMS4wIn0="/>
              <p:cNvSpPr txBox="1"/>
              <p:nvPr/>
            </p:nvSpPr>
            <p:spPr>
              <a:xfrm>
                <a:off x="11526155" y="2903696"/>
                <a:ext cx="312515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\(z_{t+2}\)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67" name="Rounded Rectangle 166"/>
          <p:cNvSpPr/>
          <p:nvPr/>
        </p:nvSpPr>
        <p:spPr>
          <a:xfrm>
            <a:off x="12706350" y="2828925"/>
            <a:ext cx="447675" cy="333375"/>
          </a:xfrm>
          <a:prstGeom prst="roundRect">
            <a:avLst>
              <a:gd name="adj" fmla="val 11428"/>
            </a:avLst>
          </a:prstGeom>
          <a:solidFill>
            <a:srgbClr val="2D73B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math:016" descr="AI_AUTOFIGURE_NATIVE_MATH_V1:eyJjb250ZW50X3J1bnMiOlt7ImNhbm9uaWNhbF9sYXRleCI6Inpfe3QraH0iLCJmb3JtdWxhX2lkIjoiRVEwMTYiLCJraW5kIjoibWF0aCIsImxhdGV4X3NoYTI1NiI6IjA0ZWYyNTM3NWI3NzI4NDJjNzhlMjkxMGQwZWIyZTkzMTUwZTkzNmRlNGJlMjZiNDI4YTk5MGQwMWZiNDU2ZTAiLCJtb2RlIjoiaW5saW5lIiwib21tbF9zaGEyNTYiOiI2MTJkY2M3MzFjMWJmOWMzNDhmOWQxYmIwNWI5NDVjYzEwNzBlNDVkMzI0ZDJlODVlNDRiNTNkZTIwZjdmZjE0Iiwic2VtYW50aWNfb21tbF9wcm9maWxlIjoib2ZmaWNlLW1hdGgtc2VtYW50aWMtdjIiLCJzZW1hbnRpY19vbW1sX3NoYTI1NiI6IjgxYWM2YzQxYWZmNmFiZWM1NWJhOWFkMzRiNTdkM2U4MDZjYzY0YzUzMjEyYzRkODQ0ZDE5YzgyYjRiZjU0NDAifV0sImZvcm11bGFzIjpbeyJjYW5vbmljYWxfbGF0ZXgiOiJ6X3t0K2h9IiwiZm9ybXVsYV9pZCI6IkVRMDE2IiwibGF0ZXhfc2hhMjU2IjoiMDRlZjI1Mzc1Yjc3Mjg0MmM3OGUyOTEwZDBlYjJlOTMxNTBlOTM2ZGU0YmUyNmI0MjhhOTkwZDAxZmI0NTZlMCIsIm1vZGUiOiJpbmxpbmUiLCJvbW1sX3NoYTI1NiI6IjYxMmRjYzczMWMxYmY5YzM0OGY5ZDFiYjA1Yjk0NWNjMTA3MGU0NWQzMjRkMmU4NWU0NGI1M2RlMjBmN2ZmMTQiLCJzZW1hbnRpY19vbW1sX3Byb2ZpbGUiOiJvZmZpY2UtbWF0aC1zZW1hbnRpYy12MiIsInNlbWFudGljX29tbWxfc2hhMjU2IjoiODFhYzZjNDFhZmY2YWJlYzU1YmE5YWQzNGI1N2QzZTgwNmNjNjRjNTMyMTJjNGQ4NDRkMTljODJiNGJmNTQ0MCJ9XSwia2luZCI6Im5hdGl2ZV9vZmZpY2VfbWF0aCIsInBsYWNlaG9sZGVyX25hbWUiOiJtYXRoOjAxNiIsInNjaGVtYV92ZXJzaW9uIjoiMS4wIn0="/>
              <p:cNvSpPr txBox="1"/>
              <p:nvPr/>
            </p:nvSpPr>
            <p:spPr>
              <a:xfrm>
                <a:off x="12777168" y="2903696"/>
                <a:ext cx="306038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t+h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68" name="math:016" descr="AI_AUTOFIGURE_MATH_FALLBACK_ONLY_V1:eyJjb250ZW50X3J1bnMiOlt7ImNhbm9uaWNhbF9sYXRleCI6Inpfe3QraH0iLCJmb3JtdWxhX2lkIjoiRVEwMTYiLCJraW5kIjoibWF0aCIsImxhdGV4X3NoYTI1NiI6IjA0ZWYyNTM3NWI3NzI4NDJjNzhlMjkxMGQwZWIyZTkzMTUwZTkzNmRlNGJlMjZiNDI4YTk5MGQwMWZiNDU2ZTAiLCJtb2RlIjoiaW5saW5lIiwib21tbF9zaGEyNTYiOiI2MTJkY2M3MzFjMWJmOWMzNDhmOWQxYmIwNWI5NDVjYzEwNzBlNDVkMzI0ZDJlODVlNDRiNTNkZTIwZjdmZjE0Iiwic2VtYW50aWNfb21tbF9wcm9maWxlIjoib2ZmaWNlLW1hdGgtc2VtYW50aWMtdjIiLCJzZW1hbnRpY19vbW1sX3NoYTI1NiI6IjgxYWM2YzQxYWZmNmFiZWM1NWJhOWFkMzRiNTdkM2U4MDZjYzY0YzUzMjEyYzRkODQ0ZDE5YzgyYjRiZjU0NDAifV0sImZvcm11bGFzIjpbeyJjYW5vbmljYWxfbGF0ZXgiOiJ6X3t0K2h9IiwiZm9ybXVsYV9pZCI6IkVRMDE2IiwibGF0ZXhfc2hhMjU2IjoiMDRlZjI1Mzc1Yjc3Mjg0MmM3OGUyOTEwZDBlYjJlOTMxNTBlOTM2ZGU0YmUyNmI0MjhhOTkwZDAxZmI0NTZlMCIsIm1vZGUiOiJpbmxpbmUiLCJvbW1sX3NoYTI1NiI6IjYxMmRjYzczMWMxYmY5YzM0OGY5ZDFiYjA1Yjk0NWNjMTA3MGU0NWQzMjRkMmU4NWU0NGI1M2RlMjBmN2ZmMTQiLCJzZW1hbnRpY19vbW1sX3Byb2ZpbGUiOiJvZmZpY2UtbWF0aC1zZW1hbnRpYy12MiIsInNlbWFudGljX29tbWxfc2hhMjU2IjoiODFhYzZjNDFhZmY2YWJlYzU1YmE5YWQzNGI1N2QzZTgwNmNjNjRjNTMyMTJjNGQ4NDRkMTljODJiNGJmNTQ0MCJ9XSwia2luZCI6Im5hdGl2ZV9vZmZpY2VfbWF0aCIsInBsYWNlaG9sZGVyX25hbWUiOiJtYXRoOjAxNiIsInNjaGVtYV92ZXJzaW9uIjoiMS4wIn0="/>
              <p:cNvSpPr txBox="1"/>
              <p:nvPr/>
            </p:nvSpPr>
            <p:spPr>
              <a:xfrm>
                <a:off x="12777168" y="2903696"/>
                <a:ext cx="306038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\(z_{t+h}\)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cxnSp>
        <p:nvCxnSpPr>
          <p:cNvPr id="169" name="Connector 168"/>
          <p:cNvCxnSpPr/>
          <p:nvPr/>
        </p:nvCxnSpPr>
        <p:spPr>
          <a:xfrm>
            <a:off x="10067925" y="2990850"/>
            <a:ext cx="457200" cy="0"/>
          </a:xfrm>
          <a:prstGeom prst="line">
            <a:avLst/>
          </a:prstGeom>
          <a:ln w="17145" cap="rnd">
            <a:solidFill>
              <a:srgbClr val="8D6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freeform-170"/>
          <p:cNvSpPr/>
          <p:nvPr/>
        </p:nvSpPr>
        <p:spPr>
          <a:xfrm>
            <a:off x="10439400" y="2947988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0" y="0"/>
                </a:moveTo>
                <a:lnTo>
                  <a:pt x="85725" y="42862"/>
                </a:lnTo>
                <a:lnTo>
                  <a:pt x="0" y="85725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cxnSp>
        <p:nvCxnSpPr>
          <p:cNvPr id="171" name="Connector 170"/>
          <p:cNvCxnSpPr/>
          <p:nvPr/>
        </p:nvCxnSpPr>
        <p:spPr>
          <a:xfrm>
            <a:off x="10991850" y="2990850"/>
            <a:ext cx="457200" cy="0"/>
          </a:xfrm>
          <a:prstGeom prst="line">
            <a:avLst/>
          </a:prstGeom>
          <a:ln w="17145" cap="rnd">
            <a:solidFill>
              <a:srgbClr val="8D6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freeform-172"/>
          <p:cNvSpPr/>
          <p:nvPr/>
        </p:nvSpPr>
        <p:spPr>
          <a:xfrm>
            <a:off x="11363325" y="2947988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0" y="0"/>
                </a:moveTo>
                <a:lnTo>
                  <a:pt x="85725" y="42862"/>
                </a:lnTo>
                <a:lnTo>
                  <a:pt x="0" y="85725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cxnSp>
        <p:nvCxnSpPr>
          <p:cNvPr id="173" name="Connector 172"/>
          <p:cNvCxnSpPr/>
          <p:nvPr/>
        </p:nvCxnSpPr>
        <p:spPr>
          <a:xfrm>
            <a:off x="11915775" y="2990850"/>
            <a:ext cx="781050" cy="0"/>
          </a:xfrm>
          <a:prstGeom prst="line">
            <a:avLst/>
          </a:prstGeom>
          <a:ln w="17145" cap="rnd">
            <a:solidFill>
              <a:srgbClr val="8D6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freeform-174"/>
          <p:cNvSpPr/>
          <p:nvPr/>
        </p:nvSpPr>
        <p:spPr>
          <a:xfrm>
            <a:off x="12611100" y="2947988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0" y="0"/>
                </a:moveTo>
                <a:lnTo>
                  <a:pt x="85725" y="42862"/>
                </a:lnTo>
                <a:lnTo>
                  <a:pt x="0" y="85725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sp>
        <p:nvSpPr>
          <p:cNvPr id="175" name="TextBox 174"/>
          <p:cNvSpPr txBox="1"/>
          <p:nvPr/>
        </p:nvSpPr>
        <p:spPr>
          <a:xfrm>
            <a:off x="12114848" y="2885122"/>
            <a:ext cx="154305" cy="214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>
                <a:solidFill>
                  <a:srgbClr val="777777"/>
                </a:solidFill>
                <a:latin typeface="Arial"/>
              </a:rPr>
              <a:t>...</a:t>
            </a:r>
          </a:p>
        </p:txBody>
      </p:sp>
      <p:sp>
        <p:nvSpPr>
          <p:cNvPr id="176" name="Oval 175"/>
          <p:cNvSpPr/>
          <p:nvPr/>
        </p:nvSpPr>
        <p:spPr>
          <a:xfrm>
            <a:off x="9667875" y="3886200"/>
            <a:ext cx="342900" cy="342900"/>
          </a:xfrm>
          <a:prstGeom prst="ellipse">
            <a:avLst/>
          </a:prstGeom>
          <a:solidFill>
            <a:srgbClr val="8FAEE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7" name="math:017" descr="AI_AUTOFIGURE_NATIVE_MATH_V1:eyJjb250ZW50X3J1bnMiOlt7ImNhbm9uaWNhbF9sYXRleCI6IlxccGkiLCJmb3JtdWxhX2lkIjoiRVEwMTc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3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NyIsInNjaGVtYV92ZXJzaW9uIjoiMS4wIn0="/>
              <p:cNvSpPr txBox="1"/>
              <p:nvPr/>
            </p:nvSpPr>
            <p:spPr>
              <a:xfrm>
                <a:off x="9792176" y="3961448"/>
                <a:ext cx="94298" cy="2143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 sz="1350">
                        <a:solidFill>
                          <a:srgbClr val="FFFFFF"/>
                        </a:solidFill>
                        <a:latin typeface="Cambria Math"/>
                      </a:rPr>
                      <m:t>π</m:t>
                    </m:r>
                  </m:oMath>
                </a14:m>
                <a:endParaRPr lang="en-US" dirty="0" sz="135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77" name="math:017" descr="AI_AUTOFIGURE_MATH_FALLBACK_ONLY_V1:eyJjb250ZW50X3J1bnMiOlt7ImNhbm9uaWNhbF9sYXRleCI6IlxccGkiLCJmb3JtdWxhX2lkIjoiRVEwMTc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3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NyIsInNjaGVtYV92ZXJzaW9uIjoiMS4wIn0="/>
              <p:cNvSpPr txBox="1"/>
              <p:nvPr/>
            </p:nvSpPr>
            <p:spPr>
              <a:xfrm>
                <a:off x="9792176" y="3961448"/>
                <a:ext cx="94298" cy="2143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FFFFFF"/>
                    </a:solidFill>
                  </a:rPr>
                  <a:t>\(\pi\)</a:t>
                </a:r>
                <a:endParaRPr lang="en-US" dirty="0" sz="1350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78" name="Oval 177"/>
          <p:cNvSpPr/>
          <p:nvPr/>
        </p:nvSpPr>
        <p:spPr>
          <a:xfrm>
            <a:off x="10601325" y="3886200"/>
            <a:ext cx="342900" cy="342900"/>
          </a:xfrm>
          <a:prstGeom prst="ellipse">
            <a:avLst/>
          </a:prstGeom>
          <a:solidFill>
            <a:srgbClr val="8FAEE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math:018" descr="AI_AUTOFIGURE_NATIVE_MATH_V1:eyJjb250ZW50X3J1bnMiOlt7ImNhbm9uaWNhbF9sYXRleCI6IlxccGkiLCJmb3JtdWxhX2lkIjoiRVEwMTg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4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OCIsInNjaGVtYV92ZXJzaW9uIjoiMS4wIn0="/>
              <p:cNvSpPr txBox="1"/>
              <p:nvPr/>
            </p:nvSpPr>
            <p:spPr>
              <a:xfrm>
                <a:off x="10725626" y="3961448"/>
                <a:ext cx="94298" cy="2143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 sz="1350">
                        <a:solidFill>
                          <a:srgbClr val="FFFFFF"/>
                        </a:solidFill>
                        <a:latin typeface="Cambria Math"/>
                      </a:rPr>
                      <m:t>π</m:t>
                    </m:r>
                  </m:oMath>
                </a14:m>
                <a:endParaRPr lang="en-US" dirty="0" sz="135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79" name="math:018" descr="AI_AUTOFIGURE_MATH_FALLBACK_ONLY_V1:eyJjb250ZW50X3J1bnMiOlt7ImNhbm9uaWNhbF9sYXRleCI6IlxccGkiLCJmb3JtdWxhX2lkIjoiRVEwMTg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4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OCIsInNjaGVtYV92ZXJzaW9uIjoiMS4wIn0="/>
              <p:cNvSpPr txBox="1"/>
              <p:nvPr/>
            </p:nvSpPr>
            <p:spPr>
              <a:xfrm>
                <a:off x="10725626" y="3961448"/>
                <a:ext cx="94298" cy="2143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FFFFFF"/>
                    </a:solidFill>
                  </a:rPr>
                  <a:t>\(\pi\)</a:t>
                </a:r>
                <a:endParaRPr lang="en-US" dirty="0" sz="1350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80" name="Oval 179"/>
          <p:cNvSpPr/>
          <p:nvPr/>
        </p:nvSpPr>
        <p:spPr>
          <a:xfrm>
            <a:off x="11544300" y="3886200"/>
            <a:ext cx="342900" cy="342900"/>
          </a:xfrm>
          <a:prstGeom prst="ellipse">
            <a:avLst/>
          </a:prstGeom>
          <a:solidFill>
            <a:srgbClr val="8FAEE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1" name="math:019" descr="AI_AUTOFIGURE_NATIVE_MATH_V1:eyJjb250ZW50X3J1bnMiOlt7ImNhbm9uaWNhbF9sYXRleCI6IlxccGkiLCJmb3JtdWxhX2lkIjoiRVEwMTk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5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OSIsInNjaGVtYV92ZXJzaW9uIjoiMS4wIn0="/>
              <p:cNvSpPr txBox="1"/>
              <p:nvPr/>
            </p:nvSpPr>
            <p:spPr>
              <a:xfrm>
                <a:off x="11668601" y="3961448"/>
                <a:ext cx="94298" cy="2143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 sz="1350">
                        <a:solidFill>
                          <a:srgbClr val="FFFFFF"/>
                        </a:solidFill>
                        <a:latin typeface="Cambria Math"/>
                      </a:rPr>
                      <m:t>π</m:t>
                    </m:r>
                  </m:oMath>
                </a14:m>
                <a:endParaRPr lang="en-US" dirty="0" sz="135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81" name="math:019" descr="AI_AUTOFIGURE_MATH_FALLBACK_ONLY_V1:eyJjb250ZW50X3J1bnMiOlt7ImNhbm9uaWNhbF9sYXRleCI6IlxccGkiLCJmb3JtdWxhX2lkIjoiRVEwMTk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5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OSIsInNjaGVtYV92ZXJzaW9uIjoiMS4wIn0="/>
              <p:cNvSpPr txBox="1"/>
              <p:nvPr/>
            </p:nvSpPr>
            <p:spPr>
              <a:xfrm>
                <a:off x="11668601" y="3961448"/>
                <a:ext cx="94298" cy="2143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FFFFFF"/>
                    </a:solidFill>
                  </a:rPr>
                  <a:t>\(\pi\)</a:t>
                </a:r>
                <a:endParaRPr lang="en-US" dirty="0" sz="1350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82" name="Oval 181"/>
          <p:cNvSpPr/>
          <p:nvPr/>
        </p:nvSpPr>
        <p:spPr>
          <a:xfrm>
            <a:off x="10144125" y="3409950"/>
            <a:ext cx="342900" cy="342900"/>
          </a:xfrm>
          <a:prstGeom prst="ellipse">
            <a:avLst/>
          </a:prstGeom>
          <a:solidFill>
            <a:srgbClr val="C4551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3" name="math:020" descr="AI_AUTOFIGURE_NATIVE_MATH_V1:eyJjb250ZW50X3J1bnMiOlt7ImNhbm9uaWNhbF9sYXRleCI6ImFfe3R9IiwiZm9ybXVsYV9pZCI6IkVRMDIwIiwia2luZCI6Im1hdGgiLCJsYXRleF9zaGEyNTYiOiJiMjM2YTRmNjc5MDRhMDkzYjk2N2E2NTYxMjY2OTM2Yjc1MDczMTAwMjc5YjZjZGRkYzhlMTc3Nzc2ZDVmZDdl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mb3JtdWxhcyI6W3siY2Fub25pY2FsX2xhdGV4IjoiYV97dH0iLCJmb3JtdWxhX2lkIjoiRVEwMjAiLCJsYXRleF9zaGEyNTYiOiJiMjM2YTRmNjc5MDRhMDkzYjk2N2E2NTYxMjY2OTM2Yjc1MDczMTAwMjc5YjZjZGRkYzhlMTc3Nzc2ZDVmZDdl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raW5kIjoibmF0aXZlX29mZmljZV9tYXRoIiwicGxhY2Vob2xkZXJfbmFtZSI6Im1hdGg6MDIwIiwic2NoZW1hX3ZlcnNpb24iOiIxLjAifQ=="/>
              <p:cNvSpPr txBox="1"/>
              <p:nvPr/>
            </p:nvSpPr>
            <p:spPr>
              <a:xfrm>
                <a:off x="10250805" y="3493770"/>
                <a:ext cx="129540" cy="19050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00">
                            <a:solidFill>
                              <a:srgbClr val="FFFFFF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dirty="0" sz="1200">
                            <a:solidFill>
                              <a:srgbClr val="FFFFFF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endParaRPr lang="en-US" dirty="0" sz="120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83" name="math:020" descr="AI_AUTOFIGURE_MATH_FALLBACK_ONLY_V1:eyJjb250ZW50X3J1bnMiOlt7ImNhbm9uaWNhbF9sYXRleCI6ImFfe3R9IiwiZm9ybXVsYV9pZCI6IkVRMDIwIiwia2luZCI6Im1hdGgiLCJsYXRleF9zaGEyNTYiOiJiMjM2YTRmNjc5MDRhMDkzYjk2N2E2NTYxMjY2OTM2Yjc1MDczMTAwMjc5YjZjZGRkYzhlMTc3Nzc2ZDVmZDdl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mb3JtdWxhcyI6W3siY2Fub25pY2FsX2xhdGV4IjoiYV97dH0iLCJmb3JtdWxhX2lkIjoiRVEwMjAiLCJsYXRleF9zaGEyNTYiOiJiMjM2YTRmNjc5MDRhMDkzYjk2N2E2NTYxMjY2OTM2Yjc1MDczMTAwMjc5YjZjZGRkYzhlMTc3Nzc2ZDVmZDdl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raW5kIjoibmF0aXZlX29mZmljZV9tYXRoIiwicGxhY2Vob2xkZXJfbmFtZSI6Im1hdGg6MDIwIiwic2NoZW1hX3ZlcnNpb24iOiIxLjAifQ=="/>
              <p:cNvSpPr txBox="1"/>
              <p:nvPr/>
            </p:nvSpPr>
            <p:spPr>
              <a:xfrm>
                <a:off x="10250805" y="3493770"/>
                <a:ext cx="129540" cy="19050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00">
                    <a:solidFill>
                      <a:srgbClr val="FFFFFF"/>
                    </a:solidFill>
                  </a:rPr>
                  <a:t>\(a_{t}\)</a:t>
                </a:r>
                <a:endParaRPr lang="en-US" dirty="0" sz="1200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84" name="Oval 183"/>
          <p:cNvSpPr/>
          <p:nvPr/>
        </p:nvSpPr>
        <p:spPr>
          <a:xfrm>
            <a:off x="11068050" y="3409950"/>
            <a:ext cx="342900" cy="342900"/>
          </a:xfrm>
          <a:prstGeom prst="ellipse">
            <a:avLst/>
          </a:prstGeom>
          <a:solidFill>
            <a:srgbClr val="C4551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5" name="math:021" descr="AI_AUTOFIGURE_NATIVE_MATH_V1:eyJjb250ZW50X3J1bnMiOlt7ImNhbm9uaWNhbF9sYXRleCI6ImFfe3QrMX0iLCJmb3JtdWxhX2lkIjoiRVEwMjEiLCJraW5kIjoibWF0aCIsImxhdGV4X3NoYTI1NiI6ImNkNTFlODVhMWRhMGJkNjU2MGEzOGU0NTVmNWIzMDNkYjcxNzUzMzc3NmRhZTFjZjU0NGM0ZTEwOGJmM2VhZWEiLCJtb2RlIjoiaW5saW5lIiwib21tbF9zaGEyNTYiOiJiYzc2NzNhNjFlZDE1OTBkYmJjNzQzYzMzNjI2NWU0Zjk4ZTYzOGZhMGE3NzMxZjRlMzk2MmE3NDdmNmY1MmYwIiwic2VtYW50aWNfb21tbF9wcm9maWxlIjoib2ZmaWNlLW1hdGgtc2VtYW50aWMtdjIiLCJzZW1hbnRpY19vbW1sX3NoYTI1NiI6IjM1ZmU0NTJiNDQ4ZWY4MTUxMWJlOTA3ZjVlZWRjOWM1YjYwMWMzN2U2NTVmY2ZmNDY3ZmQ5NzFiYWM4ZTllZTEifV0sImZvcm11bGFzIjpbeyJjYW5vbmljYWxfbGF0ZXgiOiJhX3t0KzF9IiwiZm9ybXVsYV9pZCI6IkVRMDIxIiwibGF0ZXhfc2hhMjU2IjoiY2Q1MWU4NWExZGEwYmQ2NTYwYTM4ZTQ1NWY1YjMwM2RiNzE3NTMzNzc2ZGFlMWNmNTQ0YzRlMTA4YmYzZWFlYSIsIm1vZGUiOiJpbmxpbmUiLCJvbW1sX3NoYTI1NiI6ImJjNzY3M2E2MWVkMTU5MGRiYmM3NDNjMzM2MjY1ZTRmOThlNjM4ZmEwYTc3MzFmNGUzOTYyYTc0N2Y2ZjUyZjAiLCJzZW1hbnRpY19vbW1sX3Byb2ZpbGUiOiJvZmZpY2UtbWF0aC1zZW1hbnRpYy12MiIsInNlbWFudGljX29tbWxfc2hhMjU2IjoiMzVmZTQ1MmI0NDhlZjgxNTExYmU5MDdmNWVlZGM5YzViNjAxYzM3ZTY1NWZjZmY0NjdmZDk3MWJhYzhlOWVlMSJ9XSwia2luZCI6Im5hdGl2ZV9vZmZpY2VfbWF0aCIsInBsYWNlaG9sZGVyX25hbWUiOiJtYXRoOjAyMSIsInNjaGVtYV92ZXJzaW9uIjoiMS4wIn0="/>
              <p:cNvSpPr txBox="1"/>
              <p:nvPr/>
            </p:nvSpPr>
            <p:spPr>
              <a:xfrm>
                <a:off x="11092434" y="3493770"/>
                <a:ext cx="294132" cy="19050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00">
                            <a:solidFill>
                              <a:srgbClr val="FFFFFF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dirty="0" sz="1200">
                            <a:solidFill>
                              <a:srgbClr val="FFFFFF"/>
                            </a:solidFill>
                            <a:latin typeface="Cambria Math"/>
                          </a:rPr>
                          <m:t>t+1</m:t>
                        </m:r>
                      </m:sub>
                    </m:sSub>
                  </m:oMath>
                </a14:m>
                <a:endParaRPr lang="en-US" dirty="0" sz="120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85" name="math:021" descr="AI_AUTOFIGURE_MATH_FALLBACK_ONLY_V1:eyJjb250ZW50X3J1bnMiOlt7ImNhbm9uaWNhbF9sYXRleCI6ImFfe3QrMX0iLCJmb3JtdWxhX2lkIjoiRVEwMjEiLCJraW5kIjoibWF0aCIsImxhdGV4X3NoYTI1NiI6ImNkNTFlODVhMWRhMGJkNjU2MGEzOGU0NTVmNWIzMDNkYjcxNzUzMzc3NmRhZTFjZjU0NGM0ZTEwOGJmM2VhZWEiLCJtb2RlIjoiaW5saW5lIiwib21tbF9zaGEyNTYiOiJiYzc2NzNhNjFlZDE1OTBkYmJjNzQzYzMzNjI2NWU0Zjk4ZTYzOGZhMGE3NzMxZjRlMzk2MmE3NDdmNmY1MmYwIiwic2VtYW50aWNfb21tbF9wcm9maWxlIjoib2ZmaWNlLW1hdGgtc2VtYW50aWMtdjIiLCJzZW1hbnRpY19vbW1sX3NoYTI1NiI6IjM1ZmU0NTJiNDQ4ZWY4MTUxMWJlOTA3ZjVlZWRjOWM1YjYwMWMzN2U2NTVmY2ZmNDY3ZmQ5NzFiYWM4ZTllZTEifV0sImZvcm11bGFzIjpbeyJjYW5vbmljYWxfbGF0ZXgiOiJhX3t0KzF9IiwiZm9ybXVsYV9pZCI6IkVRMDIxIiwibGF0ZXhfc2hhMjU2IjoiY2Q1MWU4NWExZGEwYmQ2NTYwYTM4ZTQ1NWY1YjMwM2RiNzE3NTMzNzc2ZGFlMWNmNTQ0YzRlMTA4YmYzZWFlYSIsIm1vZGUiOiJpbmxpbmUiLCJvbW1sX3NoYTI1NiI6ImJjNzY3M2E2MWVkMTU5MGRiYmM3NDNjMzM2MjY1ZTRmOThlNjM4ZmEwYTc3MzFmNGUzOTYyYTc0N2Y2ZjUyZjAiLCJzZW1hbnRpY19vbW1sX3Byb2ZpbGUiOiJvZmZpY2UtbWF0aC1zZW1hbnRpYy12MiIsInNlbWFudGljX29tbWxfc2hhMjU2IjoiMzVmZTQ1MmI0NDhlZjgxNTExYmU5MDdmNWVlZGM5YzViNjAxYzM3ZTY1NWZjZmY0NjdmZDk3MWJhYzhlOWVlMSJ9XSwia2luZCI6Im5hdGl2ZV9vZmZpY2VfbWF0aCIsInBsYWNlaG9sZGVyX25hbWUiOiJtYXRoOjAyMSIsInNjaGVtYV92ZXJzaW9uIjoiMS4wIn0="/>
              <p:cNvSpPr txBox="1"/>
              <p:nvPr/>
            </p:nvSpPr>
            <p:spPr>
              <a:xfrm>
                <a:off x="11092434" y="3493770"/>
                <a:ext cx="294132" cy="19050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00">
                    <a:solidFill>
                      <a:srgbClr val="FFFFFF"/>
                    </a:solidFill>
                  </a:rPr>
                  <a:t>\(a_{t+1}\)</a:t>
                </a:r>
                <a:endParaRPr lang="en-US" dirty="0" sz="1200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86" name="Oval 185"/>
          <p:cNvSpPr/>
          <p:nvPr/>
        </p:nvSpPr>
        <p:spPr>
          <a:xfrm>
            <a:off x="12011025" y="3409950"/>
            <a:ext cx="342900" cy="342900"/>
          </a:xfrm>
          <a:prstGeom prst="ellipse">
            <a:avLst/>
          </a:prstGeom>
          <a:solidFill>
            <a:srgbClr val="C4551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math:022" descr="AI_AUTOFIGURE_NATIVE_MATH_V1:eyJjb250ZW50X3J1bnMiOlt7ImNhbm9uaWNhbF9sYXRleCI6ImFfe3QrMn0iLCJmb3JtdWxhX2lkIjoiRVEwMjIiLCJraW5kIjoibWF0aCIsImxhdGV4X3NoYTI1NiI6ImZkYWYzMzQzZjgxNjEyYjY0OWZlNDcyZDc0Mzk4M2U2YTBmMTI4MzdiOGZmY2M4NjUwMTVhNjZkYWU0Zjc2YjQiLCJtb2RlIjoiaW5saW5lIiwib21tbF9zaGEyNTYiOiI4MWRjMWE4MmFlNGVmY2JmMDYxYmYzM2E2NmNjZmE4OGNkOTg5NzQzZjM2NjExMzhmZWRiYmU1OTNlZjJjOTVlIiwic2VtYW50aWNfb21tbF9wcm9maWxlIjoib2ZmaWNlLW1hdGgtc2VtYW50aWMtdjIiLCJzZW1hbnRpY19vbW1sX3NoYTI1NiI6ImYzNmQyNDY3MzZjNjAyNjZkODBmMWI0MGY3ODU1MTk0NDgzNjE4ZjcyYWM1ZjlmMWJhZTg5YTQwZGZjYmM3MWIifV0sImZvcm11bGFzIjpbeyJjYW5vbmljYWxfbGF0ZXgiOiJhX3t0KzJ9IiwiZm9ybXVsYV9pZCI6IkVRMDIyIiwibGF0ZXhfc2hhMjU2IjoiZmRhZjMzNDNmODE2MTJiNjQ5ZmU0NzJkNzQzOTgzZTZhMGYxMjgzN2I4ZmZjYzg2NTAxNWE2NmRhZTRmNzZiNCIsIm1vZGUiOiJpbmxpbmUiLCJvbW1sX3NoYTI1NiI6IjgxZGMxYTgyYWU0ZWZjYmYwNjFiZjMzYTY2Y2NmYTg4Y2Q5ODk3NDNmMzY2MTEzOGZlZGJiZTU5M2VmMmM5NWUiLCJzZW1hbnRpY19vbW1sX3Byb2ZpbGUiOiJvZmZpY2UtbWF0aC1zZW1hbnRpYy12MiIsInNlbWFudGljX29tbWxfc2hhMjU2IjoiZjM2ZDI0NjczNmM2MDI2NmQ4MGYxYjQwZjc4NTUxOTQ0ODM2MThmNzJhYzVmOWYxYmFlODlhNDBkZmNiYzcxYiJ9XSwia2luZCI6Im5hdGl2ZV9vZmZpY2VfbWF0aCIsInBsYWNlaG9sZGVyX25hbWUiOiJtYXRoOjAyMiIsInNjaGVtYV92ZXJzaW9uIjoiMS4wIn0="/>
              <p:cNvSpPr txBox="1"/>
              <p:nvPr/>
            </p:nvSpPr>
            <p:spPr>
              <a:xfrm>
                <a:off x="12035409" y="3493770"/>
                <a:ext cx="294132" cy="19050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00">
                            <a:solidFill>
                              <a:srgbClr val="FFFFFF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dirty="0" sz="1200">
                            <a:solidFill>
                              <a:srgbClr val="FFFFFF"/>
                            </a:solidFill>
                            <a:latin typeface="Cambria Math"/>
                          </a:rPr>
                          <m:t>t+2</m:t>
                        </m:r>
                      </m:sub>
                    </m:sSub>
                  </m:oMath>
                </a14:m>
                <a:endParaRPr lang="en-US" dirty="0" sz="120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87" name="math:022" descr="AI_AUTOFIGURE_MATH_FALLBACK_ONLY_V1:eyJjb250ZW50X3J1bnMiOlt7ImNhbm9uaWNhbF9sYXRleCI6ImFfe3QrMn0iLCJmb3JtdWxhX2lkIjoiRVEwMjIiLCJraW5kIjoibWF0aCIsImxhdGV4X3NoYTI1NiI6ImZkYWYzMzQzZjgxNjEyYjY0OWZlNDcyZDc0Mzk4M2U2YTBmMTI4MzdiOGZmY2M4NjUwMTVhNjZkYWU0Zjc2YjQiLCJtb2RlIjoiaW5saW5lIiwib21tbF9zaGEyNTYiOiI4MWRjMWE4MmFlNGVmY2JmMDYxYmYzM2E2NmNjZmE4OGNkOTg5NzQzZjM2NjExMzhmZWRiYmU1OTNlZjJjOTVlIiwic2VtYW50aWNfb21tbF9wcm9maWxlIjoib2ZmaWNlLW1hdGgtc2VtYW50aWMtdjIiLCJzZW1hbnRpY19vbW1sX3NoYTI1NiI6ImYzNmQyNDY3MzZjNjAyNjZkODBmMWI0MGY3ODU1MTk0NDgzNjE4ZjcyYWM1ZjlmMWJhZTg5YTQwZGZjYmM3MWIifV0sImZvcm11bGFzIjpbeyJjYW5vbmljYWxfbGF0ZXgiOiJhX3t0KzJ9IiwiZm9ybXVsYV9pZCI6IkVRMDIyIiwibGF0ZXhfc2hhMjU2IjoiZmRhZjMzNDNmODE2MTJiNjQ5ZmU0NzJkNzQzOTgzZTZhMGYxMjgzN2I4ZmZjYzg2NTAxNWE2NmRhZTRmNzZiNCIsIm1vZGUiOiJpbmxpbmUiLCJvbW1sX3NoYTI1NiI6IjgxZGMxYTgyYWU0ZWZjYmYwNjFiZjMzYTY2Y2NmYTg4Y2Q5ODk3NDNmMzY2MTEzOGZlZGJiZTU5M2VmMmM5NWUiLCJzZW1hbnRpY19vbW1sX3Byb2ZpbGUiOiJvZmZpY2UtbWF0aC1zZW1hbnRpYy12MiIsInNlbWFudGljX29tbWxfc2hhMjU2IjoiZjM2ZDI0NjczNmM2MDI2NmQ4MGYxYjQwZjc4NTUxOTQ0ODM2MThmNzJhYzVmOWYxYmFlODlhNDBkZmNiYzcxYiJ9XSwia2luZCI6Im5hdGl2ZV9vZmZpY2VfbWF0aCIsInBsYWNlaG9sZGVyX25hbWUiOiJtYXRoOjAyMiIsInNjaGVtYV92ZXJzaW9uIjoiMS4wIn0="/>
              <p:cNvSpPr txBox="1"/>
              <p:nvPr/>
            </p:nvSpPr>
            <p:spPr>
              <a:xfrm>
                <a:off x="12035409" y="3493770"/>
                <a:ext cx="294132" cy="19050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00">
                    <a:solidFill>
                      <a:srgbClr val="FFFFFF"/>
                    </a:solidFill>
                  </a:rPr>
                  <a:t>\(a_{t+2}\)</a:t>
                </a:r>
                <a:endParaRPr lang="en-US" dirty="0" sz="1200">
                  <a:solidFill>
                    <a:srgbClr val="FFFFFF"/>
                  </a:solidFill>
                </a:endParaRPr>
              </a:p>
            </p:txBody>
          </p:sp>
        </mc:Fallback>
      </mc:AlternateContent>
      <p:cxnSp>
        <p:nvCxnSpPr>
          <p:cNvPr id="188" name="Connector 187"/>
          <p:cNvCxnSpPr/>
          <p:nvPr/>
        </p:nvCxnSpPr>
        <p:spPr>
          <a:xfrm>
            <a:off x="9839325" y="3171825"/>
            <a:ext cx="0" cy="704850"/>
          </a:xfrm>
          <a:prstGeom prst="line">
            <a:avLst/>
          </a:prstGeom>
          <a:ln w="15240" cap="rnd">
            <a:solidFill>
              <a:srgbClr val="8D6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freeform-189"/>
          <p:cNvSpPr/>
          <p:nvPr/>
        </p:nvSpPr>
        <p:spPr>
          <a:xfrm>
            <a:off x="9796462" y="3790950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0"/>
                </a:moveTo>
                <a:lnTo>
                  <a:pt x="42862" y="85725"/>
                </a:lnTo>
                <a:lnTo>
                  <a:pt x="0" y="0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cxnSp>
        <p:nvCxnSpPr>
          <p:cNvPr id="190" name="Connector 189"/>
          <p:cNvCxnSpPr/>
          <p:nvPr/>
        </p:nvCxnSpPr>
        <p:spPr>
          <a:xfrm>
            <a:off x="10772775" y="3171825"/>
            <a:ext cx="0" cy="704850"/>
          </a:xfrm>
          <a:prstGeom prst="line">
            <a:avLst/>
          </a:prstGeom>
          <a:ln w="15240" cap="rnd">
            <a:solidFill>
              <a:srgbClr val="8D6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freeform-191"/>
          <p:cNvSpPr/>
          <p:nvPr/>
        </p:nvSpPr>
        <p:spPr>
          <a:xfrm>
            <a:off x="10729912" y="3790950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0"/>
                </a:moveTo>
                <a:lnTo>
                  <a:pt x="42862" y="85725"/>
                </a:lnTo>
                <a:lnTo>
                  <a:pt x="0" y="0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cxnSp>
        <p:nvCxnSpPr>
          <p:cNvPr id="192" name="Connector 191"/>
          <p:cNvCxnSpPr/>
          <p:nvPr/>
        </p:nvCxnSpPr>
        <p:spPr>
          <a:xfrm>
            <a:off x="11715750" y="3171825"/>
            <a:ext cx="0" cy="704850"/>
          </a:xfrm>
          <a:prstGeom prst="line">
            <a:avLst/>
          </a:prstGeom>
          <a:ln w="15240" cap="rnd">
            <a:solidFill>
              <a:srgbClr val="8D6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freeform-193"/>
          <p:cNvSpPr/>
          <p:nvPr/>
        </p:nvSpPr>
        <p:spPr>
          <a:xfrm>
            <a:off x="11672888" y="3790950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85725" y="0"/>
                </a:moveTo>
                <a:lnTo>
                  <a:pt x="42862" y="85725"/>
                </a:lnTo>
                <a:lnTo>
                  <a:pt x="0" y="0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sp>
        <p:nvSpPr>
          <p:cNvPr id="194" name="freeform-194"/>
          <p:cNvSpPr/>
          <p:nvPr/>
        </p:nvSpPr>
        <p:spPr>
          <a:xfrm>
            <a:off x="10010775" y="3771900"/>
            <a:ext cx="304800" cy="285750"/>
          </a:xfrm>
          <a:custGeom>
            <a:avLst/>
            <a:gdLst/>
            <a:ahLst/>
            <a:cxnLst/>
            <a:rect l="0" t="0" r="0" b="0"/>
            <a:pathLst>
              <a:path w="304800" h="285750">
                <a:moveTo>
                  <a:pt x="0" y="285750"/>
                </a:moveTo>
                <a:cubicBezTo>
                  <a:pt x="190500" y="276225"/>
                  <a:pt x="295275" y="133350"/>
                  <a:pt x="304800" y="0"/>
                </a:cubicBezTo>
              </a:path>
            </a:pathLst>
          </a:custGeom>
          <a:noFill/>
          <a:ln w="16192" cap="rnd">
            <a:solidFill>
              <a:srgbClr val="8D6A00"/>
            </a:solidFill>
          </a:ln>
        </p:spPr>
        <p:txBody>
          <a:bodyPr/>
          <a:p/>
        </p:txBody>
      </p:sp>
      <p:sp>
        <p:nvSpPr>
          <p:cNvPr id="195" name="freeform-195"/>
          <p:cNvSpPr/>
          <p:nvPr/>
        </p:nvSpPr>
        <p:spPr>
          <a:xfrm>
            <a:off x="10266714" y="3771900"/>
            <a:ext cx="85507" cy="88561"/>
          </a:xfrm>
          <a:custGeom>
            <a:avLst/>
            <a:gdLst/>
            <a:ahLst/>
            <a:cxnLst/>
            <a:rect l="0" t="0" r="0" b="0"/>
            <a:pathLst>
              <a:path w="85507" h="88561">
                <a:moveTo>
                  <a:pt x="0" y="82453"/>
                </a:moveTo>
                <a:lnTo>
                  <a:pt x="48861" y="0"/>
                </a:lnTo>
                <a:lnTo>
                  <a:pt x="85507" y="88561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sp>
        <p:nvSpPr>
          <p:cNvPr id="196" name="freeform-196"/>
          <p:cNvSpPr/>
          <p:nvPr/>
        </p:nvSpPr>
        <p:spPr>
          <a:xfrm>
            <a:off x="10944225" y="3771900"/>
            <a:ext cx="295275" cy="285750"/>
          </a:xfrm>
          <a:custGeom>
            <a:avLst/>
            <a:gdLst/>
            <a:ahLst/>
            <a:cxnLst/>
            <a:rect l="0" t="0" r="0" b="0"/>
            <a:pathLst>
              <a:path w="295275" h="285750">
                <a:moveTo>
                  <a:pt x="0" y="285750"/>
                </a:moveTo>
                <a:cubicBezTo>
                  <a:pt x="200025" y="276225"/>
                  <a:pt x="285750" y="133350"/>
                  <a:pt x="295275" y="0"/>
                </a:cubicBezTo>
              </a:path>
            </a:pathLst>
          </a:custGeom>
          <a:noFill/>
          <a:ln w="16192" cap="rnd">
            <a:solidFill>
              <a:srgbClr val="8D6A00"/>
            </a:solidFill>
          </a:ln>
        </p:spPr>
        <p:txBody>
          <a:bodyPr/>
          <a:p/>
        </p:txBody>
      </p:sp>
      <p:sp>
        <p:nvSpPr>
          <p:cNvPr id="197" name="freeform-197"/>
          <p:cNvSpPr/>
          <p:nvPr/>
        </p:nvSpPr>
        <p:spPr>
          <a:xfrm>
            <a:off x="11190639" y="3771900"/>
            <a:ext cx="85507" cy="88561"/>
          </a:xfrm>
          <a:custGeom>
            <a:avLst/>
            <a:gdLst/>
            <a:ahLst/>
            <a:cxnLst/>
            <a:rect l="0" t="0" r="0" b="0"/>
            <a:pathLst>
              <a:path w="85507" h="88561">
                <a:moveTo>
                  <a:pt x="0" y="82453"/>
                </a:moveTo>
                <a:lnTo>
                  <a:pt x="48861" y="0"/>
                </a:lnTo>
                <a:lnTo>
                  <a:pt x="85507" y="88561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sp>
        <p:nvSpPr>
          <p:cNvPr id="198" name="freeform-198"/>
          <p:cNvSpPr/>
          <p:nvPr/>
        </p:nvSpPr>
        <p:spPr>
          <a:xfrm>
            <a:off x="11887200" y="3771900"/>
            <a:ext cx="295275" cy="285750"/>
          </a:xfrm>
          <a:custGeom>
            <a:avLst/>
            <a:gdLst/>
            <a:ahLst/>
            <a:cxnLst/>
            <a:rect l="0" t="0" r="0" b="0"/>
            <a:pathLst>
              <a:path w="295275" h="285750">
                <a:moveTo>
                  <a:pt x="0" y="285750"/>
                </a:moveTo>
                <a:cubicBezTo>
                  <a:pt x="190500" y="276225"/>
                  <a:pt x="285750" y="133350"/>
                  <a:pt x="295275" y="0"/>
                </a:cubicBezTo>
              </a:path>
            </a:pathLst>
          </a:custGeom>
          <a:noFill/>
          <a:ln w="16192" cap="rnd">
            <a:solidFill>
              <a:srgbClr val="8D6A00"/>
            </a:solidFill>
          </a:ln>
        </p:spPr>
        <p:txBody>
          <a:bodyPr/>
          <a:p/>
        </p:txBody>
      </p:sp>
      <p:sp>
        <p:nvSpPr>
          <p:cNvPr id="199" name="freeform-199"/>
          <p:cNvSpPr/>
          <p:nvPr/>
        </p:nvSpPr>
        <p:spPr>
          <a:xfrm>
            <a:off x="12133614" y="3771900"/>
            <a:ext cx="85507" cy="88561"/>
          </a:xfrm>
          <a:custGeom>
            <a:avLst/>
            <a:gdLst/>
            <a:ahLst/>
            <a:cxnLst/>
            <a:rect l="0" t="0" r="0" b="0"/>
            <a:pathLst>
              <a:path w="85507" h="88561">
                <a:moveTo>
                  <a:pt x="0" y="82453"/>
                </a:moveTo>
                <a:lnTo>
                  <a:pt x="48861" y="0"/>
                </a:lnTo>
                <a:lnTo>
                  <a:pt x="85507" y="88561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sp>
        <p:nvSpPr>
          <p:cNvPr id="200" name="freeform-200"/>
          <p:cNvSpPr/>
          <p:nvPr/>
        </p:nvSpPr>
        <p:spPr>
          <a:xfrm>
            <a:off x="10315575" y="3171825"/>
            <a:ext cx="438150" cy="228600"/>
          </a:xfrm>
          <a:custGeom>
            <a:avLst/>
            <a:gdLst/>
            <a:ahLst/>
            <a:cxnLst/>
            <a:rect l="0" t="0" r="0" b="0"/>
            <a:pathLst>
              <a:path w="438150" h="228600">
                <a:moveTo>
                  <a:pt x="0" y="228600"/>
                </a:moveTo>
                <a:cubicBezTo>
                  <a:pt x="114300" y="114300"/>
                  <a:pt x="238125" y="66675"/>
                  <a:pt x="438150" y="0"/>
                </a:cubicBezTo>
              </a:path>
            </a:pathLst>
          </a:custGeom>
          <a:noFill/>
          <a:ln w="16192" cap="rnd">
            <a:solidFill>
              <a:srgbClr val="8D6A00"/>
            </a:solidFill>
          </a:ln>
        </p:spPr>
        <p:txBody>
          <a:bodyPr/>
          <a:p/>
        </p:txBody>
      </p:sp>
      <p:sp>
        <p:nvSpPr>
          <p:cNvPr id="201" name="freeform-201"/>
          <p:cNvSpPr/>
          <p:nvPr/>
        </p:nvSpPr>
        <p:spPr>
          <a:xfrm>
            <a:off x="10658845" y="3158271"/>
            <a:ext cx="94880" cy="81326"/>
          </a:xfrm>
          <a:custGeom>
            <a:avLst/>
            <a:gdLst/>
            <a:ahLst/>
            <a:cxnLst/>
            <a:rect l="0" t="0" r="0" b="0"/>
            <a:pathLst>
              <a:path w="94880" h="81326">
                <a:moveTo>
                  <a:pt x="0" y="0"/>
                </a:moveTo>
                <a:lnTo>
                  <a:pt x="94880" y="13554"/>
                </a:lnTo>
                <a:lnTo>
                  <a:pt x="27109" y="81326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sp>
        <p:nvSpPr>
          <p:cNvPr id="202" name="freeform-202"/>
          <p:cNvSpPr/>
          <p:nvPr/>
        </p:nvSpPr>
        <p:spPr>
          <a:xfrm>
            <a:off x="11239500" y="3171825"/>
            <a:ext cx="447675" cy="228600"/>
          </a:xfrm>
          <a:custGeom>
            <a:avLst/>
            <a:gdLst/>
            <a:ahLst/>
            <a:cxnLst/>
            <a:rect l="0" t="0" r="0" b="0"/>
            <a:pathLst>
              <a:path w="447675" h="228600">
                <a:moveTo>
                  <a:pt x="0" y="228600"/>
                </a:moveTo>
                <a:cubicBezTo>
                  <a:pt x="123825" y="123825"/>
                  <a:pt x="276225" y="66675"/>
                  <a:pt x="447675" y="0"/>
                </a:cubicBezTo>
              </a:path>
            </a:pathLst>
          </a:custGeom>
          <a:noFill/>
          <a:ln w="16192" cap="rnd">
            <a:solidFill>
              <a:srgbClr val="8D6A00"/>
            </a:solidFill>
          </a:ln>
        </p:spPr>
        <p:txBody>
          <a:bodyPr/>
          <a:p/>
        </p:txBody>
      </p:sp>
      <p:sp>
        <p:nvSpPr>
          <p:cNvPr id="203" name="freeform-203"/>
          <p:cNvSpPr/>
          <p:nvPr/>
        </p:nvSpPr>
        <p:spPr>
          <a:xfrm>
            <a:off x="11591744" y="3162948"/>
            <a:ext cx="95431" cy="79896"/>
          </a:xfrm>
          <a:custGeom>
            <a:avLst/>
            <a:gdLst/>
            <a:ahLst/>
            <a:cxnLst/>
            <a:rect l="0" t="0" r="0" b="0"/>
            <a:pathLst>
              <a:path w="95431" h="79896">
                <a:moveTo>
                  <a:pt x="0" y="0"/>
                </a:moveTo>
                <a:lnTo>
                  <a:pt x="95431" y="8877"/>
                </a:lnTo>
                <a:lnTo>
                  <a:pt x="31071" y="79896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sp>
        <p:nvSpPr>
          <p:cNvPr id="204" name="freeform-204"/>
          <p:cNvSpPr/>
          <p:nvPr/>
        </p:nvSpPr>
        <p:spPr>
          <a:xfrm>
            <a:off x="12182475" y="3171825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228600"/>
                </a:moveTo>
                <a:cubicBezTo>
                  <a:pt x="114300" y="123825"/>
                  <a:pt x="228600" y="66675"/>
                  <a:pt x="228600" y="0"/>
                </a:cubicBezTo>
              </a:path>
            </a:pathLst>
          </a:custGeom>
          <a:noFill/>
          <a:ln w="16192" cap="rnd">
            <a:solidFill>
              <a:srgbClr val="8D6A00"/>
            </a:solidFill>
          </a:ln>
        </p:spPr>
        <p:txBody>
          <a:bodyPr/>
          <a:p/>
        </p:txBody>
      </p:sp>
      <p:sp>
        <p:nvSpPr>
          <p:cNvPr id="205" name="freeform-205"/>
          <p:cNvSpPr/>
          <p:nvPr/>
        </p:nvSpPr>
        <p:spPr>
          <a:xfrm>
            <a:off x="12368212" y="3171825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0" y="85725"/>
                </a:moveTo>
                <a:lnTo>
                  <a:pt x="42862" y="0"/>
                </a:lnTo>
                <a:lnTo>
                  <a:pt x="85725" y="85725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cxnSp>
        <p:nvCxnSpPr>
          <p:cNvPr id="206" name="Connector 205"/>
          <p:cNvCxnSpPr/>
          <p:nvPr/>
        </p:nvCxnSpPr>
        <p:spPr>
          <a:xfrm flipV="1">
            <a:off x="9829800" y="2552700"/>
            <a:ext cx="0" cy="266700"/>
          </a:xfrm>
          <a:prstGeom prst="line">
            <a:avLst/>
          </a:prstGeom>
          <a:ln w="15240" cap="rnd">
            <a:solidFill>
              <a:srgbClr val="8D6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freeform-207"/>
          <p:cNvSpPr/>
          <p:nvPr/>
        </p:nvSpPr>
        <p:spPr>
          <a:xfrm>
            <a:off x="9786938" y="2552700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0" y="85725"/>
                </a:moveTo>
                <a:lnTo>
                  <a:pt x="42862" y="0"/>
                </a:lnTo>
                <a:lnTo>
                  <a:pt x="85725" y="85725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cxnSp>
        <p:nvCxnSpPr>
          <p:cNvPr id="208" name="Connector 207"/>
          <p:cNvCxnSpPr/>
          <p:nvPr/>
        </p:nvCxnSpPr>
        <p:spPr>
          <a:xfrm flipV="1">
            <a:off x="10753725" y="2552700"/>
            <a:ext cx="0" cy="266700"/>
          </a:xfrm>
          <a:prstGeom prst="line">
            <a:avLst/>
          </a:prstGeom>
          <a:ln w="15240" cap="rnd">
            <a:solidFill>
              <a:srgbClr val="8D6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freeform-209"/>
          <p:cNvSpPr/>
          <p:nvPr/>
        </p:nvSpPr>
        <p:spPr>
          <a:xfrm>
            <a:off x="10710862" y="2552700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0" y="85725"/>
                </a:moveTo>
                <a:lnTo>
                  <a:pt x="42862" y="0"/>
                </a:lnTo>
                <a:lnTo>
                  <a:pt x="85725" y="85725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cxnSp>
        <p:nvCxnSpPr>
          <p:cNvPr id="210" name="Connector 209"/>
          <p:cNvCxnSpPr/>
          <p:nvPr/>
        </p:nvCxnSpPr>
        <p:spPr>
          <a:xfrm flipV="1">
            <a:off x="11687175" y="2552700"/>
            <a:ext cx="0" cy="266700"/>
          </a:xfrm>
          <a:prstGeom prst="line">
            <a:avLst/>
          </a:prstGeom>
          <a:ln w="15240" cap="rnd">
            <a:solidFill>
              <a:srgbClr val="8D6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freeform-211"/>
          <p:cNvSpPr/>
          <p:nvPr/>
        </p:nvSpPr>
        <p:spPr>
          <a:xfrm>
            <a:off x="11644312" y="2552700"/>
            <a:ext cx="85725" cy="85725"/>
          </a:xfrm>
          <a:custGeom>
            <a:avLst/>
            <a:gdLst/>
            <a:ahLst/>
            <a:cxnLst/>
            <a:rect l="0" t="0" r="0" b="0"/>
            <a:pathLst>
              <a:path w="85725" h="85725">
                <a:moveTo>
                  <a:pt x="0" y="85725"/>
                </a:moveTo>
                <a:lnTo>
                  <a:pt x="42862" y="0"/>
                </a:lnTo>
                <a:lnTo>
                  <a:pt x="85725" y="85725"/>
                </a:lnTo>
                <a:close/>
              </a:path>
            </a:pathLst>
          </a:custGeom>
          <a:solidFill>
            <a:srgbClr val="8D6A00"/>
          </a:solidFill>
        </p:spPr>
        <p:txBody>
          <a:bodyPr/>
          <a:p/>
        </p:txBody>
      </p:sp>
      <p:sp>
        <p:nvSpPr>
          <p:cNvPr id="212" name="TextBox 211"/>
          <p:cNvSpPr txBox="1"/>
          <p:nvPr/>
        </p:nvSpPr>
        <p:spPr>
          <a:xfrm>
            <a:off x="12540710" y="4019074"/>
            <a:ext cx="508540" cy="2262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425" b="1">
                <a:solidFill>
                  <a:srgbClr val="111111"/>
                </a:solidFill>
                <a:latin typeface="Arial"/>
              </a:rPr>
              <a:t>rollout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754362" y="4489132"/>
            <a:ext cx="3427476" cy="3095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111111"/>
                </a:solidFill>
                <a:latin typeface="Arial"/>
              </a:rPr>
              <a:t>Task-Aware Behavior Learning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1781175" y="5200650"/>
            <a:ext cx="4010025" cy="476250"/>
          </a:xfrm>
          <a:prstGeom prst="rect">
            <a:avLst/>
          </a:prstGeom>
          <a:solidFill>
            <a:srgbClr val="FFFFFF"/>
          </a:solidFill>
          <a:ln w="21908">
            <a:solidFill>
              <a:srgbClr val="233A64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2100739" y="5298758"/>
            <a:ext cx="3380422" cy="3095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111111"/>
                </a:solidFill>
                <a:latin typeface="Arial"/>
              </a:rPr>
              <a:t>MLLM-WM Joint Optimization</a:t>
            </a:r>
          </a:p>
        </p:txBody>
      </p:sp>
      <p:sp>
        <p:nvSpPr>
          <p:cNvPr id="216" name="freeform-216"/>
          <p:cNvSpPr/>
          <p:nvPr/>
        </p:nvSpPr>
        <p:spPr>
          <a:xfrm>
            <a:off x="1104900" y="5000625"/>
            <a:ext cx="676275" cy="466725"/>
          </a:xfrm>
          <a:custGeom>
            <a:avLst/>
            <a:gdLst/>
            <a:ahLst/>
            <a:cxnLst/>
            <a:rect l="0" t="0" r="0" b="0"/>
            <a:pathLst>
              <a:path w="676275" h="466725">
                <a:moveTo>
                  <a:pt x="676275" y="466725"/>
                </a:moveTo>
                <a:lnTo>
                  <a:pt x="180975" y="466725"/>
                </a:lnTo>
                <a:cubicBezTo>
                  <a:pt x="60325" y="466725"/>
                  <a:pt x="0" y="393700"/>
                  <a:pt x="0" y="247650"/>
                </a:cubicBezTo>
                <a:lnTo>
                  <a:pt x="0" y="0"/>
                </a:lnTo>
              </a:path>
            </a:pathLst>
          </a:custGeom>
          <a:noFill/>
          <a:ln w="95250" cap="rnd">
            <a:solidFill>
              <a:srgbClr val="D87478"/>
            </a:solidFill>
          </a:ln>
        </p:spPr>
        <p:txBody>
          <a:bodyPr/>
          <a:p/>
        </p:txBody>
      </p:sp>
      <p:sp>
        <p:nvSpPr>
          <p:cNvPr id="217" name="freeform-217"/>
          <p:cNvSpPr/>
          <p:nvPr/>
        </p:nvSpPr>
        <p:spPr>
          <a:xfrm>
            <a:off x="1009650" y="5000625"/>
            <a:ext cx="190500" cy="190500"/>
          </a:xfrm>
          <a:custGeom>
            <a:avLst/>
            <a:gdLst/>
            <a:ahLst/>
            <a:cxnLst/>
            <a:rect l="0" t="0" r="0" b="0"/>
            <a:pathLst>
              <a:path w="190500" h="190500">
                <a:moveTo>
                  <a:pt x="0" y="190500"/>
                </a:moveTo>
                <a:lnTo>
                  <a:pt x="95250" y="0"/>
                </a:lnTo>
                <a:lnTo>
                  <a:pt x="190500" y="190500"/>
                </a:lnTo>
                <a:close/>
              </a:path>
            </a:pathLst>
          </a:custGeom>
          <a:solidFill>
            <a:srgbClr val="D87478"/>
          </a:solidFill>
        </p:spPr>
        <p:txBody>
          <a:bodyPr/>
          <a:p/>
        </p:txBody>
      </p:sp>
      <p:sp>
        <p:nvSpPr>
          <p:cNvPr id="218" name="Rounded Rectangle 217"/>
          <p:cNvSpPr/>
          <p:nvPr/>
        </p:nvSpPr>
        <p:spPr>
          <a:xfrm>
            <a:off x="6419850" y="5191125"/>
            <a:ext cx="3114675" cy="504825"/>
          </a:xfrm>
          <a:prstGeom prst="roundRect">
            <a:avLst>
              <a:gd name="adj" fmla="val 18867"/>
            </a:avLst>
          </a:prstGeom>
          <a:solidFill>
            <a:srgbClr val="FFFFFF"/>
          </a:solidFill>
          <a:ln w="20955">
            <a:solidFill>
              <a:srgbClr val="233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-219"/>
          <p:cNvSpPr/>
          <p:nvPr/>
        </p:nvSpPr>
        <p:spPr>
          <a:xfrm>
            <a:off x="6619875" y="5334000"/>
            <a:ext cx="114300" cy="111125"/>
          </a:xfrm>
          <a:custGeom>
            <a:avLst/>
            <a:gdLst/>
            <a:ahLst/>
            <a:cxnLst/>
            <a:rect l="0" t="0" r="0" b="0"/>
            <a:pathLst>
              <a:path w="114300" h="111125">
                <a:moveTo>
                  <a:pt x="0" y="0"/>
                </a:moveTo>
                <a:lnTo>
                  <a:pt x="114300" y="0"/>
                </a:lnTo>
                <a:lnTo>
                  <a:pt x="95250" y="85725"/>
                </a:lnTo>
                <a:cubicBezTo>
                  <a:pt x="69850" y="111125"/>
                  <a:pt x="44450" y="111125"/>
                  <a:pt x="19050" y="85725"/>
                </a:cubicBezTo>
                <a:close/>
              </a:path>
            </a:pathLst>
          </a:custGeom>
          <a:noFill/>
          <a:ln w="19050" cap="rnd">
            <a:solidFill>
              <a:srgbClr val="7B6D33"/>
            </a:solidFill>
          </a:ln>
        </p:spPr>
        <p:txBody>
          <a:bodyPr/>
          <a:p/>
        </p:txBody>
      </p:sp>
      <p:sp>
        <p:nvSpPr>
          <p:cNvPr id="220" name="freeform-220"/>
          <p:cNvSpPr/>
          <p:nvPr/>
        </p:nvSpPr>
        <p:spPr>
          <a:xfrm>
            <a:off x="6584950" y="5353050"/>
            <a:ext cx="53975" cy="63500"/>
          </a:xfrm>
          <a:custGeom>
            <a:avLst/>
            <a:gdLst/>
            <a:ahLst/>
            <a:cxnLst/>
            <a:rect l="0" t="0" r="0" b="0"/>
            <a:pathLst>
              <a:path w="53975" h="63500">
                <a:moveTo>
                  <a:pt x="34925" y="0"/>
                </a:moveTo>
                <a:cubicBezTo>
                  <a:pt x="9525" y="0"/>
                  <a:pt x="0" y="12700"/>
                  <a:pt x="6350" y="38100"/>
                </a:cubicBezTo>
                <a:cubicBezTo>
                  <a:pt x="19050" y="57150"/>
                  <a:pt x="34925" y="63500"/>
                  <a:pt x="53975" y="57150"/>
                </a:cubicBezTo>
              </a:path>
            </a:pathLst>
          </a:custGeom>
          <a:noFill/>
          <a:ln w="19050" cap="rnd">
            <a:solidFill>
              <a:srgbClr val="7B6D33"/>
            </a:solidFill>
          </a:ln>
        </p:spPr>
        <p:txBody>
          <a:bodyPr/>
          <a:p/>
        </p:txBody>
      </p:sp>
      <p:sp>
        <p:nvSpPr>
          <p:cNvPr id="221" name="freeform-221"/>
          <p:cNvSpPr/>
          <p:nvPr/>
        </p:nvSpPr>
        <p:spPr>
          <a:xfrm>
            <a:off x="6715125" y="5353050"/>
            <a:ext cx="53975" cy="63500"/>
          </a:xfrm>
          <a:custGeom>
            <a:avLst/>
            <a:gdLst/>
            <a:ahLst/>
            <a:cxnLst/>
            <a:rect l="0" t="0" r="0" b="0"/>
            <a:pathLst>
              <a:path w="53975" h="63500">
                <a:moveTo>
                  <a:pt x="19050" y="0"/>
                </a:moveTo>
                <a:cubicBezTo>
                  <a:pt x="44450" y="0"/>
                  <a:pt x="53975" y="12700"/>
                  <a:pt x="47625" y="38100"/>
                </a:cubicBezTo>
                <a:cubicBezTo>
                  <a:pt x="34925" y="57150"/>
                  <a:pt x="19050" y="63500"/>
                  <a:pt x="0" y="57150"/>
                </a:cubicBezTo>
              </a:path>
            </a:pathLst>
          </a:custGeom>
          <a:noFill/>
          <a:ln w="19050" cap="rnd">
            <a:solidFill>
              <a:srgbClr val="7B6D33"/>
            </a:solidFill>
          </a:ln>
        </p:spPr>
        <p:txBody>
          <a:bodyPr/>
          <a:p/>
        </p:txBody>
      </p:sp>
      <p:cxnSp>
        <p:nvCxnSpPr>
          <p:cNvPr id="222" name="Connector 221"/>
          <p:cNvCxnSpPr/>
          <p:nvPr/>
        </p:nvCxnSpPr>
        <p:spPr>
          <a:xfrm>
            <a:off x="6677025" y="5448300"/>
            <a:ext cx="0" cy="47625"/>
          </a:xfrm>
          <a:prstGeom prst="line">
            <a:avLst/>
          </a:prstGeom>
          <a:ln w="19050" cap="rnd">
            <a:solidFill>
              <a:srgbClr val="7B6D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6629400" y="5505450"/>
            <a:ext cx="95250" cy="0"/>
          </a:xfrm>
          <a:prstGeom prst="line">
            <a:avLst/>
          </a:prstGeom>
          <a:ln w="19050" cap="rnd">
            <a:solidFill>
              <a:srgbClr val="7B6D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TextBox 223"/>
          <p:cNvSpPr txBox="1"/>
          <p:nvPr/>
        </p:nvSpPr>
        <p:spPr>
          <a:xfrm>
            <a:off x="6915150" y="5335429"/>
            <a:ext cx="1305687" cy="2738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5">
                <a:solidFill>
                  <a:srgbClr val="777777"/>
                </a:solidFill>
                <a:latin typeface="Arial"/>
              </a:rPr>
              <a:t>dense reward</a:t>
            </a:r>
          </a:p>
        </p:txBody>
      </p:sp>
      <p:sp>
        <p:nvSpPr>
          <p:cNvPr id="225" name="Oval 224"/>
          <p:cNvSpPr/>
          <p:nvPr/>
        </p:nvSpPr>
        <p:spPr>
          <a:xfrm>
            <a:off x="8488680" y="5335905"/>
            <a:ext cx="167640" cy="167640"/>
          </a:xfrm>
          <a:prstGeom prst="ellipse">
            <a:avLst/>
          </a:prstGeom>
          <a:noFill/>
          <a:ln w="20955">
            <a:solidFill>
              <a:srgbClr val="5C8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-226"/>
          <p:cNvSpPr/>
          <p:nvPr/>
        </p:nvSpPr>
        <p:spPr>
          <a:xfrm>
            <a:off x="8499158" y="5377815"/>
            <a:ext cx="41910" cy="83820"/>
          </a:xfrm>
          <a:custGeom>
            <a:avLst/>
            <a:gdLst/>
            <a:ahLst/>
            <a:cxnLst/>
            <a:rect l="0" t="0" r="0" b="0"/>
            <a:pathLst>
              <a:path w="41910" h="83820">
                <a:moveTo>
                  <a:pt x="0" y="41910"/>
                </a:moveTo>
                <a:lnTo>
                  <a:pt x="41910" y="0"/>
                </a:lnTo>
                <a:moveTo>
                  <a:pt x="0" y="41910"/>
                </a:moveTo>
                <a:lnTo>
                  <a:pt x="41910" y="83820"/>
                </a:lnTo>
              </a:path>
            </a:pathLst>
          </a:custGeom>
          <a:noFill/>
          <a:ln w="20955" cap="rnd">
            <a:solidFill>
              <a:srgbClr val="5C8C39"/>
            </a:solidFill>
          </a:ln>
        </p:spPr>
        <p:txBody>
          <a:bodyPr/>
          <a:p/>
        </p:txBody>
      </p:sp>
      <p:sp>
        <p:nvSpPr>
          <p:cNvPr id="227" name="freeform-227"/>
          <p:cNvSpPr/>
          <p:nvPr/>
        </p:nvSpPr>
        <p:spPr>
          <a:xfrm>
            <a:off x="8603932" y="5377815"/>
            <a:ext cx="41910" cy="83820"/>
          </a:xfrm>
          <a:custGeom>
            <a:avLst/>
            <a:gdLst/>
            <a:ahLst/>
            <a:cxnLst/>
            <a:rect l="0" t="0" r="0" b="0"/>
            <a:pathLst>
              <a:path w="41910" h="83820">
                <a:moveTo>
                  <a:pt x="41910" y="41910"/>
                </a:moveTo>
                <a:lnTo>
                  <a:pt x="0" y="0"/>
                </a:lnTo>
                <a:moveTo>
                  <a:pt x="41910" y="41910"/>
                </a:moveTo>
                <a:lnTo>
                  <a:pt x="0" y="83820"/>
                </a:lnTo>
              </a:path>
            </a:pathLst>
          </a:custGeom>
          <a:noFill/>
          <a:ln w="20955" cap="rnd">
            <a:solidFill>
              <a:srgbClr val="5C8C39"/>
            </a:solidFill>
          </a:ln>
        </p:spPr>
        <p:txBody>
          <a:bodyPr/>
          <a:p/>
        </p:txBody>
      </p:sp>
      <p:cxnSp>
        <p:nvCxnSpPr>
          <p:cNvPr id="228" name="Connector 227"/>
          <p:cNvCxnSpPr/>
          <p:nvPr/>
        </p:nvCxnSpPr>
        <p:spPr>
          <a:xfrm>
            <a:off x="8541068" y="5419725"/>
            <a:ext cx="62864" cy="0"/>
          </a:xfrm>
          <a:prstGeom prst="line">
            <a:avLst/>
          </a:prstGeom>
          <a:ln w="20955" cap="rnd">
            <a:solidFill>
              <a:srgbClr val="5C8C3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TextBox 228"/>
          <p:cNvSpPr txBox="1"/>
          <p:nvPr/>
        </p:nvSpPr>
        <p:spPr>
          <a:xfrm>
            <a:off x="8829675" y="5335429"/>
            <a:ext cx="589312" cy="2738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5">
                <a:solidFill>
                  <a:srgbClr val="777777"/>
                </a:solidFill>
                <a:latin typeface="Arial"/>
              </a:rPr>
              <a:t>action</a:t>
            </a:r>
          </a:p>
        </p:txBody>
      </p:sp>
      <p:cxnSp>
        <p:nvCxnSpPr>
          <p:cNvPr id="230" name="Connector 229"/>
          <p:cNvCxnSpPr/>
          <p:nvPr/>
        </p:nvCxnSpPr>
        <p:spPr>
          <a:xfrm flipH="1">
            <a:off x="5848350" y="5448300"/>
            <a:ext cx="514350" cy="0"/>
          </a:xfrm>
          <a:prstGeom prst="line">
            <a:avLst/>
          </a:prstGeom>
          <a:ln w="95250" cap="rnd">
            <a:solidFill>
              <a:srgbClr val="D87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freeform-231"/>
          <p:cNvSpPr/>
          <p:nvPr/>
        </p:nvSpPr>
        <p:spPr>
          <a:xfrm>
            <a:off x="5848350" y="5353050"/>
            <a:ext cx="190500" cy="190500"/>
          </a:xfrm>
          <a:custGeom>
            <a:avLst/>
            <a:gdLst/>
            <a:ahLst/>
            <a:cxnLst/>
            <a:rect l="0" t="0" r="0" b="0"/>
            <a:pathLst>
              <a:path w="190500" h="190500">
                <a:moveTo>
                  <a:pt x="190500" y="190500"/>
                </a:moveTo>
                <a:lnTo>
                  <a:pt x="0" y="95250"/>
                </a:lnTo>
                <a:lnTo>
                  <a:pt x="190500" y="0"/>
                </a:lnTo>
                <a:close/>
              </a:path>
            </a:pathLst>
          </a:custGeom>
          <a:solidFill>
            <a:srgbClr val="D87478"/>
          </a:solidFill>
        </p:spPr>
        <p:txBody>
          <a:bodyPr/>
          <a:p/>
        </p:txBody>
      </p:sp>
      <p:sp>
        <p:nvSpPr>
          <p:cNvPr id="232" name="freeform-232"/>
          <p:cNvSpPr/>
          <p:nvPr/>
        </p:nvSpPr>
        <p:spPr>
          <a:xfrm>
            <a:off x="9601200" y="4972050"/>
            <a:ext cx="457200" cy="200025"/>
          </a:xfrm>
          <a:custGeom>
            <a:avLst/>
            <a:gdLst/>
            <a:ahLst/>
            <a:cxnLst/>
            <a:rect l="0" t="0" r="0" b="0"/>
            <a:pathLst>
              <a:path w="457200" h="200025">
                <a:moveTo>
                  <a:pt x="457200" y="0"/>
                </a:moveTo>
                <a:lnTo>
                  <a:pt x="0" y="200025"/>
                </a:lnTo>
              </a:path>
            </a:pathLst>
          </a:custGeom>
          <a:noFill/>
          <a:ln w="95250" cap="rnd">
            <a:solidFill>
              <a:srgbClr val="D87478"/>
            </a:solidFill>
          </a:ln>
        </p:spPr>
        <p:txBody>
          <a:bodyPr/>
          <a:p/>
        </p:txBody>
      </p:sp>
      <p:sp>
        <p:nvSpPr>
          <p:cNvPr id="233" name="freeform-233"/>
          <p:cNvSpPr/>
          <p:nvPr/>
        </p:nvSpPr>
        <p:spPr>
          <a:xfrm>
            <a:off x="9601200" y="5008455"/>
            <a:ext cx="212706" cy="174528"/>
          </a:xfrm>
          <a:custGeom>
            <a:avLst/>
            <a:gdLst/>
            <a:ahLst/>
            <a:cxnLst/>
            <a:rect l="0" t="0" r="0" b="0"/>
            <a:pathLst>
              <a:path w="212706" h="174528">
                <a:moveTo>
                  <a:pt x="212706" y="174528"/>
                </a:moveTo>
                <a:lnTo>
                  <a:pt x="0" y="163620"/>
                </a:lnTo>
                <a:lnTo>
                  <a:pt x="136350" y="0"/>
                </a:lnTo>
                <a:close/>
              </a:path>
            </a:pathLst>
          </a:custGeom>
          <a:solidFill>
            <a:srgbClr val="D87478"/>
          </a:solidFill>
        </p:spPr>
        <p:txBody>
          <a:bodyPr/>
          <a:p/>
        </p:txBody>
      </p:sp>
      <p:cxnSp>
        <p:nvCxnSpPr>
          <p:cNvPr id="234" name="Connector 233"/>
          <p:cNvCxnSpPr/>
          <p:nvPr/>
        </p:nvCxnSpPr>
        <p:spPr>
          <a:xfrm>
            <a:off x="9696450" y="5448300"/>
            <a:ext cx="1476375" cy="0"/>
          </a:xfrm>
          <a:prstGeom prst="line">
            <a:avLst/>
          </a:prstGeom>
          <a:ln w="38100" cap="rnd">
            <a:solidFill>
              <a:srgbClr val="7777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freeform-235"/>
          <p:cNvSpPr/>
          <p:nvPr/>
        </p:nvSpPr>
        <p:spPr>
          <a:xfrm>
            <a:off x="9696450" y="5391150"/>
            <a:ext cx="114300" cy="114300"/>
          </a:xfrm>
          <a:custGeom>
            <a:avLst/>
            <a:gdLst/>
            <a:ahLst/>
            <a:cxnLst/>
            <a:rect l="0" t="0" r="0" b="0"/>
            <a:pathLst>
              <a:path w="1143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777777"/>
          </a:solidFill>
        </p:spPr>
        <p:txBody>
          <a:bodyPr/>
          <a:p/>
        </p:txBody>
      </p:sp>
      <p:sp>
        <p:nvSpPr>
          <p:cNvPr id="236" name="freeform-236"/>
          <p:cNvSpPr/>
          <p:nvPr/>
        </p:nvSpPr>
        <p:spPr>
          <a:xfrm>
            <a:off x="11058525" y="5391150"/>
            <a:ext cx="114300" cy="114300"/>
          </a:xfrm>
          <a:custGeom>
            <a:avLst/>
            <a:gdLst/>
            <a:ahLst/>
            <a:cxnLst/>
            <a:rect l="0" t="0" r="0" b="0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777777"/>
          </a:solidFill>
        </p:spPr>
        <p:txBody>
          <a:bodyPr/>
          <a:p/>
        </p:txBody>
      </p:sp>
      <p:sp>
        <p:nvSpPr>
          <p:cNvPr id="237" name="TextBox 236"/>
          <p:cNvSpPr txBox="1"/>
          <p:nvPr/>
        </p:nvSpPr>
        <p:spPr>
          <a:xfrm>
            <a:off x="9995059" y="5181124"/>
            <a:ext cx="850582" cy="2262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25">
                <a:solidFill>
                  <a:srgbClr val="111111"/>
                </a:solidFill>
                <a:latin typeface="Arial"/>
              </a:rPr>
              <a:t>interaction</a:t>
            </a:r>
          </a:p>
        </p:txBody>
      </p:sp>
      <p:sp>
        <p:nvSpPr>
          <p:cNvPr id="238" name="Oval 237"/>
          <p:cNvSpPr/>
          <p:nvPr/>
        </p:nvSpPr>
        <p:spPr>
          <a:xfrm>
            <a:off x="11334750" y="5095875"/>
            <a:ext cx="723900" cy="723900"/>
          </a:xfrm>
          <a:prstGeom prst="ellipse">
            <a:avLst/>
          </a:prstGeom>
          <a:solidFill>
            <a:srgbClr val="58A9E7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-239"/>
          <p:cNvSpPr/>
          <p:nvPr/>
        </p:nvSpPr>
        <p:spPr>
          <a:xfrm>
            <a:off x="11420475" y="5207000"/>
            <a:ext cx="247650" cy="222250"/>
          </a:xfrm>
          <a:custGeom>
            <a:avLst/>
            <a:gdLst/>
            <a:ahLst/>
            <a:cxnLst/>
            <a:rect l="0" t="0" r="0" b="0"/>
            <a:pathLst>
              <a:path w="247650" h="222250">
                <a:moveTo>
                  <a:pt x="28575" y="60325"/>
                </a:moveTo>
                <a:cubicBezTo>
                  <a:pt x="79375" y="9525"/>
                  <a:pt x="139700" y="0"/>
                  <a:pt x="209550" y="31750"/>
                </a:cubicBezTo>
                <a:lnTo>
                  <a:pt x="247650" y="117475"/>
                </a:lnTo>
                <a:lnTo>
                  <a:pt x="180975" y="174625"/>
                </a:lnTo>
                <a:lnTo>
                  <a:pt x="114300" y="155575"/>
                </a:lnTo>
                <a:lnTo>
                  <a:pt x="76200" y="222250"/>
                </a:lnTo>
                <a:lnTo>
                  <a:pt x="0" y="184150"/>
                </a:lnTo>
                <a:close/>
              </a:path>
            </a:pathLst>
          </a:custGeom>
          <a:solidFill>
            <a:srgbClr val="55AE35"/>
          </a:solidFill>
          <a:ln w="11430" cap="rnd">
            <a:solidFill>
              <a:srgbClr val="111111"/>
            </a:solidFill>
          </a:ln>
        </p:spPr>
        <p:txBody>
          <a:bodyPr/>
          <a:p/>
        </p:txBody>
      </p:sp>
      <p:sp>
        <p:nvSpPr>
          <p:cNvPr id="240" name="freeform-240"/>
          <p:cNvSpPr/>
          <p:nvPr/>
        </p:nvSpPr>
        <p:spPr>
          <a:xfrm>
            <a:off x="11687175" y="5172075"/>
            <a:ext cx="190500" cy="266700"/>
          </a:xfrm>
          <a:custGeom>
            <a:avLst/>
            <a:gdLst/>
            <a:ahLst/>
            <a:cxnLst/>
            <a:rect l="0" t="0" r="0" b="0"/>
            <a:pathLst>
              <a:path w="190500" h="266700">
                <a:moveTo>
                  <a:pt x="28575" y="0"/>
                </a:moveTo>
                <a:lnTo>
                  <a:pt x="123825" y="28575"/>
                </a:lnTo>
                <a:lnTo>
                  <a:pt x="180975" y="104775"/>
                </a:lnTo>
                <a:lnTo>
                  <a:pt x="123825" y="152400"/>
                </a:lnTo>
                <a:lnTo>
                  <a:pt x="190500" y="209550"/>
                </a:lnTo>
                <a:lnTo>
                  <a:pt x="123825" y="266700"/>
                </a:lnTo>
                <a:lnTo>
                  <a:pt x="47625" y="209550"/>
                </a:lnTo>
                <a:lnTo>
                  <a:pt x="0" y="142875"/>
                </a:lnTo>
                <a:close/>
              </a:path>
            </a:pathLst>
          </a:custGeom>
          <a:solidFill>
            <a:srgbClr val="55AE35"/>
          </a:solidFill>
          <a:ln w="11430" cap="rnd">
            <a:solidFill>
              <a:srgbClr val="111111"/>
            </a:solidFill>
          </a:ln>
        </p:spPr>
        <p:txBody>
          <a:bodyPr/>
          <a:p/>
        </p:txBody>
      </p:sp>
      <p:sp>
        <p:nvSpPr>
          <p:cNvPr id="241" name="freeform-241"/>
          <p:cNvSpPr/>
          <p:nvPr/>
        </p:nvSpPr>
        <p:spPr>
          <a:xfrm>
            <a:off x="11753850" y="5476875"/>
            <a:ext cx="196850" cy="200025"/>
          </a:xfrm>
          <a:custGeom>
            <a:avLst/>
            <a:gdLst/>
            <a:ahLst/>
            <a:cxnLst/>
            <a:rect l="0" t="0" r="0" b="0"/>
            <a:pathLst>
              <a:path w="196850" h="200025">
                <a:moveTo>
                  <a:pt x="114300" y="0"/>
                </a:moveTo>
                <a:cubicBezTo>
                  <a:pt x="171450" y="19050"/>
                  <a:pt x="196850" y="63500"/>
                  <a:pt x="190500" y="133350"/>
                </a:cubicBezTo>
                <a:lnTo>
                  <a:pt x="95250" y="200025"/>
                </a:lnTo>
                <a:lnTo>
                  <a:pt x="19050" y="152400"/>
                </a:lnTo>
                <a:lnTo>
                  <a:pt x="57150" y="76200"/>
                </a:lnTo>
                <a:lnTo>
                  <a:pt x="0" y="28575"/>
                </a:lnTo>
                <a:close/>
              </a:path>
            </a:pathLst>
          </a:custGeom>
          <a:solidFill>
            <a:srgbClr val="55AE35"/>
          </a:solidFill>
          <a:ln w="11430" cap="rnd">
            <a:solidFill>
              <a:srgbClr val="111111"/>
            </a:solidFill>
          </a:ln>
        </p:spPr>
        <p:txBody>
          <a:bodyPr/>
          <a:p/>
        </p:txBody>
      </p:sp>
      <p:sp>
        <p:nvSpPr>
          <p:cNvPr id="242" name="freeform-242"/>
          <p:cNvSpPr/>
          <p:nvPr/>
        </p:nvSpPr>
        <p:spPr>
          <a:xfrm>
            <a:off x="11525250" y="5467350"/>
            <a:ext cx="190500" cy="247650"/>
          </a:xfrm>
          <a:custGeom>
            <a:avLst/>
            <a:gdLst/>
            <a:ahLst/>
            <a:cxnLst/>
            <a:rect l="0" t="0" r="0" b="0"/>
            <a:pathLst>
              <a:path w="190500" h="247650">
                <a:moveTo>
                  <a:pt x="57150" y="0"/>
                </a:moveTo>
                <a:lnTo>
                  <a:pt x="152400" y="28575"/>
                </a:lnTo>
                <a:lnTo>
                  <a:pt x="190500" y="95250"/>
                </a:lnTo>
                <a:lnTo>
                  <a:pt x="133350" y="161925"/>
                </a:lnTo>
                <a:lnTo>
                  <a:pt x="85725" y="247650"/>
                </a:lnTo>
                <a:lnTo>
                  <a:pt x="19050" y="171450"/>
                </a:lnTo>
                <a:lnTo>
                  <a:pt x="0" y="66675"/>
                </a:lnTo>
                <a:close/>
              </a:path>
            </a:pathLst>
          </a:custGeom>
          <a:solidFill>
            <a:srgbClr val="55AE35"/>
          </a:solidFill>
          <a:ln w="11430" cap="rnd">
            <a:solidFill>
              <a:srgbClr val="111111"/>
            </a:solidFill>
          </a:ln>
        </p:spPr>
        <p:txBody>
          <a:bodyPr/>
          <a:p/>
        </p:txBody>
      </p:sp>
      <p:sp>
        <p:nvSpPr>
          <p:cNvPr id="243" name="freeform-243"/>
          <p:cNvSpPr/>
          <p:nvPr/>
        </p:nvSpPr>
        <p:spPr>
          <a:xfrm>
            <a:off x="11410950" y="5229225"/>
            <a:ext cx="504825" cy="304800"/>
          </a:xfrm>
          <a:custGeom>
            <a:avLst/>
            <a:gdLst/>
            <a:ahLst/>
            <a:cxnLst/>
            <a:rect l="0" t="0" r="0" b="0"/>
            <a:pathLst>
              <a:path w="504825" h="304800">
                <a:moveTo>
                  <a:pt x="0" y="276225"/>
                </a:moveTo>
                <a:cubicBezTo>
                  <a:pt x="76200" y="263525"/>
                  <a:pt x="139700" y="273050"/>
                  <a:pt x="190500" y="304800"/>
                </a:cubicBezTo>
                <a:moveTo>
                  <a:pt x="323850" y="0"/>
                </a:moveTo>
                <a:cubicBezTo>
                  <a:pt x="381000" y="38100"/>
                  <a:pt x="441325" y="47625"/>
                  <a:pt x="504825" y="28575"/>
                </a:cubicBezTo>
              </a:path>
            </a:pathLst>
          </a:custGeom>
          <a:noFill/>
          <a:ln w="11430" cap="rnd">
            <a:solidFill>
              <a:srgbClr val="111111"/>
            </a:solidFill>
          </a:ln>
        </p:spPr>
        <p:txBody>
          <a:bodyPr/>
          <a:p/>
        </p:txBody>
      </p:sp>
      <p:sp>
        <p:nvSpPr>
          <p:cNvPr id="244" name="TextBox 243"/>
          <p:cNvSpPr txBox="1"/>
          <p:nvPr/>
        </p:nvSpPr>
        <p:spPr>
          <a:xfrm>
            <a:off x="12125325" y="5421154"/>
            <a:ext cx="1229011" cy="2738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5">
                <a:solidFill>
                  <a:srgbClr val="111111"/>
                </a:solidFill>
                <a:latin typeface="Arial"/>
              </a:rPr>
              <a:t>Environment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